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66" r:id="rId2"/>
    <p:sldId id="558" r:id="rId3"/>
    <p:sldId id="556" r:id="rId4"/>
    <p:sldId id="561" r:id="rId5"/>
    <p:sldId id="550" r:id="rId6"/>
    <p:sldId id="567" r:id="rId7"/>
    <p:sldId id="563" r:id="rId8"/>
    <p:sldId id="564" r:id="rId9"/>
    <p:sldId id="568" r:id="rId10"/>
    <p:sldId id="562" r:id="rId11"/>
    <p:sldId id="559" r:id="rId12"/>
    <p:sldId id="551" r:id="rId13"/>
    <p:sldId id="554" r:id="rId14"/>
    <p:sldId id="544" r:id="rId15"/>
    <p:sldId id="553" r:id="rId16"/>
    <p:sldId id="545" r:id="rId17"/>
    <p:sldId id="532" r:id="rId18"/>
    <p:sldId id="547" r:id="rId19"/>
    <p:sldId id="543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341" autoAdjust="0"/>
  </p:normalViewPr>
  <p:slideViewPr>
    <p:cSldViewPr snapToGrid="0">
      <p:cViewPr varScale="1">
        <p:scale>
          <a:sx n="80" d="100"/>
          <a:sy n="80" d="100"/>
        </p:scale>
        <p:origin x="132" y="1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503B35-3CCA-4E00-9C00-5A848D20FD36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79F179-00FA-45E7-87E4-75F23849A8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8197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inux-nvme/nvme-cli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endParaRPr lang="en-GB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4FF5570-FE69-4FDF-99DA-8CDE436443C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dirty="0"/>
              <a:t>尽管</a:t>
            </a:r>
            <a:r>
              <a:rPr lang="en-US" altLang="zh-CN" sz="1200" dirty="0"/>
              <a:t>HFTL</a:t>
            </a:r>
            <a:r>
              <a:rPr lang="zh-CN" altLang="en-US" sz="1200" dirty="0"/>
              <a:t>的职责较</a:t>
            </a:r>
            <a:r>
              <a:rPr lang="en-US" altLang="zh-CN" sz="1200" dirty="0"/>
              <a:t>SSD FTL</a:t>
            </a:r>
            <a:r>
              <a:rPr lang="zh-CN" altLang="en-US" sz="1200" dirty="0"/>
              <a:t>小，但它必须管理其对</a:t>
            </a:r>
            <a:r>
              <a:rPr lang="en-US" altLang="zh-CN" sz="1200" dirty="0"/>
              <a:t>CPU</a:t>
            </a:r>
            <a:r>
              <a:rPr lang="zh-CN" altLang="en-US" sz="1200" dirty="0"/>
              <a:t>和</a:t>
            </a:r>
            <a:r>
              <a:rPr lang="en-US" altLang="zh-CN" sz="1200" dirty="0"/>
              <a:t>DRAM</a:t>
            </a:r>
            <a:r>
              <a:rPr lang="zh-CN" altLang="en-US" sz="1200" dirty="0"/>
              <a:t>资源的使用，因为这些资源与主机应用共享。</a:t>
            </a:r>
            <a:r>
              <a:rPr lang="en-US" altLang="zh-CN" sz="1200" dirty="0"/>
              <a:t>HFTL</a:t>
            </a:r>
            <a:r>
              <a:rPr lang="zh-CN" altLang="en-US" sz="1200" dirty="0"/>
              <a:t>简化了与主机端信息的整合，增强了数据放置和垃圾回收的控制，并向应用程序提供传统块接口。目前，例如</a:t>
            </a:r>
            <a:r>
              <a:rPr lang="en-US" altLang="zh-CN" sz="1200" dirty="0"/>
              <a:t>dm-zoned</a:t>
            </a:r>
            <a:r>
              <a:rPr lang="zh-CN" altLang="en-US" sz="1200" dirty="0"/>
              <a:t>、</a:t>
            </a:r>
            <a:r>
              <a:rPr lang="en-US" altLang="zh-CN" sz="1200" dirty="0"/>
              <a:t>dm-zap</a:t>
            </a:r>
            <a:r>
              <a:rPr lang="zh-CN" altLang="en-US" sz="1200" dirty="0"/>
              <a:t>、</a:t>
            </a:r>
            <a:r>
              <a:rPr lang="en-US" altLang="zh-CN" sz="1200" dirty="0" err="1"/>
              <a:t>pblk</a:t>
            </a:r>
            <a:r>
              <a:rPr lang="zh-CN" altLang="en-US" sz="1200" dirty="0"/>
              <a:t>和</a:t>
            </a:r>
            <a:r>
              <a:rPr lang="en-US" altLang="zh-CN" sz="1200" dirty="0"/>
              <a:t>SPDK</a:t>
            </a:r>
            <a:r>
              <a:rPr lang="zh-CN" altLang="en-US" sz="1200" dirty="0"/>
              <a:t>的</a:t>
            </a:r>
            <a:r>
              <a:rPr lang="en-US" altLang="zh-CN" sz="1200" dirty="0"/>
              <a:t>FTL</a:t>
            </a:r>
            <a:r>
              <a:rPr lang="zh-CN" altLang="en-US" sz="1200" dirty="0"/>
              <a:t>等工作显示了</a:t>
            </a:r>
            <a:r>
              <a:rPr lang="en-US" altLang="zh-CN" sz="1200" dirty="0"/>
              <a:t>HFTL</a:t>
            </a:r>
            <a:r>
              <a:rPr lang="zh-CN" altLang="en-US" sz="1200" dirty="0"/>
              <a:t>的可行性和应用性，但目前只有</a:t>
            </a:r>
            <a:r>
              <a:rPr lang="en-US" altLang="zh-CN" sz="1200" dirty="0"/>
              <a:t>dm-zap</a:t>
            </a:r>
            <a:r>
              <a:rPr lang="zh-CN" altLang="en-US" sz="1200" dirty="0"/>
              <a:t>支持</a:t>
            </a:r>
            <a:r>
              <a:rPr lang="en-US" altLang="zh-CN" sz="1200" dirty="0"/>
              <a:t>ZNS SSD</a:t>
            </a:r>
            <a:r>
              <a:rPr lang="zh-CN" altLang="en-US" sz="1200" dirty="0"/>
              <a:t>。</a:t>
            </a:r>
            <a:endParaRPr lang="en-US" altLang="zh-CN" sz="1200" dirty="0"/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zh-CN" altLang="en-US" sz="1200" dirty="0">
              <a:latin typeface="Constantia" panose="02030602050306030303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5726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dirty="0"/>
              <a:t>尽管</a:t>
            </a:r>
            <a:r>
              <a:rPr lang="en-US" altLang="zh-CN" sz="1200" dirty="0"/>
              <a:t>HFTL</a:t>
            </a:r>
            <a:r>
              <a:rPr lang="zh-CN" altLang="en-US" sz="1200" dirty="0"/>
              <a:t>的职责较</a:t>
            </a:r>
            <a:r>
              <a:rPr lang="en-US" altLang="zh-CN" sz="1200" dirty="0"/>
              <a:t>SSD FTL</a:t>
            </a:r>
            <a:r>
              <a:rPr lang="zh-CN" altLang="en-US" sz="1200" dirty="0"/>
              <a:t>小，但它必须管理其对</a:t>
            </a:r>
            <a:r>
              <a:rPr lang="en-US" altLang="zh-CN" sz="1200" dirty="0"/>
              <a:t>CPU</a:t>
            </a:r>
            <a:r>
              <a:rPr lang="zh-CN" altLang="en-US" sz="1200" dirty="0"/>
              <a:t>和</a:t>
            </a:r>
            <a:r>
              <a:rPr lang="en-US" altLang="zh-CN" sz="1200" dirty="0"/>
              <a:t>DRAM</a:t>
            </a:r>
            <a:r>
              <a:rPr lang="zh-CN" altLang="en-US" sz="1200" dirty="0"/>
              <a:t>资源的使用，因为这些资源与主机应用共享。</a:t>
            </a:r>
            <a:r>
              <a:rPr lang="en-US" altLang="zh-CN" sz="1200" dirty="0"/>
              <a:t>HFTL</a:t>
            </a:r>
            <a:r>
              <a:rPr lang="zh-CN" altLang="en-US" sz="1200" dirty="0"/>
              <a:t>简化了与主机端信息的整合，增强了数据放置和垃圾回收的控制，并向应用程序提供传统块接口。目前，例如</a:t>
            </a:r>
            <a:r>
              <a:rPr lang="en-US" altLang="zh-CN" sz="1200" dirty="0"/>
              <a:t>dm-zoned</a:t>
            </a:r>
            <a:r>
              <a:rPr lang="zh-CN" altLang="en-US" sz="1200" dirty="0"/>
              <a:t>、</a:t>
            </a:r>
            <a:r>
              <a:rPr lang="en-US" altLang="zh-CN" sz="1200" dirty="0"/>
              <a:t>dm-zap</a:t>
            </a:r>
            <a:r>
              <a:rPr lang="zh-CN" altLang="en-US" sz="1200" dirty="0"/>
              <a:t>、</a:t>
            </a:r>
            <a:r>
              <a:rPr lang="en-US" altLang="zh-CN" sz="1200" dirty="0" err="1"/>
              <a:t>pblk</a:t>
            </a:r>
            <a:r>
              <a:rPr lang="zh-CN" altLang="en-US" sz="1200" dirty="0"/>
              <a:t>和</a:t>
            </a:r>
            <a:r>
              <a:rPr lang="en-US" altLang="zh-CN" sz="1200" dirty="0"/>
              <a:t>SPDK</a:t>
            </a:r>
            <a:r>
              <a:rPr lang="zh-CN" altLang="en-US" sz="1200" dirty="0"/>
              <a:t>的</a:t>
            </a:r>
            <a:r>
              <a:rPr lang="en-US" altLang="zh-CN" sz="1200" dirty="0"/>
              <a:t>FTL</a:t>
            </a:r>
            <a:r>
              <a:rPr lang="zh-CN" altLang="en-US" sz="1200" dirty="0"/>
              <a:t>等工作显示了</a:t>
            </a:r>
            <a:r>
              <a:rPr lang="en-US" altLang="zh-CN" sz="1200" dirty="0"/>
              <a:t>HFTL</a:t>
            </a:r>
            <a:r>
              <a:rPr lang="zh-CN" altLang="en-US" sz="1200" dirty="0"/>
              <a:t>的可行性和应用性，但目前只有</a:t>
            </a:r>
            <a:r>
              <a:rPr lang="en-US" altLang="zh-CN" sz="1200" dirty="0"/>
              <a:t>dm-zap</a:t>
            </a:r>
            <a:r>
              <a:rPr lang="zh-CN" altLang="en-US" sz="1200" dirty="0"/>
              <a:t>支持</a:t>
            </a:r>
            <a:r>
              <a:rPr lang="en-US" altLang="zh-CN" sz="1200" dirty="0"/>
              <a:t>ZNS SSD</a:t>
            </a:r>
            <a:r>
              <a:rPr lang="zh-CN" altLang="en-US" sz="1200" dirty="0"/>
              <a:t>。</a:t>
            </a:r>
            <a:endParaRPr lang="en-US" altLang="zh-CN" sz="1200" dirty="0"/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zh-CN" altLang="en-US" sz="1200" dirty="0">
              <a:latin typeface="Constantia" panose="02030602050306030303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4831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dirty="0"/>
              <a:t>尽管</a:t>
            </a:r>
            <a:r>
              <a:rPr lang="en-US" altLang="zh-CN" sz="1200" dirty="0"/>
              <a:t>HFTL</a:t>
            </a:r>
            <a:r>
              <a:rPr lang="zh-CN" altLang="en-US" sz="1200" dirty="0"/>
              <a:t>的职责较</a:t>
            </a:r>
            <a:r>
              <a:rPr lang="en-US" altLang="zh-CN" sz="1200" dirty="0"/>
              <a:t>SSD FTL</a:t>
            </a:r>
            <a:r>
              <a:rPr lang="zh-CN" altLang="en-US" sz="1200" dirty="0"/>
              <a:t>小，但它必须管理其对</a:t>
            </a:r>
            <a:r>
              <a:rPr lang="en-US" altLang="zh-CN" sz="1200" dirty="0"/>
              <a:t>CPU</a:t>
            </a:r>
            <a:r>
              <a:rPr lang="zh-CN" altLang="en-US" sz="1200" dirty="0"/>
              <a:t>和</a:t>
            </a:r>
            <a:r>
              <a:rPr lang="en-US" altLang="zh-CN" sz="1200" dirty="0"/>
              <a:t>DRAM</a:t>
            </a:r>
            <a:r>
              <a:rPr lang="zh-CN" altLang="en-US" sz="1200" dirty="0"/>
              <a:t>资源的使用，因为这些资源与主机应用共享。</a:t>
            </a:r>
            <a:r>
              <a:rPr lang="en-US" altLang="zh-CN" sz="1200" dirty="0"/>
              <a:t>HFTL</a:t>
            </a:r>
            <a:r>
              <a:rPr lang="zh-CN" altLang="en-US" sz="1200" dirty="0"/>
              <a:t>简化了与主机端信息的整合，增强了数据放置和垃圾回收的控制，并向应用程序提供传统块接口。目前，例如</a:t>
            </a:r>
            <a:r>
              <a:rPr lang="en-US" altLang="zh-CN" sz="1200" dirty="0"/>
              <a:t>dm-zoned</a:t>
            </a:r>
            <a:r>
              <a:rPr lang="zh-CN" altLang="en-US" sz="1200" dirty="0"/>
              <a:t>、</a:t>
            </a:r>
            <a:r>
              <a:rPr lang="en-US" altLang="zh-CN" sz="1200" dirty="0"/>
              <a:t>dm-zap</a:t>
            </a:r>
            <a:r>
              <a:rPr lang="zh-CN" altLang="en-US" sz="1200" dirty="0"/>
              <a:t>、</a:t>
            </a:r>
            <a:r>
              <a:rPr lang="en-US" altLang="zh-CN" sz="1200" dirty="0" err="1"/>
              <a:t>pblk</a:t>
            </a:r>
            <a:r>
              <a:rPr lang="zh-CN" altLang="en-US" sz="1200" dirty="0"/>
              <a:t>和</a:t>
            </a:r>
            <a:r>
              <a:rPr lang="en-US" altLang="zh-CN" sz="1200" dirty="0"/>
              <a:t>SPDK</a:t>
            </a:r>
            <a:r>
              <a:rPr lang="zh-CN" altLang="en-US" sz="1200" dirty="0"/>
              <a:t>的</a:t>
            </a:r>
            <a:r>
              <a:rPr lang="en-US" altLang="zh-CN" sz="1200" dirty="0"/>
              <a:t>FTL</a:t>
            </a:r>
            <a:r>
              <a:rPr lang="zh-CN" altLang="en-US" sz="1200" dirty="0"/>
              <a:t>等工作显示了</a:t>
            </a:r>
            <a:r>
              <a:rPr lang="en-US" altLang="zh-CN" sz="1200" dirty="0"/>
              <a:t>HFTL</a:t>
            </a:r>
            <a:r>
              <a:rPr lang="zh-CN" altLang="en-US" sz="1200" dirty="0"/>
              <a:t>的可行性和应用性，但目前只有</a:t>
            </a:r>
            <a:r>
              <a:rPr lang="en-US" altLang="zh-CN" sz="1200" dirty="0"/>
              <a:t>dm-zap</a:t>
            </a:r>
            <a:r>
              <a:rPr lang="zh-CN" altLang="en-US" sz="1200" dirty="0"/>
              <a:t>支持</a:t>
            </a:r>
            <a:r>
              <a:rPr lang="en-US" altLang="zh-CN" sz="1200" dirty="0"/>
              <a:t>ZNS SSD</a:t>
            </a:r>
            <a:r>
              <a:rPr lang="zh-CN" altLang="en-US" sz="1200" dirty="0"/>
              <a:t>。</a:t>
            </a:r>
            <a:endParaRPr lang="en-US" altLang="zh-CN" sz="1200" dirty="0"/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zh-CN" altLang="en-US" sz="1200" dirty="0">
              <a:latin typeface="Constantia" panose="02030602050306030303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6653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dirty="0"/>
              <a:t>尽管</a:t>
            </a:r>
            <a:r>
              <a:rPr lang="en-US" altLang="zh-CN" sz="1200" dirty="0"/>
              <a:t>HFTL</a:t>
            </a:r>
            <a:r>
              <a:rPr lang="zh-CN" altLang="en-US" sz="1200" dirty="0"/>
              <a:t>的职责较</a:t>
            </a:r>
            <a:r>
              <a:rPr lang="en-US" altLang="zh-CN" sz="1200" dirty="0"/>
              <a:t>SSD FTL</a:t>
            </a:r>
            <a:r>
              <a:rPr lang="zh-CN" altLang="en-US" sz="1200" dirty="0"/>
              <a:t>小，但它必须管理其对</a:t>
            </a:r>
            <a:r>
              <a:rPr lang="en-US" altLang="zh-CN" sz="1200" dirty="0"/>
              <a:t>CPU</a:t>
            </a:r>
            <a:r>
              <a:rPr lang="zh-CN" altLang="en-US" sz="1200" dirty="0"/>
              <a:t>和</a:t>
            </a:r>
            <a:r>
              <a:rPr lang="en-US" altLang="zh-CN" sz="1200" dirty="0"/>
              <a:t>DRAM</a:t>
            </a:r>
            <a:r>
              <a:rPr lang="zh-CN" altLang="en-US" sz="1200" dirty="0"/>
              <a:t>资源的使用，因为这些资源与主机应用共享。</a:t>
            </a:r>
            <a:r>
              <a:rPr lang="en-US" altLang="zh-CN" sz="1200" dirty="0"/>
              <a:t>HFTL</a:t>
            </a:r>
            <a:r>
              <a:rPr lang="zh-CN" altLang="en-US" sz="1200" dirty="0"/>
              <a:t>简化了与主机端信息的整合，增强了数据放置和垃圾回收的控制，并向应用程序提供传统块接口。目前，例如</a:t>
            </a:r>
            <a:r>
              <a:rPr lang="en-US" altLang="zh-CN" sz="1200" dirty="0"/>
              <a:t>dm-zoned</a:t>
            </a:r>
            <a:r>
              <a:rPr lang="zh-CN" altLang="en-US" sz="1200" dirty="0"/>
              <a:t>、</a:t>
            </a:r>
            <a:r>
              <a:rPr lang="en-US" altLang="zh-CN" sz="1200" dirty="0"/>
              <a:t>dm-zap</a:t>
            </a:r>
            <a:r>
              <a:rPr lang="zh-CN" altLang="en-US" sz="1200" dirty="0"/>
              <a:t>、</a:t>
            </a:r>
            <a:r>
              <a:rPr lang="en-US" altLang="zh-CN" sz="1200" dirty="0" err="1"/>
              <a:t>pblk</a:t>
            </a:r>
            <a:r>
              <a:rPr lang="zh-CN" altLang="en-US" sz="1200" dirty="0"/>
              <a:t>和</a:t>
            </a:r>
            <a:r>
              <a:rPr lang="en-US" altLang="zh-CN" sz="1200" dirty="0"/>
              <a:t>SPDK</a:t>
            </a:r>
            <a:r>
              <a:rPr lang="zh-CN" altLang="en-US" sz="1200" dirty="0"/>
              <a:t>的</a:t>
            </a:r>
            <a:r>
              <a:rPr lang="en-US" altLang="zh-CN" sz="1200" dirty="0"/>
              <a:t>FTL</a:t>
            </a:r>
            <a:r>
              <a:rPr lang="zh-CN" altLang="en-US" sz="1200" dirty="0"/>
              <a:t>等工作显示了</a:t>
            </a:r>
            <a:r>
              <a:rPr lang="en-US" altLang="zh-CN" sz="1200" dirty="0"/>
              <a:t>HFTL</a:t>
            </a:r>
            <a:r>
              <a:rPr lang="zh-CN" altLang="en-US" sz="1200" dirty="0"/>
              <a:t>的可行性和应用性，但目前只有</a:t>
            </a:r>
            <a:r>
              <a:rPr lang="en-US" altLang="zh-CN" sz="1200" dirty="0"/>
              <a:t>dm-zap</a:t>
            </a:r>
            <a:r>
              <a:rPr lang="zh-CN" altLang="en-US" sz="1200" dirty="0"/>
              <a:t>支持</a:t>
            </a:r>
            <a:r>
              <a:rPr lang="en-US" altLang="zh-CN" sz="1200" dirty="0"/>
              <a:t>ZNS SSD</a:t>
            </a:r>
            <a:r>
              <a:rPr lang="zh-CN" altLang="en-US" sz="1200" dirty="0"/>
              <a:t>。</a:t>
            </a:r>
            <a:endParaRPr lang="en-US" altLang="zh-CN" sz="1200" dirty="0"/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zh-CN" altLang="en-US" sz="1200" dirty="0">
              <a:latin typeface="Constantia" panose="02030602050306030303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5</a:t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dirty="0"/>
              <a:t>尽管</a:t>
            </a:r>
            <a:r>
              <a:rPr lang="en-US" altLang="zh-CN" sz="1200" dirty="0"/>
              <a:t>HFTL</a:t>
            </a:r>
            <a:r>
              <a:rPr lang="zh-CN" altLang="en-US" sz="1200" dirty="0"/>
              <a:t>的职责较</a:t>
            </a:r>
            <a:r>
              <a:rPr lang="en-US" altLang="zh-CN" sz="1200" dirty="0"/>
              <a:t>SSD FTL</a:t>
            </a:r>
            <a:r>
              <a:rPr lang="zh-CN" altLang="en-US" sz="1200" dirty="0"/>
              <a:t>小，但它必须管理其对</a:t>
            </a:r>
            <a:r>
              <a:rPr lang="en-US" altLang="zh-CN" sz="1200" dirty="0"/>
              <a:t>CPU</a:t>
            </a:r>
            <a:r>
              <a:rPr lang="zh-CN" altLang="en-US" sz="1200" dirty="0"/>
              <a:t>和</a:t>
            </a:r>
            <a:r>
              <a:rPr lang="en-US" altLang="zh-CN" sz="1200" dirty="0"/>
              <a:t>DRAM</a:t>
            </a:r>
            <a:r>
              <a:rPr lang="zh-CN" altLang="en-US" sz="1200" dirty="0"/>
              <a:t>资源的使用，因为这些资源与主机应用共享。</a:t>
            </a:r>
            <a:r>
              <a:rPr lang="en-US" altLang="zh-CN" sz="1200" dirty="0"/>
              <a:t>HFTL</a:t>
            </a:r>
            <a:r>
              <a:rPr lang="zh-CN" altLang="en-US" sz="1200" dirty="0"/>
              <a:t>简化了与主机端信息的整合，增强了数据放置和垃圾回收的控制，并向应用程序提供传统块接口。目前，例如</a:t>
            </a:r>
            <a:r>
              <a:rPr lang="en-US" altLang="zh-CN" sz="1200" dirty="0"/>
              <a:t>dm-zoned</a:t>
            </a:r>
            <a:r>
              <a:rPr lang="zh-CN" altLang="en-US" sz="1200" dirty="0"/>
              <a:t>、</a:t>
            </a:r>
            <a:r>
              <a:rPr lang="en-US" altLang="zh-CN" sz="1200" dirty="0"/>
              <a:t>dm-zap</a:t>
            </a:r>
            <a:r>
              <a:rPr lang="zh-CN" altLang="en-US" sz="1200" dirty="0"/>
              <a:t>、</a:t>
            </a:r>
            <a:r>
              <a:rPr lang="en-US" altLang="zh-CN" sz="1200" dirty="0" err="1"/>
              <a:t>pblk</a:t>
            </a:r>
            <a:r>
              <a:rPr lang="zh-CN" altLang="en-US" sz="1200" dirty="0"/>
              <a:t>和</a:t>
            </a:r>
            <a:r>
              <a:rPr lang="en-US" altLang="zh-CN" sz="1200" dirty="0"/>
              <a:t>SPDK</a:t>
            </a:r>
            <a:r>
              <a:rPr lang="zh-CN" altLang="en-US" sz="1200" dirty="0"/>
              <a:t>的</a:t>
            </a:r>
            <a:r>
              <a:rPr lang="en-US" altLang="zh-CN" sz="1200" dirty="0"/>
              <a:t>FTL</a:t>
            </a:r>
            <a:r>
              <a:rPr lang="zh-CN" altLang="en-US" sz="1200" dirty="0"/>
              <a:t>等工作显示了</a:t>
            </a:r>
            <a:r>
              <a:rPr lang="en-US" altLang="zh-CN" sz="1200" dirty="0"/>
              <a:t>HFTL</a:t>
            </a:r>
            <a:r>
              <a:rPr lang="zh-CN" altLang="en-US" sz="1200" dirty="0"/>
              <a:t>的可行性和应用性，但目前只有</a:t>
            </a:r>
            <a:r>
              <a:rPr lang="en-US" altLang="zh-CN" sz="1200" dirty="0"/>
              <a:t>dm-zap</a:t>
            </a:r>
            <a:r>
              <a:rPr lang="zh-CN" altLang="en-US" sz="1200" dirty="0"/>
              <a:t>支持</a:t>
            </a:r>
            <a:r>
              <a:rPr lang="en-US" altLang="zh-CN" sz="1200" dirty="0"/>
              <a:t>ZNS SSD</a:t>
            </a:r>
            <a:r>
              <a:rPr lang="zh-CN" altLang="en-US" sz="1200" dirty="0"/>
              <a:t>。</a:t>
            </a:r>
            <a:endParaRPr lang="en-US" altLang="zh-CN" sz="1200" dirty="0"/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zh-CN" altLang="en-US" sz="1200" dirty="0">
              <a:latin typeface="Constantia" panose="02030602050306030303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8728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dirty="0"/>
              <a:t>尽管</a:t>
            </a:r>
            <a:r>
              <a:rPr lang="en-US" altLang="zh-CN" sz="1200" dirty="0"/>
              <a:t>HFTL</a:t>
            </a:r>
            <a:r>
              <a:rPr lang="zh-CN" altLang="en-US" sz="1200" dirty="0"/>
              <a:t>的职责较</a:t>
            </a:r>
            <a:r>
              <a:rPr lang="en-US" altLang="zh-CN" sz="1200" dirty="0"/>
              <a:t>SSD FTL</a:t>
            </a:r>
            <a:r>
              <a:rPr lang="zh-CN" altLang="en-US" sz="1200" dirty="0"/>
              <a:t>小，但它必须管理其对</a:t>
            </a:r>
            <a:r>
              <a:rPr lang="en-US" altLang="zh-CN" sz="1200" dirty="0"/>
              <a:t>CPU</a:t>
            </a:r>
            <a:r>
              <a:rPr lang="zh-CN" altLang="en-US" sz="1200" dirty="0"/>
              <a:t>和</a:t>
            </a:r>
            <a:r>
              <a:rPr lang="en-US" altLang="zh-CN" sz="1200" dirty="0"/>
              <a:t>DRAM</a:t>
            </a:r>
            <a:r>
              <a:rPr lang="zh-CN" altLang="en-US" sz="1200" dirty="0"/>
              <a:t>资源的使用，因为这些资源与主机应用共享。</a:t>
            </a:r>
            <a:r>
              <a:rPr lang="en-US" altLang="zh-CN" sz="1200" dirty="0"/>
              <a:t>HFTL</a:t>
            </a:r>
            <a:r>
              <a:rPr lang="zh-CN" altLang="en-US" sz="1200" dirty="0"/>
              <a:t>简化了与主机端信息的整合，增强了数据放置和垃圾回收的控制，并向应用程序提供传统块接口。目前，例如</a:t>
            </a:r>
            <a:r>
              <a:rPr lang="en-US" altLang="zh-CN" sz="1200" dirty="0"/>
              <a:t>dm-zoned</a:t>
            </a:r>
            <a:r>
              <a:rPr lang="zh-CN" altLang="en-US" sz="1200" dirty="0"/>
              <a:t>、</a:t>
            </a:r>
            <a:r>
              <a:rPr lang="en-US" altLang="zh-CN" sz="1200" dirty="0"/>
              <a:t>dm-zap</a:t>
            </a:r>
            <a:r>
              <a:rPr lang="zh-CN" altLang="en-US" sz="1200" dirty="0"/>
              <a:t>、</a:t>
            </a:r>
            <a:r>
              <a:rPr lang="en-US" altLang="zh-CN" sz="1200" dirty="0" err="1"/>
              <a:t>pblk</a:t>
            </a:r>
            <a:r>
              <a:rPr lang="zh-CN" altLang="en-US" sz="1200" dirty="0"/>
              <a:t>和</a:t>
            </a:r>
            <a:r>
              <a:rPr lang="en-US" altLang="zh-CN" sz="1200" dirty="0"/>
              <a:t>SPDK</a:t>
            </a:r>
            <a:r>
              <a:rPr lang="zh-CN" altLang="en-US" sz="1200" dirty="0"/>
              <a:t>的</a:t>
            </a:r>
            <a:r>
              <a:rPr lang="en-US" altLang="zh-CN" sz="1200" dirty="0"/>
              <a:t>FTL</a:t>
            </a:r>
            <a:r>
              <a:rPr lang="zh-CN" altLang="en-US" sz="1200" dirty="0"/>
              <a:t>等工作显示了</a:t>
            </a:r>
            <a:r>
              <a:rPr lang="en-US" altLang="zh-CN" sz="1200" dirty="0"/>
              <a:t>HFTL</a:t>
            </a:r>
            <a:r>
              <a:rPr lang="zh-CN" altLang="en-US" sz="1200" dirty="0"/>
              <a:t>的可行性和应用性，但目前只有</a:t>
            </a:r>
            <a:r>
              <a:rPr lang="en-US" altLang="zh-CN" sz="1200" dirty="0"/>
              <a:t>dm-zap</a:t>
            </a:r>
            <a:r>
              <a:rPr lang="zh-CN" altLang="en-US" sz="1200" dirty="0"/>
              <a:t>支持</a:t>
            </a:r>
            <a:r>
              <a:rPr lang="en-US" altLang="zh-CN" sz="1200" dirty="0"/>
              <a:t>ZNS SSD</a:t>
            </a:r>
            <a:r>
              <a:rPr lang="zh-CN" altLang="en-US" sz="1200" dirty="0"/>
              <a:t>。</a:t>
            </a:r>
            <a:endParaRPr lang="en-US" altLang="zh-CN" sz="1200" dirty="0"/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zh-CN" altLang="en-US" sz="1200" dirty="0">
              <a:latin typeface="Constantia" panose="02030602050306030303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34304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dirty="0"/>
              <a:t>尽管</a:t>
            </a:r>
            <a:r>
              <a:rPr lang="en-US" altLang="zh-CN" sz="1200" dirty="0"/>
              <a:t>HFTL</a:t>
            </a:r>
            <a:r>
              <a:rPr lang="zh-CN" altLang="en-US" sz="1200" dirty="0"/>
              <a:t>的职责较</a:t>
            </a:r>
            <a:r>
              <a:rPr lang="en-US" altLang="zh-CN" sz="1200" dirty="0"/>
              <a:t>SSD FTL</a:t>
            </a:r>
            <a:r>
              <a:rPr lang="zh-CN" altLang="en-US" sz="1200" dirty="0"/>
              <a:t>小，但它必须管理其对</a:t>
            </a:r>
            <a:r>
              <a:rPr lang="en-US" altLang="zh-CN" sz="1200" dirty="0"/>
              <a:t>CPU</a:t>
            </a:r>
            <a:r>
              <a:rPr lang="zh-CN" altLang="en-US" sz="1200" dirty="0"/>
              <a:t>和</a:t>
            </a:r>
            <a:r>
              <a:rPr lang="en-US" altLang="zh-CN" sz="1200" dirty="0"/>
              <a:t>DRAM</a:t>
            </a:r>
            <a:r>
              <a:rPr lang="zh-CN" altLang="en-US" sz="1200" dirty="0"/>
              <a:t>资源的使用，因为这些资源与主机应用共享。</a:t>
            </a:r>
            <a:r>
              <a:rPr lang="en-US" altLang="zh-CN" sz="1200" dirty="0"/>
              <a:t>HFTL</a:t>
            </a:r>
            <a:r>
              <a:rPr lang="zh-CN" altLang="en-US" sz="1200" dirty="0"/>
              <a:t>简化了与主机端信息的整合，增强了数据放置和垃圾回收的控制，并向应用程序提供传统块接口。目前，例如</a:t>
            </a:r>
            <a:r>
              <a:rPr lang="en-US" altLang="zh-CN" sz="1200" dirty="0"/>
              <a:t>dm-zoned</a:t>
            </a:r>
            <a:r>
              <a:rPr lang="zh-CN" altLang="en-US" sz="1200" dirty="0"/>
              <a:t>、</a:t>
            </a:r>
            <a:r>
              <a:rPr lang="en-US" altLang="zh-CN" sz="1200" dirty="0"/>
              <a:t>dm-zap</a:t>
            </a:r>
            <a:r>
              <a:rPr lang="zh-CN" altLang="en-US" sz="1200" dirty="0"/>
              <a:t>、</a:t>
            </a:r>
            <a:r>
              <a:rPr lang="en-US" altLang="zh-CN" sz="1200" dirty="0" err="1"/>
              <a:t>pblk</a:t>
            </a:r>
            <a:r>
              <a:rPr lang="zh-CN" altLang="en-US" sz="1200" dirty="0"/>
              <a:t>和</a:t>
            </a:r>
            <a:r>
              <a:rPr lang="en-US" altLang="zh-CN" sz="1200" dirty="0"/>
              <a:t>SPDK</a:t>
            </a:r>
            <a:r>
              <a:rPr lang="zh-CN" altLang="en-US" sz="1200" dirty="0"/>
              <a:t>的</a:t>
            </a:r>
            <a:r>
              <a:rPr lang="en-US" altLang="zh-CN" sz="1200" dirty="0"/>
              <a:t>FTL</a:t>
            </a:r>
            <a:r>
              <a:rPr lang="zh-CN" altLang="en-US" sz="1200" dirty="0"/>
              <a:t>等工作显示了</a:t>
            </a:r>
            <a:r>
              <a:rPr lang="en-US" altLang="zh-CN" sz="1200" dirty="0"/>
              <a:t>HFTL</a:t>
            </a:r>
            <a:r>
              <a:rPr lang="zh-CN" altLang="en-US" sz="1200" dirty="0"/>
              <a:t>的可行性和应用性，但目前只有</a:t>
            </a:r>
            <a:r>
              <a:rPr lang="en-US" altLang="zh-CN" sz="1200" dirty="0"/>
              <a:t>dm-zap</a:t>
            </a:r>
            <a:r>
              <a:rPr lang="zh-CN" altLang="en-US" sz="1200" dirty="0"/>
              <a:t>支持</a:t>
            </a:r>
            <a:r>
              <a:rPr lang="en-US" altLang="zh-CN" sz="1200" dirty="0"/>
              <a:t>ZNS SSD</a:t>
            </a:r>
            <a:r>
              <a:rPr lang="zh-CN" altLang="en-US" sz="1200" dirty="0"/>
              <a:t>。</a:t>
            </a:r>
            <a:endParaRPr lang="en-US" altLang="zh-CN" sz="1200" dirty="0"/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zh-CN" altLang="en-US" sz="1200" dirty="0">
              <a:latin typeface="Constantia" panose="02030602050306030303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02771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dirty="0"/>
              <a:t>尽管</a:t>
            </a:r>
            <a:r>
              <a:rPr lang="en-US" altLang="zh-CN" sz="1200" dirty="0"/>
              <a:t>HFTL</a:t>
            </a:r>
            <a:r>
              <a:rPr lang="zh-CN" altLang="en-US" sz="1200" dirty="0"/>
              <a:t>的职责较</a:t>
            </a:r>
            <a:r>
              <a:rPr lang="en-US" altLang="zh-CN" sz="1200" dirty="0"/>
              <a:t>SSD FTL</a:t>
            </a:r>
            <a:r>
              <a:rPr lang="zh-CN" altLang="en-US" sz="1200" dirty="0"/>
              <a:t>小，但它必须管理其对</a:t>
            </a:r>
            <a:r>
              <a:rPr lang="en-US" altLang="zh-CN" sz="1200" dirty="0"/>
              <a:t>CPU</a:t>
            </a:r>
            <a:r>
              <a:rPr lang="zh-CN" altLang="en-US" sz="1200" dirty="0"/>
              <a:t>和</a:t>
            </a:r>
            <a:r>
              <a:rPr lang="en-US" altLang="zh-CN" sz="1200" dirty="0"/>
              <a:t>DRAM</a:t>
            </a:r>
            <a:r>
              <a:rPr lang="zh-CN" altLang="en-US" sz="1200" dirty="0"/>
              <a:t>资源的使用，因为这些资源与主机应用共享。</a:t>
            </a:r>
            <a:r>
              <a:rPr lang="en-US" altLang="zh-CN" sz="1200" dirty="0"/>
              <a:t>HFTL</a:t>
            </a:r>
            <a:r>
              <a:rPr lang="zh-CN" altLang="en-US" sz="1200" dirty="0"/>
              <a:t>简化了与主机端信息的整合，增强了数据放置和垃圾回收的控制，并向应用程序提供传统块接口。目前，例如</a:t>
            </a:r>
            <a:r>
              <a:rPr lang="en-US" altLang="zh-CN" sz="1200" dirty="0"/>
              <a:t>dm-zoned</a:t>
            </a:r>
            <a:r>
              <a:rPr lang="zh-CN" altLang="en-US" sz="1200" dirty="0"/>
              <a:t>、</a:t>
            </a:r>
            <a:r>
              <a:rPr lang="en-US" altLang="zh-CN" sz="1200" dirty="0"/>
              <a:t>dm-zap</a:t>
            </a:r>
            <a:r>
              <a:rPr lang="zh-CN" altLang="en-US" sz="1200" dirty="0"/>
              <a:t>、</a:t>
            </a:r>
            <a:r>
              <a:rPr lang="en-US" altLang="zh-CN" sz="1200" dirty="0" err="1"/>
              <a:t>pblk</a:t>
            </a:r>
            <a:r>
              <a:rPr lang="zh-CN" altLang="en-US" sz="1200" dirty="0"/>
              <a:t>和</a:t>
            </a:r>
            <a:r>
              <a:rPr lang="en-US" altLang="zh-CN" sz="1200" dirty="0"/>
              <a:t>SPDK</a:t>
            </a:r>
            <a:r>
              <a:rPr lang="zh-CN" altLang="en-US" sz="1200" dirty="0"/>
              <a:t>的</a:t>
            </a:r>
            <a:r>
              <a:rPr lang="en-US" altLang="zh-CN" sz="1200" dirty="0"/>
              <a:t>FTL</a:t>
            </a:r>
            <a:r>
              <a:rPr lang="zh-CN" altLang="en-US" sz="1200" dirty="0"/>
              <a:t>等工作显示了</a:t>
            </a:r>
            <a:r>
              <a:rPr lang="en-US" altLang="zh-CN" sz="1200" dirty="0"/>
              <a:t>HFTL</a:t>
            </a:r>
            <a:r>
              <a:rPr lang="zh-CN" altLang="en-US" sz="1200" dirty="0"/>
              <a:t>的可行性和应用性，但目前只有</a:t>
            </a:r>
            <a:r>
              <a:rPr lang="en-US" altLang="zh-CN" sz="1200" dirty="0"/>
              <a:t>dm-zap</a:t>
            </a:r>
            <a:r>
              <a:rPr lang="zh-CN" altLang="en-US" sz="1200" dirty="0"/>
              <a:t>支持</a:t>
            </a:r>
            <a:r>
              <a:rPr lang="en-US" altLang="zh-CN" sz="1200" dirty="0"/>
              <a:t>ZNS SSD</a:t>
            </a:r>
            <a:r>
              <a:rPr lang="zh-CN" altLang="en-US" sz="1200" dirty="0"/>
              <a:t>。</a:t>
            </a:r>
            <a:endParaRPr lang="en-US" altLang="zh-CN" sz="1200" dirty="0"/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zh-CN" altLang="en-US" sz="1200" dirty="0">
              <a:latin typeface="Constantia" panose="02030602050306030303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76018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dirty="0"/>
              <a:t>尽管</a:t>
            </a:r>
            <a:r>
              <a:rPr lang="en-US" altLang="zh-CN" sz="1200" dirty="0"/>
              <a:t>HFTL</a:t>
            </a:r>
            <a:r>
              <a:rPr lang="zh-CN" altLang="en-US" sz="1200" dirty="0"/>
              <a:t>的职责较</a:t>
            </a:r>
            <a:r>
              <a:rPr lang="en-US" altLang="zh-CN" sz="1200" dirty="0"/>
              <a:t>SSD FTL</a:t>
            </a:r>
            <a:r>
              <a:rPr lang="zh-CN" altLang="en-US" sz="1200" dirty="0"/>
              <a:t>小，但它必须管理其对</a:t>
            </a:r>
            <a:r>
              <a:rPr lang="en-US" altLang="zh-CN" sz="1200" dirty="0"/>
              <a:t>CPU</a:t>
            </a:r>
            <a:r>
              <a:rPr lang="zh-CN" altLang="en-US" sz="1200" dirty="0"/>
              <a:t>和</a:t>
            </a:r>
            <a:r>
              <a:rPr lang="en-US" altLang="zh-CN" sz="1200" dirty="0"/>
              <a:t>DRAM</a:t>
            </a:r>
            <a:r>
              <a:rPr lang="zh-CN" altLang="en-US" sz="1200" dirty="0"/>
              <a:t>资源的使用，因为这些资源与主机应用共享。</a:t>
            </a:r>
            <a:r>
              <a:rPr lang="en-US" altLang="zh-CN" sz="1200" dirty="0"/>
              <a:t>HFTL</a:t>
            </a:r>
            <a:r>
              <a:rPr lang="zh-CN" altLang="en-US" sz="1200" dirty="0"/>
              <a:t>简化了与主机端信息的整合，增强了数据放置和垃圾回收的控制，并向应用程序提供传统块接口。目前，例如</a:t>
            </a:r>
            <a:r>
              <a:rPr lang="en-US" altLang="zh-CN" sz="1200" dirty="0"/>
              <a:t>dm-zoned</a:t>
            </a:r>
            <a:r>
              <a:rPr lang="zh-CN" altLang="en-US" sz="1200" dirty="0"/>
              <a:t>、</a:t>
            </a:r>
            <a:r>
              <a:rPr lang="en-US" altLang="zh-CN" sz="1200" dirty="0"/>
              <a:t>dm-zap</a:t>
            </a:r>
            <a:r>
              <a:rPr lang="zh-CN" altLang="en-US" sz="1200" dirty="0"/>
              <a:t>、</a:t>
            </a:r>
            <a:r>
              <a:rPr lang="en-US" altLang="zh-CN" sz="1200" dirty="0" err="1"/>
              <a:t>pblk</a:t>
            </a:r>
            <a:r>
              <a:rPr lang="zh-CN" altLang="en-US" sz="1200" dirty="0"/>
              <a:t>和</a:t>
            </a:r>
            <a:r>
              <a:rPr lang="en-US" altLang="zh-CN" sz="1200" dirty="0"/>
              <a:t>SPDK</a:t>
            </a:r>
            <a:r>
              <a:rPr lang="zh-CN" altLang="en-US" sz="1200" dirty="0"/>
              <a:t>的</a:t>
            </a:r>
            <a:r>
              <a:rPr lang="en-US" altLang="zh-CN" sz="1200" dirty="0"/>
              <a:t>FTL</a:t>
            </a:r>
            <a:r>
              <a:rPr lang="zh-CN" altLang="en-US" sz="1200" dirty="0"/>
              <a:t>等工作显示了</a:t>
            </a:r>
            <a:r>
              <a:rPr lang="en-US" altLang="zh-CN" sz="1200" dirty="0"/>
              <a:t>HFTL</a:t>
            </a:r>
            <a:r>
              <a:rPr lang="zh-CN" altLang="en-US" sz="1200" dirty="0"/>
              <a:t>的可行性和应用性，但目前只有</a:t>
            </a:r>
            <a:r>
              <a:rPr lang="en-US" altLang="zh-CN" sz="1200" dirty="0"/>
              <a:t>dm-zap</a:t>
            </a:r>
            <a:r>
              <a:rPr lang="zh-CN" altLang="en-US" sz="1200" dirty="0"/>
              <a:t>支持</a:t>
            </a:r>
            <a:r>
              <a:rPr lang="en-US" altLang="zh-CN" sz="1200" dirty="0"/>
              <a:t>ZNS SSD</a:t>
            </a:r>
            <a:r>
              <a:rPr lang="zh-CN" altLang="en-US" sz="1200" dirty="0"/>
              <a:t>。</a:t>
            </a:r>
            <a:endParaRPr lang="en-US" altLang="zh-CN" sz="1200" dirty="0"/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zh-CN" altLang="en-US" sz="1200" dirty="0">
              <a:latin typeface="Constantia" panose="02030602050306030303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1702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dirty="0"/>
              <a:t>尽管</a:t>
            </a:r>
            <a:r>
              <a:rPr lang="en-US" altLang="zh-CN" sz="1200" dirty="0"/>
              <a:t>HFTL</a:t>
            </a:r>
            <a:r>
              <a:rPr lang="zh-CN" altLang="en-US" sz="1200" dirty="0"/>
              <a:t>的职责较</a:t>
            </a:r>
            <a:r>
              <a:rPr lang="en-US" altLang="zh-CN" sz="1200" dirty="0"/>
              <a:t>SSD FTL</a:t>
            </a:r>
            <a:r>
              <a:rPr lang="zh-CN" altLang="en-US" sz="1200" dirty="0"/>
              <a:t>小，但它必须管理其对</a:t>
            </a:r>
            <a:r>
              <a:rPr lang="en-US" altLang="zh-CN" sz="1200" dirty="0"/>
              <a:t>CPU</a:t>
            </a:r>
            <a:r>
              <a:rPr lang="zh-CN" altLang="en-US" sz="1200" dirty="0"/>
              <a:t>和</a:t>
            </a:r>
            <a:r>
              <a:rPr lang="en-US" altLang="zh-CN" sz="1200" dirty="0"/>
              <a:t>DRAM</a:t>
            </a:r>
            <a:r>
              <a:rPr lang="zh-CN" altLang="en-US" sz="1200" dirty="0"/>
              <a:t>资源的使用，因为这些资源与主机应用共享。</a:t>
            </a:r>
            <a:r>
              <a:rPr lang="en-US" altLang="zh-CN" sz="1200" dirty="0"/>
              <a:t>HFTL</a:t>
            </a:r>
            <a:r>
              <a:rPr lang="zh-CN" altLang="en-US" sz="1200" dirty="0"/>
              <a:t>简化了与主机端信息的整合，增强了数据放置和垃圾回收的控制，并向应用程序提供传统块接口。目前，例如</a:t>
            </a:r>
            <a:r>
              <a:rPr lang="en-US" altLang="zh-CN" sz="1200" dirty="0"/>
              <a:t>dm-zoned</a:t>
            </a:r>
            <a:r>
              <a:rPr lang="zh-CN" altLang="en-US" sz="1200" dirty="0"/>
              <a:t>、</a:t>
            </a:r>
            <a:r>
              <a:rPr lang="en-US" altLang="zh-CN" sz="1200" dirty="0"/>
              <a:t>dm-zap</a:t>
            </a:r>
            <a:r>
              <a:rPr lang="zh-CN" altLang="en-US" sz="1200" dirty="0"/>
              <a:t>、</a:t>
            </a:r>
            <a:r>
              <a:rPr lang="en-US" altLang="zh-CN" sz="1200" dirty="0" err="1"/>
              <a:t>pblk</a:t>
            </a:r>
            <a:r>
              <a:rPr lang="zh-CN" altLang="en-US" sz="1200" dirty="0"/>
              <a:t>和</a:t>
            </a:r>
            <a:r>
              <a:rPr lang="en-US" altLang="zh-CN" sz="1200" dirty="0"/>
              <a:t>SPDK</a:t>
            </a:r>
            <a:r>
              <a:rPr lang="zh-CN" altLang="en-US" sz="1200" dirty="0"/>
              <a:t>的</a:t>
            </a:r>
            <a:r>
              <a:rPr lang="en-US" altLang="zh-CN" sz="1200" dirty="0"/>
              <a:t>FTL</a:t>
            </a:r>
            <a:r>
              <a:rPr lang="zh-CN" altLang="en-US" sz="1200" dirty="0"/>
              <a:t>等工作显示了</a:t>
            </a:r>
            <a:r>
              <a:rPr lang="en-US" altLang="zh-CN" sz="1200" dirty="0"/>
              <a:t>HFTL</a:t>
            </a:r>
            <a:r>
              <a:rPr lang="zh-CN" altLang="en-US" sz="1200" dirty="0"/>
              <a:t>的可行性和应用性，但目前只有</a:t>
            </a:r>
            <a:r>
              <a:rPr lang="en-US" altLang="zh-CN" sz="1200" dirty="0"/>
              <a:t>dm-zap</a:t>
            </a:r>
            <a:r>
              <a:rPr lang="zh-CN" altLang="en-US" sz="1200" dirty="0"/>
              <a:t>支持</a:t>
            </a:r>
            <a:r>
              <a:rPr lang="en-US" altLang="zh-CN" sz="1200" dirty="0"/>
              <a:t>ZNS SSD</a:t>
            </a:r>
            <a:r>
              <a:rPr lang="zh-CN" altLang="en-US" sz="1200" dirty="0"/>
              <a:t>。</a:t>
            </a:r>
            <a:endParaRPr lang="en-US" altLang="zh-CN" sz="1200" dirty="0"/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zh-CN" altLang="en-US" sz="1200" dirty="0">
              <a:latin typeface="Constantia" panose="02030602050306030303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80441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rgbClr val="0D0D0D"/>
                </a:solidFill>
                <a:latin typeface="Söhne"/>
              </a:rPr>
              <a:t>我们的设备是有区别的，例如：介质区别、关键参数区别，例如已知的，</a:t>
            </a:r>
            <a:r>
              <a:rPr lang="en-US" altLang="zh-CN" dirty="0">
                <a:solidFill>
                  <a:srgbClr val="0D0D0D"/>
                </a:solidFill>
                <a:latin typeface="Söhne"/>
              </a:rPr>
              <a:t>zone size 2GB-&gt;1.4GB</a:t>
            </a:r>
            <a:r>
              <a:rPr lang="zh-CN" altLang="en-US" dirty="0">
                <a:solidFill>
                  <a:srgbClr val="0D0D0D"/>
                </a:solidFill>
                <a:latin typeface="Söhne"/>
              </a:rPr>
              <a:t>，最大带宽也更大。</a:t>
            </a:r>
            <a:endParaRPr lang="en-US" altLang="zh-CN" dirty="0">
              <a:solidFill>
                <a:srgbClr val="0D0D0D"/>
              </a:solidFill>
              <a:latin typeface="Söhne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en-US" altLang="zh-CN" sz="1200" dirty="0">
              <a:solidFill>
                <a:srgbClr val="0D0D0D"/>
              </a:solidFill>
              <a:latin typeface="Söhne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CN" altLang="en-US" sz="1200" dirty="0">
                <a:solidFill>
                  <a:srgbClr val="0D0D0D"/>
                </a:solidFill>
                <a:latin typeface="Söhne"/>
              </a:rPr>
              <a:t>过去的工作：要么模拟器。要么真实设备，只有一款真实设备，</a:t>
            </a:r>
            <a:r>
              <a:rPr lang="en-US" altLang="zh-CN" sz="1200" dirty="0">
                <a:solidFill>
                  <a:srgbClr val="0D0D0D"/>
                </a:solidFill>
                <a:latin typeface="Söhne"/>
              </a:rPr>
              <a:t>SSD vs ZNS</a:t>
            </a:r>
            <a:r>
              <a:rPr lang="zh-CN" altLang="en-US" sz="1200" dirty="0">
                <a:solidFill>
                  <a:srgbClr val="0D0D0D"/>
                </a:solidFill>
                <a:latin typeface="Söhne"/>
              </a:rPr>
              <a:t>。</a:t>
            </a:r>
            <a:endParaRPr lang="en-US" altLang="zh-CN" sz="1200" dirty="0">
              <a:solidFill>
                <a:srgbClr val="0D0D0D"/>
              </a:solidFill>
              <a:latin typeface="Söhne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en-US" altLang="zh-CN" sz="1200" dirty="0">
              <a:solidFill>
                <a:srgbClr val="0D0D0D"/>
              </a:solidFill>
              <a:latin typeface="Söhne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CN" altLang="en-US" sz="1200" dirty="0">
                <a:solidFill>
                  <a:srgbClr val="0D0D0D"/>
                </a:solidFill>
                <a:latin typeface="Söhne"/>
              </a:rPr>
              <a:t>我们的工作：模拟器 </a:t>
            </a:r>
            <a:r>
              <a:rPr lang="en-US" altLang="zh-CN" sz="1200" dirty="0">
                <a:solidFill>
                  <a:srgbClr val="0D0D0D"/>
                </a:solidFill>
                <a:latin typeface="Söhne"/>
              </a:rPr>
              <a:t>vs ZNS1 vs ZNS2</a:t>
            </a: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en-US" altLang="zh-CN" sz="1200" dirty="0">
              <a:latin typeface="Constantia" panose="02030602050306030303" pitchFamily="18" charset="0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zh-CN" altLang="en-US" sz="1200" dirty="0">
              <a:latin typeface="Constantia" panose="02030602050306030303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12</a:t>
            </a:fld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rgbClr val="0D0D0D"/>
                </a:solidFill>
                <a:latin typeface="Söhne"/>
              </a:rPr>
              <a:t>我们的设备是有区别的，例如：介质区别、关键参数区别，例如已知的，</a:t>
            </a:r>
            <a:r>
              <a:rPr lang="en-US" altLang="zh-CN" dirty="0">
                <a:solidFill>
                  <a:srgbClr val="0D0D0D"/>
                </a:solidFill>
                <a:latin typeface="Söhne"/>
              </a:rPr>
              <a:t>zone size 2GB-&gt;1.4GB</a:t>
            </a:r>
            <a:r>
              <a:rPr lang="zh-CN" altLang="en-US" dirty="0">
                <a:solidFill>
                  <a:srgbClr val="0D0D0D"/>
                </a:solidFill>
                <a:latin typeface="Söhne"/>
              </a:rPr>
              <a:t>，最大带宽也更大。</a:t>
            </a:r>
            <a:endParaRPr lang="en-US" altLang="zh-CN" dirty="0">
              <a:solidFill>
                <a:srgbClr val="0D0D0D"/>
              </a:solidFill>
              <a:latin typeface="Söhne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en-US" altLang="zh-CN" sz="1200" dirty="0">
              <a:solidFill>
                <a:srgbClr val="0D0D0D"/>
              </a:solidFill>
              <a:latin typeface="Söhne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CN" altLang="en-US" sz="1200" dirty="0">
                <a:solidFill>
                  <a:srgbClr val="0D0D0D"/>
                </a:solidFill>
                <a:latin typeface="Söhne"/>
              </a:rPr>
              <a:t>过去的工作：要么模拟器。要么真实设备，只有一款真实设备，</a:t>
            </a:r>
            <a:r>
              <a:rPr lang="en-US" altLang="zh-CN" sz="1200" dirty="0">
                <a:solidFill>
                  <a:srgbClr val="0D0D0D"/>
                </a:solidFill>
                <a:latin typeface="Söhne"/>
              </a:rPr>
              <a:t>SSD vs ZNS</a:t>
            </a:r>
            <a:r>
              <a:rPr lang="zh-CN" altLang="en-US" sz="1200" dirty="0">
                <a:solidFill>
                  <a:srgbClr val="0D0D0D"/>
                </a:solidFill>
                <a:latin typeface="Söhne"/>
              </a:rPr>
              <a:t>。</a:t>
            </a:r>
            <a:endParaRPr lang="en-US" altLang="zh-CN" sz="1200" dirty="0">
              <a:solidFill>
                <a:srgbClr val="0D0D0D"/>
              </a:solidFill>
              <a:latin typeface="Söhne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en-US" altLang="zh-CN" sz="1200" dirty="0">
              <a:solidFill>
                <a:srgbClr val="0D0D0D"/>
              </a:solidFill>
              <a:latin typeface="Söhne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CN" altLang="en-US" sz="1200" dirty="0">
                <a:solidFill>
                  <a:srgbClr val="0D0D0D"/>
                </a:solidFill>
                <a:latin typeface="Söhne"/>
              </a:rPr>
              <a:t>我们的工作：模拟器 </a:t>
            </a:r>
            <a:r>
              <a:rPr lang="en-US" altLang="zh-CN" sz="1200" dirty="0">
                <a:solidFill>
                  <a:srgbClr val="0D0D0D"/>
                </a:solidFill>
                <a:latin typeface="Söhne"/>
              </a:rPr>
              <a:t>vs ZNS1 vs ZNS2</a:t>
            </a: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en-US" altLang="zh-CN" sz="1200" dirty="0">
              <a:latin typeface="Constantia" panose="02030602050306030303" pitchFamily="18" charset="0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zh-CN" altLang="en-US" sz="1200" dirty="0">
              <a:latin typeface="Constantia" panose="02030602050306030303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13</a:t>
            </a:fld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1800" u="sng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hlinkClick r:id="rId3"/>
              </a:rPr>
              <a:t>https://github.com/linux-nvme/nvme-cli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https://zonedstorage.io/docs/tools/libzbd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zh-CN" altLang="en-US" sz="1200" dirty="0">
              <a:latin typeface="Constantia" panose="02030602050306030303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14</a:t>
            </a:fld>
            <a:endParaRPr 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zh-CN" altLang="en-US" sz="1200" dirty="0">
              <a:latin typeface="Constantia" panose="02030602050306030303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15</a:t>
            </a:fld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zh-CN" altLang="en-US" sz="1200" dirty="0">
              <a:latin typeface="Constantia" panose="02030602050306030303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16</a:t>
            </a:fld>
            <a:endParaRPr 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zh-CN" altLang="en-US" sz="1200" dirty="0">
              <a:latin typeface="Constantia" panose="02030602050306030303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17</a:t>
            </a:fld>
            <a:endParaRPr 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zh-CN" altLang="en-US" sz="1200" dirty="0">
              <a:latin typeface="Constantia" panose="02030602050306030303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18</a:t>
            </a:fld>
            <a:endParaRPr 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zh-CN" altLang="en-US" sz="1200" dirty="0">
              <a:latin typeface="Constantia" panose="02030602050306030303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19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933C0B-BA49-2F3E-8EAA-764B32BD41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C7BA738-3549-3ECF-F948-B6E5EBA633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1374DF-5659-FDF6-2070-AE11434F8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0790-74FE-4212-A615-F89461BB8B94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06DF7F-F591-CD56-F9B6-A92969B17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EF4A84-D278-9FB9-379D-DC875FC65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75792-7302-4EA3-BBF1-F84EFF50EA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5979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0FC6BB-EE9A-4B8C-8C32-41E0B3CF0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67910A-15A4-F601-A7D2-EF174DE50F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EE3AB4-EF6D-0B4A-46CD-E28DCFE90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0790-74FE-4212-A615-F89461BB8B94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F68886-863F-7C45-DD64-6B77F0FD0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AA872F-D3E6-62F1-B045-B580E0ADE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75792-7302-4EA3-BBF1-F84EFF50EA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6906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5D5794-6334-E64F-9564-0A468AC78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36B4B9A-9E8F-2EF6-FE2B-2F30C28AB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5C17EA-1660-B44E-7D52-005454423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0790-74FE-4212-A615-F89461BB8B94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699A6D-5F13-3A32-FBE6-2105858D4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D08342-3959-041C-A0E5-79D5F4742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75792-7302-4EA3-BBF1-F84EFF50EA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3556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DFAFF4-63AE-F396-5D8F-9220E2E40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386221-E3AA-689A-ACE2-F3C02C3C4E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BBDB6AF-64CE-9CA9-237A-7B36AD49A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337C703-E512-1AFF-ECF2-8041945FE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0790-74FE-4212-A615-F89461BB8B94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ADDCE5D-9781-3FBC-DB4E-B9DBFC1B8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7A0F3D3-6ACE-0343-C0D6-E036884B1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75792-7302-4EA3-BBF1-F84EFF50EA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2836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5D7806-8492-1BE4-6471-E3A23654E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3F816E-A998-2031-71CD-1249950773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B62E14C-E43D-5C0D-8E81-AAC4A6D010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1601416-613D-EBC7-E662-3A1EE307D4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C6CC91D-2433-FEEE-AA2A-34249F749A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7DC815A-4784-8DDA-0820-CB8782A49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0790-74FE-4212-A615-F89461BB8B94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D8276C3-4B74-23C6-D2F2-4563A9265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DC6C627-A1CD-FB85-6A73-3C56F870B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75792-7302-4EA3-BBF1-F84EFF50EA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5241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45DD24-30C0-8AE1-9C8B-4A5EECE84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9B7692E-DEBA-84C6-7B66-5434EF844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0790-74FE-4212-A615-F89461BB8B94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B174D78-39CA-9A83-4E4D-F9DB11F28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43EFED9-BE67-3424-9F45-E335C0336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75792-7302-4EA3-BBF1-F84EFF50EA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0414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1F364E9-81EF-5B7E-D79C-2E2126A4F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0790-74FE-4212-A615-F89461BB8B94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A4C7443-8D17-C402-4C46-D80E593A9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7920F61-7442-527A-3B08-001C0ACBA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75792-7302-4EA3-BBF1-F84EFF50EA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9785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1648A7-5003-7033-125C-F1E2C0ADE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D17948-0403-952F-6E9A-369DDD42A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62A87FE-97B0-299A-4104-C323CD609B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9634DC1-6B35-03E4-6083-275FA510D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0790-74FE-4212-A615-F89461BB8B94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FD6B4C-E678-510B-5AE8-C1BA7363D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FCEB999-C509-EE41-7914-F449E7C15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75792-7302-4EA3-BBF1-F84EFF50EA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7851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52E269-61DD-F352-24A8-A599706B3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F3D7290-88B2-5633-B5AD-455C041A42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BC496F8-9DE7-CF16-DB1E-439C68BD7A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053D5C4-5B52-4E40-FC2E-371AA32E6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0790-74FE-4212-A615-F89461BB8B94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ADED3B-E4BA-C225-17CC-873620A64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C614772-52E8-F466-6D5C-FA49C1B03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75792-7302-4EA3-BBF1-F84EFF50EA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0645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E74BBC-196A-0E9B-F373-E16CEA1A5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2374340-E7D9-2157-E994-FACA4CAA3D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0096F4-B47B-25CB-6CF8-DF6AADEF4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0790-74FE-4212-A615-F89461BB8B94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23EDDA-384F-51C8-8582-47891C2D8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AE7E70-7517-B9C3-4C0A-F0B686D24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75792-7302-4EA3-BBF1-F84EFF50EA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1152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902090C-FBE5-D326-71F3-916EE23121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52128B6-90CA-B3F8-E92F-7A4A0D8F3C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60ABAF-ED0A-980F-605B-63E77F683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0790-74FE-4212-A615-F89461BB8B94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8731AF-EC01-4BF2-4B8B-2B27A54F9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5D63F4-5927-3A17-136C-9ADBC04DB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75792-7302-4EA3-BBF1-F84EFF50EA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2036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9031824-657A-0B0C-ABF6-11F0E5D19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3C9584B-4F4F-3CE1-922A-88B4D93CE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114D41-7120-4B52-6B2F-6E7897BF45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040790-74FE-4212-A615-F89461BB8B94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28AE9F-ADD7-1CC6-BDD2-07E1D501BA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84E46C-8E1A-6909-4D55-05C635F63A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B75792-7302-4EA3-BBF1-F84EFF50EA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3076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hyperlink" Target="https://github.com/linux-nvme/nvme-cli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vtess/FEMU" TargetMode="External"/><Relationship Id="rId5" Type="http://schemas.openxmlformats.org/officeDocument/2006/relationships/hyperlink" Target="https://www.qemu.org/" TargetMode="Externa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github.com/linux-nvme/nvme-cli" TargetMode="Externa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tantia" panose="02030602050306030303" pitchFamily="18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534400" y="6522720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日期占位符 7"/>
          <p:cNvSpPr>
            <a:spLocks noGrp="1"/>
          </p:cNvSpPr>
          <p:nvPr>
            <p:ph type="dt" sz="half" idx="10"/>
          </p:nvPr>
        </p:nvSpPr>
        <p:spPr>
          <a:xfrm>
            <a:off x="1209907" y="6494974"/>
            <a:ext cx="1847385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CCC338-FFC3-4940-99DD-6195BEF39901}" type="datetime4">
              <a:rPr kumimoji="0" lang="en-US" altLang="zh-CN" sz="14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tantia" panose="02030602050306030303" pitchFamily="18" charset="0"/>
                <a:ea typeface="等线" panose="02010600030101010101" pitchFamily="2" charset="-122"/>
                <a:cs typeface="Times" panose="02020603050405020304" pitchFamily="18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April 7, 2024</a:t>
            </a:fld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tantia" panose="02030602050306030303" pitchFamily="18" charset="0"/>
              <a:ea typeface="等线" panose="02010600030101010101" pitchFamily="2" charset="-122"/>
              <a:cs typeface="Times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967969" y="2369202"/>
            <a:ext cx="1054061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rgbClr val="4747BA"/>
                </a:solidFill>
                <a:effectLst/>
                <a:uLnTx/>
                <a:uFillTx/>
                <a:latin typeface="Constantia" panose="02030602050306030303" pitchFamily="18" charset="0"/>
                <a:ea typeface="微软雅黑" panose="020B0503020204020204" charset="-122"/>
                <a:cs typeface="Calibri" panose="020F0502020204030204" charset="0"/>
              </a:rPr>
              <a:t>ZNS 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4747BA"/>
                </a:solidFill>
                <a:effectLst/>
                <a:uLnTx/>
                <a:uFillTx/>
                <a:latin typeface="Constantia" panose="02030602050306030303" pitchFamily="18" charset="0"/>
                <a:ea typeface="微软雅黑" panose="020B0503020204020204" charset="-122"/>
                <a:cs typeface="Calibri" panose="020F0502020204030204" charset="0"/>
              </a:rPr>
              <a:t>技术综述</a:t>
            </a: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rgbClr val="4747BA"/>
                </a:solidFill>
                <a:effectLst/>
                <a:uLnTx/>
                <a:uFillTx/>
                <a:latin typeface="Constantia" panose="02030602050306030303" pitchFamily="18" charset="0"/>
                <a:ea typeface="微软雅黑" panose="020B0503020204020204" charset="-122"/>
                <a:cs typeface="Calibri" panose="020F0502020204030204" charset="0"/>
              </a:rPr>
              <a:t>: </a:t>
            </a:r>
          </a:p>
        </p:txBody>
      </p:sp>
      <p:sp>
        <p:nvSpPr>
          <p:cNvPr id="20" name="矩形 19"/>
          <p:cNvSpPr/>
          <p:nvPr/>
        </p:nvSpPr>
        <p:spPr>
          <a:xfrm>
            <a:off x="5105985" y="5350064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747BA"/>
                </a:solidFill>
                <a:effectLst/>
                <a:uLnTx/>
                <a:uFillTx/>
                <a:latin typeface="Constantia" panose="02030602050306030303" pitchFamily="18" charset="0"/>
                <a:ea typeface="等线" panose="02010600030101010101" pitchFamily="2" charset="-122"/>
                <a:cs typeface="+mn-cs"/>
              </a:rPr>
              <a:t>汇报人：</a:t>
            </a:r>
            <a:r>
              <a:rPr lang="zh-CN" altLang="en-US" sz="2000" b="1" dirty="0">
                <a:solidFill>
                  <a:srgbClr val="4747BA"/>
                </a:solidFill>
                <a:latin typeface="Constantia" panose="02030602050306030303" pitchFamily="18" charset="0"/>
                <a:ea typeface="等线" panose="02010600030101010101" pitchFamily="2" charset="-122"/>
              </a:rPr>
              <a:t>柳子淇</a:t>
            </a:r>
            <a:endParaRPr lang="en-US" altLang="zh-CN" sz="2000" b="1" dirty="0">
              <a:solidFill>
                <a:srgbClr val="4747BA"/>
              </a:solidFill>
              <a:latin typeface="Constantia" panose="02030602050306030303" pitchFamily="18" charset="0"/>
              <a:ea typeface="等线" panose="02010600030101010101" pitchFamily="2" charset="-122"/>
            </a:endParaRPr>
          </a:p>
        </p:txBody>
      </p:sp>
      <p:sp>
        <p:nvSpPr>
          <p:cNvPr id="16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4095916" y="6553437"/>
            <a:ext cx="4520431" cy="273844"/>
          </a:xfrm>
        </p:spPr>
        <p:txBody>
          <a:bodyPr>
            <a:normAutofit fontScale="875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tantia" panose="02030602050306030303" pitchFamily="18" charset="0"/>
                <a:ea typeface="等线" panose="02010600030101010101" pitchFamily="2" charset="-122"/>
                <a:cs typeface="+mn-cs"/>
              </a:rPr>
              <a:t>HUST 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tantia" panose="02030602050306030303" pitchFamily="18" charset="0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434" y="232034"/>
            <a:ext cx="2438400" cy="527343"/>
          </a:xfrm>
          <a:prstGeom prst="rect">
            <a:avLst/>
          </a:prstGeom>
        </p:spPr>
      </p:pic>
      <p:sp>
        <p:nvSpPr>
          <p:cNvPr id="1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847869" y="6405035"/>
            <a:ext cx="809393" cy="545001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52851E7-9224-42D2-A4FF-119762E40804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tantia" panose="02030602050306030303" pitchFamily="18" charset="0"/>
                <a:ea typeface="等线" panose="02010600030101010101" pitchFamily="2" charset="-122"/>
                <a:cs typeface="Times" panose="02020603050405020304" pitchFamily="18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tantia" panose="02030602050306030303" pitchFamily="18" charset="0"/>
              <a:ea typeface="等线" panose="02010600030101010101" pitchFamily="2" charset="-122"/>
              <a:cs typeface="Times" panose="02020603050405020304" pitchFamily="18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4F59C03F-4529-480B-BB38-48398DE9C760}"/>
              </a:ext>
            </a:extLst>
          </p:cNvPr>
          <p:cNvSpPr txBox="1"/>
          <p:nvPr/>
        </p:nvSpPr>
        <p:spPr>
          <a:xfrm>
            <a:off x="3049002" y="5947252"/>
            <a:ext cx="6093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1800" b="1" dirty="0">
                <a:solidFill>
                  <a:srgbClr val="4747B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24.04.08</a:t>
            </a:r>
            <a:endParaRPr lang="zh-CN" altLang="en-US" sz="1800" b="1" dirty="0">
              <a:solidFill>
                <a:srgbClr val="4747B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534400" y="6538313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4" name="日期占位符 7"/>
          <p:cNvSpPr>
            <a:spLocks noGrp="1"/>
          </p:cNvSpPr>
          <p:nvPr>
            <p:ph type="dt" sz="half" idx="10"/>
          </p:nvPr>
        </p:nvSpPr>
        <p:spPr>
          <a:xfrm>
            <a:off x="1209907" y="6494974"/>
            <a:ext cx="1847385" cy="365125"/>
          </a:xfrm>
        </p:spPr>
        <p:txBody>
          <a:bodyPr/>
          <a:lstStyle/>
          <a:p>
            <a:fld id="{31CCC338-FFC3-4940-99DD-6195BEF39901}" type="datetime4">
              <a:rPr lang="en-US" altLang="zh-CN" sz="1400" b="1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April 7, 2024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385590" y="859531"/>
            <a:ext cx="11479576" cy="0"/>
          </a:xfrm>
          <a:prstGeom prst="line">
            <a:avLst/>
          </a:prstGeom>
          <a:ln w="38100">
            <a:solidFill>
              <a:srgbClr val="4747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385590" y="226263"/>
            <a:ext cx="6798981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altLang="zh-CN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 ZNS</a:t>
            </a:r>
            <a:r>
              <a:rPr lang="zh-CN" altLang="en-US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简介</a:t>
            </a:r>
            <a:r>
              <a:rPr lang="en-US" altLang="zh-CN" sz="36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 </a:t>
            </a:r>
            <a:endParaRPr lang="zh-CN" altLang="en-US" sz="3600" b="1" dirty="0">
              <a:solidFill>
                <a:srgbClr val="4747BA"/>
              </a:solidFill>
              <a:latin typeface="Constantia" panose="02030602050306030303" pitchFamily="18" charset="0"/>
              <a:ea typeface="腾讯体 W3" panose="020C04030202040F0204" pitchFamily="34" charset="-122"/>
              <a:cs typeface="Times" panose="02020603050405020304" pitchFamily="18" charset="0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063" y="218980"/>
            <a:ext cx="730337" cy="556270"/>
          </a:xfrm>
          <a:prstGeom prst="rect">
            <a:avLst/>
          </a:prstGeom>
        </p:spPr>
      </p:pic>
      <p:sp>
        <p:nvSpPr>
          <p:cNvPr id="14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847869" y="6405035"/>
            <a:ext cx="809393" cy="545001"/>
          </a:xfrm>
        </p:spPr>
        <p:txBody>
          <a:bodyPr/>
          <a:lstStyle/>
          <a:p>
            <a:pPr algn="ctr"/>
            <a:fld id="{152851E7-9224-42D2-A4FF-119762E40804}" type="slidenum">
              <a:rPr lang="zh-CN" altLang="en-US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2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  <p:sp>
        <p:nvSpPr>
          <p:cNvPr id="10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4095916" y="6553437"/>
            <a:ext cx="4520431" cy="273844"/>
          </a:xfrm>
        </p:spPr>
        <p:txBody>
          <a:bodyPr/>
          <a:lstStyle/>
          <a:p>
            <a:r>
              <a:rPr lang="en-US" altLang="zh-CN" sz="1400" b="1" dirty="0" err="1">
                <a:solidFill>
                  <a:schemeClr val="bg1"/>
                </a:solidFill>
                <a:latin typeface="Constantia" panose="02030602050306030303" pitchFamily="18" charset="0"/>
              </a:rPr>
              <a:t>Ziqi</a:t>
            </a:r>
            <a:r>
              <a:rPr lang="en-US" altLang="zh-CN" sz="1400" b="1" dirty="0">
                <a:solidFill>
                  <a:schemeClr val="bg1"/>
                </a:solidFill>
                <a:latin typeface="Constantia" panose="02030602050306030303" pitchFamily="18" charset="0"/>
              </a:rPr>
              <a:t> Liu | HUST</a:t>
            </a:r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4E2EDCF-6A62-43BB-A88A-5060B2A94C9E}"/>
              </a:ext>
            </a:extLst>
          </p:cNvPr>
          <p:cNvSpPr txBox="1"/>
          <p:nvPr/>
        </p:nvSpPr>
        <p:spPr>
          <a:xfrm>
            <a:off x="525958" y="2315748"/>
            <a:ext cx="6798981" cy="1844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altLang="zh-CN" sz="36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SSD</a:t>
            </a:r>
            <a:r>
              <a:rPr lang="zh-CN" altLang="en-US" sz="36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的写放大问题</a:t>
            </a:r>
            <a:endParaRPr lang="en-US" altLang="zh-CN" sz="3600" b="1" dirty="0">
              <a:solidFill>
                <a:srgbClr val="4747BA"/>
              </a:solidFill>
              <a:latin typeface="Constantia" panose="02030602050306030303" pitchFamily="18" charset="0"/>
              <a:ea typeface="腾讯体 W3" panose="020C04030202040F0204" pitchFamily="34" charset="-122"/>
              <a:cs typeface="Times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endParaRPr lang="en-US" altLang="zh-CN" sz="3600" b="1" dirty="0">
              <a:solidFill>
                <a:srgbClr val="4747BA"/>
              </a:solidFill>
              <a:latin typeface="Constantia" panose="02030602050306030303" pitchFamily="18" charset="0"/>
              <a:ea typeface="腾讯体 W3" panose="020C04030202040F0204" pitchFamily="34" charset="-122"/>
              <a:cs typeface="Times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altLang="zh-CN" sz="36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ZNS</a:t>
            </a:r>
            <a:r>
              <a:rPr lang="zh-CN" altLang="en-US" sz="36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的设计原理</a:t>
            </a:r>
          </a:p>
        </p:txBody>
      </p:sp>
    </p:spTree>
    <p:extLst>
      <p:ext uri="{BB962C8B-B14F-4D97-AF65-F5344CB8AC3E}">
        <p14:creationId xmlns:p14="http://schemas.microsoft.com/office/powerpoint/2010/main" val="173095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534400" y="6538313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4" name="日期占位符 7"/>
          <p:cNvSpPr>
            <a:spLocks noGrp="1"/>
          </p:cNvSpPr>
          <p:nvPr>
            <p:ph type="dt" sz="half" idx="10"/>
          </p:nvPr>
        </p:nvSpPr>
        <p:spPr>
          <a:xfrm>
            <a:off x="1209907" y="6494974"/>
            <a:ext cx="1847385" cy="365125"/>
          </a:xfrm>
        </p:spPr>
        <p:txBody>
          <a:bodyPr/>
          <a:lstStyle/>
          <a:p>
            <a:fld id="{31CCC338-FFC3-4940-99DD-6195BEF39901}" type="datetime4">
              <a:rPr lang="en-US" altLang="zh-CN" sz="1400" b="1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April 7, 2024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385590" y="859531"/>
            <a:ext cx="11479576" cy="0"/>
          </a:xfrm>
          <a:prstGeom prst="line">
            <a:avLst/>
          </a:prstGeom>
          <a:ln w="38100">
            <a:solidFill>
              <a:srgbClr val="4747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385590" y="226263"/>
            <a:ext cx="6798981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altLang="zh-CN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 ZNS</a:t>
            </a:r>
            <a:r>
              <a:rPr lang="zh-CN" altLang="en-US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简介</a:t>
            </a:r>
            <a:r>
              <a:rPr lang="en-US" altLang="zh-CN" sz="36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 </a:t>
            </a:r>
            <a:endParaRPr lang="zh-CN" altLang="en-US" sz="3600" b="1" dirty="0">
              <a:solidFill>
                <a:srgbClr val="4747BA"/>
              </a:solidFill>
              <a:latin typeface="Constantia" panose="02030602050306030303" pitchFamily="18" charset="0"/>
              <a:ea typeface="腾讯体 W3" panose="020C04030202040F0204" pitchFamily="34" charset="-122"/>
              <a:cs typeface="Times" panose="02020603050405020304" pitchFamily="18" charset="0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063" y="218980"/>
            <a:ext cx="730337" cy="556270"/>
          </a:xfrm>
          <a:prstGeom prst="rect">
            <a:avLst/>
          </a:prstGeom>
        </p:spPr>
      </p:pic>
      <p:sp>
        <p:nvSpPr>
          <p:cNvPr id="14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847869" y="6405035"/>
            <a:ext cx="809393" cy="545001"/>
          </a:xfrm>
        </p:spPr>
        <p:txBody>
          <a:bodyPr/>
          <a:lstStyle/>
          <a:p>
            <a:pPr algn="ctr"/>
            <a:fld id="{152851E7-9224-42D2-A4FF-119762E40804}" type="slidenum">
              <a:rPr lang="zh-CN" altLang="en-US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3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  <p:sp>
        <p:nvSpPr>
          <p:cNvPr id="10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4095916" y="6553437"/>
            <a:ext cx="4520431" cy="273844"/>
          </a:xfrm>
        </p:spPr>
        <p:txBody>
          <a:bodyPr/>
          <a:lstStyle/>
          <a:p>
            <a:r>
              <a:rPr lang="en-US" altLang="zh-CN" sz="1400" b="1" dirty="0" err="1">
                <a:solidFill>
                  <a:schemeClr val="bg1"/>
                </a:solidFill>
                <a:latin typeface="Constantia" panose="02030602050306030303" pitchFamily="18" charset="0"/>
              </a:rPr>
              <a:t>Ziqi</a:t>
            </a:r>
            <a:r>
              <a:rPr lang="en-US" altLang="zh-CN" sz="1400" b="1" dirty="0">
                <a:solidFill>
                  <a:schemeClr val="bg1"/>
                </a:solidFill>
                <a:latin typeface="Constantia" panose="02030602050306030303" pitchFamily="18" charset="0"/>
              </a:rPr>
              <a:t> Liu | HUST</a:t>
            </a:r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27CF64B-0990-4162-B6FA-DAF585B411C3}"/>
              </a:ext>
            </a:extLst>
          </p:cNvPr>
          <p:cNvSpPr txBox="1"/>
          <p:nvPr/>
        </p:nvSpPr>
        <p:spPr>
          <a:xfrm>
            <a:off x="385590" y="1353222"/>
            <a:ext cx="6798981" cy="3098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altLang="zh-CN" sz="36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ZNS</a:t>
            </a:r>
            <a:r>
              <a:rPr lang="zh-CN" altLang="en-US" sz="36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的优势</a:t>
            </a:r>
            <a:endParaRPr lang="en-US" altLang="zh-CN" sz="3600" b="1" dirty="0">
              <a:solidFill>
                <a:srgbClr val="4747BA"/>
              </a:solidFill>
              <a:latin typeface="Constantia" panose="02030602050306030303" pitchFamily="18" charset="0"/>
              <a:ea typeface="腾讯体 W3" panose="020C04030202040F0204" pitchFamily="34" charset="-122"/>
              <a:cs typeface="Times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endParaRPr lang="en-US" altLang="zh-CN" sz="3600" b="1" dirty="0">
              <a:solidFill>
                <a:srgbClr val="4747BA"/>
              </a:solidFill>
              <a:latin typeface="Constantia" panose="02030602050306030303" pitchFamily="18" charset="0"/>
              <a:ea typeface="腾讯体 W3" panose="020C04030202040F0204" pitchFamily="34" charset="-122"/>
              <a:cs typeface="Times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zh-CN" altLang="en-US" sz="36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提高性能</a:t>
            </a:r>
            <a:endParaRPr lang="en-US" altLang="zh-CN" sz="3600" b="1" dirty="0">
              <a:solidFill>
                <a:srgbClr val="4747BA"/>
              </a:solidFill>
              <a:latin typeface="Constantia" panose="02030602050306030303" pitchFamily="18" charset="0"/>
              <a:ea typeface="腾讯体 W3" panose="020C04030202040F0204" pitchFamily="34" charset="-122"/>
              <a:cs typeface="Times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zh-CN" altLang="en-US" sz="36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寿命优化</a:t>
            </a:r>
            <a:endParaRPr lang="en-US" altLang="zh-CN" sz="3600" b="1" dirty="0">
              <a:solidFill>
                <a:srgbClr val="4747BA"/>
              </a:solidFill>
              <a:latin typeface="Constantia" panose="02030602050306030303" pitchFamily="18" charset="0"/>
              <a:ea typeface="腾讯体 W3" panose="020C04030202040F0204" pitchFamily="34" charset="-122"/>
              <a:cs typeface="Times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zh-CN" altLang="en-US" sz="36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可见性</a:t>
            </a:r>
            <a:r>
              <a:rPr lang="en-US" altLang="zh-CN" sz="36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&amp;</a:t>
            </a:r>
            <a:r>
              <a:rPr lang="zh-CN" altLang="en-US" sz="36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可预测性</a:t>
            </a:r>
            <a:endParaRPr lang="en-US" altLang="zh-CN" sz="3600" b="1" dirty="0">
              <a:solidFill>
                <a:srgbClr val="4747BA"/>
              </a:solidFill>
              <a:latin typeface="Constantia" panose="02030602050306030303" pitchFamily="18" charset="0"/>
              <a:ea typeface="腾讯体 W3" panose="020C04030202040F0204" pitchFamily="34" charset="-122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2643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534400" y="6538313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4" name="日期占位符 7"/>
          <p:cNvSpPr>
            <a:spLocks noGrp="1"/>
          </p:cNvSpPr>
          <p:nvPr>
            <p:ph type="dt" sz="half" idx="10"/>
          </p:nvPr>
        </p:nvSpPr>
        <p:spPr>
          <a:xfrm>
            <a:off x="1209907" y="6494974"/>
            <a:ext cx="1847385" cy="365125"/>
          </a:xfrm>
        </p:spPr>
        <p:txBody>
          <a:bodyPr/>
          <a:lstStyle/>
          <a:p>
            <a:fld id="{31CCC338-FFC3-4940-99DD-6195BEF39901}" type="datetime4">
              <a:rPr lang="en-US" altLang="zh-CN" sz="1400" b="1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April 7, 2024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385590" y="859531"/>
            <a:ext cx="11479576" cy="0"/>
          </a:xfrm>
          <a:prstGeom prst="line">
            <a:avLst/>
          </a:prstGeom>
          <a:ln w="38100">
            <a:solidFill>
              <a:srgbClr val="4747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385590" y="226263"/>
            <a:ext cx="6798981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altLang="zh-CN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 ZNS</a:t>
            </a:r>
            <a:r>
              <a:rPr lang="zh-CN" altLang="en-US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简介</a:t>
            </a:r>
            <a:r>
              <a:rPr lang="en-US" altLang="zh-CN" sz="36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 </a:t>
            </a:r>
            <a:endParaRPr lang="zh-CN" altLang="en-US" sz="3600" b="1" dirty="0">
              <a:solidFill>
                <a:srgbClr val="4747BA"/>
              </a:solidFill>
              <a:latin typeface="Constantia" panose="02030602050306030303" pitchFamily="18" charset="0"/>
              <a:ea typeface="腾讯体 W3" panose="020C04030202040F0204" pitchFamily="34" charset="-122"/>
              <a:cs typeface="Times" panose="02020603050405020304" pitchFamily="18" charset="0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063" y="218980"/>
            <a:ext cx="730337" cy="556270"/>
          </a:xfrm>
          <a:prstGeom prst="rect">
            <a:avLst/>
          </a:prstGeom>
        </p:spPr>
      </p:pic>
      <p:sp>
        <p:nvSpPr>
          <p:cNvPr id="14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847869" y="6405035"/>
            <a:ext cx="809393" cy="545001"/>
          </a:xfrm>
        </p:spPr>
        <p:txBody>
          <a:bodyPr/>
          <a:lstStyle/>
          <a:p>
            <a:pPr algn="ctr"/>
            <a:fld id="{152851E7-9224-42D2-A4FF-119762E40804}" type="slidenum">
              <a:rPr lang="zh-CN" altLang="en-US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  <p:sp>
        <p:nvSpPr>
          <p:cNvPr id="10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4095916" y="6553437"/>
            <a:ext cx="4520431" cy="273844"/>
          </a:xfrm>
        </p:spPr>
        <p:txBody>
          <a:bodyPr/>
          <a:lstStyle/>
          <a:p>
            <a:r>
              <a:rPr lang="en-US" altLang="zh-CN" sz="1400" b="1" dirty="0" err="1">
                <a:solidFill>
                  <a:schemeClr val="bg1"/>
                </a:solidFill>
                <a:latin typeface="Constantia" panose="02030602050306030303" pitchFamily="18" charset="0"/>
              </a:rPr>
              <a:t>Ziqi</a:t>
            </a:r>
            <a:r>
              <a:rPr lang="en-US" altLang="zh-CN" sz="1400" b="1" dirty="0">
                <a:solidFill>
                  <a:schemeClr val="bg1"/>
                </a:solidFill>
                <a:latin typeface="Constantia" panose="02030602050306030303" pitchFamily="18" charset="0"/>
              </a:rPr>
              <a:t> Liu | HUST</a:t>
            </a:r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4E2EDCF-6A62-43BB-A88A-5060B2A94C9E}"/>
              </a:ext>
            </a:extLst>
          </p:cNvPr>
          <p:cNvSpPr txBox="1"/>
          <p:nvPr/>
        </p:nvSpPr>
        <p:spPr>
          <a:xfrm>
            <a:off x="696425" y="2193277"/>
            <a:ext cx="6798981" cy="2471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zh-CN" altLang="en-US" sz="36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规范化</a:t>
            </a:r>
            <a:endParaRPr lang="en-US" altLang="zh-CN" sz="3600" b="1" dirty="0">
              <a:solidFill>
                <a:srgbClr val="4747BA"/>
              </a:solidFill>
              <a:latin typeface="Constantia" panose="02030602050306030303" pitchFamily="18" charset="0"/>
              <a:ea typeface="腾讯体 W3" panose="020C04030202040F0204" pitchFamily="34" charset="-122"/>
              <a:cs typeface="Times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zh-CN" altLang="en-US" sz="36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软件</a:t>
            </a:r>
            <a:endParaRPr lang="en-US" altLang="zh-CN" sz="3600" b="1" dirty="0">
              <a:solidFill>
                <a:srgbClr val="4747BA"/>
              </a:solidFill>
              <a:latin typeface="Constantia" panose="02030602050306030303" pitchFamily="18" charset="0"/>
              <a:ea typeface="腾讯体 W3" panose="020C04030202040F0204" pitchFamily="34" charset="-122"/>
              <a:cs typeface="Times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zh-CN" altLang="en-US" sz="36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硬件</a:t>
            </a:r>
            <a:endParaRPr lang="en-US" altLang="zh-CN" sz="3600" b="1" dirty="0">
              <a:solidFill>
                <a:srgbClr val="4747BA"/>
              </a:solidFill>
              <a:latin typeface="Constantia" panose="02030602050306030303" pitchFamily="18" charset="0"/>
              <a:ea typeface="腾讯体 W3" panose="020C04030202040F0204" pitchFamily="34" charset="-122"/>
              <a:cs typeface="Times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endParaRPr lang="en-US" altLang="zh-CN" sz="3600" b="1" dirty="0">
              <a:solidFill>
                <a:srgbClr val="4747BA"/>
              </a:solidFill>
              <a:latin typeface="Constantia" panose="02030602050306030303" pitchFamily="18" charset="0"/>
              <a:ea typeface="腾讯体 W3" panose="020C04030202040F0204" pitchFamily="34" charset="-122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625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534400" y="6538313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4" name="日期占位符 7"/>
          <p:cNvSpPr>
            <a:spLocks noGrp="1"/>
          </p:cNvSpPr>
          <p:nvPr>
            <p:ph type="dt" sz="half" idx="10"/>
          </p:nvPr>
        </p:nvSpPr>
        <p:spPr>
          <a:xfrm>
            <a:off x="1209907" y="6494974"/>
            <a:ext cx="1847385" cy="365125"/>
          </a:xfrm>
        </p:spPr>
        <p:txBody>
          <a:bodyPr/>
          <a:lstStyle/>
          <a:p>
            <a:fld id="{31CCC338-FFC3-4940-99DD-6195BEF39901}" type="datetime4">
              <a:rPr lang="en-US" altLang="zh-CN" sz="1400" b="1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April 7, 2024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385590" y="859531"/>
            <a:ext cx="11479576" cy="0"/>
          </a:xfrm>
          <a:prstGeom prst="line">
            <a:avLst/>
          </a:prstGeom>
          <a:ln w="38100">
            <a:solidFill>
              <a:srgbClr val="4747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277700" y="226263"/>
            <a:ext cx="6798981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altLang="zh-CN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 ZNS</a:t>
            </a:r>
            <a:r>
              <a:rPr lang="zh-CN" altLang="en-US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简介</a:t>
            </a:r>
            <a:r>
              <a:rPr lang="en-US" altLang="zh-CN" sz="36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 </a:t>
            </a:r>
            <a:endParaRPr lang="zh-CN" altLang="en-US" sz="3600" b="1" dirty="0">
              <a:solidFill>
                <a:srgbClr val="4747BA"/>
              </a:solidFill>
              <a:latin typeface="Constantia" panose="02030602050306030303" pitchFamily="18" charset="0"/>
              <a:ea typeface="腾讯体 W3" panose="020C04030202040F0204" pitchFamily="34" charset="-122"/>
              <a:cs typeface="Times" panose="02020603050405020304" pitchFamily="18" charset="0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063" y="218980"/>
            <a:ext cx="730337" cy="556270"/>
          </a:xfrm>
          <a:prstGeom prst="rect">
            <a:avLst/>
          </a:prstGeom>
        </p:spPr>
      </p:pic>
      <p:sp>
        <p:nvSpPr>
          <p:cNvPr id="14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847869" y="6405035"/>
            <a:ext cx="809393" cy="545001"/>
          </a:xfrm>
        </p:spPr>
        <p:txBody>
          <a:bodyPr/>
          <a:lstStyle/>
          <a:p>
            <a:pPr algn="ctr"/>
            <a:fld id="{152851E7-9224-42D2-A4FF-119762E40804}" type="slidenum">
              <a:rPr lang="zh-CN" altLang="en-US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5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40055" y="1088390"/>
            <a:ext cx="69519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4747BA"/>
                </a:solidFill>
                <a:ea typeface="+mn-lt"/>
                <a:cs typeface="Times New Roman" panose="02020603050405020304" pitchFamily="18" charset="0"/>
              </a:rPr>
              <a:t>如何适配</a:t>
            </a:r>
            <a:r>
              <a:rPr lang="en-US" altLang="zh-CN" sz="2400" dirty="0">
                <a:solidFill>
                  <a:srgbClr val="4747BA"/>
                </a:solidFill>
                <a:ea typeface="+mn-lt"/>
                <a:cs typeface="Times New Roman" panose="02020603050405020304" pitchFamily="18" charset="0"/>
              </a:rPr>
              <a:t>ZNS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85590" y="1452512"/>
            <a:ext cx="10811351" cy="4759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latin typeface="Cambria Math" panose="02040503050406030204" pitchFamily="18" charset="0"/>
                <a:cs typeface="Cambria Math" panose="02040503050406030204" pitchFamily="18" charset="0"/>
              </a:rPr>
              <a:t>下面介绍主机软件适应</a:t>
            </a:r>
            <a:r>
              <a:rPr lang="en-US" altLang="zh-CN" dirty="0">
                <a:latin typeface="Cambria Math" panose="02040503050406030204" pitchFamily="18" charset="0"/>
                <a:cs typeface="Cambria Math" panose="02040503050406030204" pitchFamily="18" charset="0"/>
              </a:rPr>
              <a:t>ZNS</a:t>
            </a:r>
            <a:r>
              <a:rPr lang="zh-CN" altLang="en-US" dirty="0">
                <a:latin typeface="Cambria Math" panose="02040503050406030204" pitchFamily="18" charset="0"/>
                <a:cs typeface="Cambria Math" panose="02040503050406030204" pitchFamily="18" charset="0"/>
              </a:rPr>
              <a:t>的三种方法：</a:t>
            </a:r>
            <a:endParaRPr lang="en-US" altLang="zh-CN" dirty="0">
              <a:latin typeface="Cambria Math" panose="02040503050406030204" pitchFamily="18" charset="0"/>
              <a:cs typeface="Cambria Math" panose="02040503050406030204" pitchFamily="18" charset="0"/>
            </a:endParaRPr>
          </a:p>
          <a:p>
            <a:pPr indent="-285750"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zh-CN" altLang="en-US" b="1" dirty="0"/>
              <a:t>主机端闪存转换层（</a:t>
            </a:r>
            <a:r>
              <a:rPr lang="en-US" altLang="zh-CN" b="1" dirty="0"/>
              <a:t>HFTL</a:t>
            </a:r>
            <a:r>
              <a:rPr lang="zh-CN" altLang="en-US" b="1" dirty="0"/>
              <a:t>）：</a:t>
            </a:r>
            <a:r>
              <a:rPr lang="en-US" altLang="zh-CN" dirty="0"/>
              <a:t>HFTL</a:t>
            </a:r>
            <a:r>
              <a:rPr lang="zh-CN" altLang="en-US" dirty="0"/>
              <a:t>充当</a:t>
            </a:r>
            <a:r>
              <a:rPr lang="en-US" altLang="zh-CN" dirty="0"/>
              <a:t>ZNS SSD</a:t>
            </a:r>
            <a:r>
              <a:rPr lang="zh-CN" altLang="en-US" dirty="0"/>
              <a:t>的写入语义与执行随机写入及就地更新的应用之间的中介。它的职责与</a:t>
            </a:r>
            <a:r>
              <a:rPr lang="en-US" altLang="zh-CN" dirty="0"/>
              <a:t>SSD</a:t>
            </a:r>
            <a:r>
              <a:rPr lang="zh-CN" altLang="en-US" dirty="0"/>
              <a:t>中的</a:t>
            </a:r>
            <a:r>
              <a:rPr lang="en-US" altLang="zh-CN" dirty="0"/>
              <a:t>FTL</a:t>
            </a:r>
            <a:r>
              <a:rPr lang="zh-CN" altLang="en-US" dirty="0"/>
              <a:t>相似，但仅限于管理转换映射和相关的垃圾回收。</a:t>
            </a:r>
            <a:endParaRPr lang="en-US" altLang="zh-CN" dirty="0"/>
          </a:p>
          <a:p>
            <a:pPr indent="-285750">
              <a:lnSpc>
                <a:spcPct val="150000"/>
              </a:lnSpc>
              <a:buFont typeface="Wingdings" panose="05000000000000000000" charset="0"/>
              <a:buChar char="q"/>
            </a:pPr>
            <a:endParaRPr lang="en-US" altLang="zh-CN" dirty="0"/>
          </a:p>
          <a:p>
            <a:pPr indent="-285750"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zh-CN" altLang="en-US" b="1" dirty="0"/>
              <a:t>文件系统：</a:t>
            </a:r>
            <a:r>
              <a:rPr lang="zh-CN" altLang="en-US" dirty="0"/>
              <a:t>通过将</a:t>
            </a:r>
            <a:r>
              <a:rPr lang="en-US" altLang="zh-CN" dirty="0"/>
              <a:t>Zone</a:t>
            </a:r>
            <a:r>
              <a:rPr lang="zh-CN" altLang="en-US" dirty="0"/>
              <a:t>接口逻辑与现有存储堆栈整合，可以消除与</a:t>
            </a:r>
            <a:r>
              <a:rPr lang="en-US" altLang="zh-CN" dirty="0"/>
              <a:t>HFTL</a:t>
            </a:r>
            <a:r>
              <a:rPr lang="zh-CN" altLang="en-US" dirty="0"/>
              <a:t>和</a:t>
            </a:r>
            <a:r>
              <a:rPr lang="en-US" altLang="zh-CN" dirty="0"/>
              <a:t>FTL</a:t>
            </a:r>
            <a:r>
              <a:rPr lang="zh-CN" altLang="en-US" dirty="0"/>
              <a:t>数据放置及相关间接开销。这也可以改善设备上的数据放置。但是，目前大多数文件系统主要执行就地写入，适应区域存储模型通常很困难。一些文件系统（如</a:t>
            </a:r>
            <a:r>
              <a:rPr lang="en-US" altLang="zh-CN" dirty="0"/>
              <a:t>f2fs</a:t>
            </a:r>
            <a:r>
              <a:rPr lang="zh-CN" altLang="en-US" dirty="0"/>
              <a:t>、</a:t>
            </a:r>
            <a:r>
              <a:rPr lang="en-US" altLang="zh-CN" dirty="0" err="1"/>
              <a:t>btrfs</a:t>
            </a:r>
            <a:r>
              <a:rPr lang="zh-CN" altLang="en-US" dirty="0"/>
              <a:t>和</a:t>
            </a:r>
            <a:r>
              <a:rPr lang="en-US" altLang="zh-CN" dirty="0" err="1"/>
              <a:t>zfs</a:t>
            </a:r>
            <a:r>
              <a:rPr lang="zh-CN" altLang="en-US" dirty="0"/>
              <a:t>）可能更适合</a:t>
            </a:r>
            <a:r>
              <a:rPr lang="en-US" altLang="zh-CN" dirty="0"/>
              <a:t>ZNS</a:t>
            </a:r>
            <a:r>
              <a:rPr lang="zh-CN" altLang="en-US" dirty="0"/>
              <a:t>。</a:t>
            </a:r>
            <a:endParaRPr lang="en-US" altLang="zh-CN" dirty="0"/>
          </a:p>
          <a:p>
            <a:pPr indent="-285750">
              <a:lnSpc>
                <a:spcPct val="150000"/>
              </a:lnSpc>
              <a:buFont typeface="Wingdings" panose="05000000000000000000" charset="0"/>
              <a:buChar char="q"/>
            </a:pPr>
            <a:endParaRPr lang="en-US" altLang="zh-CN" dirty="0"/>
          </a:p>
          <a:p>
            <a:pPr indent="-285750"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zh-CN" altLang="en-US" b="1" dirty="0"/>
              <a:t>针对顺序写入操作的应用：</a:t>
            </a:r>
            <a:r>
              <a:rPr lang="zh-CN" altLang="en-US" dirty="0"/>
              <a:t>对于顺序写为主的存储应用来说，</a:t>
            </a:r>
            <a:r>
              <a:rPr lang="en-US" altLang="zh-CN" dirty="0"/>
              <a:t>ZNS</a:t>
            </a:r>
            <a:r>
              <a:rPr lang="zh-CN" altLang="en-US" dirty="0"/>
              <a:t>是一个很好的选择。例如，基于日志合并（</a:t>
            </a:r>
            <a:r>
              <a:rPr lang="en-US" altLang="zh-CN" dirty="0"/>
              <a:t>LSM</a:t>
            </a:r>
            <a:r>
              <a:rPr lang="zh-CN" altLang="en-US" dirty="0"/>
              <a:t>）树的数据库。这些应用因为其顺序写入的特性，与</a:t>
            </a:r>
            <a:r>
              <a:rPr lang="en-US" altLang="zh-CN" dirty="0"/>
              <a:t>ZNS</a:t>
            </a:r>
            <a:r>
              <a:rPr lang="zh-CN" altLang="en-US" dirty="0"/>
              <a:t>接口的设计高度兼容。反之，就地更新为主的应用则很难支持，除非对核心数据结构进行根本性修改。</a:t>
            </a:r>
          </a:p>
        </p:txBody>
      </p:sp>
      <p:sp>
        <p:nvSpPr>
          <p:cNvPr id="10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4095916" y="6553437"/>
            <a:ext cx="4520431" cy="273844"/>
          </a:xfrm>
        </p:spPr>
        <p:txBody>
          <a:bodyPr/>
          <a:lstStyle/>
          <a:p>
            <a:r>
              <a:rPr lang="en-US" altLang="zh-CN" sz="1400" b="1" dirty="0" err="1">
                <a:solidFill>
                  <a:schemeClr val="bg1"/>
                </a:solidFill>
                <a:latin typeface="Constantia" panose="02030602050306030303" pitchFamily="18" charset="0"/>
              </a:rPr>
              <a:t>Ziqi</a:t>
            </a:r>
            <a:r>
              <a:rPr lang="en-US" altLang="zh-CN" sz="1400" b="1" dirty="0">
                <a:solidFill>
                  <a:schemeClr val="bg1"/>
                </a:solidFill>
                <a:latin typeface="Constantia" panose="02030602050306030303" pitchFamily="18" charset="0"/>
              </a:rPr>
              <a:t> Liu | HUST</a:t>
            </a:r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534400" y="6538313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4" name="日期占位符 7"/>
          <p:cNvSpPr>
            <a:spLocks noGrp="1"/>
          </p:cNvSpPr>
          <p:nvPr>
            <p:ph type="dt" sz="half" idx="10"/>
          </p:nvPr>
        </p:nvSpPr>
        <p:spPr>
          <a:xfrm>
            <a:off x="1209907" y="6494974"/>
            <a:ext cx="1847385" cy="365125"/>
          </a:xfrm>
        </p:spPr>
        <p:txBody>
          <a:bodyPr/>
          <a:lstStyle/>
          <a:p>
            <a:fld id="{31CCC338-FFC3-4940-99DD-6195BEF39901}" type="datetime4">
              <a:rPr lang="en-US" altLang="zh-CN" sz="1400" b="1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April 7, 2024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385590" y="859531"/>
            <a:ext cx="11479576" cy="0"/>
          </a:xfrm>
          <a:prstGeom prst="line">
            <a:avLst/>
          </a:prstGeom>
          <a:ln w="38100">
            <a:solidFill>
              <a:srgbClr val="4747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385590" y="226263"/>
            <a:ext cx="6798981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altLang="zh-CN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 ZNS</a:t>
            </a:r>
            <a:r>
              <a:rPr lang="zh-CN" altLang="en-US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简介</a:t>
            </a:r>
            <a:r>
              <a:rPr lang="en-US" altLang="zh-CN" sz="36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 </a:t>
            </a:r>
            <a:endParaRPr lang="zh-CN" altLang="en-US" sz="3600" b="1" dirty="0">
              <a:solidFill>
                <a:srgbClr val="4747BA"/>
              </a:solidFill>
              <a:latin typeface="Constantia" panose="02030602050306030303" pitchFamily="18" charset="0"/>
              <a:ea typeface="腾讯体 W3" panose="020C04030202040F0204" pitchFamily="34" charset="-122"/>
              <a:cs typeface="Times" panose="02020603050405020304" pitchFamily="18" charset="0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063" y="218980"/>
            <a:ext cx="730337" cy="556270"/>
          </a:xfrm>
          <a:prstGeom prst="rect">
            <a:avLst/>
          </a:prstGeom>
        </p:spPr>
      </p:pic>
      <p:sp>
        <p:nvSpPr>
          <p:cNvPr id="14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847869" y="6405035"/>
            <a:ext cx="809393" cy="545001"/>
          </a:xfrm>
        </p:spPr>
        <p:txBody>
          <a:bodyPr/>
          <a:lstStyle/>
          <a:p>
            <a:pPr algn="ctr"/>
            <a:fld id="{152851E7-9224-42D2-A4FF-119762E40804}" type="slidenum">
              <a:rPr lang="zh-CN" altLang="en-US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6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  <p:sp>
        <p:nvSpPr>
          <p:cNvPr id="10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4095916" y="6553437"/>
            <a:ext cx="4520431" cy="273844"/>
          </a:xfrm>
        </p:spPr>
        <p:txBody>
          <a:bodyPr/>
          <a:lstStyle/>
          <a:p>
            <a:r>
              <a:rPr lang="en-US" altLang="zh-CN" sz="1400" b="1" dirty="0" err="1">
                <a:solidFill>
                  <a:schemeClr val="bg1"/>
                </a:solidFill>
                <a:latin typeface="Constantia" panose="02030602050306030303" pitchFamily="18" charset="0"/>
              </a:rPr>
              <a:t>Ziqi</a:t>
            </a:r>
            <a:r>
              <a:rPr lang="en-US" altLang="zh-CN" sz="1400" b="1" dirty="0">
                <a:solidFill>
                  <a:schemeClr val="bg1"/>
                </a:solidFill>
                <a:latin typeface="Constantia" panose="02030602050306030303" pitchFamily="18" charset="0"/>
              </a:rPr>
              <a:t> Liu | HUST</a:t>
            </a:r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27CF64B-0990-4162-B6FA-DAF585B411C3}"/>
              </a:ext>
            </a:extLst>
          </p:cNvPr>
          <p:cNvSpPr txBox="1"/>
          <p:nvPr/>
        </p:nvSpPr>
        <p:spPr>
          <a:xfrm>
            <a:off x="385589" y="1317127"/>
            <a:ext cx="6798981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altLang="zh-CN" sz="36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ZNS</a:t>
            </a:r>
            <a:r>
              <a:rPr lang="zh-CN" altLang="en-US" sz="36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的优势</a:t>
            </a:r>
            <a:endParaRPr lang="en-US" altLang="zh-CN" sz="3600" b="1" dirty="0">
              <a:solidFill>
                <a:srgbClr val="4747BA"/>
              </a:solidFill>
              <a:latin typeface="Constantia" panose="02030602050306030303" pitchFamily="18" charset="0"/>
              <a:ea typeface="腾讯体 W3" panose="020C04030202040F0204" pitchFamily="34" charset="-122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7700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534400" y="6538313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4" name="日期占位符 7"/>
          <p:cNvSpPr>
            <a:spLocks noGrp="1"/>
          </p:cNvSpPr>
          <p:nvPr>
            <p:ph type="dt" sz="half" idx="10"/>
          </p:nvPr>
        </p:nvSpPr>
        <p:spPr>
          <a:xfrm>
            <a:off x="1209907" y="6494974"/>
            <a:ext cx="1847385" cy="365125"/>
          </a:xfrm>
        </p:spPr>
        <p:txBody>
          <a:bodyPr/>
          <a:lstStyle/>
          <a:p>
            <a:fld id="{31CCC338-FFC3-4940-99DD-6195BEF39901}" type="datetime4">
              <a:rPr lang="en-US" altLang="zh-CN" sz="1400" b="1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April 7, 2024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385590" y="859531"/>
            <a:ext cx="11479576" cy="0"/>
          </a:xfrm>
          <a:prstGeom prst="line">
            <a:avLst/>
          </a:prstGeom>
          <a:ln w="38100">
            <a:solidFill>
              <a:srgbClr val="4747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385590" y="226263"/>
            <a:ext cx="6798981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zh-CN" altLang="en-US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研究进展</a:t>
            </a:r>
            <a:endParaRPr lang="en-US" altLang="zh-CN" sz="3200" b="1" dirty="0">
              <a:solidFill>
                <a:srgbClr val="4747BA"/>
              </a:solidFill>
              <a:latin typeface="Constantia" panose="02030602050306030303" pitchFamily="18" charset="0"/>
              <a:ea typeface="腾讯体 W3" panose="020C04030202040F0204" pitchFamily="34" charset="-122"/>
              <a:cs typeface="Times" panose="02020603050405020304" pitchFamily="18" charset="0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063" y="218980"/>
            <a:ext cx="730337" cy="556270"/>
          </a:xfrm>
          <a:prstGeom prst="rect">
            <a:avLst/>
          </a:prstGeom>
        </p:spPr>
      </p:pic>
      <p:sp>
        <p:nvSpPr>
          <p:cNvPr id="14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847869" y="6405035"/>
            <a:ext cx="809393" cy="545001"/>
          </a:xfrm>
        </p:spPr>
        <p:txBody>
          <a:bodyPr/>
          <a:lstStyle/>
          <a:p>
            <a:pPr algn="ctr"/>
            <a:fld id="{152851E7-9224-42D2-A4FF-119762E40804}" type="slidenum">
              <a:rPr lang="zh-CN" altLang="en-US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7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  <p:sp>
        <p:nvSpPr>
          <p:cNvPr id="10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4095916" y="6553437"/>
            <a:ext cx="4520431" cy="273844"/>
          </a:xfrm>
        </p:spPr>
        <p:txBody>
          <a:bodyPr/>
          <a:lstStyle/>
          <a:p>
            <a:r>
              <a:rPr lang="en-US" altLang="zh-CN" sz="1400" b="1" dirty="0" err="1">
                <a:solidFill>
                  <a:schemeClr val="bg1"/>
                </a:solidFill>
                <a:latin typeface="Constantia" panose="02030602050306030303" pitchFamily="18" charset="0"/>
              </a:rPr>
              <a:t>Ziqi</a:t>
            </a:r>
            <a:r>
              <a:rPr lang="en-US" altLang="zh-CN" sz="1400" b="1" dirty="0">
                <a:solidFill>
                  <a:schemeClr val="bg1"/>
                </a:solidFill>
                <a:latin typeface="Constantia" panose="02030602050306030303" pitchFamily="18" charset="0"/>
              </a:rPr>
              <a:t> Liu | HUST</a:t>
            </a:r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C70ABF3-7FA3-450B-99F0-0E146EBC2B1B}"/>
              </a:ext>
            </a:extLst>
          </p:cNvPr>
          <p:cNvSpPr txBox="1"/>
          <p:nvPr/>
        </p:nvSpPr>
        <p:spPr>
          <a:xfrm>
            <a:off x="385590" y="2207462"/>
            <a:ext cx="8999042" cy="1678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zh-CN" altLang="en-US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硬件本身的性能：</a:t>
            </a:r>
            <a:r>
              <a:rPr lang="en-US" altLang="zh-CN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ZNS+ </a:t>
            </a:r>
            <a:r>
              <a:rPr lang="zh-CN" altLang="en-US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，</a:t>
            </a:r>
            <a:r>
              <a:rPr lang="en-US" altLang="zh-CN" sz="3200" b="1" dirty="0" err="1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eZNS</a:t>
            </a:r>
            <a:endParaRPr lang="en-US" altLang="zh-CN" sz="3200" b="1" dirty="0">
              <a:solidFill>
                <a:srgbClr val="4747BA"/>
              </a:solidFill>
              <a:latin typeface="Constantia" panose="02030602050306030303" pitchFamily="18" charset="0"/>
              <a:ea typeface="腾讯体 W3" panose="020C04030202040F0204" pitchFamily="34" charset="-122"/>
              <a:cs typeface="Times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zh-CN" altLang="en-US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端到端应用，基于</a:t>
            </a:r>
            <a:r>
              <a:rPr lang="en-US" altLang="zh-CN" sz="3200" b="1" dirty="0" err="1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RocksDB</a:t>
            </a:r>
            <a:r>
              <a:rPr lang="zh-CN" altLang="en-US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的一系列优化</a:t>
            </a:r>
            <a:endParaRPr lang="en-US" altLang="zh-CN" sz="3200" b="1" dirty="0">
              <a:solidFill>
                <a:srgbClr val="4747BA"/>
              </a:solidFill>
              <a:latin typeface="Constantia" panose="02030602050306030303" pitchFamily="18" charset="0"/>
              <a:ea typeface="腾讯体 W3" panose="020C04030202040F0204" pitchFamily="34" charset="-122"/>
              <a:cs typeface="Times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zh-CN" altLang="en-US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通用文件系统等其他方面工作</a:t>
            </a:r>
            <a:endParaRPr lang="en-US" altLang="zh-CN" sz="3200" b="1" dirty="0">
              <a:solidFill>
                <a:srgbClr val="4747BA"/>
              </a:solidFill>
              <a:latin typeface="Constantia" panose="02030602050306030303" pitchFamily="18" charset="0"/>
              <a:ea typeface="腾讯体 W3" panose="020C04030202040F0204" pitchFamily="34" charset="-122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2454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534400" y="6538313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4" name="日期占位符 7"/>
          <p:cNvSpPr>
            <a:spLocks noGrp="1"/>
          </p:cNvSpPr>
          <p:nvPr>
            <p:ph type="dt" sz="half" idx="10"/>
          </p:nvPr>
        </p:nvSpPr>
        <p:spPr>
          <a:xfrm>
            <a:off x="1209907" y="6494974"/>
            <a:ext cx="1847385" cy="365125"/>
          </a:xfrm>
        </p:spPr>
        <p:txBody>
          <a:bodyPr/>
          <a:lstStyle/>
          <a:p>
            <a:fld id="{31CCC338-FFC3-4940-99DD-6195BEF39901}" type="datetime4">
              <a:rPr lang="en-US" altLang="zh-CN" sz="1400" b="1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April 7, 2024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385590" y="859531"/>
            <a:ext cx="11479576" cy="0"/>
          </a:xfrm>
          <a:prstGeom prst="line">
            <a:avLst/>
          </a:prstGeom>
          <a:ln w="38100">
            <a:solidFill>
              <a:srgbClr val="4747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385590" y="321901"/>
            <a:ext cx="6798981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altLang="zh-CN" sz="3200" b="1" dirty="0" err="1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ZoneKV</a:t>
            </a:r>
            <a:endParaRPr lang="en-US" altLang="zh-CN" sz="3200" b="1" dirty="0">
              <a:solidFill>
                <a:srgbClr val="4747BA"/>
              </a:solidFill>
              <a:latin typeface="Constantia" panose="02030602050306030303" pitchFamily="18" charset="0"/>
              <a:ea typeface="腾讯体 W3" panose="020C04030202040F0204" pitchFamily="34" charset="-122"/>
              <a:cs typeface="Times" panose="02020603050405020304" pitchFamily="18" charset="0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063" y="218980"/>
            <a:ext cx="730337" cy="556270"/>
          </a:xfrm>
          <a:prstGeom prst="rect">
            <a:avLst/>
          </a:prstGeom>
        </p:spPr>
      </p:pic>
      <p:sp>
        <p:nvSpPr>
          <p:cNvPr id="14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847869" y="6405035"/>
            <a:ext cx="809393" cy="545001"/>
          </a:xfrm>
        </p:spPr>
        <p:txBody>
          <a:bodyPr/>
          <a:lstStyle/>
          <a:p>
            <a:pPr algn="ctr"/>
            <a:fld id="{152851E7-9224-42D2-A4FF-119762E40804}" type="slidenum">
              <a:rPr lang="zh-CN" altLang="en-US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8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  <p:sp>
        <p:nvSpPr>
          <p:cNvPr id="10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4095916" y="6553437"/>
            <a:ext cx="4520431" cy="273844"/>
          </a:xfrm>
        </p:spPr>
        <p:txBody>
          <a:bodyPr/>
          <a:lstStyle/>
          <a:p>
            <a:r>
              <a:rPr lang="en-US" altLang="zh-CN" sz="1400" b="1" dirty="0" err="1">
                <a:solidFill>
                  <a:schemeClr val="bg1"/>
                </a:solidFill>
                <a:latin typeface="Constantia" panose="02030602050306030303" pitchFamily="18" charset="0"/>
              </a:rPr>
              <a:t>Ziqi</a:t>
            </a:r>
            <a:r>
              <a:rPr lang="en-US" altLang="zh-CN" sz="1400" b="1" dirty="0">
                <a:solidFill>
                  <a:schemeClr val="bg1"/>
                </a:solidFill>
                <a:latin typeface="Constantia" panose="02030602050306030303" pitchFamily="18" charset="0"/>
              </a:rPr>
              <a:t> Liu | HUST</a:t>
            </a:r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502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534400" y="6538313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4" name="日期占位符 7"/>
          <p:cNvSpPr>
            <a:spLocks noGrp="1"/>
          </p:cNvSpPr>
          <p:nvPr>
            <p:ph type="dt" sz="half" idx="10"/>
          </p:nvPr>
        </p:nvSpPr>
        <p:spPr>
          <a:xfrm>
            <a:off x="1209907" y="6494974"/>
            <a:ext cx="1847385" cy="365125"/>
          </a:xfrm>
        </p:spPr>
        <p:txBody>
          <a:bodyPr/>
          <a:lstStyle/>
          <a:p>
            <a:fld id="{31CCC338-FFC3-4940-99DD-6195BEF39901}" type="datetime4">
              <a:rPr lang="en-US" altLang="zh-CN" sz="1400" b="1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April 7, 2024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385590" y="859531"/>
            <a:ext cx="11479576" cy="0"/>
          </a:xfrm>
          <a:prstGeom prst="line">
            <a:avLst/>
          </a:prstGeom>
          <a:ln w="38100">
            <a:solidFill>
              <a:srgbClr val="4747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385590" y="321901"/>
            <a:ext cx="6798981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altLang="zh-CN" sz="3200" b="1" dirty="0" err="1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ZoneKV</a:t>
            </a:r>
            <a:endParaRPr lang="en-US" altLang="zh-CN" sz="3200" b="1" dirty="0">
              <a:solidFill>
                <a:srgbClr val="4747BA"/>
              </a:solidFill>
              <a:latin typeface="Constantia" panose="02030602050306030303" pitchFamily="18" charset="0"/>
              <a:ea typeface="腾讯体 W3" panose="020C04030202040F0204" pitchFamily="34" charset="-122"/>
              <a:cs typeface="Times" panose="02020603050405020304" pitchFamily="18" charset="0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063" y="218980"/>
            <a:ext cx="730337" cy="556270"/>
          </a:xfrm>
          <a:prstGeom prst="rect">
            <a:avLst/>
          </a:prstGeom>
        </p:spPr>
      </p:pic>
      <p:sp>
        <p:nvSpPr>
          <p:cNvPr id="14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847869" y="6405035"/>
            <a:ext cx="809393" cy="545001"/>
          </a:xfrm>
        </p:spPr>
        <p:txBody>
          <a:bodyPr/>
          <a:lstStyle/>
          <a:p>
            <a:pPr algn="ctr"/>
            <a:fld id="{152851E7-9224-42D2-A4FF-119762E40804}" type="slidenum">
              <a:rPr lang="zh-CN" altLang="en-US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9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  <p:sp>
        <p:nvSpPr>
          <p:cNvPr id="10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4095916" y="6553437"/>
            <a:ext cx="4520431" cy="273844"/>
          </a:xfrm>
        </p:spPr>
        <p:txBody>
          <a:bodyPr/>
          <a:lstStyle/>
          <a:p>
            <a:r>
              <a:rPr lang="en-US" altLang="zh-CN" sz="1400" b="1" dirty="0" err="1">
                <a:solidFill>
                  <a:schemeClr val="bg1"/>
                </a:solidFill>
                <a:latin typeface="Constantia" panose="02030602050306030303" pitchFamily="18" charset="0"/>
              </a:rPr>
              <a:t>Ziqi</a:t>
            </a:r>
            <a:r>
              <a:rPr lang="en-US" altLang="zh-CN" sz="1400" b="1" dirty="0">
                <a:solidFill>
                  <a:schemeClr val="bg1"/>
                </a:solidFill>
                <a:latin typeface="Constantia" panose="02030602050306030303" pitchFamily="18" charset="0"/>
              </a:rPr>
              <a:t> Liu | HUST</a:t>
            </a:r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132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534400" y="6538313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4" name="日期占位符 7"/>
          <p:cNvSpPr>
            <a:spLocks noGrp="1"/>
          </p:cNvSpPr>
          <p:nvPr>
            <p:ph type="dt" sz="half" idx="10"/>
          </p:nvPr>
        </p:nvSpPr>
        <p:spPr>
          <a:xfrm>
            <a:off x="1209907" y="6494974"/>
            <a:ext cx="1847385" cy="365125"/>
          </a:xfrm>
        </p:spPr>
        <p:txBody>
          <a:bodyPr/>
          <a:lstStyle/>
          <a:p>
            <a:fld id="{31CCC338-FFC3-4940-99DD-6195BEF39901}" type="datetime4">
              <a:rPr lang="en-US" altLang="zh-CN" sz="1400" b="1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April 7, 2024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385590" y="859531"/>
            <a:ext cx="11479576" cy="0"/>
          </a:xfrm>
          <a:prstGeom prst="line">
            <a:avLst/>
          </a:prstGeom>
          <a:ln w="38100">
            <a:solidFill>
              <a:srgbClr val="4747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385590" y="226263"/>
            <a:ext cx="6798981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altLang="zh-CN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 </a:t>
            </a:r>
            <a:r>
              <a:rPr lang="zh-CN" altLang="en-US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总结</a:t>
            </a:r>
            <a:r>
              <a:rPr lang="en-US" altLang="zh-CN" sz="36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 </a:t>
            </a:r>
            <a:endParaRPr lang="zh-CN" altLang="en-US" sz="3600" b="1" dirty="0">
              <a:solidFill>
                <a:srgbClr val="4747BA"/>
              </a:solidFill>
              <a:latin typeface="Constantia" panose="02030602050306030303" pitchFamily="18" charset="0"/>
              <a:ea typeface="腾讯体 W3" panose="020C04030202040F0204" pitchFamily="34" charset="-122"/>
              <a:cs typeface="Times" panose="02020603050405020304" pitchFamily="18" charset="0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063" y="218980"/>
            <a:ext cx="730337" cy="556270"/>
          </a:xfrm>
          <a:prstGeom prst="rect">
            <a:avLst/>
          </a:prstGeom>
        </p:spPr>
      </p:pic>
      <p:sp>
        <p:nvSpPr>
          <p:cNvPr id="14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847869" y="6405035"/>
            <a:ext cx="809393" cy="545001"/>
          </a:xfrm>
        </p:spPr>
        <p:txBody>
          <a:bodyPr/>
          <a:lstStyle/>
          <a:p>
            <a:pPr algn="ctr"/>
            <a:fld id="{152851E7-9224-42D2-A4FF-119762E40804}" type="slidenum">
              <a:rPr lang="zh-CN" altLang="en-US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10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  <p:sp>
        <p:nvSpPr>
          <p:cNvPr id="10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4095916" y="6553437"/>
            <a:ext cx="4520431" cy="273844"/>
          </a:xfrm>
        </p:spPr>
        <p:txBody>
          <a:bodyPr/>
          <a:lstStyle/>
          <a:p>
            <a:r>
              <a:rPr lang="en-US" altLang="zh-CN" sz="1400" b="1" dirty="0" err="1">
                <a:solidFill>
                  <a:schemeClr val="bg1"/>
                </a:solidFill>
                <a:latin typeface="Constantia" panose="02030602050306030303" pitchFamily="18" charset="0"/>
              </a:rPr>
              <a:t>Ziqi</a:t>
            </a:r>
            <a:r>
              <a:rPr lang="en-US" altLang="zh-CN" sz="1400" b="1" dirty="0">
                <a:solidFill>
                  <a:schemeClr val="bg1"/>
                </a:solidFill>
                <a:latin typeface="Constantia" panose="02030602050306030303" pitchFamily="18" charset="0"/>
              </a:rPr>
              <a:t> Liu | HUST</a:t>
            </a:r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88ABAF1-66EA-4F19-B42F-A2C521EB34A2}"/>
              </a:ext>
            </a:extLst>
          </p:cNvPr>
          <p:cNvSpPr txBox="1"/>
          <p:nvPr/>
        </p:nvSpPr>
        <p:spPr>
          <a:xfrm>
            <a:off x="385589" y="1327788"/>
            <a:ext cx="1114066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总结优缺点、展望</a:t>
            </a:r>
          </a:p>
          <a:p>
            <a:r>
              <a:rPr lang="zh-CN" altLang="en-US" dirty="0"/>
              <a:t>优点：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寿命：消除盘内写放大，根据西数基于</a:t>
            </a:r>
            <a:r>
              <a:rPr lang="en-US" altLang="zh-CN" dirty="0"/>
              <a:t>QLC</a:t>
            </a:r>
            <a:r>
              <a:rPr lang="zh-CN" altLang="en-US" dirty="0"/>
              <a:t>盘的产品来看，寿命提升了</a:t>
            </a:r>
            <a:r>
              <a:rPr lang="en-US" altLang="zh-CN" dirty="0"/>
              <a:t>4</a:t>
            </a:r>
            <a:r>
              <a:rPr lang="zh-CN" altLang="en-US" dirty="0"/>
              <a:t>倍；浪潮的</a:t>
            </a:r>
            <a:r>
              <a:rPr lang="en-US" altLang="zh-CN" dirty="0"/>
              <a:t>TLC</a:t>
            </a:r>
            <a:r>
              <a:rPr lang="zh-CN" altLang="en-US" dirty="0"/>
              <a:t>颗粒产品：使得</a:t>
            </a:r>
            <a:r>
              <a:rPr lang="en-US" altLang="zh-CN" dirty="0"/>
              <a:t>DWPD</a:t>
            </a:r>
            <a:r>
              <a:rPr lang="zh-CN" altLang="en-US" dirty="0"/>
              <a:t>（</a:t>
            </a:r>
            <a:r>
              <a:rPr lang="en-US" altLang="zh-CN" dirty="0"/>
              <a:t>Drive Writes Per Day</a:t>
            </a:r>
            <a:r>
              <a:rPr lang="zh-CN" altLang="en-US" dirty="0"/>
              <a:t>，驱动器日写入量）从标准盘的</a:t>
            </a:r>
            <a:r>
              <a:rPr lang="en-US" altLang="zh-CN" dirty="0"/>
              <a:t>3.1</a:t>
            </a:r>
            <a:r>
              <a:rPr lang="zh-CN" altLang="en-US" dirty="0"/>
              <a:t>提升至</a:t>
            </a:r>
            <a:r>
              <a:rPr lang="en-US" altLang="zh-CN" dirty="0"/>
              <a:t>6.8</a:t>
            </a:r>
            <a:r>
              <a:rPr lang="zh-CN" altLang="en-US" dirty="0"/>
              <a:t>（</a:t>
            </a:r>
            <a:r>
              <a:rPr lang="en-US" altLang="zh-CN" dirty="0"/>
              <a:t>5</a:t>
            </a:r>
            <a:r>
              <a:rPr lang="zh-CN" altLang="en-US" dirty="0"/>
              <a:t>年）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成本：省出了盘内存储映射表所需的</a:t>
            </a:r>
            <a:r>
              <a:rPr lang="en-US" altLang="zh-CN" dirty="0"/>
              <a:t>DRAM</a:t>
            </a:r>
            <a:r>
              <a:rPr lang="zh-CN" altLang="en-US" dirty="0"/>
              <a:t>空间，可能用来做</a:t>
            </a:r>
            <a:r>
              <a:rPr lang="en-US" altLang="zh-CN" dirty="0"/>
              <a:t>Cache</a:t>
            </a:r>
            <a:r>
              <a:rPr lang="zh-CN" altLang="en-US" dirty="0"/>
              <a:t>、并且利于制造更大容量单盘。（厂商）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性能强：在</a:t>
            </a:r>
            <a:r>
              <a:rPr lang="en-US" altLang="zh-CN" dirty="0"/>
              <a:t>PCIE3.0</a:t>
            </a:r>
            <a:r>
              <a:rPr lang="zh-CN" altLang="en-US" dirty="0"/>
              <a:t>系统中，吞吐量提升了</a:t>
            </a:r>
            <a:r>
              <a:rPr lang="en-US" altLang="zh-CN" dirty="0"/>
              <a:t>1.5</a:t>
            </a:r>
            <a:r>
              <a:rPr lang="zh-CN" altLang="en-US" dirty="0"/>
              <a:t>倍</a:t>
            </a:r>
          </a:p>
          <a:p>
            <a:endParaRPr lang="en-US" altLang="zh-CN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可预测性：传统</a:t>
            </a:r>
            <a:r>
              <a:rPr lang="en-US" altLang="zh-CN" dirty="0"/>
              <a:t>SSD</a:t>
            </a:r>
            <a:r>
              <a:rPr lang="zh-CN" altLang="en-US" dirty="0"/>
              <a:t>内部操作“黑盒”，好处是可以自定义，实现牛逼的数据放置、</a:t>
            </a:r>
            <a:r>
              <a:rPr lang="en-US" altLang="zh-CN" dirty="0"/>
              <a:t>IO</a:t>
            </a:r>
            <a:r>
              <a:rPr lang="zh-CN" altLang="en-US" dirty="0"/>
              <a:t>算法</a:t>
            </a:r>
          </a:p>
          <a:p>
            <a:r>
              <a:rPr lang="zh-CN" altLang="en-US" dirty="0"/>
              <a:t>缺点：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需要对存储引擎做改动，有一定的学习成本。对于顺序写应用的适配是可以接受的（</a:t>
            </a:r>
            <a:r>
              <a:rPr lang="en-US" altLang="zh-CN" dirty="0" err="1"/>
              <a:t>ZenFS</a:t>
            </a:r>
            <a:r>
              <a:rPr lang="zh-CN" altLang="en-US" dirty="0"/>
              <a:t>的代码量：？）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场景局限，适合于顺序写应用（但这种局限性也明确了他的定位，主要是</a:t>
            </a:r>
            <a:r>
              <a:rPr lang="en-US" altLang="zh-CN" dirty="0"/>
              <a:t>KV</a:t>
            </a:r>
            <a:r>
              <a:rPr lang="zh-CN" altLang="en-US" dirty="0"/>
              <a:t>存储）</a:t>
            </a:r>
          </a:p>
        </p:txBody>
      </p:sp>
    </p:spTree>
    <p:extLst>
      <p:ext uri="{BB962C8B-B14F-4D97-AF65-F5344CB8AC3E}">
        <p14:creationId xmlns:p14="http://schemas.microsoft.com/office/powerpoint/2010/main" val="2890600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534400" y="6538313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4" name="日期占位符 7"/>
          <p:cNvSpPr>
            <a:spLocks noGrp="1"/>
          </p:cNvSpPr>
          <p:nvPr>
            <p:ph type="dt" sz="half" idx="10"/>
          </p:nvPr>
        </p:nvSpPr>
        <p:spPr>
          <a:xfrm>
            <a:off x="1209907" y="6494974"/>
            <a:ext cx="1847385" cy="365125"/>
          </a:xfrm>
        </p:spPr>
        <p:txBody>
          <a:bodyPr/>
          <a:lstStyle/>
          <a:p>
            <a:fld id="{31CCC338-FFC3-4940-99DD-6195BEF39901}" type="datetime4">
              <a:rPr lang="en-US" altLang="zh-CN" sz="1400" b="1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April 7, 2024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sp>
        <p:nvSpPr>
          <p:cNvPr id="14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847869" y="6405035"/>
            <a:ext cx="809393" cy="545001"/>
          </a:xfrm>
        </p:spPr>
        <p:txBody>
          <a:bodyPr/>
          <a:lstStyle/>
          <a:p>
            <a:pPr algn="ctr"/>
            <a:fld id="{152851E7-9224-42D2-A4FF-119762E40804}" type="slidenum">
              <a:rPr lang="zh-CN" altLang="en-US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11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sp>
        <p:nvSpPr>
          <p:cNvPr id="10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4095916" y="6553437"/>
            <a:ext cx="4520431" cy="273844"/>
          </a:xfrm>
        </p:spPr>
        <p:txBody>
          <a:bodyPr/>
          <a:lstStyle/>
          <a:p>
            <a:r>
              <a:rPr lang="en-US" altLang="zh-CN" sz="1400" b="1" dirty="0" err="1">
                <a:solidFill>
                  <a:schemeClr val="bg1"/>
                </a:solidFill>
                <a:latin typeface="Constantia" panose="02030602050306030303" pitchFamily="18" charset="0"/>
              </a:rPr>
              <a:t>Ziqi</a:t>
            </a:r>
            <a:r>
              <a:rPr lang="en-US" altLang="zh-CN" sz="1400" b="1" dirty="0">
                <a:solidFill>
                  <a:schemeClr val="bg1"/>
                </a:solidFill>
                <a:latin typeface="Constantia" panose="02030602050306030303" pitchFamily="18" charset="0"/>
              </a:rPr>
              <a:t> Liu | HUST</a:t>
            </a:r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01575266-097C-404D-81E1-951CFDC21DCB}"/>
              </a:ext>
            </a:extLst>
          </p:cNvPr>
          <p:cNvSpPr txBox="1"/>
          <p:nvPr/>
        </p:nvSpPr>
        <p:spPr>
          <a:xfrm>
            <a:off x="8244849" y="4730406"/>
            <a:ext cx="2099301" cy="1328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altLang="zh-CN" sz="40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Q&amp;A</a:t>
            </a:r>
          </a:p>
          <a:p>
            <a:pPr lvl="0" algn="ctr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altLang="zh-CN" sz="40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Thanks</a:t>
            </a:r>
            <a:r>
              <a:rPr lang="zh-CN" altLang="en-US" sz="40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！</a:t>
            </a:r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0AAF68C8-9B60-4EE5-BDEE-3DF9819FF162}"/>
              </a:ext>
            </a:extLst>
          </p:cNvPr>
          <p:cNvSpPr/>
          <p:nvPr/>
        </p:nvSpPr>
        <p:spPr>
          <a:xfrm rot="2755966">
            <a:off x="4146517" y="3347706"/>
            <a:ext cx="1613489" cy="1613489"/>
          </a:xfrm>
          <a:prstGeom prst="roundRect">
            <a:avLst/>
          </a:prstGeom>
          <a:solidFill>
            <a:srgbClr val="8484D1"/>
          </a:solidFill>
          <a:ln>
            <a:noFill/>
          </a:ln>
          <a:effectLst>
            <a:outerShdw blurRad="88900" dist="50800" dir="8100000" sx="101000" sy="101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598D3781-D678-4A44-A66C-8D3B9D7FD8C7}"/>
              </a:ext>
            </a:extLst>
          </p:cNvPr>
          <p:cNvSpPr/>
          <p:nvPr/>
        </p:nvSpPr>
        <p:spPr>
          <a:xfrm rot="2755966">
            <a:off x="2770276" y="966707"/>
            <a:ext cx="1613489" cy="1613489"/>
          </a:xfrm>
          <a:prstGeom prst="roundRect">
            <a:avLst/>
          </a:prstGeom>
          <a:solidFill>
            <a:srgbClr val="8484D1"/>
          </a:solidFill>
          <a:ln>
            <a:noFill/>
          </a:ln>
          <a:effectLst>
            <a:outerShdw blurRad="88900" dist="50800" dir="8100000" sx="101000" sy="101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30DA32EF-D11F-4CF9-860E-C3CFA00C6079}"/>
              </a:ext>
            </a:extLst>
          </p:cNvPr>
          <p:cNvSpPr/>
          <p:nvPr/>
        </p:nvSpPr>
        <p:spPr>
          <a:xfrm rot="2755966">
            <a:off x="4586763" y="2029472"/>
            <a:ext cx="732996" cy="732996"/>
          </a:xfrm>
          <a:prstGeom prst="roundRect">
            <a:avLst/>
          </a:prstGeom>
          <a:solidFill>
            <a:srgbClr val="ADADE0"/>
          </a:solidFill>
          <a:ln>
            <a:noFill/>
          </a:ln>
          <a:effectLst>
            <a:outerShdw blurRad="88900" dist="50800" dir="8100000" sx="101000" sy="101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99B758B7-B144-4A81-A83D-E963D33E0186}"/>
              </a:ext>
            </a:extLst>
          </p:cNvPr>
          <p:cNvSpPr/>
          <p:nvPr/>
        </p:nvSpPr>
        <p:spPr>
          <a:xfrm rot="2755966">
            <a:off x="1415554" y="2470682"/>
            <a:ext cx="3134556" cy="3134556"/>
          </a:xfrm>
          <a:prstGeom prst="roundRect">
            <a:avLst/>
          </a:prstGeom>
          <a:blipFill dpi="0" rotWithShape="0">
            <a:blip r:embed="rId3"/>
            <a:srcRect/>
            <a:stretch>
              <a:fillRect/>
            </a:stretch>
          </a:blipFill>
          <a:ln>
            <a:noFill/>
          </a:ln>
          <a:effectLst>
            <a:outerShdw blurRad="114300" dist="50800" dir="7800000" sx="101000" sy="101000" algn="tr" rotWithShape="0">
              <a:prstClr val="black">
                <a:alpha val="6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763B64A6-B166-41EE-849F-23DFA4F17AED}"/>
              </a:ext>
            </a:extLst>
          </p:cNvPr>
          <p:cNvSpPr/>
          <p:nvPr/>
        </p:nvSpPr>
        <p:spPr>
          <a:xfrm rot="2755966">
            <a:off x="5633126" y="2433704"/>
            <a:ext cx="1685894" cy="1685894"/>
          </a:xfrm>
          <a:prstGeom prst="roundRect">
            <a:avLst/>
          </a:prstGeom>
          <a:solidFill>
            <a:srgbClr val="4747BA"/>
          </a:solidFill>
          <a:ln>
            <a:noFill/>
          </a:ln>
          <a:effectLst>
            <a:outerShdw blurRad="88900" dist="50800" dir="8100000" sx="101000" sy="101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0871A45D-4F61-4E61-89FD-6E11F25891D8}"/>
              </a:ext>
            </a:extLst>
          </p:cNvPr>
          <p:cNvSpPr/>
          <p:nvPr/>
        </p:nvSpPr>
        <p:spPr>
          <a:xfrm rot="2755966">
            <a:off x="3965400" y="5546431"/>
            <a:ext cx="732996" cy="732996"/>
          </a:xfrm>
          <a:prstGeom prst="roundRect">
            <a:avLst/>
          </a:prstGeom>
          <a:solidFill>
            <a:srgbClr val="ADADE0"/>
          </a:solidFill>
          <a:ln>
            <a:noFill/>
          </a:ln>
          <a:effectLst>
            <a:outerShdw blurRad="88900" dist="50800" dir="8100000" sx="101000" sy="101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856449D6-A1C2-472D-AD13-604147B03699}"/>
              </a:ext>
            </a:extLst>
          </p:cNvPr>
          <p:cNvSpPr/>
          <p:nvPr/>
        </p:nvSpPr>
        <p:spPr>
          <a:xfrm rot="2755966">
            <a:off x="5089423" y="716157"/>
            <a:ext cx="1134056" cy="1134056"/>
          </a:xfrm>
          <a:prstGeom prst="roundRect">
            <a:avLst/>
          </a:prstGeom>
          <a:solidFill>
            <a:srgbClr val="4747BA"/>
          </a:solidFill>
          <a:ln>
            <a:noFill/>
          </a:ln>
          <a:effectLst>
            <a:outerShdw blurRad="88900" dist="50800" dir="8100000" sx="101000" sy="101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A57A6FD7-A342-47F4-BE6D-5BA5CD2DE50E}"/>
              </a:ext>
            </a:extLst>
          </p:cNvPr>
          <p:cNvSpPr/>
          <p:nvPr/>
        </p:nvSpPr>
        <p:spPr>
          <a:xfrm rot="2755966">
            <a:off x="7189439" y="1365266"/>
            <a:ext cx="396502" cy="396502"/>
          </a:xfrm>
          <a:prstGeom prst="roundRect">
            <a:avLst/>
          </a:prstGeom>
          <a:solidFill>
            <a:srgbClr val="ADADE0"/>
          </a:solidFill>
          <a:ln>
            <a:noFill/>
          </a:ln>
          <a:effectLst>
            <a:outerShdw blurRad="88900" dist="50800" dir="8100000" sx="101000" sy="101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5" name="图片 74">
            <a:extLst>
              <a:ext uri="{FF2B5EF4-FFF2-40B4-BE49-F238E27FC236}">
                <a16:creationId xmlns:a16="http://schemas.microsoft.com/office/drawing/2014/main" id="{988C6ADB-B46C-425F-82BD-ACD9CA6FB71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063" y="218980"/>
            <a:ext cx="730337" cy="556270"/>
          </a:xfrm>
          <a:prstGeom prst="rect">
            <a:avLst/>
          </a:prstGeom>
        </p:spPr>
      </p:pic>
      <p:pic>
        <p:nvPicPr>
          <p:cNvPr id="76" name="图片 75">
            <a:extLst>
              <a:ext uri="{FF2B5EF4-FFF2-40B4-BE49-F238E27FC236}">
                <a16:creationId xmlns:a16="http://schemas.microsoft.com/office/drawing/2014/main" id="{B4608348-6D52-4F84-9094-BEBC71B6EC9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845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534400" y="6538313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4" name="日期占位符 7"/>
          <p:cNvSpPr>
            <a:spLocks noGrp="1"/>
          </p:cNvSpPr>
          <p:nvPr>
            <p:ph type="dt" sz="half" idx="10"/>
          </p:nvPr>
        </p:nvSpPr>
        <p:spPr>
          <a:xfrm>
            <a:off x="1209907" y="6494974"/>
            <a:ext cx="1847385" cy="365125"/>
          </a:xfrm>
        </p:spPr>
        <p:txBody>
          <a:bodyPr/>
          <a:lstStyle/>
          <a:p>
            <a:fld id="{31CCC338-FFC3-4940-99DD-6195BEF39901}" type="datetime4">
              <a:rPr lang="en-US" altLang="zh-CN" sz="1400" b="1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April 7, 2024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385590" y="859531"/>
            <a:ext cx="11479576" cy="0"/>
          </a:xfrm>
          <a:prstGeom prst="line">
            <a:avLst/>
          </a:prstGeom>
          <a:ln w="38100">
            <a:solidFill>
              <a:srgbClr val="4747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063" y="218980"/>
            <a:ext cx="730337" cy="556270"/>
          </a:xfrm>
          <a:prstGeom prst="rect">
            <a:avLst/>
          </a:prstGeom>
        </p:spPr>
      </p:pic>
      <p:sp>
        <p:nvSpPr>
          <p:cNvPr id="14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847869" y="6405035"/>
            <a:ext cx="809393" cy="545001"/>
          </a:xfrm>
        </p:spPr>
        <p:txBody>
          <a:bodyPr/>
          <a:lstStyle/>
          <a:p>
            <a:pPr algn="ctr"/>
            <a:fld id="{152851E7-9224-42D2-A4FF-119762E40804}" type="slidenum">
              <a:rPr lang="zh-CN" altLang="en-US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12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  <p:sp>
        <p:nvSpPr>
          <p:cNvPr id="10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4095916" y="6553437"/>
            <a:ext cx="4520431" cy="273844"/>
          </a:xfrm>
        </p:spPr>
        <p:txBody>
          <a:bodyPr/>
          <a:lstStyle/>
          <a:p>
            <a:r>
              <a:rPr lang="en-US" altLang="zh-CN" sz="1400" b="1" dirty="0" err="1">
                <a:solidFill>
                  <a:schemeClr val="bg1"/>
                </a:solidFill>
                <a:latin typeface="Constantia" panose="02030602050306030303" pitchFamily="18" charset="0"/>
              </a:rPr>
              <a:t>Ziqi</a:t>
            </a:r>
            <a:r>
              <a:rPr lang="en-US" altLang="zh-CN" sz="1400" b="1" dirty="0">
                <a:solidFill>
                  <a:schemeClr val="bg1"/>
                </a:solidFill>
                <a:latin typeface="Constantia" panose="02030602050306030303" pitchFamily="18" charset="0"/>
              </a:rPr>
              <a:t> Liu | HUST</a:t>
            </a:r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85590" y="226263"/>
            <a:ext cx="6798981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endParaRPr lang="zh-CN" altLang="en-US" sz="3600" b="1" dirty="0">
              <a:solidFill>
                <a:srgbClr val="4747BA"/>
              </a:solidFill>
              <a:latin typeface="Constantia" panose="02030602050306030303" pitchFamily="18" charset="0"/>
              <a:ea typeface="腾讯体 W3" panose="020C04030202040F0204" pitchFamily="34" charset="-122"/>
              <a:cs typeface="Times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40055" y="4344766"/>
            <a:ext cx="10852786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dirty="0">
                <a:solidFill>
                  <a:srgbClr val="374151"/>
                </a:solidFill>
                <a:latin typeface="_5b8b_4f53"/>
              </a:rPr>
              <a:t>三、性能优化和数据放置策略：</a:t>
            </a:r>
            <a:endParaRPr lang="en-US" altLang="zh-CN" dirty="0">
              <a:solidFill>
                <a:srgbClr val="374151"/>
              </a:solidFill>
              <a:latin typeface="_5b8b_4f53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374151"/>
                </a:solidFill>
                <a:latin typeface="_5b8b_4f53"/>
              </a:rPr>
              <a:t>进一步地，根据所得实验数据，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探索适用于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ZNS SSD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的数据管理机制，利用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ZNS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的区块信息可见性的优势，可能有效的优化例如：利用硬件的区域状态信息优化数据放置策略，优化缓存策略或垃圾回收算法等。</a:t>
            </a:r>
          </a:p>
          <a:p>
            <a:pPr algn="l">
              <a:lnSpc>
                <a:spcPct val="150000"/>
              </a:lnSpc>
            </a:pPr>
            <a:endParaRPr lang="zh-CN" altLang="en-US" dirty="0">
              <a:solidFill>
                <a:srgbClr val="374151"/>
              </a:solidFill>
              <a:latin typeface="_5b8b_4f53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40055" y="1349747"/>
            <a:ext cx="62747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74151"/>
                </a:solidFill>
                <a:latin typeface="_5b8b_4f53"/>
              </a:rPr>
              <a:t>一、实验环境搭建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: 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搭建模拟环境，配置真实测试环境。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40055" y="2005188"/>
            <a:ext cx="9850120" cy="21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374151"/>
                </a:solidFill>
                <a:latin typeface="_5b8b_4f53"/>
              </a:rPr>
              <a:t>二、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分别基于模拟平台和真实设备进行评估测试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：</a:t>
            </a:r>
            <a:endParaRPr lang="en-US" altLang="zh-CN" dirty="0">
              <a:solidFill>
                <a:srgbClr val="374151"/>
              </a:solidFill>
              <a:latin typeface="_5b8b_4f53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74151"/>
                </a:solidFill>
                <a:latin typeface="_5b8b_4f53"/>
              </a:rPr>
              <a:t>  系统级测试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: 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利用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Linux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下系统工具如</a:t>
            </a:r>
            <a:r>
              <a:rPr lang="en-US" altLang="zh-CN" dirty="0" err="1">
                <a:solidFill>
                  <a:srgbClr val="374151"/>
                </a:solidFill>
                <a:latin typeface="_5b8b_4f53"/>
              </a:rPr>
              <a:t>fio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、</a:t>
            </a:r>
            <a:r>
              <a:rPr lang="en-US" altLang="zh-CN" dirty="0" err="1">
                <a:solidFill>
                  <a:srgbClr val="374151"/>
                </a:solidFill>
                <a:latin typeface="_5b8b_4f53"/>
              </a:rPr>
              <a:t>nvme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-cli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测试，主要关注设备本身硬件性能。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74151"/>
                </a:solidFill>
                <a:latin typeface="_5b8b_4f53"/>
              </a:rPr>
              <a:t>  端到端应用测试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: 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部署应用（如</a:t>
            </a:r>
            <a:r>
              <a:rPr lang="en-US" altLang="zh-CN" dirty="0" err="1">
                <a:solidFill>
                  <a:srgbClr val="374151"/>
                </a:solidFill>
                <a:latin typeface="_5b8b_4f53"/>
              </a:rPr>
              <a:t>RocksDB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 with </a:t>
            </a:r>
            <a:r>
              <a:rPr lang="en-US" altLang="zh-CN" dirty="0" err="1">
                <a:solidFill>
                  <a:srgbClr val="374151"/>
                </a:solidFill>
                <a:latin typeface="_5b8b_4f53"/>
              </a:rPr>
              <a:t>ZenFS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 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）设计实验，分析性能表现。具体包括但不限于：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写入、更新性能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，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读性能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，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简单的并发测试多线程读、多线程写性能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，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不同比例的读写混合负载下的表现。</a:t>
            </a:r>
            <a:endParaRPr lang="zh-CN" altLang="en-US" dirty="0">
              <a:solidFill>
                <a:srgbClr val="374151"/>
              </a:solidFill>
              <a:latin typeface="_5b8b_4f53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85590" y="310242"/>
            <a:ext cx="6798981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zh-CN" altLang="en-US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技术方案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534400" y="6538313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4" name="日期占位符 7"/>
          <p:cNvSpPr>
            <a:spLocks noGrp="1"/>
          </p:cNvSpPr>
          <p:nvPr>
            <p:ph type="dt" sz="half" idx="10"/>
          </p:nvPr>
        </p:nvSpPr>
        <p:spPr>
          <a:xfrm>
            <a:off x="1209907" y="6494974"/>
            <a:ext cx="1847385" cy="365125"/>
          </a:xfrm>
        </p:spPr>
        <p:txBody>
          <a:bodyPr/>
          <a:lstStyle/>
          <a:p>
            <a:fld id="{31CCC338-FFC3-4940-99DD-6195BEF39901}" type="datetime4">
              <a:rPr lang="en-US" altLang="zh-CN" sz="1400" b="1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April 7, 2024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385590" y="859531"/>
            <a:ext cx="11479576" cy="0"/>
          </a:xfrm>
          <a:prstGeom prst="line">
            <a:avLst/>
          </a:prstGeom>
          <a:ln w="38100">
            <a:solidFill>
              <a:srgbClr val="4747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063" y="218980"/>
            <a:ext cx="730337" cy="556270"/>
          </a:xfrm>
          <a:prstGeom prst="rect">
            <a:avLst/>
          </a:prstGeom>
        </p:spPr>
      </p:pic>
      <p:sp>
        <p:nvSpPr>
          <p:cNvPr id="14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847869" y="6405035"/>
            <a:ext cx="809393" cy="545001"/>
          </a:xfrm>
        </p:spPr>
        <p:txBody>
          <a:bodyPr/>
          <a:lstStyle/>
          <a:p>
            <a:pPr algn="ctr"/>
            <a:fld id="{152851E7-9224-42D2-A4FF-119762E40804}" type="slidenum">
              <a:rPr lang="zh-CN" altLang="en-US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13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  <p:sp>
        <p:nvSpPr>
          <p:cNvPr id="10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4095916" y="6553437"/>
            <a:ext cx="4520431" cy="273844"/>
          </a:xfrm>
        </p:spPr>
        <p:txBody>
          <a:bodyPr/>
          <a:lstStyle/>
          <a:p>
            <a:r>
              <a:rPr lang="en-US" altLang="zh-CN" sz="1400" b="1" dirty="0" err="1">
                <a:solidFill>
                  <a:schemeClr val="bg1"/>
                </a:solidFill>
                <a:latin typeface="Constantia" panose="02030602050306030303" pitchFamily="18" charset="0"/>
              </a:rPr>
              <a:t>Ziqi</a:t>
            </a:r>
            <a:r>
              <a:rPr lang="en-US" altLang="zh-CN" sz="1400" b="1" dirty="0">
                <a:solidFill>
                  <a:schemeClr val="bg1"/>
                </a:solidFill>
                <a:latin typeface="Constantia" panose="02030602050306030303" pitchFamily="18" charset="0"/>
              </a:rPr>
              <a:t> Liu | HUST</a:t>
            </a:r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85590" y="226263"/>
            <a:ext cx="6798981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endParaRPr lang="zh-CN" altLang="en-US" sz="3600" b="1" dirty="0">
              <a:solidFill>
                <a:srgbClr val="4747BA"/>
              </a:solidFill>
              <a:latin typeface="Constantia" panose="02030602050306030303" pitchFamily="18" charset="0"/>
              <a:ea typeface="腾讯体 W3" panose="020C04030202040F0204" pitchFamily="34" charset="-122"/>
              <a:cs typeface="Times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40055" y="1176360"/>
            <a:ext cx="10768965" cy="1311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4747BA"/>
                </a:solidFill>
                <a:ea typeface="+mn-lt"/>
                <a:cs typeface="Times New Roman" panose="02020603050405020304" pitchFamily="18" charset="0"/>
              </a:rPr>
              <a:t>与现有的工作相比：</a:t>
            </a:r>
            <a:endParaRPr lang="en-US" altLang="zh-CN" b="1" dirty="0">
              <a:solidFill>
                <a:srgbClr val="4747BA"/>
              </a:solidFill>
              <a:ea typeface="+mn-lt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zh-CN" altLang="zh-CN" dirty="0">
                <a:solidFill>
                  <a:srgbClr val="374151"/>
                </a:solidFill>
                <a:latin typeface="_5b8b_4f53"/>
              </a:rPr>
              <a:t>相较于在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QEMU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、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FEMU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等模拟器上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的研究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，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一方面，我们使用的模拟器是最新的，基于内核实现的；另一方面，能展示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ZNS SSD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在不同的真实场景下的性能表现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，尤其是延迟等参数上区别会较明显。</a:t>
            </a:r>
            <a:endParaRPr lang="en-US" altLang="zh-CN" dirty="0">
              <a:solidFill>
                <a:srgbClr val="374151"/>
              </a:solidFill>
              <a:latin typeface="_5b8b_4f53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40055" y="2757274"/>
            <a:ext cx="10090785" cy="1711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zh-CN" altLang="en-US" dirty="0">
                <a:solidFill>
                  <a:srgbClr val="374151"/>
                </a:solidFill>
                <a:latin typeface="_5b8b_4f53"/>
              </a:rPr>
              <a:t>相较于西数已有的基于真实设备（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ZN540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）的工作，首先西数更关注于硬盘内部的硬件级设计规划。另外我们使用浪潮提供的最新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ZNS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盘，一方面，其介质选用更好的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TLC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颗粒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(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西数是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QLC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颗粒，延迟高寿命短），另一方面二者关键参数上也有区别，如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Zone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 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size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等（之前基于实际设备的工作中只出现过一款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Zone size = 2GB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的硬盘）。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22628" y="5450801"/>
            <a:ext cx="11553118" cy="1255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fontAlgn="auto">
              <a:lnSpc>
                <a:spcPct val="7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1600" dirty="0"/>
              <a:t>QEMU</a:t>
            </a:r>
            <a:r>
              <a:rPr lang="zh-CN" altLang="en-US" sz="1600" dirty="0"/>
              <a:t>：</a:t>
            </a:r>
            <a:r>
              <a:rPr lang="en-US" altLang="zh-CN" sz="1600" dirty="0">
                <a:hlinkClick r:id="rId5"/>
              </a:rPr>
              <a:t>https://www.qemu.org/</a:t>
            </a:r>
            <a:endParaRPr lang="en-US" altLang="zh-CN" sz="1600" dirty="0"/>
          </a:p>
          <a:p>
            <a:pPr marR="0" lvl="0" indent="0" fontAlgn="auto">
              <a:lnSpc>
                <a:spcPct val="7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1600" dirty="0"/>
              <a:t>FEMU</a:t>
            </a:r>
            <a:r>
              <a:rPr lang="zh-CN" altLang="en-US" sz="1600" dirty="0"/>
              <a:t>：</a:t>
            </a:r>
            <a:r>
              <a:rPr lang="en-US" altLang="zh-CN" sz="1600" dirty="0">
                <a:hlinkClick r:id="rId6"/>
              </a:rPr>
              <a:t>https://github.com/vtess/FEMU</a:t>
            </a:r>
            <a:endParaRPr lang="en-US" altLang="zh-CN" sz="1600" dirty="0"/>
          </a:p>
          <a:p>
            <a:pPr>
              <a:lnSpc>
                <a:spcPct val="70000"/>
              </a:lnSpc>
              <a:spcAft>
                <a:spcPts val="1200"/>
              </a:spcAft>
              <a:defRPr/>
            </a:pPr>
            <a:r>
              <a:rPr lang="en-US" altLang="zh-CN" sz="1600" dirty="0" err="1"/>
              <a:t>NVMeVirt</a:t>
            </a:r>
            <a:r>
              <a:rPr lang="en-US" altLang="zh-CN" sz="1600" dirty="0"/>
              <a:t>: A Versatile Software-defined Virtual </a:t>
            </a:r>
            <a:r>
              <a:rPr lang="en-US" altLang="zh-CN" sz="1600" dirty="0" err="1"/>
              <a:t>NVMe</a:t>
            </a:r>
            <a:r>
              <a:rPr lang="en-US" altLang="zh-CN" sz="1600" dirty="0"/>
              <a:t> Device</a:t>
            </a:r>
            <a:r>
              <a:rPr lang="zh-CN" altLang="en-US" sz="1600" dirty="0"/>
              <a:t>，</a:t>
            </a:r>
            <a:r>
              <a:rPr lang="en-US" altLang="zh-CN" sz="1600" dirty="0"/>
              <a:t>FAST 23</a:t>
            </a:r>
            <a:endParaRPr lang="en-US" altLang="zh-CN" sz="1600" dirty="0">
              <a:hlinkClick r:id="rId7"/>
            </a:endParaRPr>
          </a:p>
          <a:p>
            <a:pPr marR="0" lvl="0" indent="0" fontAlgn="auto">
              <a:lnSpc>
                <a:spcPct val="7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en-US" altLang="zh-CN" sz="1600" dirty="0"/>
          </a:p>
        </p:txBody>
      </p:sp>
      <p:sp>
        <p:nvSpPr>
          <p:cNvPr id="15" name="文本框 14"/>
          <p:cNvSpPr txBox="1"/>
          <p:nvPr/>
        </p:nvSpPr>
        <p:spPr>
          <a:xfrm>
            <a:off x="385590" y="310242"/>
            <a:ext cx="6798981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zh-CN" altLang="en-US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技术方案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534400" y="6522720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4" name="日期占位符 7"/>
          <p:cNvSpPr>
            <a:spLocks noGrp="1"/>
          </p:cNvSpPr>
          <p:nvPr>
            <p:ph type="dt" sz="half" idx="10"/>
          </p:nvPr>
        </p:nvSpPr>
        <p:spPr>
          <a:xfrm>
            <a:off x="1209907" y="6494974"/>
            <a:ext cx="1847385" cy="365125"/>
          </a:xfrm>
        </p:spPr>
        <p:txBody>
          <a:bodyPr/>
          <a:lstStyle/>
          <a:p>
            <a:fld id="{31CCC338-FFC3-4940-99DD-6195BEF39901}" type="datetime4">
              <a:rPr lang="en-US" altLang="zh-CN" sz="1400" b="1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April 7, 2024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385590" y="859531"/>
            <a:ext cx="11479576" cy="0"/>
          </a:xfrm>
          <a:prstGeom prst="line">
            <a:avLst/>
          </a:prstGeom>
          <a:ln w="38100">
            <a:solidFill>
              <a:srgbClr val="4747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063" y="218980"/>
            <a:ext cx="730337" cy="556270"/>
          </a:xfrm>
          <a:prstGeom prst="rect">
            <a:avLst/>
          </a:prstGeom>
        </p:spPr>
      </p:pic>
      <p:sp>
        <p:nvSpPr>
          <p:cNvPr id="14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847869" y="6405035"/>
            <a:ext cx="809393" cy="545001"/>
          </a:xfrm>
        </p:spPr>
        <p:txBody>
          <a:bodyPr/>
          <a:lstStyle/>
          <a:p>
            <a:pPr algn="ctr"/>
            <a:fld id="{152851E7-9224-42D2-A4FF-119762E40804}" type="slidenum">
              <a:rPr lang="zh-CN" altLang="en-US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14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  <p:sp>
        <p:nvSpPr>
          <p:cNvPr id="6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4095916" y="6553437"/>
            <a:ext cx="4520431" cy="273844"/>
          </a:xfrm>
        </p:spPr>
        <p:txBody>
          <a:bodyPr/>
          <a:lstStyle/>
          <a:p>
            <a:r>
              <a:rPr lang="en-US" altLang="zh-CN" sz="1400" b="1" dirty="0" err="1">
                <a:solidFill>
                  <a:schemeClr val="bg1"/>
                </a:solidFill>
                <a:latin typeface="Constantia" panose="02030602050306030303" pitchFamily="18" charset="0"/>
              </a:rPr>
              <a:t>Ziqi</a:t>
            </a:r>
            <a:r>
              <a:rPr lang="en-US" altLang="zh-CN" sz="1400" b="1" dirty="0">
                <a:solidFill>
                  <a:schemeClr val="bg1"/>
                </a:solidFill>
                <a:latin typeface="Constantia" panose="02030602050306030303" pitchFamily="18" charset="0"/>
              </a:rPr>
              <a:t> Liu | HUST</a:t>
            </a:r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90500" y="5432932"/>
            <a:ext cx="8260080" cy="92890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70000"/>
              </a:lnSpc>
              <a:spcAft>
                <a:spcPts val="1200"/>
              </a:spcAft>
              <a:defRPr/>
            </a:pPr>
            <a:r>
              <a:rPr lang="en-US" altLang="zh-CN" sz="1600" dirty="0" err="1"/>
              <a:t>NVMeVirt</a:t>
            </a:r>
            <a:r>
              <a:rPr lang="en-US" altLang="zh-CN" sz="1600" dirty="0"/>
              <a:t>: A Versatile Software-defined Virtual </a:t>
            </a:r>
            <a:r>
              <a:rPr lang="en-US" altLang="zh-CN" sz="1600" dirty="0" err="1"/>
              <a:t>NVMe</a:t>
            </a:r>
            <a:r>
              <a:rPr lang="en-US" altLang="zh-CN" sz="1600" dirty="0"/>
              <a:t> Device</a:t>
            </a:r>
            <a:r>
              <a:rPr lang="zh-CN" altLang="en-US" sz="1600" dirty="0"/>
              <a:t>，</a:t>
            </a:r>
            <a:r>
              <a:rPr lang="en-US" altLang="zh-CN" sz="1600" dirty="0"/>
              <a:t>FAST 23</a:t>
            </a:r>
            <a:endParaRPr lang="en-US" altLang="zh-CN" sz="1600" dirty="0">
              <a:hlinkClick r:id="rId5"/>
            </a:endParaRPr>
          </a:p>
          <a:p>
            <a:pPr marR="0" lvl="0" indent="0" fontAlgn="auto">
              <a:lnSpc>
                <a:spcPct val="7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1600" dirty="0" err="1">
                <a:hlinkClick r:id="rId5"/>
              </a:rPr>
              <a:t>Nvme</a:t>
            </a:r>
            <a:r>
              <a:rPr lang="en-US" altLang="zh-CN" sz="1600" dirty="0">
                <a:hlinkClick r:id="rId5"/>
              </a:rPr>
              <a:t>-cli: https://github.com/linux-nvme/nvme-cli</a:t>
            </a:r>
            <a:endParaRPr lang="en-US" altLang="zh-CN" sz="1600" dirty="0"/>
          </a:p>
          <a:p>
            <a:pPr marR="0" lvl="0" indent="0" fontAlgn="auto">
              <a:lnSpc>
                <a:spcPct val="7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1600" dirty="0" err="1"/>
              <a:t>Libzbd</a:t>
            </a:r>
            <a:r>
              <a:rPr lang="en-US" altLang="zh-CN" sz="1600" dirty="0"/>
              <a:t>: https://zonedstorage.io/docs/tools/libzbd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85590" y="1318324"/>
            <a:ext cx="10483318" cy="3276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 err="1">
                <a:solidFill>
                  <a:srgbClr val="0D0D0D"/>
                </a:solidFill>
                <a:latin typeface="Söhne"/>
              </a:rPr>
              <a:t>NVMEvirt</a:t>
            </a:r>
            <a:r>
              <a:rPr lang="en-US" altLang="zh-CN" sz="2000" b="1" dirty="0">
                <a:solidFill>
                  <a:srgbClr val="0D0D0D"/>
                </a:solidFill>
                <a:latin typeface="Söhne"/>
              </a:rPr>
              <a:t>: 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最新的</a:t>
            </a:r>
            <a:r>
              <a:rPr lang="en-US" altLang="zh-CN" sz="2000" dirty="0" err="1">
                <a:solidFill>
                  <a:srgbClr val="0D0D0D"/>
                </a:solidFill>
                <a:latin typeface="Söhne"/>
              </a:rPr>
              <a:t>NVMe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模拟器，支持</a:t>
            </a:r>
            <a:r>
              <a:rPr lang="en-US" altLang="zh-CN" sz="2000" dirty="0">
                <a:solidFill>
                  <a:srgbClr val="0D0D0D"/>
                </a:solidFill>
                <a:latin typeface="Söhne"/>
              </a:rPr>
              <a:t>ZNS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，用于构建</a:t>
            </a:r>
            <a:r>
              <a:rPr lang="en-US" altLang="zh-CN" sz="2000" dirty="0">
                <a:solidFill>
                  <a:srgbClr val="0D0D0D"/>
                </a:solidFill>
                <a:latin typeface="Söhne"/>
              </a:rPr>
              <a:t>ZNS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模拟环境，该模拟器通过内核模块模拟</a:t>
            </a:r>
            <a:r>
              <a:rPr lang="en-US" altLang="zh-CN" sz="2000" dirty="0" err="1">
                <a:solidFill>
                  <a:srgbClr val="0D0D0D"/>
                </a:solidFill>
                <a:latin typeface="Söhne"/>
              </a:rPr>
              <a:t>NVMe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设备，提供类似真实设备的性能表现。</a:t>
            </a:r>
          </a:p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 err="1">
                <a:solidFill>
                  <a:srgbClr val="0D0D0D"/>
                </a:solidFill>
                <a:latin typeface="Söhne"/>
              </a:rPr>
              <a:t>ZenFS</a:t>
            </a:r>
            <a:r>
              <a:rPr lang="en-US" altLang="zh-CN" sz="2000" b="1" dirty="0">
                <a:solidFill>
                  <a:srgbClr val="0D0D0D"/>
                </a:solidFill>
                <a:latin typeface="Söhne"/>
              </a:rPr>
              <a:t>: 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为</a:t>
            </a:r>
            <a:r>
              <a:rPr lang="en-US" altLang="zh-CN" sz="2000" dirty="0" err="1">
                <a:solidFill>
                  <a:srgbClr val="0D0D0D"/>
                </a:solidFill>
                <a:latin typeface="Söhne"/>
              </a:rPr>
              <a:t>RocksDB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提供的文件系统插件，支持</a:t>
            </a:r>
            <a:r>
              <a:rPr lang="en-US" altLang="zh-CN" sz="2000" dirty="0">
                <a:solidFill>
                  <a:srgbClr val="0D0D0D"/>
                </a:solidFill>
                <a:latin typeface="Söhne"/>
              </a:rPr>
              <a:t>ZNS SSD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，显著减少系统写放大。</a:t>
            </a:r>
          </a:p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0D0D0D"/>
                </a:solidFill>
                <a:latin typeface="Söhne"/>
              </a:rPr>
              <a:t>Linux</a:t>
            </a:r>
            <a:r>
              <a:rPr lang="zh-CN" altLang="en-US" sz="2000" b="1" dirty="0">
                <a:solidFill>
                  <a:srgbClr val="0D0D0D"/>
                </a:solidFill>
                <a:latin typeface="Söhne"/>
              </a:rPr>
              <a:t>系统工具</a:t>
            </a:r>
            <a:r>
              <a:rPr lang="en-US" altLang="zh-CN" sz="2000" b="1" dirty="0">
                <a:solidFill>
                  <a:srgbClr val="0D0D0D"/>
                </a:solidFill>
                <a:latin typeface="Söhne"/>
              </a:rPr>
              <a:t>: 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经前期测试验证已支持</a:t>
            </a:r>
            <a:r>
              <a:rPr lang="en-US" altLang="zh-CN" sz="2000" dirty="0">
                <a:solidFill>
                  <a:srgbClr val="0D0D0D"/>
                </a:solidFill>
                <a:latin typeface="Söhne"/>
              </a:rPr>
              <a:t>ZNS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的工具：包括</a:t>
            </a:r>
            <a:r>
              <a:rPr lang="en-US" altLang="zh-CN" sz="2000" dirty="0" err="1">
                <a:solidFill>
                  <a:srgbClr val="0D0D0D"/>
                </a:solidFill>
                <a:latin typeface="Söhne"/>
              </a:rPr>
              <a:t>fio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、</a:t>
            </a:r>
            <a:r>
              <a:rPr lang="en-US" altLang="zh-CN" sz="2000" dirty="0" err="1">
                <a:solidFill>
                  <a:srgbClr val="0D0D0D"/>
                </a:solidFill>
                <a:latin typeface="Söhne"/>
              </a:rPr>
              <a:t>nvme</a:t>
            </a:r>
            <a:r>
              <a:rPr lang="en-US" altLang="zh-CN" sz="2000" dirty="0">
                <a:solidFill>
                  <a:srgbClr val="0D0D0D"/>
                </a:solidFill>
                <a:latin typeface="Söhne"/>
              </a:rPr>
              <a:t>-cli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等，用于性能测试和管理</a:t>
            </a:r>
            <a:r>
              <a:rPr lang="en-US" altLang="zh-CN" sz="2000" dirty="0">
                <a:solidFill>
                  <a:srgbClr val="0D0D0D"/>
                </a:solidFill>
                <a:latin typeface="Söhne"/>
              </a:rPr>
              <a:t>ZNS SSD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。</a:t>
            </a:r>
          </a:p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 err="1">
                <a:solidFill>
                  <a:srgbClr val="0D0D0D"/>
                </a:solidFill>
                <a:latin typeface="Söhne"/>
              </a:rPr>
              <a:t>zbd</a:t>
            </a:r>
            <a:r>
              <a:rPr lang="en-US" altLang="zh-CN" sz="2000" b="1" dirty="0">
                <a:solidFill>
                  <a:srgbClr val="0D0D0D"/>
                </a:solidFill>
                <a:latin typeface="Söhne"/>
              </a:rPr>
              <a:t>-tools: 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包括</a:t>
            </a:r>
            <a:r>
              <a:rPr lang="en-US" altLang="zh-CN" sz="2000" dirty="0" err="1">
                <a:solidFill>
                  <a:srgbClr val="0D0D0D"/>
                </a:solidFill>
                <a:latin typeface="Söhne"/>
              </a:rPr>
              <a:t>gzbd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、</a:t>
            </a:r>
            <a:r>
              <a:rPr lang="en-US" altLang="zh-CN" sz="2000" dirty="0" err="1">
                <a:solidFill>
                  <a:srgbClr val="0D0D0D"/>
                </a:solidFill>
                <a:latin typeface="Söhne"/>
              </a:rPr>
              <a:t>libzbd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。</a:t>
            </a:r>
            <a:r>
              <a:rPr lang="en-US" altLang="zh-CN" sz="2000" dirty="0" err="1">
                <a:solidFill>
                  <a:srgbClr val="0D0D0D"/>
                </a:solidFill>
                <a:latin typeface="Söhne"/>
              </a:rPr>
              <a:t>Gzbd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能提供可视化，</a:t>
            </a:r>
            <a:r>
              <a:rPr lang="en-US" altLang="zh-CN" sz="2000" dirty="0" err="1">
                <a:solidFill>
                  <a:srgbClr val="0D0D0D"/>
                </a:solidFill>
                <a:latin typeface="Söhne"/>
              </a:rPr>
              <a:t>libzbd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是最新的</a:t>
            </a:r>
            <a:r>
              <a:rPr lang="en-US" altLang="zh-CN" sz="2000" dirty="0">
                <a:solidFill>
                  <a:srgbClr val="0D0D0D"/>
                </a:solidFill>
                <a:latin typeface="Söhne"/>
              </a:rPr>
              <a:t>zone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语义用户库，支持</a:t>
            </a:r>
            <a:r>
              <a:rPr lang="en-US" altLang="zh-CN" sz="2000" dirty="0">
                <a:solidFill>
                  <a:srgbClr val="0D0D0D"/>
                </a:solidFill>
                <a:latin typeface="Söhne"/>
              </a:rPr>
              <a:t>Zone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逻辑设备的管理和操作。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85590" y="310242"/>
            <a:ext cx="6798981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zh-CN" altLang="en-US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实验工具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534400" y="6522720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4" name="日期占位符 7"/>
          <p:cNvSpPr>
            <a:spLocks noGrp="1"/>
          </p:cNvSpPr>
          <p:nvPr>
            <p:ph type="dt" sz="half" idx="10"/>
          </p:nvPr>
        </p:nvSpPr>
        <p:spPr>
          <a:xfrm>
            <a:off x="1209907" y="6494974"/>
            <a:ext cx="1847385" cy="365125"/>
          </a:xfrm>
        </p:spPr>
        <p:txBody>
          <a:bodyPr/>
          <a:lstStyle/>
          <a:p>
            <a:fld id="{31CCC338-FFC3-4940-99DD-6195BEF39901}" type="datetime4">
              <a:rPr lang="en-US" altLang="zh-CN" sz="1400" b="1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April 7, 2024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385590" y="859531"/>
            <a:ext cx="11479576" cy="0"/>
          </a:xfrm>
          <a:prstGeom prst="line">
            <a:avLst/>
          </a:prstGeom>
          <a:ln w="38100">
            <a:solidFill>
              <a:srgbClr val="4747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063" y="218980"/>
            <a:ext cx="730337" cy="556270"/>
          </a:xfrm>
          <a:prstGeom prst="rect">
            <a:avLst/>
          </a:prstGeom>
        </p:spPr>
      </p:pic>
      <p:sp>
        <p:nvSpPr>
          <p:cNvPr id="14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847869" y="6405035"/>
            <a:ext cx="809393" cy="545001"/>
          </a:xfrm>
        </p:spPr>
        <p:txBody>
          <a:bodyPr/>
          <a:lstStyle/>
          <a:p>
            <a:pPr algn="ctr"/>
            <a:fld id="{152851E7-9224-42D2-A4FF-119762E40804}" type="slidenum">
              <a:rPr lang="zh-CN" altLang="en-US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15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85590" y="1095737"/>
            <a:ext cx="69519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4747BA"/>
                </a:solidFill>
                <a:ea typeface="+mn-lt"/>
                <a:cs typeface="Times New Roman" panose="02020603050405020304" pitchFamily="18" charset="0"/>
              </a:rPr>
              <a:t>NVMevirt</a:t>
            </a:r>
            <a:r>
              <a:rPr lang="zh-CN" altLang="en-US" sz="2400" dirty="0">
                <a:solidFill>
                  <a:srgbClr val="4747BA"/>
                </a:solidFill>
                <a:ea typeface="+mn-lt"/>
                <a:cs typeface="Times New Roman" panose="02020603050405020304" pitchFamily="18" charset="0"/>
              </a:rPr>
              <a:t>模拟器</a:t>
            </a:r>
            <a:endParaRPr lang="en-US" altLang="zh-CN" sz="2400" dirty="0">
              <a:solidFill>
                <a:srgbClr val="4747BA"/>
              </a:solidFill>
              <a:ea typeface="+mn-lt"/>
              <a:cs typeface="Times New Roman" panose="02020603050405020304" pitchFamily="18" charset="0"/>
            </a:endParaRPr>
          </a:p>
        </p:txBody>
      </p:sp>
      <p:sp>
        <p:nvSpPr>
          <p:cNvPr id="7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4095916" y="6553437"/>
            <a:ext cx="4520431" cy="273844"/>
          </a:xfrm>
        </p:spPr>
        <p:txBody>
          <a:bodyPr/>
          <a:lstStyle/>
          <a:p>
            <a:r>
              <a:rPr lang="en-US" altLang="zh-CN" sz="1400" b="1" dirty="0" err="1">
                <a:solidFill>
                  <a:schemeClr val="bg1"/>
                </a:solidFill>
                <a:latin typeface="Constantia" panose="02030602050306030303" pitchFamily="18" charset="0"/>
              </a:rPr>
              <a:t>Ziqi</a:t>
            </a:r>
            <a:r>
              <a:rPr lang="en-US" altLang="zh-CN" sz="1400" b="1" dirty="0">
                <a:solidFill>
                  <a:schemeClr val="bg1"/>
                </a:solidFill>
                <a:latin typeface="Constantia" panose="02030602050306030303" pitchFamily="18" charset="0"/>
              </a:rPr>
              <a:t> Liu | HUST</a:t>
            </a:r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" y="2129895"/>
            <a:ext cx="10789920" cy="3632368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85590" y="1513449"/>
            <a:ext cx="10483318" cy="506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如图，构建了一个</a:t>
            </a:r>
            <a:r>
              <a:rPr lang="en-US" altLang="zh-CN" sz="2000" dirty="0">
                <a:solidFill>
                  <a:srgbClr val="0D0D0D"/>
                </a:solidFill>
                <a:latin typeface="Söhne"/>
              </a:rPr>
              <a:t>Zone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大小为</a:t>
            </a:r>
            <a:r>
              <a:rPr lang="en-US" altLang="zh-CN" sz="2000" dirty="0">
                <a:solidFill>
                  <a:srgbClr val="0D0D0D"/>
                </a:solidFill>
                <a:latin typeface="Söhne"/>
              </a:rPr>
              <a:t>10MB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的</a:t>
            </a:r>
            <a:r>
              <a:rPr lang="en-US" altLang="zh-CN" sz="2000" dirty="0">
                <a:solidFill>
                  <a:srgbClr val="0D0D0D"/>
                </a:solidFill>
                <a:latin typeface="Söhne"/>
              </a:rPr>
              <a:t>ZNS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盘，使用</a:t>
            </a:r>
            <a:r>
              <a:rPr lang="en-US" altLang="zh-CN" sz="2000" dirty="0" err="1">
                <a:solidFill>
                  <a:srgbClr val="0D0D0D"/>
                </a:solidFill>
                <a:latin typeface="Söhne"/>
              </a:rPr>
              <a:t>nvme</a:t>
            </a:r>
            <a:r>
              <a:rPr lang="en-US" altLang="zh-CN" sz="2000" dirty="0">
                <a:solidFill>
                  <a:srgbClr val="0D0D0D"/>
                </a:solidFill>
                <a:latin typeface="Söhne"/>
              </a:rPr>
              <a:t>-cli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报告状态如下</a:t>
            </a:r>
            <a:r>
              <a:rPr lang="en-US" altLang="zh-CN" sz="2000" dirty="0">
                <a:solidFill>
                  <a:srgbClr val="0D0D0D"/>
                </a:solidFill>
                <a:latin typeface="Söhne"/>
              </a:rPr>
              <a:t>:</a:t>
            </a:r>
            <a:endParaRPr lang="zh-CN" altLang="en-US" sz="2000" dirty="0">
              <a:solidFill>
                <a:srgbClr val="0D0D0D"/>
              </a:solidFill>
              <a:latin typeface="Söhne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85590" y="310242"/>
            <a:ext cx="6798981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zh-CN" altLang="en-US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实验平台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534400" y="6522720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4" name="日期占位符 7"/>
          <p:cNvSpPr>
            <a:spLocks noGrp="1"/>
          </p:cNvSpPr>
          <p:nvPr>
            <p:ph type="dt" sz="half" idx="10"/>
          </p:nvPr>
        </p:nvSpPr>
        <p:spPr>
          <a:xfrm>
            <a:off x="1209907" y="6494974"/>
            <a:ext cx="1847385" cy="365125"/>
          </a:xfrm>
        </p:spPr>
        <p:txBody>
          <a:bodyPr/>
          <a:lstStyle/>
          <a:p>
            <a:fld id="{31CCC338-FFC3-4940-99DD-6195BEF39901}" type="datetime4">
              <a:rPr lang="en-US" altLang="zh-CN" sz="1400" b="1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April 7, 2024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385590" y="859531"/>
            <a:ext cx="11479576" cy="0"/>
          </a:xfrm>
          <a:prstGeom prst="line">
            <a:avLst/>
          </a:prstGeom>
          <a:ln w="38100">
            <a:solidFill>
              <a:srgbClr val="4747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415183" y="166469"/>
            <a:ext cx="679898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zh-CN" altLang="en-US" sz="40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实验平台</a:t>
            </a: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063" y="218980"/>
            <a:ext cx="730337" cy="556270"/>
          </a:xfrm>
          <a:prstGeom prst="rect">
            <a:avLst/>
          </a:prstGeom>
        </p:spPr>
      </p:pic>
      <p:sp>
        <p:nvSpPr>
          <p:cNvPr id="14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847869" y="6405035"/>
            <a:ext cx="809393" cy="545001"/>
          </a:xfrm>
        </p:spPr>
        <p:txBody>
          <a:bodyPr/>
          <a:lstStyle/>
          <a:p>
            <a:pPr algn="ctr"/>
            <a:fld id="{152851E7-9224-42D2-A4FF-119762E40804}" type="slidenum">
              <a:rPr lang="zh-CN" altLang="en-US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16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40055" y="1088390"/>
            <a:ext cx="69519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4747BA"/>
                </a:solidFill>
                <a:ea typeface="+mn-lt"/>
                <a:cs typeface="Times New Roman" panose="02020603050405020304" pitchFamily="18" charset="0"/>
              </a:rPr>
              <a:t>ZNS</a:t>
            </a:r>
            <a:r>
              <a:rPr lang="zh-CN" altLang="en-US" sz="2400" dirty="0">
                <a:solidFill>
                  <a:srgbClr val="4747BA"/>
                </a:solidFill>
                <a:ea typeface="+mn-lt"/>
                <a:cs typeface="Times New Roman" panose="02020603050405020304" pitchFamily="18" charset="0"/>
              </a:rPr>
              <a:t>设备</a:t>
            </a:r>
            <a:endParaRPr lang="en-US" altLang="zh-CN" sz="2400" dirty="0">
              <a:solidFill>
                <a:srgbClr val="4747BA"/>
              </a:solidFill>
              <a:ea typeface="+mn-lt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85590" y="1576511"/>
            <a:ext cx="6696883" cy="246150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charset="0"/>
              <a:buChar char="q"/>
            </a:pPr>
            <a:r>
              <a:rPr lang="en-US" altLang="zh-CN" sz="2000" dirty="0">
                <a:sym typeface="+mn-ea"/>
              </a:rPr>
              <a:t>ZNS</a:t>
            </a:r>
            <a:r>
              <a:rPr lang="zh-CN" altLang="en-US" sz="2000" dirty="0">
                <a:sym typeface="+mn-ea"/>
              </a:rPr>
              <a:t>采用</a:t>
            </a:r>
            <a:r>
              <a:rPr lang="en-US" altLang="zh-CN" sz="2000" dirty="0">
                <a:sym typeface="+mn-ea"/>
              </a:rPr>
              <a:t>U.2</a:t>
            </a:r>
            <a:r>
              <a:rPr lang="zh-CN" altLang="en-US" sz="2000" dirty="0">
                <a:sym typeface="+mn-ea"/>
              </a:rPr>
              <a:t>接口，如右图</a:t>
            </a:r>
            <a:r>
              <a:rPr lang="en-US" altLang="zh-CN" sz="2000" dirty="0">
                <a:sym typeface="+mn-ea"/>
              </a:rPr>
              <a:t> </a:t>
            </a: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q"/>
            </a:pPr>
            <a:r>
              <a:rPr lang="zh-CN" altLang="en-US" sz="2000" dirty="0">
                <a:sym typeface="+mn-ea"/>
              </a:rPr>
              <a:t>另外，初步测试了</a:t>
            </a:r>
            <a:r>
              <a:rPr lang="en-US" altLang="zh-CN" sz="2000" dirty="0" err="1">
                <a:sym typeface="+mn-ea"/>
              </a:rPr>
              <a:t>RocksDB</a:t>
            </a:r>
            <a:r>
              <a:rPr lang="en-US" altLang="zh-CN" sz="2000" dirty="0">
                <a:sym typeface="+mn-ea"/>
              </a:rPr>
              <a:t> + </a:t>
            </a:r>
            <a:r>
              <a:rPr lang="en-US" altLang="zh-CN" sz="2000" dirty="0" err="1">
                <a:sym typeface="+mn-ea"/>
              </a:rPr>
              <a:t>ZenFS</a:t>
            </a:r>
            <a:r>
              <a:rPr lang="zh-CN" altLang="en-US" sz="2000" dirty="0">
                <a:sym typeface="+mn-ea"/>
              </a:rPr>
              <a:t>的表现，与之前</a:t>
            </a:r>
            <a:r>
              <a:rPr lang="en-US" altLang="zh-CN" sz="2000" dirty="0" err="1">
                <a:sym typeface="+mn-ea"/>
              </a:rPr>
              <a:t>NVMevirt</a:t>
            </a:r>
            <a:r>
              <a:rPr lang="zh-CN" altLang="en-US" sz="2000" dirty="0">
                <a:sym typeface="+mn-ea"/>
              </a:rPr>
              <a:t>模拟结果相比，模拟器的延迟过低。我认为原因在于它是内核模块实现，可能只体现了主机</a:t>
            </a:r>
            <a:r>
              <a:rPr lang="en-US" altLang="zh-CN" sz="2000" dirty="0">
                <a:sym typeface="+mn-ea"/>
              </a:rPr>
              <a:t>l/O</a:t>
            </a:r>
            <a:r>
              <a:rPr lang="zh-CN" altLang="en-US" sz="2000" dirty="0">
                <a:sym typeface="+mn-ea"/>
              </a:rPr>
              <a:t>栈的延迟。</a:t>
            </a:r>
            <a:endParaRPr lang="en-US" altLang="zh-CN" sz="2000" dirty="0">
              <a:sym typeface="+mn-ea"/>
            </a:endParaRP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q"/>
            </a:pPr>
            <a:r>
              <a:rPr lang="zh-CN" altLang="en-US" sz="2000" dirty="0">
                <a:sym typeface="+mn-ea"/>
              </a:rPr>
              <a:t>连接到服务器后，查看块设备，如右下图所示</a:t>
            </a:r>
            <a:endParaRPr lang="en-US" altLang="zh-CN" sz="2000" dirty="0">
              <a:sym typeface="+mn-ea"/>
            </a:endParaRPr>
          </a:p>
        </p:txBody>
      </p:sp>
      <p:sp>
        <p:nvSpPr>
          <p:cNvPr id="7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4095916" y="6553437"/>
            <a:ext cx="4520431" cy="273844"/>
          </a:xfrm>
        </p:spPr>
        <p:txBody>
          <a:bodyPr/>
          <a:lstStyle/>
          <a:p>
            <a:r>
              <a:rPr lang="en-US" altLang="zh-CN" sz="1400" b="1" dirty="0" err="1">
                <a:solidFill>
                  <a:schemeClr val="bg1"/>
                </a:solidFill>
                <a:latin typeface="Constantia" panose="02030602050306030303" pitchFamily="18" charset="0"/>
              </a:rPr>
              <a:t>Ziqi</a:t>
            </a:r>
            <a:r>
              <a:rPr lang="en-US" altLang="zh-CN" sz="1400" b="1" dirty="0">
                <a:solidFill>
                  <a:schemeClr val="bg1"/>
                </a:solidFill>
                <a:latin typeface="Constantia" panose="02030602050306030303" pitchFamily="18" charset="0"/>
              </a:rPr>
              <a:t> Liu | HUST</a:t>
            </a:r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5299" y="1248081"/>
            <a:ext cx="1598233" cy="2243013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3977" y="1248799"/>
            <a:ext cx="1693704" cy="2258272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6174" y="4065765"/>
            <a:ext cx="5517358" cy="22709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534400" y="6522720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4" name="日期占位符 7"/>
          <p:cNvSpPr>
            <a:spLocks noGrp="1"/>
          </p:cNvSpPr>
          <p:nvPr>
            <p:ph type="dt" sz="half" idx="10"/>
          </p:nvPr>
        </p:nvSpPr>
        <p:spPr>
          <a:xfrm>
            <a:off x="1209907" y="6494974"/>
            <a:ext cx="1847385" cy="365125"/>
          </a:xfrm>
        </p:spPr>
        <p:txBody>
          <a:bodyPr/>
          <a:lstStyle/>
          <a:p>
            <a:fld id="{31CCC338-FFC3-4940-99DD-6195BEF39901}" type="datetime4">
              <a:rPr lang="en-US" altLang="zh-CN" sz="1400" b="1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April 7, 2024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385590" y="859531"/>
            <a:ext cx="11479576" cy="0"/>
          </a:xfrm>
          <a:prstGeom prst="line">
            <a:avLst/>
          </a:prstGeom>
          <a:ln w="38100">
            <a:solidFill>
              <a:srgbClr val="4747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063" y="218980"/>
            <a:ext cx="730337" cy="556270"/>
          </a:xfrm>
          <a:prstGeom prst="rect">
            <a:avLst/>
          </a:prstGeom>
        </p:spPr>
      </p:pic>
      <p:sp>
        <p:nvSpPr>
          <p:cNvPr id="14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847869" y="6405035"/>
            <a:ext cx="809393" cy="545001"/>
          </a:xfrm>
        </p:spPr>
        <p:txBody>
          <a:bodyPr/>
          <a:lstStyle/>
          <a:p>
            <a:pPr algn="ctr"/>
            <a:fld id="{152851E7-9224-42D2-A4FF-119762E40804}" type="slidenum">
              <a:rPr lang="zh-CN" altLang="en-US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17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15183" y="1080755"/>
            <a:ext cx="69519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4747BA"/>
                </a:solidFill>
                <a:ea typeface="+mn-lt"/>
                <a:cs typeface="Times New Roman" panose="02020603050405020304" pitchFamily="18" charset="0"/>
              </a:rPr>
              <a:t>ZNS</a:t>
            </a:r>
            <a:r>
              <a:rPr lang="zh-CN" altLang="en-US" sz="2400" dirty="0">
                <a:solidFill>
                  <a:srgbClr val="4747BA"/>
                </a:solidFill>
                <a:ea typeface="+mn-lt"/>
                <a:cs typeface="Times New Roman" panose="02020603050405020304" pitchFamily="18" charset="0"/>
              </a:rPr>
              <a:t>设计及其特性</a:t>
            </a:r>
            <a:endParaRPr lang="en-US" altLang="zh-CN" sz="2400" dirty="0">
              <a:solidFill>
                <a:srgbClr val="4747BA"/>
              </a:solidFill>
              <a:ea typeface="+mn-lt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40055" y="1790929"/>
            <a:ext cx="10217207" cy="2059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q"/>
            </a:pPr>
            <a:r>
              <a:rPr lang="en-US" altLang="zh-CN" sz="2000" i="0" dirty="0">
                <a:solidFill>
                  <a:srgbClr val="374151"/>
                </a:solidFill>
                <a:effectLst/>
                <a:latin typeface="Söhne"/>
              </a:rPr>
              <a:t>ZNS</a:t>
            </a:r>
            <a:r>
              <a:rPr lang="zh-CN" altLang="en-US" sz="2000" i="0" dirty="0">
                <a:solidFill>
                  <a:srgbClr val="374151"/>
                </a:solidFill>
                <a:effectLst/>
                <a:latin typeface="Söhne"/>
              </a:rPr>
              <a:t>（</a:t>
            </a:r>
            <a:r>
              <a:rPr lang="en-US" altLang="zh-CN" sz="2000" i="0" dirty="0">
                <a:solidFill>
                  <a:srgbClr val="374151"/>
                </a:solidFill>
                <a:effectLst/>
                <a:latin typeface="Söhne"/>
              </a:rPr>
              <a:t>Zoned Namespace</a:t>
            </a:r>
            <a:r>
              <a:rPr lang="zh-CN" altLang="en-US" sz="2000" i="0" dirty="0">
                <a:solidFill>
                  <a:srgbClr val="374151"/>
                </a:solidFill>
                <a:effectLst/>
                <a:latin typeface="Söhne"/>
              </a:rPr>
              <a:t>）</a:t>
            </a:r>
            <a:r>
              <a:rPr lang="zh-CN" altLang="en-US" sz="2000" i="0" dirty="0">
                <a:solidFill>
                  <a:srgbClr val="000000"/>
                </a:solidFill>
                <a:effectLst/>
                <a:latin typeface="_5b8b_4f53"/>
              </a:rPr>
              <a:t>是一种面向大规模数据中心设计的新型存储设备，其设计理念是将</a:t>
            </a:r>
            <a:r>
              <a:rPr lang="en-US" altLang="zh-CN" sz="2000" i="0" dirty="0">
                <a:solidFill>
                  <a:srgbClr val="000000"/>
                </a:solidFill>
                <a:effectLst/>
                <a:latin typeface="_5b8b_4f53"/>
              </a:rPr>
              <a:t>SSD</a:t>
            </a:r>
            <a:r>
              <a:rPr lang="zh-CN" altLang="en-US" sz="2000" i="0" dirty="0">
                <a:solidFill>
                  <a:srgbClr val="000000"/>
                </a:solidFill>
                <a:effectLst/>
                <a:latin typeface="_5b8b_4f53"/>
              </a:rPr>
              <a:t>的存储空间按更大的粒度划分为不同的区域，每个区域具有独立的属性。与传统的块设备最大的不同在于，</a:t>
            </a:r>
            <a:r>
              <a:rPr lang="en-US" altLang="zh-CN" sz="2000" i="0" dirty="0">
                <a:solidFill>
                  <a:srgbClr val="000000"/>
                </a:solidFill>
                <a:effectLst/>
                <a:latin typeface="_5b8b_4f53"/>
              </a:rPr>
              <a:t>ZNS</a:t>
            </a:r>
            <a:r>
              <a:rPr lang="zh-CN" altLang="en-US" sz="2000" i="0" dirty="0">
                <a:solidFill>
                  <a:srgbClr val="000000"/>
                </a:solidFill>
                <a:effectLst/>
                <a:latin typeface="_5b8b_4f53"/>
              </a:rPr>
              <a:t>要求在一个区域内顺序写入数据。</a:t>
            </a:r>
            <a:r>
              <a:rPr lang="en-US" altLang="zh-CN" sz="2000" i="0" dirty="0">
                <a:solidFill>
                  <a:srgbClr val="000000"/>
                </a:solidFill>
                <a:effectLst/>
                <a:latin typeface="_5b8b_4f53"/>
              </a:rPr>
              <a:t>ZNS</a:t>
            </a:r>
            <a:r>
              <a:rPr lang="zh-CN" altLang="en-US" sz="2000" i="0" dirty="0">
                <a:solidFill>
                  <a:srgbClr val="000000"/>
                </a:solidFill>
                <a:effectLst/>
                <a:latin typeface="_5b8b_4f53"/>
              </a:rPr>
              <a:t>的设计旨在解决传统固态硬盘</a:t>
            </a:r>
            <a:r>
              <a:rPr lang="en-US" altLang="zh-CN" sz="2000" i="0" dirty="0">
                <a:solidFill>
                  <a:srgbClr val="000000"/>
                </a:solidFill>
                <a:effectLst/>
                <a:latin typeface="_5b8b_4f53"/>
              </a:rPr>
              <a:t>(SSD)</a:t>
            </a:r>
            <a:r>
              <a:rPr lang="zh-CN" altLang="en-US" sz="2000" i="0" dirty="0">
                <a:solidFill>
                  <a:srgbClr val="000000"/>
                </a:solidFill>
                <a:effectLst/>
                <a:latin typeface="_5b8b_4f53"/>
              </a:rPr>
              <a:t>存在的一些问题，例如其中比较典型的写放大问题</a:t>
            </a:r>
            <a:r>
              <a:rPr lang="zh-CN" altLang="en-US" sz="2000" dirty="0">
                <a:solidFill>
                  <a:srgbClr val="000000"/>
                </a:solidFill>
                <a:latin typeface="_5b8b_4f53"/>
              </a:rPr>
              <a:t>，</a:t>
            </a:r>
            <a:r>
              <a:rPr lang="zh-CN" altLang="en-US" sz="2000" i="0" dirty="0">
                <a:solidFill>
                  <a:srgbClr val="000000"/>
                </a:solidFill>
                <a:effectLst/>
                <a:latin typeface="_5b8b_4f53"/>
              </a:rPr>
              <a:t>并提供了更高性能和更低成本的存储解决方案。</a:t>
            </a:r>
            <a:endParaRPr lang="zh-CN" altLang="en-US" sz="2000" dirty="0">
              <a:latin typeface="Cambria Math" panose="02040503050406030204" pitchFamily="18" charset="0"/>
              <a:cs typeface="Cambria Math" panose="02040503050406030204" pitchFamily="18" charset="0"/>
            </a:endParaRPr>
          </a:p>
        </p:txBody>
      </p:sp>
      <p:sp>
        <p:nvSpPr>
          <p:cNvPr id="1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4095916" y="6553437"/>
            <a:ext cx="4520431" cy="273844"/>
          </a:xfrm>
        </p:spPr>
        <p:txBody>
          <a:bodyPr/>
          <a:lstStyle/>
          <a:p>
            <a:r>
              <a:rPr lang="en-US" altLang="zh-CN" sz="1400" b="1" dirty="0" err="1">
                <a:solidFill>
                  <a:schemeClr val="bg1"/>
                </a:solidFill>
                <a:latin typeface="Constantia" panose="02030602050306030303" pitchFamily="18" charset="0"/>
              </a:rPr>
              <a:t>Ziqi</a:t>
            </a:r>
            <a:r>
              <a:rPr lang="en-US" altLang="zh-CN" sz="1400" b="1" dirty="0">
                <a:solidFill>
                  <a:schemeClr val="bg1"/>
                </a:solidFill>
                <a:latin typeface="Constantia" panose="02030602050306030303" pitchFamily="18" charset="0"/>
              </a:rPr>
              <a:t> Liu | HUST</a:t>
            </a:r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40055" y="4314086"/>
            <a:ext cx="10075545" cy="8588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q"/>
            </a:pPr>
            <a:r>
              <a:rPr lang="en-US" altLang="zh-CN" sz="2000" dirty="0">
                <a:latin typeface="Cambria Math" panose="02040503050406030204" pitchFamily="18" charset="0"/>
                <a:cs typeface="Cambria Math" panose="02040503050406030204" pitchFamily="18" charset="0"/>
              </a:rPr>
              <a:t> </a:t>
            </a:r>
            <a:r>
              <a:rPr lang="zh-CN" altLang="en-US" sz="2000" dirty="0">
                <a:latin typeface="Cambria Math" panose="02040503050406030204" pitchFamily="18" charset="0"/>
                <a:cs typeface="Cambria Math" panose="02040503050406030204" pitchFamily="18" charset="0"/>
              </a:rPr>
              <a:t>更具体地，</a:t>
            </a:r>
            <a:r>
              <a:rPr lang="en-US" altLang="zh-CN" sz="2000" dirty="0">
                <a:latin typeface="Cambria Math" panose="02040503050406030204" pitchFamily="18" charset="0"/>
                <a:cs typeface="Cambria Math" panose="02040503050406030204" pitchFamily="18" charset="0"/>
              </a:rPr>
              <a:t>ZNS</a:t>
            </a:r>
            <a:r>
              <a:rPr lang="zh-CN" altLang="en-US" sz="2000" dirty="0">
                <a:latin typeface="Cambria Math" panose="02040503050406030204" pitchFamily="18" charset="0"/>
                <a:cs typeface="Cambria Math" panose="02040503050406030204" pitchFamily="18" charset="0"/>
              </a:rPr>
              <a:t>将存储空间划分为多个区域（</a:t>
            </a:r>
            <a:r>
              <a:rPr lang="en-US" altLang="zh-CN" sz="2000" dirty="0">
                <a:latin typeface="Cambria Math" panose="02040503050406030204" pitchFamily="18" charset="0"/>
                <a:cs typeface="Cambria Math" panose="02040503050406030204" pitchFamily="18" charset="0"/>
              </a:rPr>
              <a:t>zones</a:t>
            </a:r>
            <a:r>
              <a:rPr lang="zh-CN" altLang="en-US" sz="2000" dirty="0">
                <a:latin typeface="Cambria Math" panose="02040503050406030204" pitchFamily="18" charset="0"/>
                <a:cs typeface="Cambria Math" panose="02040503050406030204" pitchFamily="18" charset="0"/>
              </a:rPr>
              <a:t>），每个区必须按顺序写入，回收复用之前必须被显示的重置。</a:t>
            </a:r>
            <a:r>
              <a:rPr lang="en-US" altLang="zh-CN" sz="2000" dirty="0">
                <a:latin typeface="Cambria Math" panose="02040503050406030204" pitchFamily="18" charset="0"/>
                <a:cs typeface="Cambria Math" panose="02040503050406030204" pitchFamily="18" charset="0"/>
              </a:rPr>
              <a:t>ZNS</a:t>
            </a:r>
            <a:r>
              <a:rPr lang="zh-CN" altLang="en-US" sz="2000" dirty="0">
                <a:latin typeface="Cambria Math" panose="02040503050406030204" pitchFamily="18" charset="0"/>
                <a:cs typeface="Cambria Math" panose="02040503050406030204" pitchFamily="18" charset="0"/>
              </a:rPr>
              <a:t>带来的优势主要有：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85590" y="226263"/>
            <a:ext cx="6798981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altLang="zh-CN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 ZNS</a:t>
            </a:r>
            <a:r>
              <a:rPr lang="zh-CN" altLang="en-US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简介</a:t>
            </a:r>
            <a:r>
              <a:rPr lang="en-US" altLang="zh-CN" sz="36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 </a:t>
            </a:r>
            <a:endParaRPr lang="zh-CN" altLang="en-US" sz="3600" b="1" dirty="0">
              <a:solidFill>
                <a:srgbClr val="4747BA"/>
              </a:solidFill>
              <a:latin typeface="Constantia" panose="02030602050306030303" pitchFamily="18" charset="0"/>
              <a:ea typeface="腾讯体 W3" panose="020C04030202040F0204" pitchFamily="34" charset="-122"/>
              <a:cs typeface="Times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534400" y="6522720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4" name="日期占位符 7"/>
          <p:cNvSpPr>
            <a:spLocks noGrp="1"/>
          </p:cNvSpPr>
          <p:nvPr>
            <p:ph type="dt" sz="half" idx="10"/>
          </p:nvPr>
        </p:nvSpPr>
        <p:spPr>
          <a:xfrm>
            <a:off x="1209907" y="6494974"/>
            <a:ext cx="1847385" cy="365125"/>
          </a:xfrm>
        </p:spPr>
        <p:txBody>
          <a:bodyPr/>
          <a:lstStyle/>
          <a:p>
            <a:fld id="{31CCC338-FFC3-4940-99DD-6195BEF39901}" type="datetime4">
              <a:rPr lang="en-US" altLang="zh-CN" sz="1400" b="1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April 7, 2024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385590" y="859531"/>
            <a:ext cx="11479576" cy="0"/>
          </a:xfrm>
          <a:prstGeom prst="line">
            <a:avLst/>
          </a:prstGeom>
          <a:ln w="38100">
            <a:solidFill>
              <a:srgbClr val="4747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063" y="218980"/>
            <a:ext cx="730337" cy="556270"/>
          </a:xfrm>
          <a:prstGeom prst="rect">
            <a:avLst/>
          </a:prstGeom>
        </p:spPr>
      </p:pic>
      <p:sp>
        <p:nvSpPr>
          <p:cNvPr id="14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847869" y="6405035"/>
            <a:ext cx="809393" cy="545001"/>
          </a:xfrm>
        </p:spPr>
        <p:txBody>
          <a:bodyPr/>
          <a:lstStyle/>
          <a:p>
            <a:pPr algn="ctr"/>
            <a:fld id="{152851E7-9224-42D2-A4FF-119762E40804}" type="slidenum">
              <a:rPr lang="zh-CN" altLang="en-US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18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40055" y="1088390"/>
            <a:ext cx="69519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4747BA"/>
                </a:solidFill>
                <a:ea typeface="+mn-lt"/>
                <a:cs typeface="Times New Roman" panose="02020603050405020304" pitchFamily="18" charset="0"/>
              </a:rPr>
              <a:t>ZNS</a:t>
            </a:r>
            <a:r>
              <a:rPr lang="zh-CN" altLang="en-US" sz="2400" dirty="0">
                <a:solidFill>
                  <a:srgbClr val="4747BA"/>
                </a:solidFill>
                <a:ea typeface="+mn-lt"/>
                <a:cs typeface="Times New Roman" panose="02020603050405020304" pitchFamily="18" charset="0"/>
              </a:rPr>
              <a:t>的优势</a:t>
            </a:r>
            <a:endParaRPr lang="en-US" altLang="zh-CN" sz="2400" dirty="0">
              <a:solidFill>
                <a:srgbClr val="4747BA"/>
              </a:solidFill>
              <a:ea typeface="+mn-lt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85590" y="1836044"/>
            <a:ext cx="10217207" cy="966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zh-CN" altLang="en-US" sz="2000" b="1" dirty="0">
                <a:latin typeface="Cambria Math" panose="02040503050406030204" pitchFamily="18" charset="0"/>
                <a:cs typeface="Cambria Math" panose="02040503050406030204" pitchFamily="18" charset="0"/>
              </a:rPr>
              <a:t>提高性能：</a:t>
            </a:r>
            <a:r>
              <a:rPr lang="zh-CN" altLang="en-US" sz="2000" dirty="0">
                <a:latin typeface="Cambria Math" panose="02040503050406030204" pitchFamily="18" charset="0"/>
                <a:cs typeface="Cambria Math" panose="02040503050406030204" pitchFamily="18" charset="0"/>
              </a:rPr>
              <a:t>主要通过引入顺序写入方式，减少寻址（映射）、垃圾回收等传统</a:t>
            </a:r>
            <a:r>
              <a:rPr lang="en-US" altLang="zh-CN" sz="2000" dirty="0">
                <a:latin typeface="Cambria Math" panose="02040503050406030204" pitchFamily="18" charset="0"/>
                <a:cs typeface="Cambria Math" panose="02040503050406030204" pitchFamily="18" charset="0"/>
              </a:rPr>
              <a:t>SSD</a:t>
            </a:r>
            <a:r>
              <a:rPr lang="zh-CN" altLang="en-US" sz="2000" dirty="0">
                <a:latin typeface="Cambria Math" panose="02040503050406030204" pitchFamily="18" charset="0"/>
                <a:cs typeface="Cambria Math" panose="02040503050406030204" pitchFamily="18" charset="0"/>
              </a:rPr>
              <a:t>中</a:t>
            </a:r>
            <a:r>
              <a:rPr lang="en-US" altLang="zh-CN" sz="2000" dirty="0">
                <a:latin typeface="Cambria Math" panose="02040503050406030204" pitchFamily="18" charset="0"/>
                <a:cs typeface="Cambria Math" panose="02040503050406030204" pitchFamily="18" charset="0"/>
              </a:rPr>
              <a:t>FTL</a:t>
            </a:r>
            <a:r>
              <a:rPr lang="zh-CN" altLang="en-US" sz="2000" dirty="0">
                <a:latin typeface="Cambria Math" panose="02040503050406030204" pitchFamily="18" charset="0"/>
                <a:cs typeface="Cambria Math" panose="02040503050406030204" pitchFamily="18" charset="0"/>
              </a:rPr>
              <a:t>层带来的开销，提高了性能。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85590" y="2945694"/>
            <a:ext cx="10217207" cy="966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zh-CN" altLang="en-US" sz="2000" b="1" dirty="0">
                <a:latin typeface="Cambria Math" panose="02040503050406030204" pitchFamily="18" charset="0"/>
                <a:cs typeface="Cambria Math" panose="02040503050406030204" pitchFamily="18" charset="0"/>
              </a:rPr>
              <a:t>寿命优化： </a:t>
            </a:r>
            <a:r>
              <a:rPr lang="zh-CN" altLang="en-US" sz="2000" dirty="0">
                <a:latin typeface="Cambria Math" panose="02040503050406030204" pitchFamily="18" charset="0"/>
                <a:cs typeface="Cambria Math" panose="02040503050406030204" pitchFamily="18" charset="0"/>
              </a:rPr>
              <a:t>通过减少随机写入（其可能带来设备内写放大），延长存储设备的使用寿命，降低维护和更换的成本。使得制作更廉价、更大容量、更可靠的</a:t>
            </a:r>
            <a:r>
              <a:rPr lang="en-US" altLang="zh-CN" sz="2000" dirty="0">
                <a:latin typeface="Cambria Math" panose="02040503050406030204" pitchFamily="18" charset="0"/>
                <a:cs typeface="Cambria Math" panose="02040503050406030204" pitchFamily="18" charset="0"/>
              </a:rPr>
              <a:t>SSD</a:t>
            </a:r>
            <a:r>
              <a:rPr lang="zh-CN" altLang="en-US" sz="2000" dirty="0">
                <a:latin typeface="Cambria Math" panose="02040503050406030204" pitchFamily="18" charset="0"/>
                <a:cs typeface="Cambria Math" panose="02040503050406030204" pitchFamily="18" charset="0"/>
              </a:rPr>
              <a:t>变得可能。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10462" y="4117551"/>
            <a:ext cx="10217207" cy="1428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zh-CN" altLang="en-US" sz="2000" b="1" dirty="0">
                <a:latin typeface="Cambria Math" panose="02040503050406030204" pitchFamily="18" charset="0"/>
                <a:cs typeface="Cambria Math" panose="02040503050406030204" pitchFamily="18" charset="0"/>
              </a:rPr>
              <a:t>可见性</a:t>
            </a:r>
            <a:r>
              <a:rPr lang="en-US" altLang="zh-CN" sz="2000" b="1" dirty="0">
                <a:latin typeface="Cambria Math" panose="02040503050406030204" pitchFamily="18" charset="0"/>
                <a:cs typeface="Cambria Math" panose="02040503050406030204" pitchFamily="18" charset="0"/>
              </a:rPr>
              <a:t>&amp;</a:t>
            </a:r>
            <a:r>
              <a:rPr lang="zh-CN" altLang="en-US" sz="2000" b="1" dirty="0">
                <a:latin typeface="Cambria Math" panose="02040503050406030204" pitchFamily="18" charset="0"/>
                <a:cs typeface="Cambria Math" panose="02040503050406030204" pitchFamily="18" charset="0"/>
              </a:rPr>
              <a:t>可预测性：</a:t>
            </a:r>
            <a:r>
              <a:rPr lang="zh-CN" altLang="en-US" sz="2000" dirty="0">
                <a:latin typeface="Cambria Math" panose="02040503050406030204" pitchFamily="18" charset="0"/>
                <a:cs typeface="Cambria Math" panose="02040503050406030204" pitchFamily="18" charset="0"/>
              </a:rPr>
              <a:t>传统硬盘对于上层应用来说是黑盒。但</a:t>
            </a:r>
            <a:r>
              <a:rPr lang="en-US" altLang="zh-CN" sz="2000" dirty="0">
                <a:latin typeface="Cambria Math" panose="02040503050406030204" pitchFamily="18" charset="0"/>
                <a:cs typeface="Cambria Math" panose="02040503050406030204" pitchFamily="18" charset="0"/>
              </a:rPr>
              <a:t>ZNS</a:t>
            </a:r>
            <a:r>
              <a:rPr lang="zh-CN" altLang="en-US" sz="2000" dirty="0">
                <a:latin typeface="Cambria Math" panose="02040503050406030204" pitchFamily="18" charset="0"/>
                <a:cs typeface="Cambria Math" panose="02040503050406030204" pitchFamily="18" charset="0"/>
              </a:rPr>
              <a:t>允许应用感知数据存入磁盘后的物理位置，支持根据不同的应用场景对存储空间进行灵活划分，以提高存储效率。另一方面，由于消除了设备内的写放大，使得写入的性能开销可预测。</a:t>
            </a:r>
          </a:p>
        </p:txBody>
      </p:sp>
      <p:sp>
        <p:nvSpPr>
          <p:cNvPr id="10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4095916" y="6553437"/>
            <a:ext cx="4520431" cy="273844"/>
          </a:xfrm>
        </p:spPr>
        <p:txBody>
          <a:bodyPr/>
          <a:lstStyle/>
          <a:p>
            <a:r>
              <a:rPr lang="en-US" altLang="zh-CN" sz="1400" b="1" dirty="0" err="1">
                <a:solidFill>
                  <a:schemeClr val="bg1"/>
                </a:solidFill>
                <a:latin typeface="Constantia" panose="02030602050306030303" pitchFamily="18" charset="0"/>
              </a:rPr>
              <a:t>Ziqi</a:t>
            </a:r>
            <a:r>
              <a:rPr lang="en-US" altLang="zh-CN" sz="1400" b="1" dirty="0">
                <a:solidFill>
                  <a:schemeClr val="bg1"/>
                </a:solidFill>
                <a:latin typeface="Constantia" panose="02030602050306030303" pitchFamily="18" charset="0"/>
              </a:rPr>
              <a:t> Liu | HUST</a:t>
            </a:r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85590" y="226263"/>
            <a:ext cx="6798981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altLang="zh-CN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 ZNS</a:t>
            </a:r>
            <a:r>
              <a:rPr lang="zh-CN" altLang="en-US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简介</a:t>
            </a:r>
            <a:r>
              <a:rPr lang="en-US" altLang="zh-CN" sz="36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 </a:t>
            </a:r>
            <a:endParaRPr lang="zh-CN" altLang="en-US" sz="3600" b="1" dirty="0">
              <a:solidFill>
                <a:srgbClr val="4747BA"/>
              </a:solidFill>
              <a:latin typeface="Constantia" panose="02030602050306030303" pitchFamily="18" charset="0"/>
              <a:ea typeface="腾讯体 W3" panose="020C04030202040F0204" pitchFamily="34" charset="-122"/>
              <a:cs typeface="Times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534400" y="6522720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4" name="日期占位符 7"/>
          <p:cNvSpPr>
            <a:spLocks noGrp="1"/>
          </p:cNvSpPr>
          <p:nvPr>
            <p:ph type="dt" sz="half" idx="10"/>
          </p:nvPr>
        </p:nvSpPr>
        <p:spPr>
          <a:xfrm>
            <a:off x="1209907" y="6494974"/>
            <a:ext cx="1847385" cy="365125"/>
          </a:xfrm>
        </p:spPr>
        <p:txBody>
          <a:bodyPr/>
          <a:lstStyle/>
          <a:p>
            <a:fld id="{31CCC338-FFC3-4940-99DD-6195BEF39901}" type="datetime4">
              <a:rPr lang="en-US" altLang="zh-CN" sz="1400" b="1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April 7, 2024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385590" y="859531"/>
            <a:ext cx="11479576" cy="0"/>
          </a:xfrm>
          <a:prstGeom prst="line">
            <a:avLst/>
          </a:prstGeom>
          <a:ln w="38100">
            <a:solidFill>
              <a:srgbClr val="4747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415183" y="166469"/>
            <a:ext cx="679898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zh-CN" altLang="en-US" sz="40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相关文献</a:t>
            </a: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063" y="218980"/>
            <a:ext cx="730337" cy="556270"/>
          </a:xfrm>
          <a:prstGeom prst="rect">
            <a:avLst/>
          </a:prstGeom>
        </p:spPr>
      </p:pic>
      <p:sp>
        <p:nvSpPr>
          <p:cNvPr id="14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847869" y="6405035"/>
            <a:ext cx="809393" cy="545001"/>
          </a:xfrm>
        </p:spPr>
        <p:txBody>
          <a:bodyPr/>
          <a:lstStyle/>
          <a:p>
            <a:pPr algn="ctr"/>
            <a:fld id="{152851E7-9224-42D2-A4FF-119762E40804}" type="slidenum">
              <a:rPr lang="zh-CN" altLang="en-US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19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40055" y="1088390"/>
            <a:ext cx="69519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4747BA"/>
                </a:solidFill>
                <a:ea typeface="+mn-lt"/>
                <a:cs typeface="Times New Roman" panose="02020603050405020304" pitchFamily="18" charset="0"/>
              </a:rPr>
              <a:t>ZNS</a:t>
            </a:r>
            <a:r>
              <a:rPr lang="zh-CN" altLang="en-US" sz="2400" dirty="0">
                <a:solidFill>
                  <a:srgbClr val="4747BA"/>
                </a:solidFill>
                <a:ea typeface="+mn-lt"/>
                <a:cs typeface="Times New Roman" panose="02020603050405020304" pitchFamily="18" charset="0"/>
              </a:rPr>
              <a:t>相关文献：</a:t>
            </a:r>
            <a:endParaRPr lang="en-US" altLang="zh-CN" sz="2400" dirty="0">
              <a:solidFill>
                <a:srgbClr val="4747BA"/>
              </a:solidFill>
              <a:ea typeface="+mn-lt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40055" y="1666450"/>
            <a:ext cx="9407814" cy="4662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85750"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en-US" altLang="zh-CN" sz="2000" dirty="0"/>
              <a:t>ZNS: Avoiding the Block Interface Tax for Flash-based SSDs</a:t>
            </a:r>
          </a:p>
          <a:p>
            <a:pPr indent="-285750"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en-US" altLang="zh-CN" sz="2000" dirty="0"/>
              <a:t>ZNS+: Advanced Zoned Namespace Interface for Supporting In-Storage Zone Compaction</a:t>
            </a:r>
          </a:p>
          <a:p>
            <a:pPr indent="-285750"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en-US" altLang="zh-CN" sz="2000" dirty="0" err="1"/>
              <a:t>eZNS</a:t>
            </a:r>
            <a:r>
              <a:rPr lang="zh-CN" altLang="en-US" sz="2000" dirty="0"/>
              <a:t>：</a:t>
            </a:r>
            <a:r>
              <a:rPr lang="en-US" altLang="zh-CN" sz="2000" dirty="0"/>
              <a:t>An Elastic Zoned Namespace for Commodity ZNS SSDs</a:t>
            </a:r>
          </a:p>
          <a:p>
            <a:pPr indent="-285750"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en-US" altLang="zh-CN" sz="2000" dirty="0" err="1"/>
              <a:t>ZNSwap</a:t>
            </a:r>
            <a:r>
              <a:rPr lang="en-US" altLang="zh-CN" sz="2000" dirty="0"/>
              <a:t>: </a:t>
            </a:r>
            <a:r>
              <a:rPr lang="en-US" altLang="zh-CN" sz="2000" dirty="0" err="1"/>
              <a:t>ZNSwap</a:t>
            </a:r>
            <a:r>
              <a:rPr lang="en-US" altLang="zh-CN" sz="2000" dirty="0"/>
              <a:t>: un-Block your Swap</a:t>
            </a:r>
          </a:p>
          <a:p>
            <a:pPr indent="-285750"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en-US" altLang="zh-CN" sz="2000" dirty="0"/>
              <a:t>WALTZ</a:t>
            </a:r>
            <a:r>
              <a:rPr lang="zh-CN" altLang="en-US" sz="2000" dirty="0"/>
              <a:t>：</a:t>
            </a:r>
            <a:r>
              <a:rPr lang="en-US" altLang="zh-CN" sz="2000" dirty="0"/>
              <a:t>Leveraging Zone Append to Tighten the Tail Latency of LSM Tree on ZNS SSD</a:t>
            </a:r>
          </a:p>
          <a:p>
            <a:pPr indent="-285750">
              <a:lnSpc>
                <a:spcPct val="150000"/>
              </a:lnSpc>
              <a:buFont typeface="Wingdings" panose="05000000000000000000" charset="0"/>
              <a:buChar char="q"/>
            </a:pPr>
            <a:endParaRPr lang="en-US" altLang="zh-CN" sz="2000" dirty="0"/>
          </a:p>
          <a:p>
            <a:pPr indent="-285750"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en-US" altLang="zh-CN" sz="2000" dirty="0"/>
              <a:t>……</a:t>
            </a:r>
            <a:endParaRPr lang="zh-CN" altLang="en-US" sz="2000" dirty="0"/>
          </a:p>
          <a:p>
            <a:pPr indent="-285750">
              <a:lnSpc>
                <a:spcPct val="150000"/>
              </a:lnSpc>
              <a:buFont typeface="Wingdings" panose="05000000000000000000" charset="0"/>
              <a:buChar char="q"/>
            </a:pPr>
            <a:endParaRPr lang="zh-CN" altLang="en-US" sz="2000" dirty="0"/>
          </a:p>
        </p:txBody>
      </p:sp>
      <p:sp>
        <p:nvSpPr>
          <p:cNvPr id="13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4095916" y="6553437"/>
            <a:ext cx="4520431" cy="273844"/>
          </a:xfrm>
        </p:spPr>
        <p:txBody>
          <a:bodyPr/>
          <a:lstStyle/>
          <a:p>
            <a:r>
              <a:rPr lang="en-US" altLang="zh-CN" sz="1400" b="1" dirty="0" err="1">
                <a:solidFill>
                  <a:schemeClr val="bg1"/>
                </a:solidFill>
                <a:latin typeface="Constantia" panose="02030602050306030303" pitchFamily="18" charset="0"/>
              </a:rPr>
              <a:t>Ziqi</a:t>
            </a:r>
            <a:r>
              <a:rPr lang="en-US" altLang="zh-CN" sz="1400" b="1" dirty="0">
                <a:solidFill>
                  <a:schemeClr val="bg1"/>
                </a:solidFill>
                <a:latin typeface="Constantia" panose="02030602050306030303" pitchFamily="18" charset="0"/>
              </a:rPr>
              <a:t> Liu | HUST</a:t>
            </a:r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</TotalTime>
  <Words>2599</Words>
  <Application>Microsoft Office PowerPoint</Application>
  <PresentationFormat>宽屏</PresentationFormat>
  <Paragraphs>193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0" baseType="lpstr">
      <vt:lpstr>_5b8b_4f53</vt:lpstr>
      <vt:lpstr>Söhne</vt:lpstr>
      <vt:lpstr>等线</vt:lpstr>
      <vt:lpstr>等线 Light</vt:lpstr>
      <vt:lpstr>微软雅黑</vt:lpstr>
      <vt:lpstr>Arial</vt:lpstr>
      <vt:lpstr>Cambria Math</vt:lpstr>
      <vt:lpstr>Constantia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子淇 柳</dc:creator>
  <cp:lastModifiedBy>子淇 柳</cp:lastModifiedBy>
  <cp:revision>54</cp:revision>
  <dcterms:created xsi:type="dcterms:W3CDTF">2024-03-28T05:36:01Z</dcterms:created>
  <dcterms:modified xsi:type="dcterms:W3CDTF">2024-04-06T18:54:43Z</dcterms:modified>
</cp:coreProperties>
</file>