
<file path=[Content_Types].xml><?xml version="1.0" encoding="utf-8"?>
<Types xmlns="http://schemas.openxmlformats.org/package/2006/content-types">
  <Default Extension="tiff" ContentType="image/tiff"/>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536" r:id="rId3"/>
    <p:sldId id="549" r:id="rId5"/>
    <p:sldId id="548" r:id="rId6"/>
    <p:sldId id="555" r:id="rId7"/>
    <p:sldId id="579" r:id="rId8"/>
    <p:sldId id="552" r:id="rId9"/>
    <p:sldId id="580" r:id="rId10"/>
    <p:sldId id="581" r:id="rId11"/>
    <p:sldId id="594" r:id="rId12"/>
    <p:sldId id="593" r:id="rId13"/>
    <p:sldId id="595" r:id="rId14"/>
    <p:sldId id="597" r:id="rId15"/>
    <p:sldId id="261" r:id="rId16"/>
    <p:sldId id="551" r:id="rId17"/>
    <p:sldId id="554" r:id="rId18"/>
    <p:sldId id="544" r:id="rId19"/>
    <p:sldId id="553" r:id="rId20"/>
    <p:sldId id="545" r:id="rId21"/>
    <p:sldId id="532" r:id="rId22"/>
    <p:sldId id="547" r:id="rId23"/>
    <p:sldId id="550" r:id="rId24"/>
    <p:sldId id="543" r:id="rId25"/>
  </p:sldIdLst>
  <p:sldSz cx="12192000" cy="6858000"/>
  <p:notesSz cx="6858000" cy="9144000"/>
  <p:custDataLst>
    <p:tags r:id="rId29"/>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05D005FB-1F80-42D3-AAEF-86A4217B13FB}">
          <p14:sldIdLst/>
        </p14:section>
        <p14:section name="默认节" id="{E03E238F-8B49-4D2C-90B4-E980B118F013}">
          <p14:sldIdLst>
            <p14:sldId id="536"/>
            <p14:sldId id="549"/>
            <p14:sldId id="548"/>
            <p14:sldId id="555"/>
            <p14:sldId id="579"/>
            <p14:sldId id="552"/>
            <p14:sldId id="580"/>
            <p14:sldId id="581"/>
            <p14:sldId id="594"/>
            <p14:sldId id="593"/>
            <p14:sldId id="595"/>
            <p14:sldId id="597"/>
            <p14:sldId id="261"/>
            <p14:sldId id="551"/>
            <p14:sldId id="554"/>
            <p14:sldId id="544"/>
            <p14:sldId id="553"/>
            <p14:sldId id="545"/>
            <p14:sldId id="532"/>
            <p14:sldId id="547"/>
            <p14:sldId id="550"/>
            <p14:sldId id="54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4747BA"/>
    <a:srgbClr val="ADADE0"/>
    <a:srgbClr val="8484D1"/>
    <a:srgbClr val="0152D9"/>
    <a:srgbClr val="E519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8957" autoAdjust="0"/>
  </p:normalViewPr>
  <p:slideViewPr>
    <p:cSldViewPr snapToGrid="0">
      <p:cViewPr varScale="1">
        <p:scale>
          <a:sx n="86" d="100"/>
          <a:sy n="86" d="100"/>
        </p:scale>
        <p:origin x="293"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9" Type="http://schemas.openxmlformats.org/officeDocument/2006/relationships/tags" Target="tags/tag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BAFB0F-6192-48FE-99AC-AF225DC028A7}"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B1677A-EDDD-4DA4-9464-453B9AC95701}"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ieeexplore.ieee.org/stamp/stamp.jsp?tp=&amp;arnumber=10247926" TargetMode="External"/><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github.com/linux-nvme/nvme-cli" TargetMode="External"/><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i="0" u="none" strike="noStrike" cap="none" normalizeH="0" baseline="0" dirty="0">
                <a:ln>
                  <a:noFill/>
                </a:ln>
                <a:solidFill>
                  <a:srgbClr val="0563C1"/>
                </a:solidFill>
                <a:effectLst/>
                <a:latin typeface="Ubuntu" panose="020B0504030602030204" pitchFamily="34" charset="0"/>
                <a:hlinkClick r:id="rId3"/>
              </a:rPr>
              <a:t>https://ieeexplore.ieee.org/stamp/stamp.jsp?tp=&amp;arnumber=10247926</a:t>
            </a:r>
            <a:endParaRPr kumimoji="0" lang="zh-CN" altLang="zh-CN" sz="1800" i="0" u="none" strike="noStrike" cap="none" normalizeH="0" baseline="0" dirty="0">
              <a:ln>
                <a:noFill/>
              </a:ln>
              <a:solidFill>
                <a:schemeClr val="tx1"/>
              </a:solidFill>
              <a:effectLst/>
              <a:latin typeface="Arial" panose="020B0604020202020204" pitchFamily="34"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相较于现有在</a:t>
            </a:r>
            <a:r>
              <a:rPr lang="en-US" altLang="zh-CN" sz="1800" kern="100" dirty="0">
                <a:effectLst/>
                <a:latin typeface="Times New Roman" panose="02020603050405020304" pitchFamily="18" charset="0"/>
                <a:ea typeface="宋体" panose="02010600030101010101" pitchFamily="2" charset="-122"/>
              </a:rPr>
              <a:t>QEMU</a:t>
            </a:r>
            <a:r>
              <a:rPr lang="en-US" altLang="zh-CN" sz="1800" kern="100" baseline="30000" dirty="0">
                <a:effectLst/>
                <a:latin typeface="Times New Roman" panose="02020603050405020304" pitchFamily="18" charset="0"/>
                <a:ea typeface="宋体" panose="02010600030101010101" pitchFamily="2" charset="-122"/>
              </a:rPr>
              <a:t>[1]</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en-US" altLang="zh-CN" sz="1800" kern="100" dirty="0">
                <a:effectLst/>
                <a:latin typeface="Times New Roman" panose="02020603050405020304" pitchFamily="18" charset="0"/>
                <a:ea typeface="宋体" panose="02010600030101010101" pitchFamily="2" charset="-122"/>
              </a:rPr>
              <a:t>FEMU</a:t>
            </a:r>
            <a:r>
              <a:rPr lang="en-US" altLang="zh-CN" sz="1800" kern="100" baseline="30000" dirty="0">
                <a:effectLst/>
                <a:latin typeface="Times New Roman" panose="02020603050405020304" pitchFamily="18" charset="0"/>
                <a:ea typeface="宋体" panose="02010600030101010101" pitchFamily="2" charset="-122"/>
              </a:rPr>
              <a:t>[2]</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等模拟器上的工作，</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此工作能展示</a:t>
            </a:r>
            <a:r>
              <a:rPr lang="en-US" altLang="zh-CN" sz="1800" kern="100" dirty="0">
                <a:effectLst/>
                <a:latin typeface="Times New Roman" panose="02020603050405020304" pitchFamily="18" charset="0"/>
                <a:ea typeface="宋体" panose="02010600030101010101" pitchFamily="2" charset="-122"/>
              </a:rPr>
              <a:t>ZNS SSD</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在不同的真实场景下的性能表现</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r>
              <a:rPr lang="zh-CN" altLang="en-US" sz="1200" dirty="0">
                <a:latin typeface="Constantia" panose="02030602050306030303" pitchFamily="18" charset="0"/>
              </a:rPr>
              <a:t>相较于西数已有的基于真实设备（</a:t>
            </a:r>
            <a:r>
              <a:rPr lang="en-US" altLang="zh-CN" sz="1200" dirty="0">
                <a:latin typeface="Constantia" panose="02030602050306030303" pitchFamily="18" charset="0"/>
              </a:rPr>
              <a:t>ZN540</a:t>
            </a:r>
            <a:r>
              <a:rPr lang="zh-CN" altLang="en-US" sz="1200" dirty="0">
                <a:latin typeface="Constantia" panose="02030602050306030303" pitchFamily="18" charset="0"/>
              </a:rPr>
              <a:t>）的工作，我们使用浪潮提供的最新</a:t>
            </a:r>
            <a:r>
              <a:rPr lang="en-US" altLang="zh-CN" sz="1200" dirty="0">
                <a:latin typeface="Constantia" panose="02030602050306030303" pitchFamily="18" charset="0"/>
              </a:rPr>
              <a:t>ZNS</a:t>
            </a:r>
            <a:r>
              <a:rPr lang="zh-CN" altLang="en-US" sz="1200" dirty="0">
                <a:latin typeface="Constantia" panose="02030602050306030303" pitchFamily="18" charset="0"/>
              </a:rPr>
              <a:t>盘，一方面，其介质选用更好的</a:t>
            </a:r>
            <a:r>
              <a:rPr lang="en-US" altLang="zh-CN" sz="1200" dirty="0">
                <a:latin typeface="Constantia" panose="02030602050306030303" pitchFamily="18" charset="0"/>
              </a:rPr>
              <a:t>TLC</a:t>
            </a:r>
            <a:r>
              <a:rPr lang="zh-CN" altLang="en-US" sz="1200" dirty="0">
                <a:latin typeface="Constantia" panose="02030602050306030303" pitchFamily="18" charset="0"/>
              </a:rPr>
              <a:t>颗粒</a:t>
            </a:r>
            <a:r>
              <a:rPr lang="en-US" altLang="zh-CN" sz="1200" dirty="0">
                <a:latin typeface="Constantia" panose="02030602050306030303" pitchFamily="18" charset="0"/>
              </a:rPr>
              <a:t>(</a:t>
            </a:r>
            <a:r>
              <a:rPr lang="zh-CN" altLang="en-US" sz="1200" dirty="0">
                <a:latin typeface="Constantia" panose="02030602050306030303" pitchFamily="18" charset="0"/>
              </a:rPr>
              <a:t>西数是</a:t>
            </a:r>
            <a:r>
              <a:rPr lang="en-US" altLang="zh-CN" sz="1200" dirty="0">
                <a:latin typeface="Constantia" panose="02030602050306030303" pitchFamily="18" charset="0"/>
              </a:rPr>
              <a:t>QLC</a:t>
            </a:r>
            <a:r>
              <a:rPr lang="zh-CN" altLang="en-US" sz="1200" dirty="0">
                <a:latin typeface="Constantia" panose="02030602050306030303" pitchFamily="18" charset="0"/>
              </a:rPr>
              <a:t>颗粒），关键参数上也有区别，例如已知的，</a:t>
            </a:r>
            <a:r>
              <a:rPr lang="en-US" altLang="zh-CN" sz="1200" dirty="0">
                <a:latin typeface="Constantia" panose="02030602050306030303" pitchFamily="18" charset="0"/>
              </a:rPr>
              <a:t>zone size 2GB-&gt;1.4GB</a:t>
            </a:r>
            <a:r>
              <a:rPr lang="zh-CN" altLang="en-US" sz="1200" dirty="0">
                <a:latin typeface="Constantia" panose="02030602050306030303" pitchFamily="18" charset="0"/>
              </a:rPr>
              <a:t>，最大带宽也更大。另一方面，</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相较于现有在</a:t>
            </a:r>
            <a:r>
              <a:rPr lang="en-US" altLang="zh-CN" sz="1800" kern="100" dirty="0">
                <a:effectLst/>
                <a:latin typeface="Times New Roman" panose="02020603050405020304" pitchFamily="18" charset="0"/>
                <a:ea typeface="宋体" panose="02010600030101010101" pitchFamily="2" charset="-122"/>
              </a:rPr>
              <a:t>QEMU</a:t>
            </a:r>
            <a:r>
              <a:rPr lang="en-US" altLang="zh-CN" sz="1800" kern="100" baseline="30000" dirty="0">
                <a:effectLst/>
                <a:latin typeface="Times New Roman" panose="02020603050405020304" pitchFamily="18" charset="0"/>
                <a:ea typeface="宋体" panose="02010600030101010101" pitchFamily="2" charset="-122"/>
              </a:rPr>
              <a:t>[1]</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en-US" altLang="zh-CN" sz="1800" kern="100" dirty="0">
                <a:effectLst/>
                <a:latin typeface="Times New Roman" panose="02020603050405020304" pitchFamily="18" charset="0"/>
                <a:ea typeface="宋体" panose="02010600030101010101" pitchFamily="2" charset="-122"/>
              </a:rPr>
              <a:t>FEMU</a:t>
            </a:r>
            <a:r>
              <a:rPr lang="en-US" altLang="zh-CN" sz="1800" kern="100" baseline="30000" dirty="0">
                <a:effectLst/>
                <a:latin typeface="Times New Roman" panose="02020603050405020304" pitchFamily="18" charset="0"/>
                <a:ea typeface="宋体" panose="02010600030101010101" pitchFamily="2" charset="-122"/>
              </a:rPr>
              <a:t>[2]</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等模拟器上的工作，</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此工作能展示</a:t>
            </a:r>
            <a:r>
              <a:rPr lang="en-US" altLang="zh-CN" sz="1800" kern="100" dirty="0">
                <a:effectLst/>
                <a:latin typeface="Times New Roman" panose="02020603050405020304" pitchFamily="18" charset="0"/>
                <a:ea typeface="宋体" panose="02010600030101010101" pitchFamily="2" charset="-122"/>
              </a:rPr>
              <a:t>ZNS SSD</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在不同的真实场景下的性能表现</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r>
              <a:rPr lang="zh-CN" altLang="en-US" sz="1200" dirty="0">
                <a:latin typeface="Constantia" panose="02030602050306030303" pitchFamily="18" charset="0"/>
              </a:rPr>
              <a:t>相较于西数已有的基于真实设备（</a:t>
            </a:r>
            <a:r>
              <a:rPr lang="en-US" altLang="zh-CN" sz="1200" dirty="0">
                <a:latin typeface="Constantia" panose="02030602050306030303" pitchFamily="18" charset="0"/>
              </a:rPr>
              <a:t>ZN540</a:t>
            </a:r>
            <a:r>
              <a:rPr lang="zh-CN" altLang="en-US" sz="1200" dirty="0">
                <a:latin typeface="Constantia" panose="02030602050306030303" pitchFamily="18" charset="0"/>
              </a:rPr>
              <a:t>）的工作，我们使用浪潮提供的最新</a:t>
            </a:r>
            <a:r>
              <a:rPr lang="en-US" altLang="zh-CN" sz="1200" dirty="0">
                <a:latin typeface="Constantia" panose="02030602050306030303" pitchFamily="18" charset="0"/>
              </a:rPr>
              <a:t>ZNS</a:t>
            </a:r>
            <a:r>
              <a:rPr lang="zh-CN" altLang="en-US" sz="1200" dirty="0">
                <a:latin typeface="Constantia" panose="02030602050306030303" pitchFamily="18" charset="0"/>
              </a:rPr>
              <a:t>盘，一方面，其介质选用更好的</a:t>
            </a:r>
            <a:r>
              <a:rPr lang="en-US" altLang="zh-CN" sz="1200" dirty="0">
                <a:latin typeface="Constantia" panose="02030602050306030303" pitchFamily="18" charset="0"/>
              </a:rPr>
              <a:t>TLC</a:t>
            </a:r>
            <a:r>
              <a:rPr lang="zh-CN" altLang="en-US" sz="1200" dirty="0">
                <a:latin typeface="Constantia" panose="02030602050306030303" pitchFamily="18" charset="0"/>
              </a:rPr>
              <a:t>颗粒</a:t>
            </a:r>
            <a:r>
              <a:rPr lang="en-US" altLang="zh-CN" sz="1200" dirty="0">
                <a:latin typeface="Constantia" panose="02030602050306030303" pitchFamily="18" charset="0"/>
              </a:rPr>
              <a:t>(</a:t>
            </a:r>
            <a:r>
              <a:rPr lang="zh-CN" altLang="en-US" sz="1200" dirty="0">
                <a:latin typeface="Constantia" panose="02030602050306030303" pitchFamily="18" charset="0"/>
              </a:rPr>
              <a:t>西数是</a:t>
            </a:r>
            <a:r>
              <a:rPr lang="en-US" altLang="zh-CN" sz="1200" dirty="0">
                <a:latin typeface="Constantia" panose="02030602050306030303" pitchFamily="18" charset="0"/>
              </a:rPr>
              <a:t>QLC</a:t>
            </a:r>
            <a:r>
              <a:rPr lang="zh-CN" altLang="en-US" sz="1200" dirty="0">
                <a:latin typeface="Constantia" panose="02030602050306030303" pitchFamily="18" charset="0"/>
              </a:rPr>
              <a:t>颗粒）；另一方面，关键参数上有区别，例如已知的，</a:t>
            </a:r>
            <a:r>
              <a:rPr lang="en-US" altLang="zh-CN" sz="1200" dirty="0">
                <a:latin typeface="Constantia" panose="02030602050306030303" pitchFamily="18" charset="0"/>
              </a:rPr>
              <a:t>zone size 2GB-&gt;1.4GB</a:t>
            </a:r>
            <a:r>
              <a:rPr lang="zh-CN" altLang="en-US" sz="1200" dirty="0">
                <a:latin typeface="Constantia" panose="02030602050306030303" pitchFamily="18" charset="0"/>
              </a:rPr>
              <a:t>，最大带宽也更大。</a:t>
            </a: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dirty="0">
                    <a:solidFill>
                      <a:srgbClr val="374151"/>
                    </a:solidFill>
                    <a:latin typeface="_5b8b_4f53"/>
                  </a:rPr>
                  <a:t>例如，当选择</a:t>
                </a:r>
                <a14:m>
                  <m:oMath xmlns:m="http://schemas.openxmlformats.org/officeDocument/2006/math">
                    <m:sSub>
                      <m:sSubPr>
                        <m:ctrlPr>
                          <a:rPr lang="en-US" altLang="zh-CN" sz="1800" i="1" dirty="0">
                            <a:solidFill>
                              <a:srgbClr val="374151"/>
                            </a:solidFill>
                            <a:latin typeface="Cambria Math" panose="02040503050406030204" pitchFamily="18" charset="0"/>
                          </a:rPr>
                        </m:ctrlPr>
                      </m:sSubPr>
                      <m:e>
                        <m:r>
                          <a:rPr lang="en-US" altLang="zh-CN" sz="1800" dirty="0">
                            <a:solidFill>
                              <a:srgbClr val="374151"/>
                            </a:solidFill>
                            <a:latin typeface="Cambria Math" panose="02040503050406030204" pitchFamily="18" charset="0"/>
                          </a:rPr>
                          <m:t>𝐿</m:t>
                        </m:r>
                      </m:e>
                      <m:sub>
                        <m:r>
                          <a:rPr lang="en-US" altLang="zh-CN" sz="1800" dirty="0">
                            <a:solidFill>
                              <a:srgbClr val="374151"/>
                            </a:solidFill>
                            <a:latin typeface="Cambria Math" panose="02040503050406030204" pitchFamily="18" charset="0"/>
                          </a:rPr>
                          <m:t>2</m:t>
                        </m:r>
                      </m:sub>
                    </m:sSub>
                  </m:oMath>
                </a14:m>
                <a:r>
                  <a:rPr lang="zh-CN" altLang="en-US" sz="1800" dirty="0">
                    <a:solidFill>
                      <a:srgbClr val="374151"/>
                    </a:solidFill>
                    <a:latin typeface="_5b8b_4f53"/>
                  </a:rPr>
                  <a:t>中的</a:t>
                </a:r>
                <a:r>
                  <a:rPr lang="en-US" altLang="zh-CN" sz="1800" dirty="0" err="1">
                    <a:solidFill>
                      <a:srgbClr val="374151"/>
                    </a:solidFill>
                    <a:latin typeface="_5b8b_4f53"/>
                  </a:rPr>
                  <a:t>SSTable</a:t>
                </a:r>
                <a:r>
                  <a:rPr lang="zh-CN" altLang="en-US" sz="1800" dirty="0">
                    <a:solidFill>
                      <a:srgbClr val="374151"/>
                    </a:solidFill>
                    <a:latin typeface="_5b8b_4f53"/>
                  </a:rPr>
                  <a:t>来执行压缩，并且</a:t>
                </a:r>
                <a14:m>
                  <m:oMath xmlns:m="http://schemas.openxmlformats.org/officeDocument/2006/math">
                    <m:sSub>
                      <m:sSubPr>
                        <m:ctrlPr>
                          <a:rPr lang="en-US" altLang="zh-CN" sz="1800" i="1" dirty="0">
                            <a:solidFill>
                              <a:srgbClr val="374151"/>
                            </a:solidFill>
                            <a:latin typeface="Cambria Math" panose="02040503050406030204" pitchFamily="18" charset="0"/>
                          </a:rPr>
                        </m:ctrlPr>
                      </m:sSubPr>
                      <m:e>
                        <m:r>
                          <a:rPr lang="en-US" altLang="zh-CN" sz="1800" dirty="0">
                            <a:solidFill>
                              <a:srgbClr val="374151"/>
                            </a:solidFill>
                            <a:latin typeface="Cambria Math" panose="02040503050406030204" pitchFamily="18" charset="0"/>
                          </a:rPr>
                          <m:t>𝐿</m:t>
                        </m:r>
                      </m:e>
                      <m:sub>
                        <m:r>
                          <a:rPr lang="en-US" altLang="zh-CN" sz="1800" dirty="0">
                            <a:solidFill>
                              <a:srgbClr val="374151"/>
                            </a:solidFill>
                            <a:latin typeface="Cambria Math" panose="02040503050406030204" pitchFamily="18" charset="0"/>
                          </a:rPr>
                          <m:t>3</m:t>
                        </m:r>
                      </m:sub>
                    </m:sSub>
                  </m:oMath>
                </a14:m>
                <a:r>
                  <a:rPr lang="zh-CN" altLang="en-US" sz="1800" dirty="0">
                    <a:solidFill>
                      <a:srgbClr val="374151"/>
                    </a:solidFill>
                    <a:latin typeface="_5b8b_4f53"/>
                  </a:rPr>
                  <a:t>中的所有</a:t>
                </a:r>
                <a:r>
                  <a:rPr lang="en-US" altLang="zh-CN" sz="1800" dirty="0" err="1">
                    <a:solidFill>
                      <a:srgbClr val="374151"/>
                    </a:solidFill>
                    <a:latin typeface="_5b8b_4f53"/>
                  </a:rPr>
                  <a:t>SSTable</a:t>
                </a:r>
                <a:r>
                  <a:rPr lang="zh-CN" altLang="en-US" sz="1800" dirty="0">
                    <a:solidFill>
                      <a:srgbClr val="374151"/>
                    </a:solidFill>
                    <a:latin typeface="_5b8b_4f53"/>
                  </a:rPr>
                  <a:t>都应该存储在</a:t>
                </a:r>
                <a14:m>
                  <m:oMath xmlns:m="http://schemas.openxmlformats.org/officeDocument/2006/math">
                    <m:r>
                      <a:rPr lang="en-US" altLang="zh-CN" sz="1800" dirty="0">
                        <a:solidFill>
                          <a:srgbClr val="374151"/>
                        </a:solidFill>
                        <a:latin typeface="Cambria Math" panose="02040503050406030204" pitchFamily="18" charset="0"/>
                      </a:rPr>
                      <m:t>𝑍𝑜𝑛</m:t>
                    </m:r>
                    <m:sSub>
                      <m:sSubPr>
                        <m:ctrlPr>
                          <a:rPr lang="en-US" altLang="zh-CN" sz="1800" i="1" dirty="0">
                            <a:solidFill>
                              <a:srgbClr val="374151"/>
                            </a:solidFill>
                            <a:latin typeface="Cambria Math" panose="02040503050406030204" pitchFamily="18" charset="0"/>
                          </a:rPr>
                        </m:ctrlPr>
                      </m:sSubPr>
                      <m:e>
                        <m:r>
                          <a:rPr lang="en-US" altLang="zh-CN" sz="1800" dirty="0">
                            <a:solidFill>
                              <a:srgbClr val="374151"/>
                            </a:solidFill>
                            <a:latin typeface="Cambria Math" panose="02040503050406030204" pitchFamily="18" charset="0"/>
                          </a:rPr>
                          <m:t>𝑒</m:t>
                        </m:r>
                      </m:e>
                      <m:sub>
                        <m:r>
                          <a:rPr lang="en-US" altLang="zh-CN" sz="1800" dirty="0">
                            <a:solidFill>
                              <a:srgbClr val="374151"/>
                            </a:solidFill>
                            <a:latin typeface="Cambria Math" panose="02040503050406030204" pitchFamily="18" charset="0"/>
                          </a:rPr>
                          <m:t>1</m:t>
                        </m:r>
                      </m:sub>
                    </m:sSub>
                  </m:oMath>
                </a14:m>
                <a:r>
                  <a:rPr lang="zh-CN" altLang="en-US" sz="1800" dirty="0">
                    <a:solidFill>
                      <a:srgbClr val="374151"/>
                    </a:solidFill>
                    <a:latin typeface="_5b8b_4f53"/>
                  </a:rPr>
                  <a:t>中，压缩后新生成的</a:t>
                </a:r>
                <a:r>
                  <a:rPr lang="en-US" altLang="zh-CN" sz="1800" dirty="0" err="1">
                    <a:solidFill>
                      <a:srgbClr val="374151"/>
                    </a:solidFill>
                    <a:latin typeface="_5b8b_4f53"/>
                  </a:rPr>
                  <a:t>SSTable</a:t>
                </a:r>
                <a:r>
                  <a:rPr lang="zh-CN" altLang="en-US" sz="1800" dirty="0">
                    <a:solidFill>
                      <a:srgbClr val="374151"/>
                    </a:solidFill>
                    <a:latin typeface="_5b8b_4f53"/>
                  </a:rPr>
                  <a:t>可以被写入到不同的</a:t>
                </a:r>
                <a:r>
                  <a:rPr lang="en-US" altLang="zh-CN" sz="1800" dirty="0">
                    <a:solidFill>
                      <a:srgbClr val="374151"/>
                    </a:solidFill>
                    <a:latin typeface="_5b8b_4f53"/>
                  </a:rPr>
                  <a:t>Zone</a:t>
                </a:r>
                <a:r>
                  <a:rPr lang="zh-CN" altLang="en-US" sz="1800" dirty="0">
                    <a:solidFill>
                      <a:srgbClr val="374151"/>
                    </a:solidFill>
                    <a:latin typeface="_5b8b_4f53"/>
                  </a:rPr>
                  <a:t>，例如</a:t>
                </a:r>
                <a14:m>
                  <m:oMath xmlns:m="http://schemas.openxmlformats.org/officeDocument/2006/math">
                    <m:r>
                      <a:rPr lang="en-US" altLang="zh-CN" sz="1800" dirty="0">
                        <a:solidFill>
                          <a:srgbClr val="374151"/>
                        </a:solidFill>
                        <a:latin typeface="Cambria Math" panose="02040503050406030204" pitchFamily="18" charset="0"/>
                      </a:rPr>
                      <m:t>𝑍𝑜𝑛</m:t>
                    </m:r>
                    <m:sSub>
                      <m:sSubPr>
                        <m:ctrlPr>
                          <a:rPr lang="en-US" altLang="zh-CN" sz="1800" i="1" dirty="0">
                            <a:solidFill>
                              <a:srgbClr val="374151"/>
                            </a:solidFill>
                            <a:latin typeface="Cambria Math" panose="02040503050406030204" pitchFamily="18" charset="0"/>
                          </a:rPr>
                        </m:ctrlPr>
                      </m:sSubPr>
                      <m:e>
                        <m:r>
                          <a:rPr lang="en-US" altLang="zh-CN" sz="1800" dirty="0">
                            <a:solidFill>
                              <a:srgbClr val="374151"/>
                            </a:solidFill>
                            <a:latin typeface="Cambria Math" panose="02040503050406030204" pitchFamily="18" charset="0"/>
                          </a:rPr>
                          <m:t>𝑒</m:t>
                        </m:r>
                      </m:e>
                      <m:sub>
                        <m:r>
                          <a:rPr lang="en-US" altLang="zh-CN" sz="1800" dirty="0">
                            <a:solidFill>
                              <a:srgbClr val="374151"/>
                            </a:solidFill>
                            <a:latin typeface="Cambria Math" panose="02040503050406030204" pitchFamily="18" charset="0"/>
                          </a:rPr>
                          <m:t>2</m:t>
                        </m:r>
                      </m:sub>
                    </m:sSub>
                  </m:oMath>
                </a14:m>
                <a:r>
                  <a:rPr lang="zh-CN" altLang="en-US" sz="1800" dirty="0">
                    <a:solidFill>
                      <a:srgbClr val="374151"/>
                    </a:solidFill>
                    <a:latin typeface="_5b8b_4f53"/>
                  </a:rPr>
                  <a:t>。因此，每个</a:t>
                </a:r>
                <a:r>
                  <a:rPr lang="en-US" altLang="zh-CN" sz="1800" dirty="0">
                    <a:solidFill>
                      <a:srgbClr val="374151"/>
                    </a:solidFill>
                    <a:latin typeface="_5b8b_4f53"/>
                  </a:rPr>
                  <a:t>zone</a:t>
                </a:r>
                <a:r>
                  <a:rPr lang="zh-CN" altLang="en-US" sz="1800" dirty="0">
                    <a:solidFill>
                      <a:srgbClr val="374151"/>
                    </a:solidFill>
                    <a:latin typeface="_5b8b_4f53"/>
                  </a:rPr>
                  <a:t>里包含的数据的生命周期就不同了。这样一来，</a:t>
                </a:r>
                <a:r>
                  <a:rPr lang="en-US" altLang="zh-CN" sz="1800" dirty="0">
                    <a:solidFill>
                      <a:srgbClr val="374151"/>
                    </a:solidFill>
                    <a:latin typeface="_5b8b_4f53"/>
                  </a:rPr>
                  <a:t>zone</a:t>
                </a:r>
                <a:r>
                  <a:rPr lang="zh-CN" altLang="en-US" sz="1800" dirty="0">
                    <a:solidFill>
                      <a:srgbClr val="374151"/>
                    </a:solidFill>
                    <a:latin typeface="_5b8b_4f53"/>
                  </a:rPr>
                  <a:t>中的无效数据就不会被及时回收，增加了</a:t>
                </a:r>
                <a:r>
                  <a:rPr lang="en-US" altLang="zh-CN" sz="1800" dirty="0">
                    <a:solidFill>
                      <a:srgbClr val="374151"/>
                    </a:solidFill>
                    <a:latin typeface="_5b8b_4f53"/>
                  </a:rPr>
                  <a:t>LSM-tree</a:t>
                </a:r>
                <a:r>
                  <a:rPr lang="zh-CN" altLang="en-US" sz="1800" dirty="0">
                    <a:solidFill>
                      <a:srgbClr val="374151"/>
                    </a:solidFill>
                    <a:latin typeface="_5b8b_4f53"/>
                  </a:rPr>
                  <a:t>的空间放大。</a:t>
                </a:r>
                <a:r>
                  <a:rPr lang="en-US" altLang="zh-CN" sz="1800" dirty="0">
                    <a:solidFill>
                      <a:srgbClr val="374151"/>
                    </a:solidFill>
                    <a:latin typeface="_5b8b_4f53"/>
                  </a:rPr>
                  <a:t>	</a:t>
                </a:r>
                <a:endParaRPr lang="en-US" altLang="zh-CN" sz="1800" dirty="0">
                  <a:solidFill>
                    <a:srgbClr val="374151"/>
                  </a:solidFill>
                  <a:latin typeface="_5b8b_4f53"/>
                </a:endParaRP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r>
                  <a:rPr lang="zh-CN" altLang="en-US" sz="1200" dirty="0">
                    <a:latin typeface="Constantia" panose="02030602050306030303" pitchFamily="18" charset="0"/>
                  </a:rPr>
                  <a:t>经验方法（应该是）只要你新加入的</a:t>
                </a:r>
                <a:r>
                  <a:rPr lang="en-US" altLang="zh-CN" sz="1200" dirty="0">
                    <a:latin typeface="Constantia" panose="02030602050306030303" pitchFamily="18" charset="0"/>
                  </a:rPr>
                  <a:t>sst</a:t>
                </a:r>
                <a:r>
                  <a:rPr lang="zh-CN" altLang="en-US" sz="1200" dirty="0">
                    <a:latin typeface="Constantia" panose="02030602050306030303" pitchFamily="18" charset="0"/>
                  </a:rPr>
                  <a:t>不超过现有</a:t>
                </a:r>
                <a:r>
                  <a:rPr lang="en-US" altLang="zh-CN" sz="1200" dirty="0">
                    <a:latin typeface="Constantia" panose="02030602050306030303" pitchFamily="18" charset="0"/>
                  </a:rPr>
                  <a:t>Zone</a:t>
                </a:r>
                <a:r>
                  <a:rPr lang="zh-CN" altLang="en-US" sz="1200" dirty="0">
                    <a:latin typeface="Constantia" panose="02030602050306030303" pitchFamily="18" charset="0"/>
                  </a:rPr>
                  <a:t>中生命周期最长的就可以加入。</a:t>
                </a:r>
                <a:endParaRPr lang="zh-CN" altLang="en-US" sz="1200" dirty="0">
                  <a:latin typeface="Constantia" panose="02030602050306030303" pitchFamily="18" charset="0"/>
                </a:endParaRPr>
              </a:p>
            </p:txBody>
          </p:sp>
        </mc:Choice>
        <mc:Fallback>
          <p:sp>
            <p:nvSpPr>
              <p:cNvPr id="3" name="备注占位符 2"/>
              <p:cNvSpPr>
                <a:spLocks noRot="1" noChangeAspect="1" noMove="1" noResize="1" noEditPoints="1" noAdjustHandles="1" noChangeArrowheads="1" noChangeShapeType="1" noTextEdit="1"/>
              </p:cNvSpPr>
              <p:nvPr>
                <p:ph type="body" idx="1"/>
              </p:nvPr>
            </p:nvSpPr>
            <p:spPr>
              <a:blipFill rotWithShape="1">
                <a:blip r:embed="rId3"/>
                <a:stretch>
                  <a:fillRect t="-459" r="-2060"/>
                </a:stretch>
              </a:blipFill>
            </p:spPr>
            <p:txBody>
              <a:bodyPr/>
              <a:lstStyle/>
              <a:p>
                <a:r>
                  <a:rPr lang="zh-CN" altLang="en-US">
                    <a:noFill/>
                  </a:rPr>
                  <a:t> </a:t>
                </a:r>
              </a:p>
            </p:txBody>
          </p:sp>
        </mc:Fallback>
      </mc:AlternateContent>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实际上还有一篇文章叫</a:t>
            </a:r>
            <a:r>
              <a:rPr lang="en-US" altLang="zh-CN" sz="1800" kern="100" dirty="0" err="1">
                <a:effectLst/>
                <a:latin typeface="Times New Roman" panose="02020603050405020304" pitchFamily="18" charset="0"/>
                <a:ea typeface="宋体" panose="02010600030101010101" pitchFamily="2" charset="-122"/>
                <a:cs typeface="Times New Roman" panose="02020603050405020304" pitchFamily="18" charset="0"/>
              </a:rPr>
              <a:t>ZenFS</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，可能是当时还没见刊，完全没有提到</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实际上还有一篇文章叫</a:t>
            </a:r>
            <a:r>
              <a:rPr lang="en-US" altLang="zh-CN" sz="1800" kern="100" dirty="0" err="1">
                <a:effectLst/>
                <a:latin typeface="Times New Roman" panose="02020603050405020304" pitchFamily="18" charset="0"/>
                <a:ea typeface="宋体" panose="02010600030101010101" pitchFamily="2" charset="-122"/>
                <a:cs typeface="Times New Roman" panose="02020603050405020304" pitchFamily="18" charset="0"/>
              </a:rPr>
              <a:t>ZenFS</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，可能是当时还没见刊，完全没有提到</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实际上还有一篇文章叫</a:t>
            </a:r>
            <a:r>
              <a:rPr lang="en-US" altLang="zh-CN" sz="1800" kern="100" dirty="0" err="1">
                <a:effectLst/>
                <a:latin typeface="Times New Roman" panose="02020603050405020304" pitchFamily="18" charset="0"/>
                <a:ea typeface="宋体" panose="02010600030101010101" pitchFamily="2" charset="-122"/>
                <a:cs typeface="Times New Roman" panose="02020603050405020304" pitchFamily="18" charset="0"/>
              </a:rPr>
              <a:t>ZenFS</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，可能是当时还没见刊，完全没有提到</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实际上还有一篇文章叫</a:t>
            </a:r>
            <a:r>
              <a:rPr lang="en-US" altLang="zh-CN" sz="1800" kern="100" dirty="0" err="1">
                <a:effectLst/>
                <a:latin typeface="Times New Roman" panose="02020603050405020304" pitchFamily="18" charset="0"/>
                <a:ea typeface="宋体" panose="02010600030101010101" pitchFamily="2" charset="-122"/>
                <a:cs typeface="Times New Roman" panose="02020603050405020304" pitchFamily="18" charset="0"/>
              </a:rPr>
              <a:t>ZenFS</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，可能是当时还没见刊，完全没有提到</a:t>
            </a:r>
            <a:endPar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r>
              <a:rPr lang="zh-CN" altLang="en-US" sz="1200" dirty="0">
                <a:latin typeface="Constantia" panose="02030602050306030303" pitchFamily="18" charset="0"/>
              </a:rPr>
              <a:t>这样做还有一个好处</a:t>
            </a:r>
            <a:r>
              <a:rPr lang="en-US" altLang="zh-CN" sz="1200" dirty="0">
                <a:latin typeface="Constantia" panose="02030602050306030303" pitchFamily="18" charset="0"/>
              </a:rPr>
              <a:t> , </a:t>
            </a:r>
            <a:r>
              <a:rPr lang="zh-CN" altLang="en-US" sz="1200" dirty="0">
                <a:latin typeface="Constantia" panose="02030602050306030303" pitchFamily="18" charset="0"/>
              </a:rPr>
              <a:t>就是</a:t>
            </a:r>
            <a:r>
              <a:rPr lang="en-US" altLang="zh-CN" sz="1200" dirty="0">
                <a:latin typeface="Constantia" panose="02030602050306030303" pitchFamily="18" charset="0"/>
              </a:rPr>
              <a:t>SST</a:t>
            </a:r>
            <a:r>
              <a:rPr lang="zh-CN" altLang="en-US" sz="1200" dirty="0">
                <a:latin typeface="Constantia" panose="02030602050306030303" pitchFamily="18" charset="0"/>
              </a:rPr>
              <a:t>合并的时候也是从低向高合并</a:t>
            </a:r>
            <a:r>
              <a:rPr lang="en-US" altLang="zh-CN" sz="1200" dirty="0">
                <a:latin typeface="Constantia" panose="02030602050306030303" pitchFamily="18" charset="0"/>
              </a:rPr>
              <a:t>,  key</a:t>
            </a:r>
            <a:r>
              <a:rPr lang="zh-CN" altLang="en-US" sz="1200" dirty="0">
                <a:latin typeface="Constantia" panose="02030602050306030303" pitchFamily="18" charset="0"/>
              </a:rPr>
              <a:t>小的先合并</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这个较大的数字意味着SSTables的生命周期较长，表明这些SSTables不太可能很快被更新或压缩。</a:t>
            </a:r>
            <a:endParaRPr sz="1800" kern="10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endParaRPr sz="1800" kern="10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传统的磁盘I/O堆栈需要内核文件系统、块层、I/O调度层、块设备驱动层等一系列I/O子系统才能到达磁盘。这些长链总是会降低数据存储效率，间接降低磁盘吞吐量并增加请求延迟。 ZoneKV 针对 ZNS 进行了优化通过直接在 ZNS SSD 上执行端到端数据放置并绕过巨大的 I/O 堆栈。</a:t>
            </a:r>
            <a:r>
              <a:rPr lang="zh-CN" sz="1800" kern="100">
                <a:effectLst/>
                <a:latin typeface="Times New Roman" panose="02020603050405020304" pitchFamily="18" charset="0"/>
                <a:ea typeface="宋体" panose="02010600030101010101" pitchFamily="2" charset="-122"/>
                <a:cs typeface="Times New Roman" panose="02020603050405020304" pitchFamily="18" charset="0"/>
              </a:rPr>
              <a:t>（这也不算是他的工作，很多存储引擎都是</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直通</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的）</a:t>
            </a:r>
            <a:endPar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一个简单的区域分配算法</a:t>
            </a:r>
            <a:endPar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传统的磁盘I/O堆栈需要内核文件系统、块层、I/O调度层、块设备驱动层等一系列I/O子系统才能到达磁盘。这些长链总是会降低数据存储效率，间接降低磁盘吞吐量并增加请求延迟。 ZoneKV 针对 ZNS 进行了优化通过直接在 ZNS SSD 上执行端到端数据放置并绕过巨大的 I/O 堆栈。</a:t>
            </a:r>
            <a:r>
              <a:rPr lang="zh-CN" sz="1800" kern="100">
                <a:effectLst/>
                <a:latin typeface="Times New Roman" panose="02020603050405020304" pitchFamily="18" charset="0"/>
                <a:ea typeface="宋体" panose="02010600030101010101" pitchFamily="2" charset="-122"/>
                <a:cs typeface="Times New Roman" panose="02020603050405020304" pitchFamily="18" charset="0"/>
              </a:rPr>
              <a:t>（这也不算是他的工作，很多存储引擎都是</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直通</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的）</a:t>
            </a:r>
            <a:endPar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en-US" altLang="zh-CN" dirty="0"/>
              <a:t>Thanks</a:t>
            </a:r>
            <a:r>
              <a:rPr kumimoji="1" lang="zh-CN" altLang="en-US" dirty="0"/>
              <a:t> </a:t>
            </a:r>
            <a:r>
              <a:rPr kumimoji="1" lang="en-US" altLang="zh-CN" dirty="0"/>
              <a:t>for</a:t>
            </a:r>
            <a:r>
              <a:rPr kumimoji="1" lang="zh-CN" altLang="en-US" dirty="0"/>
              <a:t> </a:t>
            </a:r>
            <a:r>
              <a:rPr kumimoji="1" lang="en-US" altLang="zh-CN" dirty="0"/>
              <a:t>listening!</a:t>
            </a:r>
            <a:endParaRPr kumimoji="1" lang="zh-CN" altLang="en-US" dirty="0"/>
          </a:p>
        </p:txBody>
      </p:sp>
      <p:sp>
        <p:nvSpPr>
          <p:cNvPr id="4" name="幻灯片编号占位符 3"/>
          <p:cNvSpPr>
            <a:spLocks noGrp="1"/>
          </p:cNvSpPr>
          <p:nvPr>
            <p:ph type="sldNum" sz="quarter" idx="10"/>
          </p:nvPr>
        </p:nvSpPr>
        <p:spPr/>
        <p:txBody>
          <a:bodyPr/>
          <a:lstStyle/>
          <a:p>
            <a:fld id="{94B1677A-EDDD-4DA4-9464-453B9AC95701}"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dirty="0">
                <a:solidFill>
                  <a:srgbClr val="0D0D0D"/>
                </a:solidFill>
                <a:latin typeface="Söhne"/>
              </a:rPr>
              <a:t>我们的设备是有区别的，例如：介质区别、关键参数区别，例如已知的，</a:t>
            </a:r>
            <a:r>
              <a:rPr lang="en-US" altLang="zh-CN" dirty="0">
                <a:solidFill>
                  <a:srgbClr val="0D0D0D"/>
                </a:solidFill>
                <a:latin typeface="Söhne"/>
              </a:rPr>
              <a:t>zone size 2GB-&gt;1.4GB</a:t>
            </a:r>
            <a:r>
              <a:rPr lang="zh-CN" altLang="en-US" dirty="0">
                <a:solidFill>
                  <a:srgbClr val="0D0D0D"/>
                </a:solidFill>
                <a:latin typeface="Söhne"/>
              </a:rPr>
              <a:t>，最大带宽也更大。</a:t>
            </a:r>
            <a:endParaRPr lang="en-US" altLang="zh-CN" dirty="0">
              <a:solidFill>
                <a:srgbClr val="0D0D0D"/>
              </a:solidFill>
              <a:latin typeface="Söhne"/>
            </a:endParaRPr>
          </a:p>
          <a:p>
            <a:pPr indent="0" algn="just">
              <a:spcAft>
                <a:spcPts val="1200"/>
              </a:spcAft>
              <a:buFont typeface="Arial" panose="020B0604020202020204" pitchFamily="34" charset="0"/>
              <a:buNone/>
            </a:pPr>
            <a:endParaRPr lang="en-US" altLang="zh-CN" sz="1200" dirty="0">
              <a:solidFill>
                <a:srgbClr val="0D0D0D"/>
              </a:solidFill>
              <a:latin typeface="Söhne"/>
            </a:endParaRPr>
          </a:p>
          <a:p>
            <a:pPr indent="0" algn="just">
              <a:spcAft>
                <a:spcPts val="1200"/>
              </a:spcAft>
              <a:buFont typeface="Arial" panose="020B0604020202020204" pitchFamily="34" charset="0"/>
              <a:buNone/>
            </a:pPr>
            <a:r>
              <a:rPr lang="zh-CN" altLang="en-US" sz="1200" dirty="0">
                <a:solidFill>
                  <a:srgbClr val="0D0D0D"/>
                </a:solidFill>
                <a:latin typeface="Söhne"/>
              </a:rPr>
              <a:t>过去的工作：要么模拟器。要么真实设备，只有一款真实设备，</a:t>
            </a:r>
            <a:r>
              <a:rPr lang="en-US" altLang="zh-CN" sz="1200" dirty="0">
                <a:solidFill>
                  <a:srgbClr val="0D0D0D"/>
                </a:solidFill>
                <a:latin typeface="Söhne"/>
              </a:rPr>
              <a:t>SSD vs ZNS</a:t>
            </a:r>
            <a:r>
              <a:rPr lang="zh-CN" altLang="en-US" sz="1200" dirty="0">
                <a:solidFill>
                  <a:srgbClr val="0D0D0D"/>
                </a:solidFill>
                <a:latin typeface="Söhne"/>
              </a:rPr>
              <a:t>。</a:t>
            </a:r>
            <a:endParaRPr lang="en-US" altLang="zh-CN" sz="1200" dirty="0">
              <a:solidFill>
                <a:srgbClr val="0D0D0D"/>
              </a:solidFill>
              <a:latin typeface="Söhne"/>
            </a:endParaRPr>
          </a:p>
          <a:p>
            <a:pPr indent="0" algn="just">
              <a:spcAft>
                <a:spcPts val="1200"/>
              </a:spcAft>
              <a:buFont typeface="Arial" panose="020B0604020202020204" pitchFamily="34" charset="0"/>
              <a:buNone/>
            </a:pPr>
            <a:endParaRPr lang="en-US" altLang="zh-CN" sz="1200" dirty="0">
              <a:solidFill>
                <a:srgbClr val="0D0D0D"/>
              </a:solidFill>
              <a:latin typeface="Söhne"/>
            </a:endParaRPr>
          </a:p>
          <a:p>
            <a:pPr indent="0" algn="just">
              <a:spcAft>
                <a:spcPts val="1200"/>
              </a:spcAft>
              <a:buFont typeface="Arial" panose="020B0604020202020204" pitchFamily="34" charset="0"/>
              <a:buNone/>
            </a:pPr>
            <a:r>
              <a:rPr lang="zh-CN" altLang="en-US" sz="1200" dirty="0">
                <a:solidFill>
                  <a:srgbClr val="0D0D0D"/>
                </a:solidFill>
                <a:latin typeface="Söhne"/>
              </a:rPr>
              <a:t>我们的工作：模拟器 </a:t>
            </a:r>
            <a:r>
              <a:rPr lang="en-US" altLang="zh-CN" sz="1200" dirty="0">
                <a:solidFill>
                  <a:srgbClr val="0D0D0D"/>
                </a:solidFill>
                <a:latin typeface="Söhne"/>
              </a:rPr>
              <a:t>vs ZNS1 vs ZNS2</a:t>
            </a:r>
            <a:endParaRPr lang="en-US" altLang="zh-CN" sz="1200" dirty="0">
              <a:solidFill>
                <a:srgbClr val="0D0D0D"/>
              </a:solidFill>
              <a:latin typeface="Söhne"/>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dirty="0">
                <a:solidFill>
                  <a:srgbClr val="0D0D0D"/>
                </a:solidFill>
                <a:latin typeface="Söhne"/>
              </a:rPr>
              <a:t>我们的设备是有区别的，例如：介质区别、关键参数区别，例如已知的，</a:t>
            </a:r>
            <a:r>
              <a:rPr lang="en-US" altLang="zh-CN" dirty="0">
                <a:solidFill>
                  <a:srgbClr val="0D0D0D"/>
                </a:solidFill>
                <a:latin typeface="Söhne"/>
              </a:rPr>
              <a:t>zone size 2GB-&gt;1.4GB</a:t>
            </a:r>
            <a:r>
              <a:rPr lang="zh-CN" altLang="en-US" dirty="0">
                <a:solidFill>
                  <a:srgbClr val="0D0D0D"/>
                </a:solidFill>
                <a:latin typeface="Söhne"/>
              </a:rPr>
              <a:t>，最大带宽也更大。</a:t>
            </a:r>
            <a:endParaRPr lang="en-US" altLang="zh-CN" dirty="0">
              <a:solidFill>
                <a:srgbClr val="0D0D0D"/>
              </a:solidFill>
              <a:latin typeface="Söhne"/>
            </a:endParaRPr>
          </a:p>
          <a:p>
            <a:pPr indent="0" algn="just">
              <a:spcAft>
                <a:spcPts val="1200"/>
              </a:spcAft>
              <a:buFont typeface="Arial" panose="020B0604020202020204" pitchFamily="34" charset="0"/>
              <a:buNone/>
            </a:pPr>
            <a:endParaRPr lang="en-US" altLang="zh-CN" sz="1200" dirty="0">
              <a:solidFill>
                <a:srgbClr val="0D0D0D"/>
              </a:solidFill>
              <a:latin typeface="Söhne"/>
            </a:endParaRPr>
          </a:p>
          <a:p>
            <a:pPr indent="0" algn="just">
              <a:spcAft>
                <a:spcPts val="1200"/>
              </a:spcAft>
              <a:buFont typeface="Arial" panose="020B0604020202020204" pitchFamily="34" charset="0"/>
              <a:buNone/>
            </a:pPr>
            <a:r>
              <a:rPr lang="zh-CN" altLang="en-US" sz="1200" dirty="0">
                <a:solidFill>
                  <a:srgbClr val="0D0D0D"/>
                </a:solidFill>
                <a:latin typeface="Söhne"/>
              </a:rPr>
              <a:t>过去的工作：要么模拟器。要么真实设备，只有一款真实设备，</a:t>
            </a:r>
            <a:r>
              <a:rPr lang="en-US" altLang="zh-CN" sz="1200" dirty="0">
                <a:solidFill>
                  <a:srgbClr val="0D0D0D"/>
                </a:solidFill>
                <a:latin typeface="Söhne"/>
              </a:rPr>
              <a:t>SSD vs ZNS</a:t>
            </a:r>
            <a:r>
              <a:rPr lang="zh-CN" altLang="en-US" sz="1200" dirty="0">
                <a:solidFill>
                  <a:srgbClr val="0D0D0D"/>
                </a:solidFill>
                <a:latin typeface="Söhne"/>
              </a:rPr>
              <a:t>。</a:t>
            </a:r>
            <a:endParaRPr lang="en-US" altLang="zh-CN" sz="1200" dirty="0">
              <a:solidFill>
                <a:srgbClr val="0D0D0D"/>
              </a:solidFill>
              <a:latin typeface="Söhne"/>
            </a:endParaRPr>
          </a:p>
          <a:p>
            <a:pPr indent="0" algn="just">
              <a:spcAft>
                <a:spcPts val="1200"/>
              </a:spcAft>
              <a:buFont typeface="Arial" panose="020B0604020202020204" pitchFamily="34" charset="0"/>
              <a:buNone/>
            </a:pPr>
            <a:endParaRPr lang="en-US" altLang="zh-CN" sz="1200" dirty="0">
              <a:solidFill>
                <a:srgbClr val="0D0D0D"/>
              </a:solidFill>
              <a:latin typeface="Söhne"/>
            </a:endParaRPr>
          </a:p>
          <a:p>
            <a:pPr indent="0" algn="just">
              <a:spcAft>
                <a:spcPts val="1200"/>
              </a:spcAft>
              <a:buFont typeface="Arial" panose="020B0604020202020204" pitchFamily="34" charset="0"/>
              <a:buNone/>
            </a:pPr>
            <a:r>
              <a:rPr lang="zh-CN" altLang="en-US" sz="1200" dirty="0">
                <a:solidFill>
                  <a:srgbClr val="0D0D0D"/>
                </a:solidFill>
                <a:latin typeface="Söhne"/>
              </a:rPr>
              <a:t>我们的工作：模拟器 </a:t>
            </a:r>
            <a:r>
              <a:rPr lang="en-US" altLang="zh-CN" sz="1200" dirty="0">
                <a:solidFill>
                  <a:srgbClr val="0D0D0D"/>
                </a:solidFill>
                <a:latin typeface="Söhne"/>
              </a:rPr>
              <a:t>vs ZNS1 vs ZNS2</a:t>
            </a:r>
            <a:endParaRPr lang="en-US" altLang="zh-CN" sz="1200" dirty="0">
              <a:solidFill>
                <a:srgbClr val="0D0D0D"/>
              </a:solidFill>
              <a:latin typeface="Söhne"/>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en-US" altLang="zh-CN" sz="1800" u="sng" kern="100" dirty="0">
                <a:solidFill>
                  <a:srgbClr val="0000FF"/>
                </a:solidFill>
                <a:effectLst/>
                <a:latin typeface="Times New Roman" panose="02020603050405020304" pitchFamily="18" charset="0"/>
                <a:ea typeface="宋体" panose="02010600030101010101" pitchFamily="2" charset="-122"/>
                <a:hlinkClick r:id="rId3"/>
              </a:rPr>
              <a:t>https://github.com/linux-nvme/nvme-cli</a:t>
            </a:r>
            <a:endParaRPr lang="zh-CN" altLang="zh-CN" sz="1800" kern="100" dirty="0">
              <a:effectLst/>
              <a:latin typeface="Times New Roman" panose="02020603050405020304" pitchFamily="18" charset="0"/>
              <a:ea typeface="宋体" panose="02010600030101010101" pitchFamily="2" charset="-122"/>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endParaRPr lang="en-US" altLang="zh-CN" sz="1800" kern="100" dirty="0">
              <a:effectLst/>
              <a:latin typeface="Times New Roman" panose="02020603050405020304" pitchFamily="18" charset="0"/>
              <a:ea typeface="宋体" panose="02010600030101010101" pitchFamily="2" charset="-122"/>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en-US" altLang="zh-CN" sz="1800" kern="100" dirty="0">
                <a:effectLst/>
                <a:latin typeface="Times New Roman" panose="02020603050405020304" pitchFamily="18" charset="0"/>
                <a:ea typeface="宋体" panose="02010600030101010101" pitchFamily="2" charset="-122"/>
              </a:rPr>
              <a:t>https://zonedstorage.io/docs/tools/libzbd</a:t>
            </a:r>
            <a:endParaRPr lang="zh-CN" altLang="zh-CN" sz="1800" kern="100" dirty="0">
              <a:effectLst/>
              <a:latin typeface="Times New Roman" panose="02020603050405020304" pitchFamily="18" charset="0"/>
              <a:ea typeface="宋体" panose="02010600030101010101" pitchFamily="2" charset="-122"/>
            </a:endParaRP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zh-CN" altLang="en-US" sz="1200" dirty="0"/>
              <a:t>尽管</a:t>
            </a:r>
            <a:r>
              <a:rPr lang="en-US" altLang="zh-CN" sz="1200" dirty="0"/>
              <a:t>HFTL</a:t>
            </a:r>
            <a:r>
              <a:rPr lang="zh-CN" altLang="en-US" sz="1200" dirty="0"/>
              <a:t>的职责较</a:t>
            </a:r>
            <a:r>
              <a:rPr lang="en-US" altLang="zh-CN" sz="1200" dirty="0"/>
              <a:t>SSD FTL</a:t>
            </a:r>
            <a:r>
              <a:rPr lang="zh-CN" altLang="en-US" sz="1200" dirty="0"/>
              <a:t>小，但它必须管理其对</a:t>
            </a:r>
            <a:r>
              <a:rPr lang="en-US" altLang="zh-CN" sz="1200" dirty="0"/>
              <a:t>CPU</a:t>
            </a:r>
            <a:r>
              <a:rPr lang="zh-CN" altLang="en-US" sz="1200" dirty="0"/>
              <a:t>和</a:t>
            </a:r>
            <a:r>
              <a:rPr lang="en-US" altLang="zh-CN" sz="1200" dirty="0"/>
              <a:t>DRAM</a:t>
            </a:r>
            <a:r>
              <a:rPr lang="zh-CN" altLang="en-US" sz="1200" dirty="0"/>
              <a:t>资源的使用，因为这些资源与主机应用共享。</a:t>
            </a:r>
            <a:r>
              <a:rPr lang="en-US" altLang="zh-CN" sz="1200" dirty="0"/>
              <a:t>HFTL</a:t>
            </a:r>
            <a:r>
              <a:rPr lang="zh-CN" altLang="en-US" sz="1200" dirty="0"/>
              <a:t>简化了与主机端信息的整合，增强了数据放置和垃圾回收的控制，并向应用程序提供传统块接口。目前，例如</a:t>
            </a:r>
            <a:r>
              <a:rPr lang="en-US" altLang="zh-CN" sz="1200" dirty="0"/>
              <a:t>dm-zoned</a:t>
            </a:r>
            <a:r>
              <a:rPr lang="zh-CN" altLang="en-US" sz="1200" dirty="0"/>
              <a:t>、</a:t>
            </a:r>
            <a:r>
              <a:rPr lang="en-US" altLang="zh-CN" sz="1200" dirty="0"/>
              <a:t>dm-zap</a:t>
            </a:r>
            <a:r>
              <a:rPr lang="zh-CN" altLang="en-US" sz="1200" dirty="0"/>
              <a:t>、</a:t>
            </a:r>
            <a:r>
              <a:rPr lang="en-US" altLang="zh-CN" sz="1200" dirty="0" err="1"/>
              <a:t>pblk</a:t>
            </a:r>
            <a:r>
              <a:rPr lang="zh-CN" altLang="en-US" sz="1200" dirty="0"/>
              <a:t>和</a:t>
            </a:r>
            <a:r>
              <a:rPr lang="en-US" altLang="zh-CN" sz="1200" dirty="0"/>
              <a:t>SPDK</a:t>
            </a:r>
            <a:r>
              <a:rPr lang="zh-CN" altLang="en-US" sz="1200" dirty="0"/>
              <a:t>的</a:t>
            </a:r>
            <a:r>
              <a:rPr lang="en-US" altLang="zh-CN" sz="1200" dirty="0"/>
              <a:t>FTL</a:t>
            </a:r>
            <a:r>
              <a:rPr lang="zh-CN" altLang="en-US" sz="1200" dirty="0"/>
              <a:t>等工作显示了</a:t>
            </a:r>
            <a:r>
              <a:rPr lang="en-US" altLang="zh-CN" sz="1200" dirty="0"/>
              <a:t>HFTL</a:t>
            </a:r>
            <a:r>
              <a:rPr lang="zh-CN" altLang="en-US" sz="1200" dirty="0"/>
              <a:t>的可行性和应用性，但目前只有</a:t>
            </a:r>
            <a:r>
              <a:rPr lang="en-US" altLang="zh-CN" sz="1200" dirty="0"/>
              <a:t>dm-zap</a:t>
            </a:r>
            <a:r>
              <a:rPr lang="zh-CN" altLang="en-US" sz="1200" dirty="0"/>
              <a:t>支持</a:t>
            </a:r>
            <a:r>
              <a:rPr lang="en-US" altLang="zh-CN" sz="1200" dirty="0"/>
              <a:t>ZNS SSD</a:t>
            </a:r>
            <a:r>
              <a:rPr lang="zh-CN" altLang="en-US" sz="1200" dirty="0"/>
              <a:t>。</a:t>
            </a:r>
            <a:endParaRPr lang="en-US" altLang="zh-CN" sz="1200" dirty="0"/>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单击以编辑母版副标题样式</a:t>
            </a:r>
            <a:endParaRPr lang="zh-CN" altLang="en-US"/>
          </a:p>
        </p:txBody>
      </p:sp>
      <p:sp>
        <p:nvSpPr>
          <p:cNvPr id="4" name="日期占位符 3"/>
          <p:cNvSpPr>
            <a:spLocks noGrp="1"/>
          </p:cNvSpPr>
          <p:nvPr>
            <p:ph type="dt" sz="half" idx="10"/>
          </p:nvPr>
        </p:nvSpPr>
        <p:spPr/>
        <p:txBody>
          <a:bodyPr/>
          <a:lstStyle/>
          <a:p>
            <a:fld id="{B3A1CB8A-CC46-473E-BAED-B264D45A45B1}"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DB86486-090B-4251-B152-8050B4D26FD2}"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hasCustomPrompt="1"/>
          </p:nvPr>
        </p:nvSpPr>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B3A1CB8A-CC46-473E-BAED-B264D45A45B1}"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DB86486-090B-4251-B152-8050B4D26FD2}"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hasCustomPrompt="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endParaRPr lang="zh-CN" altLang="en-US"/>
          </a:p>
        </p:txBody>
      </p:sp>
      <p:sp>
        <p:nvSpPr>
          <p:cNvPr id="4" name="日期占位符 3"/>
          <p:cNvSpPr>
            <a:spLocks noGrp="1"/>
          </p:cNvSpPr>
          <p:nvPr>
            <p:ph type="dt" sz="half" idx="10"/>
          </p:nvPr>
        </p:nvSpPr>
        <p:spPr/>
        <p:txBody>
          <a:bodyPr/>
          <a:lstStyle/>
          <a:p>
            <a:fld id="{B3A1CB8A-CC46-473E-BAED-B264D45A45B1}"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DB86486-090B-4251-B152-8050B4D26FD2}"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hasCustomPrompt="1"/>
          </p:nvPr>
        </p:nvSpPr>
        <p:spPr>
          <a:xfrm>
            <a:off x="838200" y="1825625"/>
            <a:ext cx="5181600" cy="4351338"/>
          </a:xfrm>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hasCustomPrompt="1"/>
          </p:nvPr>
        </p:nvSpPr>
        <p:spPr>
          <a:xfrm>
            <a:off x="6172200" y="1825625"/>
            <a:ext cx="5181600" cy="4351338"/>
          </a:xfrm>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日期占位符 4"/>
          <p:cNvSpPr>
            <a:spLocks noGrp="1"/>
          </p:cNvSpPr>
          <p:nvPr>
            <p:ph type="dt" sz="half" idx="10"/>
          </p:nvPr>
        </p:nvSpPr>
        <p:spPr/>
        <p:txBody>
          <a:bodyPr/>
          <a:lstStyle/>
          <a:p>
            <a:fld id="{B3A1CB8A-CC46-473E-BAED-B264D45A45B1}"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2DB86486-090B-4251-B152-8050B4D26FD2}"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hasCustomPrompt="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endParaRPr lang="zh-CN" altLang="en-US"/>
          </a:p>
        </p:txBody>
      </p:sp>
      <p:sp>
        <p:nvSpPr>
          <p:cNvPr id="4" name="内容占位符 3"/>
          <p:cNvSpPr>
            <a:spLocks noGrp="1"/>
          </p:cNvSpPr>
          <p:nvPr>
            <p:ph sz="half" idx="2" hasCustomPrompt="1"/>
          </p:nvPr>
        </p:nvSpPr>
        <p:spPr>
          <a:xfrm>
            <a:off x="839788" y="2505075"/>
            <a:ext cx="5157787" cy="3684588"/>
          </a:xfrm>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endParaRPr lang="zh-CN" altLang="en-US"/>
          </a:p>
        </p:txBody>
      </p:sp>
      <p:sp>
        <p:nvSpPr>
          <p:cNvPr id="6" name="内容占位符 5"/>
          <p:cNvSpPr>
            <a:spLocks noGrp="1"/>
          </p:cNvSpPr>
          <p:nvPr>
            <p:ph sz="quarter" idx="4" hasCustomPrompt="1"/>
          </p:nvPr>
        </p:nvSpPr>
        <p:spPr>
          <a:xfrm>
            <a:off x="6172200" y="2505075"/>
            <a:ext cx="5183188" cy="3684588"/>
          </a:xfrm>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nvPr>
        </p:nvSpPr>
        <p:spPr/>
        <p:txBody>
          <a:bodyPr/>
          <a:lstStyle/>
          <a:p>
            <a:fld id="{B3A1CB8A-CC46-473E-BAED-B264D45A45B1}"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2DB86486-090B-4251-B152-8050B4D26FD2}"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B3A1CB8A-CC46-473E-BAED-B264D45A45B1}"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2DB86486-090B-4251-B152-8050B4D26FD2}"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B3A1CB8A-CC46-473E-BAED-B264D45A45B1}"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2DB86486-090B-4251-B152-8050B4D26FD2}"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hasCustomPrompt="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endParaRPr lang="zh-CN" altLang="en-US"/>
          </a:p>
        </p:txBody>
      </p:sp>
      <p:sp>
        <p:nvSpPr>
          <p:cNvPr id="5" name="日期占位符 4"/>
          <p:cNvSpPr>
            <a:spLocks noGrp="1"/>
          </p:cNvSpPr>
          <p:nvPr>
            <p:ph type="dt" sz="half" idx="10"/>
          </p:nvPr>
        </p:nvSpPr>
        <p:spPr/>
        <p:txBody>
          <a:bodyPr/>
          <a:lstStyle/>
          <a:p>
            <a:fld id="{B3A1CB8A-CC46-473E-BAED-B264D45A45B1}"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2DB86486-090B-4251-B152-8050B4D26FD2}"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endParaRPr lang="zh-CN" altLang="en-US"/>
          </a:p>
        </p:txBody>
      </p:sp>
      <p:sp>
        <p:nvSpPr>
          <p:cNvPr id="5" name="日期占位符 4"/>
          <p:cNvSpPr>
            <a:spLocks noGrp="1"/>
          </p:cNvSpPr>
          <p:nvPr>
            <p:ph type="dt" sz="half" idx="10"/>
          </p:nvPr>
        </p:nvSpPr>
        <p:spPr/>
        <p:txBody>
          <a:bodyPr/>
          <a:lstStyle/>
          <a:p>
            <a:fld id="{B3A1CB8A-CC46-473E-BAED-B264D45A45B1}"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2DB86486-090B-4251-B152-8050B4D26FD2}"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hasCustomPrompt="1"/>
          </p:nvPr>
        </p:nvSpPr>
        <p:spPr/>
        <p:txBody>
          <a:bodyPr vert="eaVert"/>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B3A1CB8A-CC46-473E-BAED-B264D45A45B1}"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DB86486-090B-4251-B152-8050B4D26FD2}"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hasCustomPrompt="1"/>
          </p:nvPr>
        </p:nvSpPr>
        <p:spPr>
          <a:xfrm>
            <a:off x="838200" y="365125"/>
            <a:ext cx="7734300" cy="5811838"/>
          </a:xfrm>
        </p:spPr>
        <p:txBody>
          <a:bodyPr vert="eaVert"/>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B3A1CB8A-CC46-473E-BAED-B264D45A45B1}"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DB86486-090B-4251-B152-8050B4D26FD2}"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3A1CB8A-CC46-473E-BAED-B264D45A45B1}"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B86486-090B-4251-B152-8050B4D26FD2}"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mc:Choice xmlns:p14="http://schemas.microsoft.com/office/powerpoint/2010/main" Requires="p14">
      <p:transition p14:dur="0" advClick="0"/>
    </mc:Choice>
    <mc:Fallback>
      <p:transition advClick="0"/>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1.tiff"/></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3.jpeg"/></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3.jpe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_rels/slide11.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7.xml"/><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3.jpe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image" Target="../media/image9.png"/><Relationship Id="rId3"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image" Target="../media/image3.jpe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image" Target="../media/image10.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_rels/slide15.xml.rels><?xml version="1.0" encoding="UTF-8" standalone="yes"?>
<Relationships xmlns="http://schemas.openxmlformats.org/package/2006/relationships"><Relationship Id="rId7" Type="http://schemas.openxmlformats.org/officeDocument/2006/relationships/notesSlide" Target="../notesSlides/notesSlide15.xml"/><Relationship Id="rId6" Type="http://schemas.openxmlformats.org/officeDocument/2006/relationships/slideLayout" Target="../slideLayouts/slideLayout7.xml"/><Relationship Id="rId5" Type="http://schemas.openxmlformats.org/officeDocument/2006/relationships/hyperlink" Target="https://github.com/linux-nvme/nvme-cli" TargetMode="External"/><Relationship Id="rId4" Type="http://schemas.openxmlformats.org/officeDocument/2006/relationships/hyperlink" Target="https://github.com/vtess/FEMU" TargetMode="External"/><Relationship Id="rId3" Type="http://schemas.openxmlformats.org/officeDocument/2006/relationships/hyperlink" Target="https://www.qemu.org/" TargetMode="External"/><Relationship Id="rId2" Type="http://schemas.openxmlformats.org/officeDocument/2006/relationships/image" Target="../media/image2.png"/><Relationship Id="rId1" Type="http://schemas.openxmlformats.org/officeDocument/2006/relationships/image" Target="../media/image3.jpe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7.xml"/><Relationship Id="rId3" Type="http://schemas.openxmlformats.org/officeDocument/2006/relationships/hyperlink" Target="https://github.com/linux-nvme/nvme-cli" TargetMode="External"/><Relationship Id="rId2" Type="http://schemas.openxmlformats.org/officeDocument/2006/relationships/image" Target="../media/image2.png"/><Relationship Id="rId1" Type="http://schemas.openxmlformats.org/officeDocument/2006/relationships/image" Target="../media/image3.jpeg"/></Relationships>
</file>

<file path=ppt/slides/_rels/slide17.xml.rels><?xml version="1.0" encoding="UTF-8" standalone="yes"?>
<Relationships xmlns="http://schemas.openxmlformats.org/package/2006/relationships"><Relationship Id="rId5" Type="http://schemas.openxmlformats.org/officeDocument/2006/relationships/notesSlide" Target="../notesSlides/notesSlide17.xml"/><Relationship Id="rId4" Type="http://schemas.openxmlformats.org/officeDocument/2006/relationships/slideLayout" Target="../slideLayouts/slideLayout7.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3.jpeg"/></Relationships>
</file>

<file path=ppt/slides/_rels/slide18.xml.rels><?xml version="1.0" encoding="UTF-8" standalone="yes"?>
<Relationships xmlns="http://schemas.openxmlformats.org/package/2006/relationships"><Relationship Id="rId7" Type="http://schemas.openxmlformats.org/officeDocument/2006/relationships/notesSlide" Target="../notesSlides/notesSlide18.xml"/><Relationship Id="rId6"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jpeg"/><Relationship Id="rId3" Type="http://schemas.openxmlformats.org/officeDocument/2006/relationships/image" Target="../media/image12.jpeg"/><Relationship Id="rId2" Type="http://schemas.openxmlformats.org/officeDocument/2006/relationships/image" Target="../media/image2.png"/><Relationship Id="rId1" Type="http://schemas.openxmlformats.org/officeDocument/2006/relationships/image" Target="../media/image3.jpe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_rels/slide20.xml.rels><?xml version="1.0" encoding="UTF-8" standalone="yes"?>
<Relationships xmlns="http://schemas.openxmlformats.org/package/2006/relationships"><Relationship Id="rId4" Type="http://schemas.openxmlformats.org/officeDocument/2006/relationships/notesSlide" Target="../notesSlides/notesSlide20.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21.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22.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Constantia" panose="02030602050306030303" pitchFamily="18" charset="0"/>
            </a:endParaRPr>
          </a:p>
        </p:txBody>
      </p:sp>
      <p:sp>
        <p:nvSpPr>
          <p:cNvPr id="12" name="矩形 11"/>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tx1"/>
              </a:solidFill>
            </a:endParaRPr>
          </a:p>
        </p:txBody>
      </p:sp>
      <p:sp>
        <p:nvSpPr>
          <p:cNvPr id="1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sp>
        <p:nvSpPr>
          <p:cNvPr id="17" name="矩形 16"/>
          <p:cNvSpPr/>
          <p:nvPr/>
        </p:nvSpPr>
        <p:spPr>
          <a:xfrm>
            <a:off x="747870" y="2347912"/>
            <a:ext cx="10424795" cy="1323439"/>
          </a:xfrm>
          <a:prstGeom prst="rect">
            <a:avLst/>
          </a:prstGeom>
        </p:spPr>
        <p:txBody>
          <a:bodyPr wrap="square">
            <a:spAutoFit/>
          </a:bodyPr>
          <a:lstStyle/>
          <a:p>
            <a:pPr algn="ctr"/>
            <a:r>
              <a:rPr lang="en-US" altLang="zh-CN" sz="4000" b="1" dirty="0" err="1">
                <a:solidFill>
                  <a:srgbClr val="4747BA"/>
                </a:solidFill>
                <a:latin typeface="Constantia" panose="02030602050306030303" pitchFamily="18" charset="0"/>
                <a:ea typeface="微软雅黑" panose="020B0503020204020204" charset="-122"/>
                <a:cs typeface="Calibri" panose="020F0502020204030204" pitchFamily="34" charset="0"/>
              </a:rPr>
              <a:t>ZoneKV</a:t>
            </a:r>
            <a:r>
              <a:rPr lang="en-US" altLang="zh-CN" sz="4000" b="1" dirty="0">
                <a:solidFill>
                  <a:srgbClr val="4747BA"/>
                </a:solidFill>
                <a:latin typeface="Constantia" panose="02030602050306030303" pitchFamily="18" charset="0"/>
                <a:ea typeface="微软雅黑" panose="020B0503020204020204" charset="-122"/>
                <a:cs typeface="Calibri" panose="020F0502020204030204" pitchFamily="34" charset="0"/>
              </a:rPr>
              <a:t>: A Space-Efficient Key-Value Store for ZNS SSDs</a:t>
            </a:r>
            <a:endParaRPr lang="en-US" altLang="zh-CN" sz="4000" b="1" dirty="0">
              <a:solidFill>
                <a:srgbClr val="4747BA"/>
              </a:solidFill>
              <a:latin typeface="Constantia" panose="02030602050306030303" pitchFamily="18" charset="0"/>
              <a:ea typeface="微软雅黑" panose="020B0503020204020204" charset="-122"/>
              <a:cs typeface="Calibri" panose="020F0502020204030204" pitchFamily="34" charset="0"/>
            </a:endParaRPr>
          </a:p>
        </p:txBody>
      </p:sp>
      <p:sp>
        <p:nvSpPr>
          <p:cNvPr id="16"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pic>
        <p:nvPicPr>
          <p:cNvPr id="15" name="图片 14"/>
          <p:cNvPicPr>
            <a:picLocks noChangeAspect="1"/>
          </p:cNvPicPr>
          <p:nvPr/>
        </p:nvPicPr>
        <p:blipFill>
          <a:blip r:embed="rId1"/>
          <a:stretch>
            <a:fillRect/>
          </a:stretch>
        </p:blipFill>
        <p:spPr>
          <a:xfrm>
            <a:off x="445434" y="232034"/>
            <a:ext cx="2438400" cy="527343"/>
          </a:xfrm>
          <a:prstGeom prst="rect">
            <a:avLst/>
          </a:prstGeom>
        </p:spPr>
      </p:pic>
      <p:sp>
        <p:nvSpPr>
          <p:cNvPr id="19"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13" name="图片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9" name="Rectangle 1"/>
          <p:cNvSpPr>
            <a:spLocks noChangeArrowheads="1"/>
          </p:cNvSpPr>
          <p:nvPr/>
        </p:nvSpPr>
        <p:spPr bwMode="auto">
          <a:xfrm>
            <a:off x="4495314" y="4522003"/>
            <a:ext cx="3201371" cy="7378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166635" rIns="0" bIns="71415" numCol="1" anchor="ctr" anchorCtr="0" compatLnSpc="1">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R="0" lvl="0" indent="0" algn="ctr" eaLnBrk="1" fontAlgn="base" hangingPunct="1">
              <a:lnSpc>
                <a:spcPct val="150000"/>
              </a:lnSpc>
              <a:spcBef>
                <a:spcPct val="0"/>
              </a:spcBef>
              <a:spcAft>
                <a:spcPct val="0"/>
              </a:spcAft>
              <a:buClrTx/>
              <a:buSzTx/>
              <a:buFontTx/>
              <a:buNone/>
            </a:pPr>
            <a:r>
              <a:rPr lang="en-US" altLang="zh-CN" sz="2400" b="1" dirty="0">
                <a:solidFill>
                  <a:srgbClr val="4747BA"/>
                </a:solidFill>
                <a:latin typeface="Constantia" panose="02030602050306030303" pitchFamily="18" charset="0"/>
              </a:rPr>
              <a:t>DAC 23</a:t>
            </a:r>
            <a:r>
              <a:rPr lang="zh-CN" altLang="en-US" sz="2400" b="1" dirty="0">
                <a:solidFill>
                  <a:srgbClr val="4747BA"/>
                </a:solidFill>
                <a:latin typeface="Constantia" panose="02030602050306030303" pitchFamily="18" charset="0"/>
              </a:rPr>
              <a:t>，中科大， 字节</a:t>
            </a:r>
            <a:endParaRPr lang="zh-CN" altLang="zh-CN" sz="2400" b="1" dirty="0">
              <a:solidFill>
                <a:srgbClr val="4747BA"/>
              </a:solidFill>
              <a:latin typeface="Constantia" panose="02030602050306030303" pitchFamily="18"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5"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p:cNvSpPr txBox="1"/>
          <p:nvPr/>
        </p:nvSpPr>
        <p:spPr>
          <a:xfrm>
            <a:off x="462584" y="1998087"/>
            <a:ext cx="11266832" cy="2491740"/>
          </a:xfrm>
          <a:prstGeom prst="rect">
            <a:avLst/>
          </a:prstGeom>
          <a:noFill/>
        </p:spPr>
        <p:txBody>
          <a:bodyPr wrap="square" rtlCol="0">
            <a:spAutoFit/>
          </a:bodyPr>
          <a:lstStyle/>
          <a:p>
            <a:pPr marL="285750" indent="-285750">
              <a:lnSpc>
                <a:spcPct val="130000"/>
              </a:lnSpc>
              <a:buFont typeface="Wingdings" panose="05000000000000000000" charset="0"/>
              <a:buChar char="q"/>
            </a:pPr>
            <a:r>
              <a:rPr lang="en-US" altLang="zh-CN" sz="2000" b="0" i="0" dirty="0">
                <a:solidFill>
                  <a:srgbClr val="374151"/>
                </a:solidFill>
                <a:effectLst/>
                <a:latin typeface="_5b8b_4f53"/>
              </a:rPr>
              <a:t>- </a:t>
            </a:r>
            <a:r>
              <a:rPr lang="zh-CN" altLang="en-US" sz="2000" b="0" i="0" dirty="0">
                <a:solidFill>
                  <a:srgbClr val="374151"/>
                </a:solidFill>
                <a:effectLst/>
                <a:latin typeface="_5b8b_4f53"/>
              </a:rPr>
              <a:t>提出了</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，一种针对</a:t>
            </a:r>
            <a:r>
              <a:rPr lang="en-US" altLang="zh-CN" sz="2000" b="0" i="0" dirty="0">
                <a:solidFill>
                  <a:srgbClr val="374151"/>
                </a:solidFill>
                <a:effectLst/>
                <a:latin typeface="_5b8b_4f53"/>
              </a:rPr>
              <a:t>ZNS SSDs</a:t>
            </a:r>
            <a:r>
              <a:rPr lang="zh-CN" altLang="en-US" sz="2000" b="0" i="0" dirty="0">
                <a:solidFill>
                  <a:srgbClr val="374151"/>
                </a:solidFill>
                <a:effectLst/>
                <a:latin typeface="_5b8b_4f53"/>
              </a:rPr>
              <a:t>的空间高效键值存储系统。</a:t>
            </a:r>
            <a:endParaRPr lang="zh-CN" altLang="en-US" sz="2000" b="0" i="0" dirty="0">
              <a:solidFill>
                <a:srgbClr val="374151"/>
              </a:solidFill>
              <a:effectLst/>
              <a:latin typeface="_5b8b_4f53"/>
            </a:endParaRPr>
          </a:p>
          <a:p>
            <a:pPr marL="285750" indent="-285750">
              <a:lnSpc>
                <a:spcPct val="130000"/>
              </a:lnSpc>
              <a:buFont typeface="Wingdings" panose="05000000000000000000" charset="0"/>
              <a:buChar char="q"/>
            </a:pPr>
            <a:r>
              <a:rPr lang="en-US" altLang="zh-CN" sz="2000" b="0" i="0" dirty="0">
                <a:solidFill>
                  <a:srgbClr val="374151"/>
                </a:solidFill>
                <a:effectLst/>
                <a:latin typeface="_5b8b_4f53"/>
              </a:rPr>
              <a:t>- </a:t>
            </a:r>
            <a:r>
              <a:rPr lang="zh-CN" altLang="en-US" sz="2000" b="0" i="0" dirty="0">
                <a:solidFill>
                  <a:srgbClr val="374151"/>
                </a:solidFill>
                <a:effectLst/>
                <a:latin typeface="_5b8b_4f53"/>
              </a:rPr>
              <a:t>观察到现有的</a:t>
            </a:r>
            <a:r>
              <a:rPr lang="en-US" altLang="zh-CN" sz="2000" b="0" i="0" dirty="0" err="1">
                <a:solidFill>
                  <a:srgbClr val="374151"/>
                </a:solidFill>
                <a:effectLst/>
                <a:latin typeface="_5b8b_4f53"/>
              </a:rPr>
              <a:t>RocksDB</a:t>
            </a:r>
            <a:r>
              <a:rPr lang="zh-CN" altLang="en-US" sz="2000" b="0" i="0" dirty="0">
                <a:solidFill>
                  <a:srgbClr val="374151"/>
                </a:solidFill>
                <a:effectLst/>
                <a:latin typeface="_5b8b_4f53"/>
              </a:rPr>
              <a:t>适配到</a:t>
            </a:r>
            <a:r>
              <a:rPr lang="en-US" altLang="zh-CN" sz="2000" b="0" i="0" dirty="0">
                <a:solidFill>
                  <a:srgbClr val="374151"/>
                </a:solidFill>
                <a:effectLst/>
                <a:latin typeface="_5b8b_4f53"/>
              </a:rPr>
              <a:t>ZNS SSDs</a:t>
            </a:r>
            <a:r>
              <a:rPr lang="zh-CN" altLang="en-US" sz="2000" b="0" i="0" dirty="0">
                <a:solidFill>
                  <a:srgbClr val="374151"/>
                </a:solidFill>
                <a:effectLst/>
                <a:latin typeface="_5b8b_4f53"/>
              </a:rPr>
              <a:t>会出现区域碎片化和空间放大问题。</a:t>
            </a:r>
            <a:endParaRPr lang="zh-CN" altLang="en-US" sz="2000" b="0" i="0" dirty="0">
              <a:solidFill>
                <a:srgbClr val="374151"/>
              </a:solidFill>
              <a:effectLst/>
              <a:latin typeface="_5b8b_4f53"/>
            </a:endParaRPr>
          </a:p>
          <a:p>
            <a:pPr marL="285750" indent="-285750">
              <a:lnSpc>
                <a:spcPct val="130000"/>
              </a:lnSpc>
              <a:buFont typeface="Wingdings" panose="05000000000000000000" charset="0"/>
              <a:buChar char="q"/>
            </a:pPr>
            <a:r>
              <a:rPr lang="en-US" altLang="zh-CN" sz="2000" b="0" i="0" dirty="0">
                <a:solidFill>
                  <a:srgbClr val="374151"/>
                </a:solidFill>
                <a:effectLst/>
                <a:latin typeface="_5b8b_4f53"/>
              </a:rPr>
              <a:t>- </a:t>
            </a:r>
            <a:r>
              <a:rPr lang="zh-CN" altLang="en-US" sz="2000" b="0" i="0" dirty="0">
                <a:solidFill>
                  <a:srgbClr val="374151"/>
                </a:solidFill>
                <a:effectLst/>
                <a:latin typeface="_5b8b_4f53"/>
              </a:rPr>
              <a:t>因此，我们提出了一个基于生命周期的区域存储模型和特定级别的区域分配算法，将生命周期相似的</a:t>
            </a:r>
            <a:r>
              <a:rPr lang="en-US" altLang="zh-CN" sz="2000" b="0" i="0" dirty="0" err="1">
                <a:solidFill>
                  <a:srgbClr val="374151"/>
                </a:solidFill>
                <a:effectLst/>
                <a:latin typeface="_5b8b_4f53"/>
              </a:rPr>
              <a:t>SSTables</a:t>
            </a:r>
            <a:r>
              <a:rPr lang="zh-CN" altLang="en-US" sz="2000" b="0" i="0" dirty="0">
                <a:solidFill>
                  <a:srgbClr val="374151"/>
                </a:solidFill>
                <a:effectLst/>
                <a:latin typeface="_5b8b_4f53"/>
              </a:rPr>
              <a:t>存储在同一区域。</a:t>
            </a:r>
            <a:endParaRPr lang="zh-CN" altLang="en-US" sz="2000" b="0" i="0" dirty="0">
              <a:solidFill>
                <a:srgbClr val="374151"/>
              </a:solidFill>
              <a:effectLst/>
              <a:latin typeface="_5b8b_4f53"/>
            </a:endParaRPr>
          </a:p>
          <a:p>
            <a:pPr marL="285750" indent="-285750">
              <a:lnSpc>
                <a:spcPct val="130000"/>
              </a:lnSpc>
              <a:buFont typeface="Wingdings" panose="05000000000000000000" charset="0"/>
              <a:buChar char="q"/>
            </a:pPr>
            <a:r>
              <a:rPr lang="en-US" altLang="zh-CN" sz="2000" b="0" i="0" dirty="0">
                <a:solidFill>
                  <a:srgbClr val="374151"/>
                </a:solidFill>
                <a:effectLst/>
                <a:latin typeface="_5b8b_4f53"/>
              </a:rPr>
              <a:t>- </a:t>
            </a:r>
            <a:r>
              <a:rPr lang="zh-CN" altLang="en-US" sz="2000" b="0" i="0" dirty="0">
                <a:solidFill>
                  <a:srgbClr val="374151"/>
                </a:solidFill>
                <a:effectLst/>
                <a:latin typeface="_5b8b_4f53"/>
              </a:rPr>
              <a:t>在真实的</a:t>
            </a:r>
            <a:r>
              <a:rPr lang="en-US" altLang="zh-CN" sz="2000" b="0" i="0" dirty="0">
                <a:solidFill>
                  <a:srgbClr val="374151"/>
                </a:solidFill>
                <a:effectLst/>
                <a:latin typeface="_5b8b_4f53"/>
              </a:rPr>
              <a:t>ZNS SSD</a:t>
            </a:r>
            <a:r>
              <a:rPr lang="zh-CN" altLang="en-US" sz="2000" b="0" i="0" dirty="0">
                <a:solidFill>
                  <a:srgbClr val="374151"/>
                </a:solidFill>
                <a:effectLst/>
                <a:latin typeface="_5b8b_4f53"/>
              </a:rPr>
              <a:t>上评估了</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，结果显示</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能够减少高达</a:t>
            </a:r>
            <a:r>
              <a:rPr lang="en-US" altLang="zh-CN" sz="2000" b="0" i="0" dirty="0">
                <a:solidFill>
                  <a:srgbClr val="374151"/>
                </a:solidFill>
                <a:effectLst/>
                <a:latin typeface="_5b8b_4f53"/>
              </a:rPr>
              <a:t>60%</a:t>
            </a:r>
            <a:r>
              <a:rPr lang="zh-CN" altLang="en-US" sz="2000" b="0" i="0" dirty="0">
                <a:solidFill>
                  <a:srgbClr val="374151"/>
                </a:solidFill>
                <a:effectLst/>
                <a:latin typeface="_5b8b_4f53"/>
              </a:rPr>
              <a:t>的空间放大，并保持比</a:t>
            </a:r>
            <a:r>
              <a:rPr lang="en-US" altLang="zh-CN" sz="2000" b="0" i="0" dirty="0" err="1">
                <a:solidFill>
                  <a:srgbClr val="374151"/>
                </a:solidFill>
                <a:effectLst/>
                <a:latin typeface="_5b8b_4f53"/>
              </a:rPr>
              <a:t>RocksDB</a:t>
            </a:r>
            <a:r>
              <a:rPr lang="en-US" altLang="zh-CN" sz="2000" b="0" i="0" dirty="0">
                <a:solidFill>
                  <a:srgbClr val="374151"/>
                </a:solidFill>
                <a:effectLst/>
                <a:latin typeface="_5b8b_4f53"/>
              </a:rPr>
              <a:t> with </a:t>
            </a:r>
            <a:r>
              <a:rPr lang="en-US" altLang="zh-CN" sz="2000" b="0" i="0" dirty="0" err="1">
                <a:solidFill>
                  <a:srgbClr val="374151"/>
                </a:solidFill>
                <a:effectLst/>
                <a:latin typeface="_5b8b_4f53"/>
              </a:rPr>
              <a:t>ZenFS</a:t>
            </a:r>
            <a:r>
              <a:rPr lang="zh-CN" altLang="en-US" sz="2000" b="0" i="0" dirty="0">
                <a:solidFill>
                  <a:srgbClr val="374151"/>
                </a:solidFill>
                <a:effectLst/>
                <a:latin typeface="_5b8b_4f53"/>
              </a:rPr>
              <a:t>更高的吞吐量。</a:t>
            </a:r>
            <a:endParaRPr lang="en-US" altLang="zh-CN" sz="2000" dirty="0">
              <a:solidFill>
                <a:srgbClr val="374151"/>
              </a:solidFill>
              <a:latin typeface="_5b8b_4f53"/>
            </a:endParaRPr>
          </a:p>
        </p:txBody>
      </p:sp>
      <p:sp>
        <p:nvSpPr>
          <p:cNvPr id="2" name="文本框 1"/>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0 Abstract</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p:cNvSpPr txBox="1"/>
          <p:nvPr/>
        </p:nvSpPr>
        <p:spPr>
          <a:xfrm>
            <a:off x="440055" y="1342729"/>
            <a:ext cx="11425112" cy="1529715"/>
          </a:xfrm>
          <a:prstGeom prst="rect">
            <a:avLst/>
          </a:prstGeom>
          <a:noFill/>
        </p:spPr>
        <p:txBody>
          <a:bodyPr wrap="square">
            <a:spAutoFit/>
          </a:bodyPr>
          <a:lstStyle/>
          <a:p>
            <a:pPr>
              <a:lnSpc>
                <a:spcPct val="130000"/>
              </a:lnSpc>
            </a:pPr>
            <a:r>
              <a:rPr lang="en-US" altLang="zh-CN" dirty="0">
                <a:solidFill>
                  <a:srgbClr val="374151"/>
                </a:solidFill>
                <a:latin typeface="_5b8b_4f53"/>
              </a:rPr>
              <a:t>ZNS SSDs</a:t>
            </a:r>
            <a:r>
              <a:rPr lang="zh-CN" altLang="en-US" dirty="0">
                <a:solidFill>
                  <a:srgbClr val="374151"/>
                </a:solidFill>
                <a:latin typeface="_5b8b_4f53"/>
              </a:rPr>
              <a:t>是一种新型</a:t>
            </a:r>
            <a:r>
              <a:rPr lang="en-US" altLang="zh-CN" dirty="0">
                <a:solidFill>
                  <a:srgbClr val="374151"/>
                </a:solidFill>
                <a:latin typeface="_5b8b_4f53"/>
              </a:rPr>
              <a:t>SSD</a:t>
            </a:r>
            <a:r>
              <a:rPr lang="zh-CN" altLang="en-US" dirty="0">
                <a:solidFill>
                  <a:srgbClr val="374151"/>
                </a:solidFill>
                <a:latin typeface="_5b8b_4f53"/>
              </a:rPr>
              <a:t>，采用新的</a:t>
            </a:r>
            <a:r>
              <a:rPr lang="en-US" altLang="zh-CN" dirty="0" err="1">
                <a:solidFill>
                  <a:srgbClr val="374151"/>
                </a:solidFill>
                <a:latin typeface="_5b8b_4f53"/>
              </a:rPr>
              <a:t>NVMe</a:t>
            </a:r>
            <a:r>
              <a:rPr lang="zh-CN" altLang="en-US" dirty="0">
                <a:solidFill>
                  <a:srgbClr val="374151"/>
                </a:solidFill>
                <a:latin typeface="_5b8b_4f53"/>
              </a:rPr>
              <a:t>存储接口。它将逻辑块地址（</a:t>
            </a:r>
            <a:r>
              <a:rPr lang="en-US" altLang="zh-CN" dirty="0">
                <a:solidFill>
                  <a:srgbClr val="374151"/>
                </a:solidFill>
                <a:latin typeface="_5b8b_4f53"/>
              </a:rPr>
              <a:t>LBA</a:t>
            </a:r>
            <a:r>
              <a:rPr lang="zh-CN" altLang="en-US" dirty="0">
                <a:solidFill>
                  <a:srgbClr val="374151"/>
                </a:solidFill>
                <a:latin typeface="_5b8b_4f53"/>
              </a:rPr>
              <a:t>）划分为多个相同大小的区域，每个区域只能顺序写入并在重置后再次使用。这种强制性的顺序写入允许</a:t>
            </a:r>
            <a:r>
              <a:rPr lang="en-US" altLang="zh-CN" dirty="0">
                <a:solidFill>
                  <a:srgbClr val="374151"/>
                </a:solidFill>
                <a:latin typeface="_5b8b_4f53"/>
              </a:rPr>
              <a:t>ZNS SSDs</a:t>
            </a:r>
            <a:r>
              <a:rPr lang="zh-CN" altLang="en-US" dirty="0">
                <a:solidFill>
                  <a:srgbClr val="374151"/>
                </a:solidFill>
                <a:latin typeface="_5b8b_4f53"/>
              </a:rPr>
              <a:t>进行更粗粒度的地址转换。此外</a:t>
            </a:r>
            <a:r>
              <a:rPr lang="en-US" altLang="zh-CN" dirty="0">
                <a:solidFill>
                  <a:srgbClr val="374151"/>
                </a:solidFill>
                <a:latin typeface="_5b8b_4f53"/>
              </a:rPr>
              <a:t>ZNS SSDs</a:t>
            </a:r>
            <a:r>
              <a:rPr lang="zh-CN" altLang="en-US" dirty="0">
                <a:solidFill>
                  <a:srgbClr val="374151"/>
                </a:solidFill>
                <a:latin typeface="_5b8b_4f53"/>
              </a:rPr>
              <a:t>将垃圾回收和数据放置的功能留给主机侧，这使得用户可以设计出有效技术来利用</a:t>
            </a:r>
            <a:r>
              <a:rPr lang="en-US" altLang="zh-CN" dirty="0">
                <a:solidFill>
                  <a:srgbClr val="374151"/>
                </a:solidFill>
                <a:latin typeface="_5b8b_4f53"/>
              </a:rPr>
              <a:t>ZNS SSDs</a:t>
            </a:r>
            <a:r>
              <a:rPr lang="zh-CN" altLang="en-US" dirty="0">
                <a:solidFill>
                  <a:srgbClr val="374151"/>
                </a:solidFill>
                <a:latin typeface="_5b8b_4f53"/>
              </a:rPr>
              <a:t>的优势，例如新的索引和缓冲区管理器。</a:t>
            </a:r>
            <a:endParaRPr lang="en-US" altLang="zh-CN" sz="1600" kern="100" dirty="0">
              <a:solidFill>
                <a:srgbClr val="4747BA"/>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9" name="文本框 8"/>
          <p:cNvSpPr txBox="1"/>
          <p:nvPr/>
        </p:nvSpPr>
        <p:spPr>
          <a:xfrm>
            <a:off x="430529" y="2922386"/>
            <a:ext cx="6942202" cy="369332"/>
          </a:xfrm>
          <a:prstGeom prst="rect">
            <a:avLst/>
          </a:prstGeom>
          <a:noFill/>
        </p:spPr>
        <p:txBody>
          <a:bodyPr wrap="square">
            <a:spAutoFit/>
          </a:bodyPr>
          <a:lstStyle/>
          <a:p>
            <a:r>
              <a:rPr lang="en-US" altLang="zh-CN" b="1" dirty="0">
                <a:solidFill>
                  <a:srgbClr val="4747BA"/>
                </a:solidFill>
                <a:ea typeface="+mn-lt"/>
                <a:cs typeface="Times New Roman" panose="02020603050405020304" pitchFamily="18" charset="0"/>
              </a:rPr>
              <a:t>LSM-tree</a:t>
            </a:r>
            <a:r>
              <a:rPr lang="zh-CN" altLang="en-US" b="1" dirty="0">
                <a:solidFill>
                  <a:srgbClr val="4747BA"/>
                </a:solidFill>
                <a:ea typeface="+mn-lt"/>
                <a:cs typeface="Times New Roman" panose="02020603050405020304" pitchFamily="18" charset="0"/>
              </a:rPr>
              <a:t>： </a:t>
            </a:r>
            <a:endParaRPr lang="zh-CN" altLang="en-US" b="1" dirty="0">
              <a:solidFill>
                <a:srgbClr val="4747BA"/>
              </a:solidFill>
              <a:ea typeface="+mn-lt"/>
              <a:cs typeface="Times New Roman" panose="02020603050405020304" pitchFamily="18" charset="0"/>
            </a:endParaRPr>
          </a:p>
        </p:txBody>
      </p:sp>
      <p:sp>
        <p:nvSpPr>
          <p:cNvPr id="12" name="文本框 11"/>
          <p:cNvSpPr txBox="1"/>
          <p:nvPr/>
        </p:nvSpPr>
        <p:spPr>
          <a:xfrm>
            <a:off x="430529" y="1022703"/>
            <a:ext cx="2806999" cy="400110"/>
          </a:xfrm>
          <a:prstGeom prst="rect">
            <a:avLst/>
          </a:prstGeom>
          <a:noFill/>
        </p:spPr>
        <p:txBody>
          <a:bodyPr wrap="square">
            <a:spAutoFit/>
          </a:bodyPr>
          <a:lstStyle/>
          <a:p>
            <a:r>
              <a:rPr lang="en-US" altLang="zh-CN" sz="2000" b="1" dirty="0">
                <a:solidFill>
                  <a:srgbClr val="4747BA"/>
                </a:solidFill>
                <a:ea typeface="+mn-lt"/>
                <a:cs typeface="Times New Roman" panose="02020603050405020304" pitchFamily="18" charset="0"/>
              </a:rPr>
              <a:t>ZNS</a:t>
            </a:r>
            <a:r>
              <a:rPr lang="zh-CN" altLang="en-US" sz="2000" b="1" dirty="0">
                <a:solidFill>
                  <a:srgbClr val="4747BA"/>
                </a:solidFill>
                <a:ea typeface="+mn-lt"/>
                <a:cs typeface="Times New Roman" panose="02020603050405020304" pitchFamily="18" charset="0"/>
              </a:rPr>
              <a:t> </a:t>
            </a:r>
            <a:r>
              <a:rPr lang="en-US" altLang="zh-CN" sz="2000" b="1" dirty="0">
                <a:solidFill>
                  <a:srgbClr val="4747BA"/>
                </a:solidFill>
                <a:ea typeface="+mn-lt"/>
                <a:cs typeface="Times New Roman" panose="02020603050405020304" pitchFamily="18" charset="0"/>
              </a:rPr>
              <a:t>SSDs</a:t>
            </a:r>
            <a:r>
              <a:rPr lang="zh-CN" altLang="en-US" sz="2000" b="1" dirty="0">
                <a:solidFill>
                  <a:srgbClr val="4747BA"/>
                </a:solidFill>
                <a:ea typeface="+mn-lt"/>
                <a:cs typeface="Times New Roman" panose="02020603050405020304" pitchFamily="18" charset="0"/>
              </a:rPr>
              <a:t>：</a:t>
            </a:r>
            <a:endParaRPr lang="en-US" altLang="zh-CN" sz="2000" b="1" dirty="0">
              <a:solidFill>
                <a:srgbClr val="4747BA"/>
              </a:solidFill>
              <a:ea typeface="+mn-lt"/>
              <a:cs typeface="Times New Roman" panose="02020603050405020304" pitchFamily="18" charset="0"/>
            </a:endParaRPr>
          </a:p>
        </p:txBody>
      </p:sp>
      <p:sp>
        <p:nvSpPr>
          <p:cNvPr id="11" name="文本框 10"/>
          <p:cNvSpPr txBox="1"/>
          <p:nvPr/>
        </p:nvSpPr>
        <p:spPr>
          <a:xfrm>
            <a:off x="440055" y="3291719"/>
            <a:ext cx="11321416" cy="2968625"/>
          </a:xfrm>
          <a:prstGeom prst="rect">
            <a:avLst/>
          </a:prstGeom>
          <a:noFill/>
        </p:spPr>
        <p:txBody>
          <a:bodyPr wrap="square">
            <a:spAutoFit/>
          </a:bodyPr>
          <a:lstStyle/>
          <a:p>
            <a:pPr>
              <a:lnSpc>
                <a:spcPct val="130000"/>
              </a:lnSpc>
            </a:pPr>
            <a:r>
              <a:rPr lang="en-US" altLang="zh-CN" dirty="0">
                <a:solidFill>
                  <a:srgbClr val="374151"/>
                </a:solidFill>
                <a:latin typeface="_5b8b_4f53"/>
              </a:rPr>
              <a:t>ZNS SSDs</a:t>
            </a:r>
            <a:r>
              <a:rPr lang="zh-CN" altLang="en-US" dirty="0">
                <a:solidFill>
                  <a:srgbClr val="374151"/>
                </a:solidFill>
                <a:latin typeface="_5b8b_4f53"/>
              </a:rPr>
              <a:t>与</a:t>
            </a:r>
            <a:r>
              <a:rPr lang="en-US" altLang="zh-CN" dirty="0">
                <a:solidFill>
                  <a:srgbClr val="374151"/>
                </a:solidFill>
                <a:latin typeface="_5b8b_4f53"/>
              </a:rPr>
              <a:t>LSM-tree</a:t>
            </a:r>
            <a:r>
              <a:rPr lang="zh-CN" altLang="en-US" dirty="0">
                <a:solidFill>
                  <a:srgbClr val="374151"/>
                </a:solidFill>
                <a:latin typeface="_5b8b_4f53"/>
              </a:rPr>
              <a:t>（</a:t>
            </a:r>
            <a:r>
              <a:rPr lang="en-US" altLang="zh-CN" dirty="0">
                <a:solidFill>
                  <a:srgbClr val="374151"/>
                </a:solidFill>
                <a:latin typeface="_5b8b_4f53"/>
              </a:rPr>
              <a:t>Log-Structured Merge-tree</a:t>
            </a:r>
            <a:r>
              <a:rPr lang="zh-CN" altLang="en-US" dirty="0">
                <a:solidFill>
                  <a:srgbClr val="374151"/>
                </a:solidFill>
                <a:latin typeface="_5b8b_4f53"/>
              </a:rPr>
              <a:t>）的契合性：</a:t>
            </a:r>
            <a:r>
              <a:rPr lang="en-US" altLang="zh-CN" dirty="0">
                <a:solidFill>
                  <a:srgbClr val="374151"/>
                </a:solidFill>
                <a:latin typeface="_5b8b_4f53"/>
              </a:rPr>
              <a:t>LSM-tree</a:t>
            </a:r>
            <a:r>
              <a:rPr lang="zh-CN" altLang="en-US" dirty="0">
                <a:solidFill>
                  <a:srgbClr val="374151"/>
                </a:solidFill>
                <a:latin typeface="_5b8b_4f53"/>
              </a:rPr>
              <a:t>将随机写入转换为顺序写入，大大提高了写入性能。它已被用于许多键值存储中，例如 </a:t>
            </a:r>
            <a:r>
              <a:rPr lang="en-US" altLang="zh-CN" dirty="0" err="1">
                <a:solidFill>
                  <a:srgbClr val="374151"/>
                </a:solidFill>
                <a:latin typeface="_5b8b_4f53"/>
              </a:rPr>
              <a:t>LevelDB</a:t>
            </a:r>
            <a:r>
              <a:rPr lang="en-US" altLang="zh-CN" dirty="0">
                <a:solidFill>
                  <a:srgbClr val="374151"/>
                </a:solidFill>
                <a:latin typeface="_5b8b_4f53"/>
              </a:rPr>
              <a:t> </a:t>
            </a:r>
            <a:r>
              <a:rPr lang="zh-CN" altLang="en-US" dirty="0">
                <a:solidFill>
                  <a:srgbClr val="374151"/>
                </a:solidFill>
                <a:latin typeface="_5b8b_4f53"/>
              </a:rPr>
              <a:t>和 </a:t>
            </a:r>
            <a:r>
              <a:rPr lang="en-US" altLang="zh-CN" dirty="0" err="1">
                <a:solidFill>
                  <a:srgbClr val="374151"/>
                </a:solidFill>
                <a:latin typeface="_5b8b_4f53"/>
              </a:rPr>
              <a:t>RocksDB</a:t>
            </a:r>
            <a:r>
              <a:rPr lang="zh-CN" altLang="en-US" dirty="0">
                <a:solidFill>
                  <a:srgbClr val="374151"/>
                </a:solidFill>
                <a:latin typeface="_5b8b_4f53"/>
              </a:rPr>
              <a:t>。 </a:t>
            </a:r>
            <a:endParaRPr lang="zh-CN" altLang="en-US" dirty="0">
              <a:solidFill>
                <a:srgbClr val="374151"/>
              </a:solidFill>
              <a:latin typeface="_5b8b_4f53"/>
            </a:endParaRPr>
          </a:p>
          <a:p>
            <a:pPr>
              <a:lnSpc>
                <a:spcPct val="130000"/>
              </a:lnSpc>
            </a:pPr>
            <a:endParaRPr lang="en-US" altLang="zh-CN" dirty="0">
              <a:solidFill>
                <a:srgbClr val="374151"/>
              </a:solidFill>
              <a:latin typeface="_5b8b_4f53"/>
            </a:endParaRPr>
          </a:p>
          <a:p>
            <a:pPr>
              <a:lnSpc>
                <a:spcPct val="130000"/>
              </a:lnSpc>
            </a:pPr>
            <a:r>
              <a:rPr lang="zh-CN" altLang="en-US" dirty="0">
                <a:solidFill>
                  <a:srgbClr val="374151"/>
                </a:solidFill>
                <a:latin typeface="_5b8b_4f53"/>
              </a:rPr>
              <a:t>基于</a:t>
            </a:r>
            <a:r>
              <a:rPr lang="en-US" altLang="zh-CN" dirty="0">
                <a:solidFill>
                  <a:srgbClr val="374151"/>
                </a:solidFill>
                <a:latin typeface="_5b8b_4f53"/>
              </a:rPr>
              <a:t>LSM</a:t>
            </a:r>
            <a:r>
              <a:rPr lang="zh-CN" altLang="en-US" dirty="0">
                <a:solidFill>
                  <a:srgbClr val="374151"/>
                </a:solidFill>
                <a:latin typeface="_5b8b_4f53"/>
              </a:rPr>
              <a:t>树的键值存储包含内存和磁盘两部分。内存组件，由</a:t>
            </a:r>
            <a:r>
              <a:rPr lang="en-US" altLang="zh-CN" dirty="0" err="1">
                <a:solidFill>
                  <a:srgbClr val="374151"/>
                </a:solidFill>
                <a:latin typeface="_5b8b_4f53"/>
              </a:rPr>
              <a:t>MemTable</a:t>
            </a:r>
            <a:r>
              <a:rPr lang="zh-CN" altLang="en-US" dirty="0">
                <a:solidFill>
                  <a:srgbClr val="374151"/>
                </a:solidFill>
                <a:latin typeface="_5b8b_4f53"/>
              </a:rPr>
              <a:t>和</a:t>
            </a:r>
            <a:r>
              <a:rPr lang="en-US" altLang="zh-CN" dirty="0">
                <a:solidFill>
                  <a:srgbClr val="374151"/>
                </a:solidFill>
                <a:latin typeface="_5b8b_4f53"/>
              </a:rPr>
              <a:t>Immutable </a:t>
            </a:r>
            <a:r>
              <a:rPr lang="en-US" altLang="zh-CN" dirty="0" err="1">
                <a:solidFill>
                  <a:srgbClr val="374151"/>
                </a:solidFill>
                <a:latin typeface="_5b8b_4f53"/>
              </a:rPr>
              <a:t>MemTable</a:t>
            </a:r>
            <a:r>
              <a:rPr lang="zh-CN" altLang="en-US" dirty="0">
                <a:solidFill>
                  <a:srgbClr val="374151"/>
                </a:solidFill>
                <a:latin typeface="_5b8b_4f53"/>
              </a:rPr>
              <a:t>组成。 </a:t>
            </a:r>
            <a:r>
              <a:rPr lang="en-US" altLang="zh-CN" dirty="0" err="1">
                <a:solidFill>
                  <a:srgbClr val="374151"/>
                </a:solidFill>
                <a:latin typeface="_5b8b_4f53"/>
              </a:rPr>
              <a:t>MemTable</a:t>
            </a:r>
            <a:r>
              <a:rPr lang="zh-CN" altLang="en-US" dirty="0">
                <a:solidFill>
                  <a:srgbClr val="374151"/>
                </a:solidFill>
                <a:latin typeface="_5b8b_4f53"/>
              </a:rPr>
              <a:t>以仅追加模式存储最新的键值。当达到存储阈值时，</a:t>
            </a:r>
            <a:r>
              <a:rPr lang="en-US" altLang="zh-CN" dirty="0" err="1">
                <a:solidFill>
                  <a:srgbClr val="374151"/>
                </a:solidFill>
                <a:latin typeface="_5b8b_4f53"/>
              </a:rPr>
              <a:t>Memtable</a:t>
            </a:r>
            <a:r>
              <a:rPr lang="en-US" altLang="zh-CN" dirty="0">
                <a:solidFill>
                  <a:srgbClr val="374151"/>
                </a:solidFill>
                <a:latin typeface="_5b8b_4f53"/>
              </a:rPr>
              <a:t> </a:t>
            </a:r>
            <a:r>
              <a:rPr lang="zh-CN" altLang="en-US" dirty="0">
                <a:solidFill>
                  <a:srgbClr val="374151"/>
                </a:solidFill>
                <a:latin typeface="_5b8b_4f53"/>
              </a:rPr>
              <a:t>将转换为只读的 </a:t>
            </a:r>
            <a:r>
              <a:rPr lang="en-US" altLang="zh-CN" dirty="0">
                <a:solidFill>
                  <a:srgbClr val="374151"/>
                </a:solidFill>
                <a:latin typeface="_5b8b_4f53"/>
              </a:rPr>
              <a:t>Immutable </a:t>
            </a:r>
            <a:r>
              <a:rPr lang="en-US" altLang="zh-CN" dirty="0" err="1">
                <a:solidFill>
                  <a:srgbClr val="374151"/>
                </a:solidFill>
                <a:latin typeface="_5b8b_4f53"/>
              </a:rPr>
              <a:t>MemTable</a:t>
            </a:r>
            <a:r>
              <a:rPr lang="zh-CN" altLang="en-US" dirty="0">
                <a:solidFill>
                  <a:srgbClr val="374151"/>
                </a:solidFill>
                <a:latin typeface="_5b8b_4f53"/>
              </a:rPr>
              <a:t>；磁盘或</a:t>
            </a:r>
            <a:r>
              <a:rPr lang="en-US" altLang="zh-CN" dirty="0">
                <a:solidFill>
                  <a:srgbClr val="374151"/>
                </a:solidFill>
                <a:latin typeface="_5b8b_4f53"/>
              </a:rPr>
              <a:t>SSD</a:t>
            </a:r>
            <a:r>
              <a:rPr lang="zh-CN" altLang="en-US" dirty="0">
                <a:solidFill>
                  <a:srgbClr val="374151"/>
                </a:solidFill>
                <a:latin typeface="_5b8b_4f53"/>
              </a:rPr>
              <a:t>部分由多个级别组成，每个级别由多个排序字符串表（</a:t>
            </a:r>
            <a:r>
              <a:rPr lang="en-US" altLang="zh-CN" dirty="0" err="1">
                <a:solidFill>
                  <a:srgbClr val="374151"/>
                </a:solidFill>
                <a:latin typeface="_5b8b_4f53"/>
              </a:rPr>
              <a:t>SSTables</a:t>
            </a:r>
            <a:r>
              <a:rPr lang="zh-CN" altLang="en-US" dirty="0">
                <a:solidFill>
                  <a:srgbClr val="374151"/>
                </a:solidFill>
                <a:latin typeface="_5b8b_4f53"/>
              </a:rPr>
              <a:t>）组成。每个级别都有大小限制，并且大小限制呈指数增长。当级别超过其大小限制时，将触发压缩操作，通过将 </a:t>
            </a:r>
            <a:r>
              <a:rPr lang="en-US" altLang="zh-CN" dirty="0">
                <a:solidFill>
                  <a:srgbClr val="374151"/>
                </a:solidFill>
                <a:latin typeface="_5b8b_4f53"/>
              </a:rPr>
              <a:t>L </a:t>
            </a:r>
            <a:r>
              <a:rPr lang="en-US" altLang="zh-CN" dirty="0" err="1">
                <a:solidFill>
                  <a:srgbClr val="374151"/>
                </a:solidFill>
                <a:latin typeface="_5b8b_4f53"/>
              </a:rPr>
              <a:t>i</a:t>
            </a:r>
            <a:r>
              <a:rPr lang="en-US" altLang="zh-CN" dirty="0">
                <a:solidFill>
                  <a:srgbClr val="374151"/>
                </a:solidFill>
                <a:latin typeface="_5b8b_4f53"/>
              </a:rPr>
              <a:t> </a:t>
            </a:r>
            <a:r>
              <a:rPr lang="zh-CN" altLang="en-US" dirty="0">
                <a:solidFill>
                  <a:srgbClr val="374151"/>
                </a:solidFill>
                <a:latin typeface="_5b8b_4f53"/>
              </a:rPr>
              <a:t>中的 </a:t>
            </a:r>
            <a:r>
              <a:rPr lang="en-US" altLang="zh-CN" dirty="0" err="1">
                <a:solidFill>
                  <a:srgbClr val="374151"/>
                </a:solidFill>
                <a:latin typeface="_5b8b_4f53"/>
              </a:rPr>
              <a:t>SSTable</a:t>
            </a:r>
            <a:r>
              <a:rPr lang="en-US" altLang="zh-CN" dirty="0">
                <a:solidFill>
                  <a:srgbClr val="374151"/>
                </a:solidFill>
                <a:latin typeface="_5b8b_4f53"/>
              </a:rPr>
              <a:t> </a:t>
            </a:r>
            <a:r>
              <a:rPr lang="zh-CN" altLang="en-US" dirty="0">
                <a:solidFill>
                  <a:srgbClr val="374151"/>
                </a:solidFill>
                <a:latin typeface="_5b8b_4f53"/>
              </a:rPr>
              <a:t>合并到 </a:t>
            </a:r>
            <a:r>
              <a:rPr lang="en-US" altLang="zh-CN" dirty="0">
                <a:solidFill>
                  <a:srgbClr val="374151"/>
                </a:solidFill>
                <a:latin typeface="_5b8b_4f53"/>
              </a:rPr>
              <a:t>Li +1 </a:t>
            </a:r>
            <a:r>
              <a:rPr lang="zh-CN" altLang="en-US" dirty="0">
                <a:solidFill>
                  <a:srgbClr val="374151"/>
                </a:solidFill>
                <a:latin typeface="_5b8b_4f53"/>
              </a:rPr>
              <a:t>来将数据下推。</a:t>
            </a:r>
            <a:endParaRPr lang="en-US" altLang="zh-CN" dirty="0">
              <a:solidFill>
                <a:srgbClr val="374151"/>
              </a:solidFill>
              <a:latin typeface="_5b8b_4f53"/>
            </a:endParaRPr>
          </a:p>
        </p:txBody>
      </p:sp>
      <p:sp>
        <p:nvSpPr>
          <p:cNvPr id="21" name="文本框 20"/>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1 Introduction</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12" name="文本框 11"/>
          <p:cNvSpPr txBox="1"/>
          <p:nvPr/>
        </p:nvSpPr>
        <p:spPr>
          <a:xfrm>
            <a:off x="430529" y="1022703"/>
            <a:ext cx="2806999" cy="400110"/>
          </a:xfrm>
          <a:prstGeom prst="rect">
            <a:avLst/>
          </a:prstGeom>
          <a:noFill/>
        </p:spPr>
        <p:txBody>
          <a:bodyPr wrap="square">
            <a:spAutoFit/>
          </a:bodyPr>
          <a:lstStyle/>
          <a:p>
            <a:r>
              <a:rPr lang="en-US" altLang="zh-CN" sz="2000" b="1" dirty="0" err="1">
                <a:solidFill>
                  <a:srgbClr val="4747BA"/>
                </a:solidFill>
                <a:ea typeface="+mn-lt"/>
                <a:cs typeface="Times New Roman" panose="02020603050405020304" pitchFamily="18" charset="0"/>
              </a:rPr>
              <a:t>ZenFS</a:t>
            </a:r>
            <a:r>
              <a:rPr lang="zh-CN" altLang="en-US" sz="2000" b="1" dirty="0">
                <a:solidFill>
                  <a:srgbClr val="4747BA"/>
                </a:solidFill>
                <a:ea typeface="+mn-lt"/>
                <a:cs typeface="Times New Roman" panose="02020603050405020304" pitchFamily="18" charset="0"/>
              </a:rPr>
              <a:t>：</a:t>
            </a:r>
            <a:endParaRPr lang="en-US" altLang="zh-CN" sz="2000" b="1" dirty="0">
              <a:solidFill>
                <a:srgbClr val="4747BA"/>
              </a:solidFill>
              <a:ea typeface="+mn-lt"/>
              <a:cs typeface="Times New Roman" panose="02020603050405020304" pitchFamily="18" charset="0"/>
            </a:endParaRPr>
          </a:p>
        </p:txBody>
      </p:sp>
      <p:sp>
        <p:nvSpPr>
          <p:cNvPr id="21" name="文本框 20"/>
          <p:cNvSpPr txBox="1"/>
          <p:nvPr/>
        </p:nvSpPr>
        <p:spPr>
          <a:xfrm>
            <a:off x="430529" y="310125"/>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1 Introduction</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3" name="文本框 2"/>
          <p:cNvSpPr txBox="1"/>
          <p:nvPr/>
        </p:nvSpPr>
        <p:spPr>
          <a:xfrm>
            <a:off x="385590" y="1565703"/>
            <a:ext cx="11330942" cy="2461315"/>
          </a:xfrm>
          <a:prstGeom prst="rect">
            <a:avLst/>
          </a:prstGeom>
          <a:noFill/>
        </p:spPr>
        <p:txBody>
          <a:bodyPr wrap="square">
            <a:spAutoFit/>
          </a:bodyPr>
          <a:lstStyle/>
          <a:p>
            <a:pPr>
              <a:lnSpc>
                <a:spcPct val="130000"/>
              </a:lnSpc>
            </a:pPr>
            <a:r>
              <a:rPr lang="en-US" altLang="zh-CN" sz="2000" dirty="0" err="1">
                <a:solidFill>
                  <a:srgbClr val="374151"/>
                </a:solidFill>
                <a:latin typeface="_5b8b_4f53"/>
              </a:rPr>
              <a:t>ZenFS</a:t>
            </a:r>
            <a:r>
              <a:rPr lang="en-US" altLang="zh-CN" sz="2000" dirty="0">
                <a:solidFill>
                  <a:srgbClr val="374151"/>
                </a:solidFill>
                <a:latin typeface="_5b8b_4f53"/>
              </a:rPr>
              <a:t> </a:t>
            </a:r>
            <a:r>
              <a:rPr lang="zh-CN" altLang="zh-CN" sz="2000" dirty="0">
                <a:solidFill>
                  <a:srgbClr val="374151"/>
                </a:solidFill>
                <a:latin typeface="_5b8b_4f53"/>
              </a:rPr>
              <a:t>被提出用来使</a:t>
            </a:r>
            <a:r>
              <a:rPr lang="en-US" altLang="zh-CN" sz="2000" dirty="0" err="1">
                <a:solidFill>
                  <a:srgbClr val="374151"/>
                </a:solidFill>
                <a:latin typeface="_5b8b_4f53"/>
              </a:rPr>
              <a:t>RocksDB</a:t>
            </a:r>
            <a:r>
              <a:rPr lang="zh-CN" altLang="zh-CN" sz="2000" dirty="0">
                <a:solidFill>
                  <a:srgbClr val="374151"/>
                </a:solidFill>
                <a:latin typeface="_5b8b_4f53"/>
              </a:rPr>
              <a:t>适应</a:t>
            </a:r>
            <a:r>
              <a:rPr lang="en-US" altLang="zh-CN" sz="2000" dirty="0">
                <a:solidFill>
                  <a:srgbClr val="374151"/>
                </a:solidFill>
                <a:latin typeface="_5b8b_4f53"/>
              </a:rPr>
              <a:t>ZNS SSD</a:t>
            </a:r>
            <a:r>
              <a:rPr lang="zh-CN" altLang="zh-CN" sz="2000" dirty="0">
                <a:solidFill>
                  <a:srgbClr val="374151"/>
                </a:solidFill>
                <a:latin typeface="_5b8b_4f53"/>
              </a:rPr>
              <a:t>。到目前为止，</a:t>
            </a:r>
            <a:r>
              <a:rPr lang="en-US" altLang="zh-CN" sz="2000" dirty="0" err="1">
                <a:solidFill>
                  <a:srgbClr val="374151"/>
                </a:solidFill>
                <a:latin typeface="_5b8b_4f53"/>
              </a:rPr>
              <a:t>ZenFS</a:t>
            </a:r>
            <a:r>
              <a:rPr lang="en-US" altLang="zh-CN" sz="2000" dirty="0">
                <a:solidFill>
                  <a:srgbClr val="374151"/>
                </a:solidFill>
                <a:latin typeface="_5b8b_4f53"/>
              </a:rPr>
              <a:t> </a:t>
            </a:r>
            <a:r>
              <a:rPr lang="zh-CN" altLang="zh-CN" sz="2000" dirty="0">
                <a:solidFill>
                  <a:srgbClr val="374151"/>
                </a:solidFill>
                <a:latin typeface="_5b8b_4f53"/>
              </a:rPr>
              <a:t>是唯一支持</a:t>
            </a:r>
            <a:r>
              <a:rPr lang="en-US" altLang="zh-CN" sz="2000" dirty="0">
                <a:solidFill>
                  <a:srgbClr val="374151"/>
                </a:solidFill>
                <a:latin typeface="_5b8b_4f53"/>
              </a:rPr>
              <a:t> ZNS SSD </a:t>
            </a:r>
            <a:r>
              <a:rPr lang="zh-CN" altLang="zh-CN" sz="2000" dirty="0">
                <a:solidFill>
                  <a:srgbClr val="374151"/>
                </a:solidFill>
                <a:latin typeface="_5b8b_4f53"/>
              </a:rPr>
              <a:t>的基于</a:t>
            </a:r>
            <a:r>
              <a:rPr lang="en-US" altLang="zh-CN" sz="2000" dirty="0">
                <a:solidFill>
                  <a:srgbClr val="374151"/>
                </a:solidFill>
                <a:latin typeface="_5b8b_4f53"/>
              </a:rPr>
              <a:t> LSM </a:t>
            </a:r>
            <a:r>
              <a:rPr lang="zh-CN" altLang="zh-CN" sz="2000" dirty="0">
                <a:solidFill>
                  <a:srgbClr val="374151"/>
                </a:solidFill>
                <a:latin typeface="_5b8b_4f53"/>
              </a:rPr>
              <a:t>树的键值存储。</a:t>
            </a:r>
            <a:endParaRPr lang="en-US" altLang="zh-CN" sz="2000" dirty="0">
              <a:solidFill>
                <a:srgbClr val="374151"/>
              </a:solidFill>
              <a:latin typeface="_5b8b_4f53"/>
            </a:endParaRPr>
          </a:p>
          <a:p>
            <a:pPr>
              <a:lnSpc>
                <a:spcPct val="130000"/>
              </a:lnSpc>
            </a:pPr>
            <a:endParaRPr lang="en-US" altLang="zh-CN" sz="2000" dirty="0">
              <a:solidFill>
                <a:srgbClr val="374151"/>
              </a:solidFill>
              <a:latin typeface="_5b8b_4f53"/>
            </a:endParaRPr>
          </a:p>
          <a:p>
            <a:pPr>
              <a:lnSpc>
                <a:spcPct val="130000"/>
              </a:lnSpc>
            </a:pPr>
            <a:r>
              <a:rPr lang="en-US" altLang="zh-CN" sz="2000" b="1" dirty="0" err="1">
                <a:solidFill>
                  <a:srgbClr val="374151"/>
                </a:solidFill>
                <a:latin typeface="_5b8b_4f53"/>
              </a:rPr>
              <a:t>ZenFS</a:t>
            </a:r>
            <a:r>
              <a:rPr lang="zh-CN" altLang="en-US" sz="2000" b="1" dirty="0">
                <a:solidFill>
                  <a:srgbClr val="374151"/>
                </a:solidFill>
                <a:latin typeface="_5b8b_4f53"/>
              </a:rPr>
              <a:t>适应</a:t>
            </a:r>
            <a:r>
              <a:rPr lang="en-US" altLang="zh-CN" sz="2000" b="1" dirty="0">
                <a:solidFill>
                  <a:srgbClr val="374151"/>
                </a:solidFill>
                <a:latin typeface="_5b8b_4f53"/>
              </a:rPr>
              <a:t>ZNS</a:t>
            </a:r>
            <a:r>
              <a:rPr lang="zh-CN" altLang="en-US" sz="2000" b="1" dirty="0">
                <a:solidFill>
                  <a:srgbClr val="374151"/>
                </a:solidFill>
                <a:latin typeface="_5b8b_4f53"/>
              </a:rPr>
              <a:t>： </a:t>
            </a:r>
            <a:r>
              <a:rPr lang="en-US" altLang="zh-CN" sz="2000" dirty="0" err="1">
                <a:solidFill>
                  <a:srgbClr val="374151"/>
                </a:solidFill>
                <a:latin typeface="_5b8b_4f53"/>
              </a:rPr>
              <a:t>ZenFS</a:t>
            </a:r>
            <a:r>
              <a:rPr lang="zh-CN" altLang="en-US" sz="2000" dirty="0">
                <a:solidFill>
                  <a:srgbClr val="374151"/>
                </a:solidFill>
                <a:latin typeface="_5b8b_4f53"/>
              </a:rPr>
              <a:t>是西数开发的存储后端模块。它可以为新生成的 </a:t>
            </a:r>
            <a:r>
              <a:rPr lang="en-US" altLang="zh-CN" sz="2000" dirty="0" err="1">
                <a:solidFill>
                  <a:srgbClr val="374151"/>
                </a:solidFill>
                <a:latin typeface="_5b8b_4f53"/>
              </a:rPr>
              <a:t>SSTable</a:t>
            </a:r>
            <a:r>
              <a:rPr lang="en-US" altLang="zh-CN" sz="2000" dirty="0">
                <a:solidFill>
                  <a:srgbClr val="374151"/>
                </a:solidFill>
                <a:latin typeface="_5b8b_4f53"/>
              </a:rPr>
              <a:t> </a:t>
            </a:r>
            <a:r>
              <a:rPr lang="zh-CN" altLang="en-US" sz="2000" dirty="0">
                <a:solidFill>
                  <a:srgbClr val="374151"/>
                </a:solidFill>
                <a:latin typeface="_5b8b_4f53"/>
              </a:rPr>
              <a:t>分配区域，并从包含无效数据的区域回收可用空间。 </a:t>
            </a:r>
            <a:r>
              <a:rPr lang="en-US" altLang="zh-CN" sz="2000" dirty="0" err="1">
                <a:solidFill>
                  <a:srgbClr val="374151"/>
                </a:solidFill>
                <a:latin typeface="_5b8b_4f53"/>
              </a:rPr>
              <a:t>ZenFS</a:t>
            </a:r>
            <a:r>
              <a:rPr lang="en-US" altLang="zh-CN" sz="2000" dirty="0">
                <a:solidFill>
                  <a:srgbClr val="374151"/>
                </a:solidFill>
                <a:latin typeface="_5b8b_4f53"/>
              </a:rPr>
              <a:t> </a:t>
            </a:r>
            <a:r>
              <a:rPr lang="zh-CN" altLang="en-US" sz="2000" dirty="0">
                <a:solidFill>
                  <a:srgbClr val="374151"/>
                </a:solidFill>
                <a:latin typeface="_5b8b_4f53"/>
              </a:rPr>
              <a:t>采用经验方法（？）将 </a:t>
            </a:r>
            <a:r>
              <a:rPr lang="en-US" altLang="zh-CN" sz="2000" dirty="0" err="1">
                <a:solidFill>
                  <a:srgbClr val="374151"/>
                </a:solidFill>
                <a:latin typeface="_5b8b_4f53"/>
              </a:rPr>
              <a:t>SSTable</a:t>
            </a:r>
            <a:r>
              <a:rPr lang="en-US" altLang="zh-CN" sz="2000" dirty="0">
                <a:solidFill>
                  <a:srgbClr val="374151"/>
                </a:solidFill>
                <a:latin typeface="_5b8b_4f53"/>
              </a:rPr>
              <a:t> </a:t>
            </a:r>
            <a:r>
              <a:rPr lang="zh-CN" altLang="en-US" sz="2000" dirty="0">
                <a:solidFill>
                  <a:srgbClr val="374151"/>
                </a:solidFill>
                <a:latin typeface="_5b8b_4f53"/>
              </a:rPr>
              <a:t>放入区域中，由于区域中的 </a:t>
            </a:r>
            <a:r>
              <a:rPr lang="en-US" altLang="zh-CN" sz="2000" dirty="0" err="1">
                <a:solidFill>
                  <a:srgbClr val="374151"/>
                </a:solidFill>
                <a:latin typeface="_5b8b_4f53"/>
              </a:rPr>
              <a:t>SSTable</a:t>
            </a:r>
            <a:r>
              <a:rPr lang="en-US" altLang="zh-CN" sz="2000" dirty="0">
                <a:solidFill>
                  <a:srgbClr val="374151"/>
                </a:solidFill>
                <a:latin typeface="_5b8b_4f53"/>
              </a:rPr>
              <a:t> </a:t>
            </a:r>
            <a:r>
              <a:rPr lang="zh-CN" altLang="en-US" sz="2000" dirty="0">
                <a:solidFill>
                  <a:srgbClr val="374151"/>
                </a:solidFill>
                <a:latin typeface="_5b8b_4f53"/>
              </a:rPr>
              <a:t>可能具有不同的生命周期，因此区域内会产生许多无效数据。</a:t>
            </a:r>
            <a:endParaRPr lang="zh-CN" altLang="en-US" sz="2000" dirty="0">
              <a:solidFill>
                <a:srgbClr val="374151"/>
              </a:solidFill>
              <a:latin typeface="_5b8b_4f53"/>
            </a:endParaRPr>
          </a:p>
        </p:txBody>
      </p:sp>
      <p:sp>
        <p:nvSpPr>
          <p:cNvPr id="7" name="文本框 6"/>
          <p:cNvSpPr txBox="1"/>
          <p:nvPr/>
        </p:nvSpPr>
        <p:spPr>
          <a:xfrm>
            <a:off x="385590" y="4576400"/>
            <a:ext cx="2806999" cy="400110"/>
          </a:xfrm>
          <a:prstGeom prst="rect">
            <a:avLst/>
          </a:prstGeom>
          <a:noFill/>
        </p:spPr>
        <p:txBody>
          <a:bodyPr wrap="square">
            <a:spAutoFit/>
          </a:bodyPr>
          <a:lstStyle/>
          <a:p>
            <a:r>
              <a:rPr lang="en-US" altLang="zh-CN" sz="2000" b="1" dirty="0" err="1">
                <a:solidFill>
                  <a:srgbClr val="4747BA"/>
                </a:solidFill>
                <a:ea typeface="+mn-lt"/>
                <a:cs typeface="Times New Roman" panose="02020603050405020304" pitchFamily="18" charset="0"/>
              </a:rPr>
              <a:t>ZoneKV</a:t>
            </a:r>
            <a:r>
              <a:rPr lang="zh-CN" altLang="en-US" sz="2000" b="1" dirty="0">
                <a:solidFill>
                  <a:srgbClr val="4747BA"/>
                </a:solidFill>
                <a:ea typeface="+mn-lt"/>
                <a:cs typeface="Times New Roman" panose="02020603050405020304" pitchFamily="18" charset="0"/>
              </a:rPr>
              <a:t>：</a:t>
            </a:r>
            <a:endParaRPr lang="en-US" altLang="zh-CN" sz="2000" b="1" dirty="0">
              <a:solidFill>
                <a:srgbClr val="4747BA"/>
              </a:solidFill>
              <a:ea typeface="+mn-lt"/>
              <a:cs typeface="Times New Roman" panose="02020603050405020304" pitchFamily="18" charset="0"/>
            </a:endParaRPr>
          </a:p>
        </p:txBody>
      </p:sp>
      <p:sp>
        <p:nvSpPr>
          <p:cNvPr id="15" name="文本框 14"/>
          <p:cNvSpPr txBox="1"/>
          <p:nvPr/>
        </p:nvSpPr>
        <p:spPr>
          <a:xfrm>
            <a:off x="385590" y="5001312"/>
            <a:ext cx="11330941"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dirty="0">
                <a:ln>
                  <a:noFill/>
                </a:ln>
                <a:solidFill>
                  <a:srgbClr val="34495E"/>
                </a:solidFill>
                <a:effectLst/>
                <a:latin typeface="Ubuntu" panose="020B0504030602030204" pitchFamily="34" charset="0"/>
              </a:rPr>
              <a:t>ZoneKV采用基于生命周期的区域存储模型和特定级别的区域分配算法，使每个区域中的SSTable具有相似的生命周期</a:t>
            </a:r>
            <a:r>
              <a:rPr lang="zh-CN" altLang="en-US" dirty="0">
                <a:solidFill>
                  <a:srgbClr val="34495E"/>
                </a:solidFill>
                <a:latin typeface="Ubuntu" panose="020B0504030602030204" pitchFamily="34" charset="0"/>
              </a:rPr>
              <a:t>。本文</a:t>
            </a:r>
            <a:r>
              <a:rPr kumimoji="0" lang="zh-CN" altLang="en-US" sz="1800" b="0" i="0" u="none" strike="noStrike" cap="none" normalizeH="0" baseline="0" dirty="0">
                <a:ln>
                  <a:noFill/>
                </a:ln>
                <a:solidFill>
                  <a:srgbClr val="34495E"/>
                </a:solidFill>
                <a:effectLst/>
                <a:latin typeface="Ubuntu" panose="020B0504030602030204" pitchFamily="34" charset="0"/>
              </a:rPr>
              <a:t>贡献：</a:t>
            </a:r>
            <a:r>
              <a:rPr kumimoji="0" lang="zh-CN" altLang="zh-CN" sz="800" b="0" i="0" u="none" strike="noStrike" cap="none" normalizeH="0" baseline="0" dirty="0">
                <a:ln>
                  <a:noFill/>
                </a:ln>
                <a:solidFill>
                  <a:schemeClr val="tx1"/>
                </a:solidFill>
                <a:effectLst/>
              </a:rPr>
              <a:t> </a:t>
            </a:r>
            <a:endParaRPr kumimoji="0" lang="zh-CN" altLang="zh-CN" sz="2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1 Introduction</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2" name="文本框 1"/>
          <p:cNvSpPr txBox="1"/>
          <p:nvPr/>
        </p:nvSpPr>
        <p:spPr>
          <a:xfrm>
            <a:off x="385590" y="1216997"/>
            <a:ext cx="10727252" cy="4399915"/>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800" b="0" i="0" u="none" strike="noStrike" cap="none" normalizeH="0" baseline="0" dirty="0">
                <a:ln>
                  <a:noFill/>
                </a:ln>
                <a:solidFill>
                  <a:srgbClr val="34495E"/>
                </a:solidFill>
                <a:effectLst/>
                <a:latin typeface="Ubuntu" panose="020B0504030602030204" pitchFamily="34" charset="0"/>
              </a:rPr>
              <a:t>本文贡献：</a:t>
            </a:r>
            <a:r>
              <a:rPr kumimoji="0" lang="en-US" altLang="zh-CN" sz="1800" b="0" i="0" u="none" strike="noStrike" cap="none" normalizeH="0" baseline="0" dirty="0">
                <a:ln>
                  <a:noFill/>
                </a:ln>
                <a:solidFill>
                  <a:srgbClr val="34495E"/>
                </a:solidFill>
                <a:effectLst/>
                <a:latin typeface="Ubuntu" panose="020B0504030602030204" pitchFamily="34" charset="0"/>
              </a:rPr>
              <a:t> </a:t>
            </a:r>
            <a:endParaRPr kumimoji="0" lang="en-US"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a:pPr>
            <a:r>
              <a:rPr kumimoji="0" lang="zh-CN" altLang="zh-CN" sz="1800" b="0" i="0" u="none" strike="noStrike" cap="none" normalizeH="0" baseline="0" dirty="0">
                <a:ln>
                  <a:noFill/>
                </a:ln>
                <a:solidFill>
                  <a:srgbClr val="34495E"/>
                </a:solidFill>
                <a:effectLst/>
                <a:latin typeface="Ubuntu" panose="020B0504030602030204" pitchFamily="34" charset="0"/>
              </a:rPr>
              <a:t>为了解决ZNS SSD上LSM-tree的空间放大问题，ZoneKV提出了一种基于生命周期的区域存储模型，在一个区域中维护具有相似生命周期的SSTable，以减少空间放大并提高空间效率。</a:t>
            </a:r>
            <a:endParaRPr kumimoji="0" lang="en-US"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a:pP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a:pP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2"/>
            </a:pPr>
            <a:r>
              <a:rPr kumimoji="0" lang="en-US" altLang="zh-CN" sz="1800" b="0" i="0" u="none" strike="noStrike" cap="none" normalizeH="0" baseline="0" dirty="0">
                <a:ln>
                  <a:noFill/>
                </a:ln>
                <a:solidFill>
                  <a:srgbClr val="34495E"/>
                </a:solidFill>
                <a:effectLst/>
                <a:latin typeface="Ubuntu" panose="020B0504030602030204" pitchFamily="34" charset="0"/>
              </a:rPr>
              <a:t> </a:t>
            </a:r>
            <a:r>
              <a:rPr kumimoji="0" lang="zh-CN" altLang="zh-CN" sz="1800" b="0" i="0" u="none" strike="noStrike" cap="none" normalizeH="0" baseline="0" dirty="0">
                <a:ln>
                  <a:noFill/>
                </a:ln>
                <a:solidFill>
                  <a:srgbClr val="34495E"/>
                </a:solidFill>
                <a:effectLst/>
                <a:latin typeface="Ubuntu" panose="020B0504030602030204" pitchFamily="34" charset="0"/>
              </a:rPr>
              <a:t>ZoneKV提出了一种特定于级别的区域分配算法来组织ZNS SSD中LSM树的级别。特别是，ZoneKV 将 L 0 和 L 1 放在一个区域中，因为这两个级别中的 SSTable 具有相似的生命周期。另外，ZoneKV将L i ( i ≥ 2)中的所有SSTable水平划分为切片，不同的切片存储在不同的zone中，使得每个zone的SSTable具有相同的生命周期。</a:t>
            </a:r>
            <a:endParaRPr kumimoji="0" lang="en-US"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2"/>
            </a:pP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2"/>
            </a:pP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3"/>
            </a:pPr>
            <a:r>
              <a:rPr kumimoji="0" lang="en-US" altLang="zh-CN" sz="1800" b="0" i="0" u="none" strike="noStrike" cap="none" normalizeH="0" baseline="0" dirty="0">
                <a:ln>
                  <a:noFill/>
                </a:ln>
                <a:solidFill>
                  <a:srgbClr val="34495E"/>
                </a:solidFill>
                <a:effectLst/>
                <a:latin typeface="Ubuntu" panose="020B0504030602030204" pitchFamily="34" charset="0"/>
              </a:rPr>
              <a:t> </a:t>
            </a:r>
            <a:r>
              <a:rPr kumimoji="0" lang="zh-CN" altLang="zh-CN" sz="1800" b="0" i="0" u="none" strike="noStrike" cap="none" normalizeH="0" baseline="0" dirty="0">
                <a:ln>
                  <a:noFill/>
                </a:ln>
                <a:solidFill>
                  <a:srgbClr val="34495E"/>
                </a:solidFill>
                <a:effectLst/>
                <a:latin typeface="Ubuntu" panose="020B0504030602030204" pitchFamily="34" charset="0"/>
              </a:rPr>
              <a:t>我们将 ZoneKV 与 RocksDB 以及真实 ZNS SSD 上最先进的系统 ZenFS 进行比较。与RocksDB相比，ZoneKV可以减轻约50%-60%的空间放大，与ZenFS相比，这一改进约为40%-50%。此外，ZoneKV 实现了最高的吞吐量。</a:t>
            </a: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2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2 </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相关工作</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2" name="文本框 1"/>
          <p:cNvSpPr txBox="1"/>
          <p:nvPr/>
        </p:nvSpPr>
        <p:spPr>
          <a:xfrm>
            <a:off x="385590" y="1216997"/>
            <a:ext cx="10727252" cy="4276725"/>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dirty="0">
                <a:ln>
                  <a:noFill/>
                </a:ln>
                <a:solidFill>
                  <a:srgbClr val="34495E"/>
                </a:solidFill>
                <a:effectLst/>
                <a:latin typeface="Ubuntu" panose="020B0504030602030204" pitchFamily="34" charset="0"/>
              </a:rPr>
              <a:t>讨论了传统SSDs的局限性，ZNS SSDs可以看作一种改进的开放通道SSDs。</a:t>
            </a: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a:pPr>
            <a:r>
              <a:rPr kumimoji="0" lang="en-US" altLang="zh-CN" sz="1800" b="0" i="0" u="none" strike="noStrike" cap="none" normalizeH="0" baseline="0" dirty="0">
                <a:ln>
                  <a:noFill/>
                </a:ln>
                <a:solidFill>
                  <a:srgbClr val="34495E"/>
                </a:solidFill>
                <a:effectLst/>
                <a:latin typeface="Ubuntu" panose="020B0504030602030204" pitchFamily="34" charset="0"/>
              </a:rPr>
              <a:t> </a:t>
            </a:r>
            <a:r>
              <a:rPr kumimoji="0" lang="zh-CN" altLang="zh-CN" sz="1800" b="0" i="0" u="none" strike="noStrike" cap="none" normalizeH="0" baseline="0" dirty="0">
                <a:ln>
                  <a:noFill/>
                </a:ln>
                <a:solidFill>
                  <a:srgbClr val="34495E"/>
                </a:solidFill>
                <a:effectLst/>
                <a:latin typeface="Ubuntu" panose="020B0504030602030204" pitchFamily="34" charset="0"/>
              </a:rPr>
              <a:t>为了解决ZNS SSD上LSM-tree的空间放大问题，ZoneKV提出了一种基于生命周期的区域存储模型，在一个区域中维护具有相似生命周期的SSTable，以减少空间放大并提高空间效率。</a:t>
            </a:r>
            <a:endParaRPr kumimoji="0" lang="en-US"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a:pP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2"/>
            </a:pPr>
            <a:r>
              <a:rPr kumimoji="0" lang="en-US" altLang="zh-CN" sz="1800" b="0" i="0" u="none" strike="noStrike" cap="none" normalizeH="0" baseline="0" dirty="0">
                <a:ln>
                  <a:noFill/>
                </a:ln>
                <a:solidFill>
                  <a:srgbClr val="34495E"/>
                </a:solidFill>
                <a:effectLst/>
                <a:latin typeface="Ubuntu" panose="020B0504030602030204" pitchFamily="34" charset="0"/>
              </a:rPr>
              <a:t> </a:t>
            </a:r>
            <a:r>
              <a:rPr kumimoji="0" lang="zh-CN" altLang="zh-CN" sz="1800" b="0" i="0" u="none" strike="noStrike" cap="none" normalizeH="0" baseline="0" dirty="0">
                <a:ln>
                  <a:noFill/>
                </a:ln>
                <a:solidFill>
                  <a:srgbClr val="34495E"/>
                </a:solidFill>
                <a:effectLst/>
                <a:latin typeface="Ubuntu" panose="020B0504030602030204" pitchFamily="34" charset="0"/>
              </a:rPr>
              <a:t>ZoneKV提出了一种特定于级别的区域分配算法来组织ZNS SSD中LSM树的级别。特别是，ZoneKV 将 L 0 和 L 1 放在一个区域中，因为这两个级别中的 SSTable 具有相似的生命周期。另外，ZoneKV将L i ( i ≥ 2)中的所有SSTable水平划分为切片，不同的切片存储在不同的zone中，使得每个zone的SSTable具有相同的生命周期。</a:t>
            </a:r>
            <a:endParaRPr kumimoji="0" lang="en-US"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2"/>
            </a:pP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3"/>
            </a:pPr>
            <a:r>
              <a:rPr kumimoji="0" lang="en-US" altLang="zh-CN" sz="1800" b="0" i="0" u="none" strike="noStrike" cap="none" normalizeH="0" baseline="0" dirty="0">
                <a:ln>
                  <a:noFill/>
                </a:ln>
                <a:solidFill>
                  <a:srgbClr val="34495E"/>
                </a:solidFill>
                <a:effectLst/>
                <a:latin typeface="Ubuntu" panose="020B0504030602030204" pitchFamily="34" charset="0"/>
              </a:rPr>
              <a:t> </a:t>
            </a:r>
            <a:r>
              <a:rPr kumimoji="0" lang="zh-CN" altLang="zh-CN" sz="1800" b="0" i="0" u="none" strike="noStrike" cap="none" normalizeH="0" baseline="0" dirty="0">
                <a:ln>
                  <a:noFill/>
                </a:ln>
                <a:solidFill>
                  <a:srgbClr val="34495E"/>
                </a:solidFill>
                <a:effectLst/>
                <a:latin typeface="Ubuntu" panose="020B0504030602030204" pitchFamily="34" charset="0"/>
              </a:rPr>
              <a:t>我们将 ZoneKV 与 RocksDB 以及真实 ZNS SSD 上最先进的系统 ZenFS 进行比较。与RocksDB相比，ZoneKV可以减轻约50%-60%的空间放大，与ZenFS相比，这一改进约为40%-50%。此外，ZoneKV 实现了最高的吞吐量。</a:t>
            </a: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2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3 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2" name="文本框 1"/>
          <p:cNvSpPr txBox="1"/>
          <p:nvPr/>
        </p:nvSpPr>
        <p:spPr>
          <a:xfrm>
            <a:off x="368445" y="1798657"/>
            <a:ext cx="10727252" cy="1630045"/>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2000" b="0" i="0" u="none" strike="noStrike" cap="none" normalizeH="0" baseline="0" dirty="0">
                <a:ln>
                  <a:noFill/>
                </a:ln>
                <a:solidFill>
                  <a:schemeClr val="tx1"/>
                </a:solidFill>
                <a:effectLst/>
                <a:latin typeface="Arial" panose="020B0604020202020204" pitchFamily="34" charset="0"/>
              </a:rPr>
              <a:t>- 分析了现有方法的局限性，提出了ZoneKV的主要思想。</a:t>
            </a:r>
            <a:endParaRPr kumimoji="0" lang="zh-CN" altLang="zh-CN"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r>
              <a:rPr kumimoji="0" lang="zh-CN" altLang="zh-CN" sz="2000" b="0" i="0" u="none" strike="noStrike" cap="none" normalizeH="0" baseline="0" dirty="0">
                <a:ln>
                  <a:noFill/>
                </a:ln>
                <a:solidFill>
                  <a:schemeClr val="tx1"/>
                </a:solidFill>
                <a:effectLst/>
                <a:latin typeface="Arial" panose="020B0604020202020204" pitchFamily="34" charset="0"/>
              </a:rPr>
              <a:t>- 描述了ZoneKV的架构和关键技术，包括</a:t>
            </a:r>
            <a:r>
              <a:rPr kumimoji="0" lang="en-US" altLang="zh-CN" sz="2000" b="0" i="0" u="none" strike="noStrike" cap="none" normalizeH="0" baseline="0" dirty="0">
                <a:ln>
                  <a:noFill/>
                </a:ln>
                <a:solidFill>
                  <a:schemeClr val="tx1"/>
                </a:solidFill>
                <a:effectLst/>
                <a:latin typeface="Arial" panose="020B0604020202020204" pitchFamily="34" charset="0"/>
              </a:rPr>
              <a:t>: </a:t>
            </a:r>
            <a:r>
              <a:rPr kumimoji="0" lang="zh-CN" altLang="zh-CN" sz="2000" b="0" i="0" u="none" strike="noStrike" cap="none" normalizeH="0" baseline="0" dirty="0">
                <a:ln>
                  <a:noFill/>
                </a:ln>
                <a:solidFill>
                  <a:schemeClr val="tx1"/>
                </a:solidFill>
                <a:effectLst/>
                <a:latin typeface="Arial" panose="020B0604020202020204" pitchFamily="34" charset="0"/>
              </a:rPr>
              <a:t>基于生命周期的区域存储、特定级别的区域分配。</a:t>
            </a:r>
            <a:endParaRPr kumimoji="0" lang="zh-CN" altLang="zh-CN"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20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3 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2" name="文本框 1"/>
          <p:cNvSpPr txBox="1"/>
          <p:nvPr/>
        </p:nvSpPr>
        <p:spPr>
          <a:xfrm>
            <a:off x="492125" y="4519930"/>
            <a:ext cx="5814060" cy="132207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2000" b="0" i="0" u="none" strike="noStrike" cap="none" normalizeH="0" baseline="0" dirty="0">
                <a:ln>
                  <a:noFill/>
                </a:ln>
                <a:solidFill>
                  <a:schemeClr val="tx1"/>
                </a:solidFill>
                <a:effectLst/>
                <a:latin typeface="Arial" panose="020B0604020202020204" pitchFamily="34" charset="0"/>
              </a:rPr>
              <a:t>总之，如图所示：L0、L1一组；</a:t>
            </a:r>
            <a:endParaRPr kumimoji="0" lang="zh-CN" altLang="zh-CN"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zh-CN"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r>
              <a:rPr kumimoji="0" lang="zh-CN" altLang="zh-CN" sz="2000" b="0" i="0" u="none" strike="noStrike" cap="none" normalizeH="0" baseline="0" dirty="0">
                <a:ln>
                  <a:noFill/>
                </a:ln>
                <a:solidFill>
                  <a:schemeClr val="tx1"/>
                </a:solidFill>
                <a:effectLst/>
                <a:latin typeface="Arial" panose="020B0604020202020204" pitchFamily="34" charset="0"/>
              </a:rPr>
              <a:t>L</a:t>
            </a:r>
            <a:r>
              <a:rPr kumimoji="0" lang="en-US" altLang="zh-CN" sz="2000" b="0" i="0" u="none" strike="noStrike" cap="none" normalizeH="0" baseline="0" dirty="0">
                <a:ln>
                  <a:noFill/>
                </a:ln>
                <a:solidFill>
                  <a:schemeClr val="tx1"/>
                </a:solidFill>
                <a:effectLst/>
                <a:latin typeface="Arial" panose="020B0604020202020204" pitchFamily="34" charset="0"/>
              </a:rPr>
              <a:t>i</a:t>
            </a:r>
            <a:r>
              <a:rPr kumimoji="0" lang="zh-CN" altLang="zh-CN" sz="2000" b="0" i="0" u="none" strike="noStrike" cap="none" normalizeH="0" baseline="0" dirty="0">
                <a:ln>
                  <a:noFill/>
                </a:ln>
                <a:solidFill>
                  <a:schemeClr val="tx1"/>
                </a:solidFill>
                <a:effectLst/>
                <a:latin typeface="Arial" panose="020B0604020202020204" pitchFamily="34" charset="0"/>
              </a:rPr>
              <a:t>&gt;=2切片</a:t>
            </a:r>
            <a:r>
              <a:rPr kumimoji="0" lang="en-US" altLang="zh-CN" sz="2000" b="0" i="0" u="none" strike="noStrike" cap="none" normalizeH="0" baseline="0" dirty="0">
                <a:ln>
                  <a:noFill/>
                </a:ln>
                <a:solidFill>
                  <a:schemeClr val="tx1"/>
                </a:solidFill>
                <a:effectLst/>
                <a:latin typeface="Arial" panose="020B0604020202020204" pitchFamily="34" charset="0"/>
              </a:rPr>
              <a:t>(</a:t>
            </a:r>
            <a:r>
              <a:rPr kumimoji="0" lang="zh-CN" altLang="zh-CN" sz="2000" b="0" i="0" u="none" strike="noStrike" cap="none" normalizeH="0" baseline="0" dirty="0">
                <a:ln>
                  <a:noFill/>
                </a:ln>
                <a:solidFill>
                  <a:schemeClr val="tx1"/>
                </a:solidFill>
                <a:effectLst/>
                <a:latin typeface="Arial" panose="020B0604020202020204" pitchFamily="34" charset="0"/>
              </a:rPr>
              <a:t>按</a:t>
            </a:r>
            <a:r>
              <a:rPr kumimoji="0" lang="en-US" altLang="zh-CN" sz="2000" b="0" i="0" u="none" strike="noStrike" cap="none" normalizeH="0" baseline="0" dirty="0">
                <a:ln>
                  <a:noFill/>
                </a:ln>
                <a:solidFill>
                  <a:schemeClr val="tx1"/>
                </a:solidFill>
                <a:effectLst/>
                <a:latin typeface="Arial" panose="020B0604020202020204" pitchFamily="34" charset="0"/>
              </a:rPr>
              <a:t>key</a:t>
            </a:r>
            <a:r>
              <a:rPr kumimoji="0" lang="zh-CN" altLang="en-US" sz="2000" b="0" i="0" u="none" strike="noStrike" cap="none" normalizeH="0" baseline="0" dirty="0">
                <a:ln>
                  <a:noFill/>
                </a:ln>
                <a:solidFill>
                  <a:schemeClr val="tx1"/>
                </a:solidFill>
                <a:effectLst/>
                <a:latin typeface="Arial" panose="020B0604020202020204" pitchFamily="34" charset="0"/>
              </a:rPr>
              <a:t>范围分组</a:t>
            </a:r>
            <a:r>
              <a:rPr kumimoji="0" lang="en-US" altLang="zh-CN" sz="2000" b="0" i="0" u="none" strike="noStrike" cap="none" normalizeH="0" baseline="0" dirty="0">
                <a:ln>
                  <a:noFill/>
                </a:ln>
                <a:solidFill>
                  <a:schemeClr val="tx1"/>
                </a:solidFill>
                <a:effectLst/>
                <a:latin typeface="Arial" panose="020B0604020202020204" pitchFamily="34" charset="0"/>
              </a:rPr>
              <a:t>)</a:t>
            </a:r>
            <a:r>
              <a:rPr kumimoji="0" lang="zh-CN" altLang="zh-CN" sz="2000" b="0" i="0" u="none" strike="noStrike" cap="none" normalizeH="0" baseline="0" dirty="0">
                <a:ln>
                  <a:noFill/>
                </a:ln>
                <a:solidFill>
                  <a:schemeClr val="tx1"/>
                </a:solidFill>
                <a:effectLst/>
                <a:latin typeface="Arial" panose="020B0604020202020204" pitchFamily="34" charset="0"/>
              </a:rPr>
              <a:t>后放入不同</a:t>
            </a:r>
            <a:r>
              <a:rPr kumimoji="0" lang="en-US" altLang="zh-CN" sz="2000" b="0" i="0" u="none" strike="noStrike" cap="none" normalizeH="0" baseline="0" dirty="0">
                <a:ln>
                  <a:noFill/>
                </a:ln>
                <a:solidFill>
                  <a:schemeClr val="tx1"/>
                </a:solidFill>
                <a:effectLst/>
                <a:latin typeface="Arial" panose="020B0604020202020204" pitchFamily="34" charset="0"/>
              </a:rPr>
              <a:t>Zone</a:t>
            </a:r>
            <a:r>
              <a:rPr kumimoji="0" lang="zh-CN" altLang="en-US" sz="2000" b="0" i="0" u="none" strike="noStrike" cap="none" normalizeH="0" baseline="0" dirty="0">
                <a:ln>
                  <a:noFill/>
                </a:ln>
                <a:solidFill>
                  <a:schemeClr val="tx1"/>
                </a:solidFill>
                <a:effectLst/>
                <a:latin typeface="Arial" panose="020B0604020202020204" pitchFamily="34" charset="0"/>
              </a:rPr>
              <a:t>（不同层不能放入同一个</a:t>
            </a:r>
            <a:r>
              <a:rPr kumimoji="0" lang="en-US" altLang="zh-CN" sz="2000" b="0" i="0" u="none" strike="noStrike" cap="none" normalizeH="0" baseline="0" dirty="0">
                <a:ln>
                  <a:noFill/>
                </a:ln>
                <a:solidFill>
                  <a:schemeClr val="tx1"/>
                </a:solidFill>
                <a:effectLst/>
                <a:latin typeface="Arial" panose="020B0604020202020204" pitchFamily="34" charset="0"/>
              </a:rPr>
              <a:t>Zone</a:t>
            </a:r>
            <a:r>
              <a:rPr kumimoji="0" lang="zh-CN" altLang="en-US" sz="2000" b="0" i="0" u="none" strike="noStrike" cap="none" normalizeH="0" baseline="0" dirty="0">
                <a:ln>
                  <a:noFill/>
                </a:ln>
                <a:solidFill>
                  <a:schemeClr val="tx1"/>
                </a:solidFill>
                <a:effectLst/>
                <a:latin typeface="Arial" panose="020B0604020202020204" pitchFamily="34" charset="0"/>
              </a:rPr>
              <a:t>）</a:t>
            </a:r>
            <a:endParaRPr kumimoji="0" lang="zh-CN" altLang="en-US" sz="2000" b="0" i="0" u="none" strike="noStrike" cap="none" normalizeH="0" baseline="0" dirty="0">
              <a:ln>
                <a:noFill/>
              </a:ln>
              <a:solidFill>
                <a:schemeClr val="tx1"/>
              </a:solidFill>
              <a:effectLst/>
              <a:latin typeface="Arial" panose="020B0604020202020204" pitchFamily="34" charset="0"/>
            </a:endParaRPr>
          </a:p>
        </p:txBody>
      </p:sp>
      <p:pic>
        <p:nvPicPr>
          <p:cNvPr id="4" name="图片 3"/>
          <p:cNvPicPr>
            <a:picLocks noChangeAspect="1"/>
          </p:cNvPicPr>
          <p:nvPr/>
        </p:nvPicPr>
        <p:blipFill>
          <a:blip r:embed="rId3"/>
          <a:stretch>
            <a:fillRect/>
          </a:stretch>
        </p:blipFill>
        <p:spPr>
          <a:xfrm>
            <a:off x="6588125" y="1395730"/>
            <a:ext cx="5276850" cy="4067175"/>
          </a:xfrm>
          <a:prstGeom prst="rect">
            <a:avLst/>
          </a:prstGeom>
        </p:spPr>
      </p:pic>
      <p:sp>
        <p:nvSpPr>
          <p:cNvPr id="3" name="文本框 2"/>
          <p:cNvSpPr txBox="1"/>
          <p:nvPr/>
        </p:nvSpPr>
        <p:spPr>
          <a:xfrm>
            <a:off x="492125" y="1395730"/>
            <a:ext cx="6096000" cy="2653030"/>
          </a:xfrm>
          <a:prstGeom prst="rect">
            <a:avLst/>
          </a:prstGeom>
          <a:noFill/>
        </p:spPr>
        <p:txBody>
          <a:bodyPr wrap="square" rtlCol="0" anchor="t">
            <a:noAutofit/>
          </a:bodyPr>
          <a:p>
            <a:r>
              <a:rPr lang="en-US" altLang="zh-CN"/>
              <a:t>RocksDB</a:t>
            </a:r>
            <a:r>
              <a:rPr lang="zh-CN" altLang="en-US"/>
              <a:t>分为内存、持久化两部分。内存组件的作用与RocksDB相同；ZoneKV的独特设计侧重于持久化组件，总体来看，它由两个方面组成：</a:t>
            </a:r>
            <a:endParaRPr lang="zh-CN" altLang="en-US"/>
          </a:p>
          <a:p>
            <a:endParaRPr lang="zh-CN" altLang="en-US"/>
          </a:p>
          <a:p>
            <a:r>
              <a:rPr lang="zh-CN" altLang="en-US"/>
              <a:t>- 当SSTables写入特定级别时(无论是刷新操作或压缩操作)，ZoneKV根据生命周期信息将SSTables写入特定区域（选择合适区域的算法将在第III-E节中讨论）</a:t>
            </a:r>
            <a:endParaRPr lang="zh-CN" altLang="en-US"/>
          </a:p>
          <a:p>
            <a:endParaRPr lang="zh-CN" altLang="en-US"/>
          </a:p>
          <a:p>
            <a:r>
              <a:rPr lang="zh-CN" altLang="en-US"/>
              <a:t>- LSM树中的每个级别都存储在不同的区域中，以使每个区域包含具有相似生命周期的SSTable。</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3 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4" name="图片 3"/>
          <p:cNvPicPr>
            <a:picLocks noChangeAspect="1"/>
          </p:cNvPicPr>
          <p:nvPr/>
        </p:nvPicPr>
        <p:blipFill>
          <a:blip r:embed="rId3"/>
          <a:stretch>
            <a:fillRect/>
          </a:stretch>
        </p:blipFill>
        <p:spPr>
          <a:xfrm>
            <a:off x="7350760" y="1483360"/>
            <a:ext cx="4514215" cy="3479165"/>
          </a:xfrm>
          <a:prstGeom prst="rect">
            <a:avLst/>
          </a:prstGeom>
        </p:spPr>
      </p:pic>
      <p:sp>
        <p:nvSpPr>
          <p:cNvPr id="5" name="文本框 4"/>
          <p:cNvSpPr txBox="1"/>
          <p:nvPr/>
        </p:nvSpPr>
        <p:spPr>
          <a:xfrm>
            <a:off x="443865" y="5467985"/>
            <a:ext cx="11075035" cy="662940"/>
          </a:xfrm>
          <a:prstGeom prst="rect">
            <a:avLst/>
          </a:prstGeom>
          <a:noFill/>
        </p:spPr>
        <p:txBody>
          <a:bodyPr wrap="square" rtlCol="0" anchor="t">
            <a:noAutofit/>
          </a:bodyPr>
          <a:p>
            <a:r>
              <a:rPr lang="zh-CN" altLang="en-US" sz="2000"/>
              <a:t>另外，ZoneKV的实现是基于RocksDB的。与ZenFS一样，ZoneKV修改了RocksDB中FileSystemWrapper类的接口，并通过libzbd直接与区域交互。</a:t>
            </a:r>
            <a:endParaRPr lang="zh-CN" altLang="en-US" sz="2000"/>
          </a:p>
        </p:txBody>
      </p:sp>
      <p:sp>
        <p:nvSpPr>
          <p:cNvPr id="7" name="文本框 6"/>
          <p:cNvSpPr txBox="1"/>
          <p:nvPr/>
        </p:nvSpPr>
        <p:spPr>
          <a:xfrm>
            <a:off x="443865" y="1483360"/>
            <a:ext cx="6577330" cy="3561715"/>
          </a:xfrm>
          <a:prstGeom prst="rect">
            <a:avLst/>
          </a:prstGeom>
          <a:noFill/>
        </p:spPr>
        <p:txBody>
          <a:bodyPr wrap="square" rtlCol="0" anchor="t">
            <a:noAutofit/>
          </a:bodyPr>
          <a:p>
            <a:pPr>
              <a:lnSpc>
                <a:spcPct val="110000"/>
              </a:lnSpc>
            </a:pPr>
            <a:r>
              <a:rPr lang="zh-CN" altLang="en-US" sz="2000"/>
              <a:t>ZoneKV并没有显式地维护每个SSTable的生命周期信息，而是使用SSTable的级别相关的值作为生命周期的隐式表示。</a:t>
            </a:r>
            <a:endParaRPr lang="zh-CN" altLang="en-US" sz="2000"/>
          </a:p>
          <a:p>
            <a:pPr>
              <a:lnSpc>
                <a:spcPct val="130000"/>
              </a:lnSpc>
            </a:pPr>
            <a:r>
              <a:rPr lang="zh-CN" altLang="en-US" sz="2000"/>
              <a:t>具体来说，ZoneKV将日志文件的生命周期标记为-1，意味日志文件具有无限的生命周期；</a:t>
            </a:r>
            <a:endParaRPr lang="zh-CN" altLang="en-US" sz="2000"/>
          </a:p>
          <a:p>
            <a:pPr>
              <a:lnSpc>
                <a:spcPct val="130000"/>
              </a:lnSpc>
            </a:pPr>
            <a:r>
              <a:rPr lang="zh-CN" altLang="en-US" sz="2000" b="1"/>
              <a:t>L0和L1：</a:t>
            </a:r>
            <a:r>
              <a:rPr lang="zh-CN" altLang="en-US" sz="2000"/>
              <a:t>将L0和L1级别的SSTables的生命周期设置为1；</a:t>
            </a:r>
            <a:endParaRPr lang="zh-CN" altLang="en-US" sz="2000"/>
          </a:p>
          <a:p>
            <a:pPr>
              <a:lnSpc>
                <a:spcPct val="130000"/>
              </a:lnSpc>
            </a:pPr>
            <a:r>
              <a:rPr lang="zh-CN" altLang="en-US" sz="2000" b="1"/>
              <a:t>Li（i ≥ 2）：</a:t>
            </a:r>
            <a:r>
              <a:rPr lang="zh-CN" altLang="en-US" sz="2000"/>
              <a:t>，对于Li（i ≥ 2）级别的SSTables，它们的生命周期被设置为i。</a:t>
            </a:r>
            <a:endParaRPr lang="zh-CN" altLang="en-US" sz="2000"/>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3 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8" name="文本框 7"/>
          <p:cNvSpPr txBox="1"/>
          <p:nvPr/>
        </p:nvSpPr>
        <p:spPr>
          <a:xfrm>
            <a:off x="467360" y="1369695"/>
            <a:ext cx="11082655" cy="3781425"/>
          </a:xfrm>
          <a:prstGeom prst="rect">
            <a:avLst/>
          </a:prstGeom>
          <a:noFill/>
        </p:spPr>
        <p:txBody>
          <a:bodyPr wrap="square" rtlCol="0" anchor="t">
            <a:noAutofit/>
          </a:bodyPr>
          <a:p>
            <a:pPr>
              <a:lnSpc>
                <a:spcPct val="150000"/>
              </a:lnSpc>
            </a:pPr>
            <a:endParaRPr lang="zh-CN" altLang="en-US" sz="2000">
              <a:sym typeface="+mn-ea"/>
            </a:endParaRPr>
          </a:p>
          <a:p>
            <a:pPr>
              <a:lnSpc>
                <a:spcPct val="150000"/>
              </a:lnSpc>
            </a:pPr>
            <a:r>
              <a:rPr lang="zh-CN" altLang="en-US" sz="2000">
                <a:sym typeface="+mn-ea"/>
              </a:rPr>
              <a:t>当一个</a:t>
            </a:r>
            <a:r>
              <a:rPr lang="en-US" altLang="zh-CN" sz="2000">
                <a:sym typeface="+mn-ea"/>
              </a:rPr>
              <a:t>SST</a:t>
            </a:r>
            <a:r>
              <a:rPr lang="zh-CN" altLang="en-US" sz="2000">
                <a:sym typeface="+mn-ea"/>
              </a:rPr>
              <a:t>到达，如何分配区域？</a:t>
            </a:r>
            <a:endParaRPr lang="zh-CN" altLang="en-US" sz="2000"/>
          </a:p>
          <a:p>
            <a:pPr indent="457200">
              <a:lnSpc>
                <a:spcPct val="150000"/>
              </a:lnSpc>
            </a:pPr>
            <a:r>
              <a:rPr lang="zh-CN" altLang="en-US" sz="2000">
                <a:sym typeface="+mn-ea"/>
              </a:rPr>
              <a:t>循环遍历所有活动区域，优先考虑将SSTable放入与其生命周期匹配的活动区域中。</a:t>
            </a:r>
            <a:endParaRPr lang="zh-CN" altLang="en-US" sz="2000">
              <a:sym typeface="+mn-ea"/>
            </a:endParaRPr>
          </a:p>
          <a:p>
            <a:pPr indent="457200">
              <a:lnSpc>
                <a:spcPct val="150000"/>
              </a:lnSpc>
            </a:pPr>
            <a:r>
              <a:rPr lang="zh-CN" altLang="en-US" sz="2000">
                <a:sym typeface="+mn-ea"/>
              </a:rPr>
              <a:t>如果找不到活动区域，它会尝试分配一个新区域。（它甚至会关闭一个活动区，来分配一个新区域给SSTable）</a:t>
            </a:r>
            <a:endParaRPr lang="zh-CN" altLang="en-US" sz="2000">
              <a:sym typeface="+mn-ea"/>
            </a:endParaRPr>
          </a:p>
          <a:p>
            <a:pPr indent="457200">
              <a:lnSpc>
                <a:spcPct val="150000"/>
              </a:lnSpc>
            </a:pPr>
            <a:r>
              <a:rPr lang="zh-CN" altLang="en-US" sz="2000">
                <a:sym typeface="+mn-ea"/>
              </a:rPr>
              <a:t>如果系统中没有空余的区域可以使用，它会寻找生命周期较长的区域，最后会寻找任何有足够空间的区域。</a:t>
            </a:r>
            <a:endParaRPr lang="zh-CN" altLang="en-US" sz="2000">
              <a:sym typeface="+mn-ea"/>
            </a:endParaRPr>
          </a:p>
          <a:p>
            <a:pPr indent="457200">
              <a:lnSpc>
                <a:spcPct val="150000"/>
              </a:lnSpc>
            </a:pPr>
            <a:r>
              <a:rPr lang="zh-CN" altLang="en-US" sz="2000">
                <a:sym typeface="+mn-ea"/>
              </a:rPr>
              <a:t>如果仍然找不到，返回NULL，表示没有找到合适的区域。</a:t>
            </a:r>
            <a:endParaRPr lang="zh-CN" altLang="en-US" sz="2000"/>
          </a:p>
          <a:p>
            <a:pPr>
              <a:lnSpc>
                <a:spcPct val="150000"/>
              </a:lnSpc>
            </a:pPr>
            <a:endParaRPr lang="zh-CN" altLang="en-US" sz="2000"/>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4</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性能评估</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8" name="文本框 7"/>
          <p:cNvSpPr txBox="1"/>
          <p:nvPr/>
        </p:nvSpPr>
        <p:spPr>
          <a:xfrm>
            <a:off x="4568825" y="1838960"/>
            <a:ext cx="4999990" cy="774700"/>
          </a:xfrm>
          <a:prstGeom prst="rect">
            <a:avLst/>
          </a:prstGeom>
          <a:noFill/>
        </p:spPr>
        <p:txBody>
          <a:bodyPr wrap="square" rtlCol="0" anchor="t">
            <a:noAutofit/>
          </a:bodyPr>
          <a:p>
            <a:pPr>
              <a:lnSpc>
                <a:spcPct val="120000"/>
              </a:lnSpc>
            </a:pPr>
            <a:r>
              <a:rPr lang="zh-CN" altLang="en-US"/>
              <a:t>设备：西数</a:t>
            </a:r>
            <a:r>
              <a:rPr lang="en-US" altLang="zh-CN"/>
              <a:t>ZN540</a:t>
            </a:r>
            <a:r>
              <a:rPr lang="zh-CN" altLang="en-US"/>
              <a:t>如图所示。</a:t>
            </a:r>
            <a:endParaRPr lang="zh-CN" altLang="en-US"/>
          </a:p>
          <a:p>
            <a:pPr>
              <a:lnSpc>
                <a:spcPct val="120000"/>
              </a:lnSpc>
            </a:pPr>
            <a:r>
              <a:rPr lang="zh-CN" altLang="en-US"/>
              <a:t>一个问题：什么</a:t>
            </a:r>
            <a:r>
              <a:rPr lang="en-US" altLang="zh-CN"/>
              <a:t>Size</a:t>
            </a:r>
            <a:r>
              <a:rPr lang="zh-CN" altLang="en-US"/>
              <a:t>和</a:t>
            </a:r>
            <a:r>
              <a:rPr lang="en-US" altLang="zh-CN"/>
              <a:t>Capacity</a:t>
            </a:r>
            <a:r>
              <a:rPr lang="zh-CN" altLang="en-US"/>
              <a:t>差这么多？</a:t>
            </a:r>
            <a:endParaRPr lang="zh-CN" altLang="en-US"/>
          </a:p>
        </p:txBody>
      </p:sp>
      <p:pic>
        <p:nvPicPr>
          <p:cNvPr id="2" name="图片 1"/>
          <p:cNvPicPr>
            <a:picLocks noChangeAspect="1"/>
          </p:cNvPicPr>
          <p:nvPr/>
        </p:nvPicPr>
        <p:blipFill>
          <a:blip r:embed="rId3"/>
          <a:stretch>
            <a:fillRect/>
          </a:stretch>
        </p:blipFill>
        <p:spPr>
          <a:xfrm>
            <a:off x="0" y="944880"/>
            <a:ext cx="4380230" cy="2324100"/>
          </a:xfrm>
          <a:prstGeom prst="rect">
            <a:avLst/>
          </a:prstGeom>
        </p:spPr>
      </p:pic>
      <p:pic>
        <p:nvPicPr>
          <p:cNvPr id="5" name="图片 4"/>
          <p:cNvPicPr>
            <a:picLocks noChangeAspect="1"/>
          </p:cNvPicPr>
          <p:nvPr/>
        </p:nvPicPr>
        <p:blipFill>
          <a:blip r:embed="rId4"/>
          <a:stretch>
            <a:fillRect/>
          </a:stretch>
        </p:blipFill>
        <p:spPr>
          <a:xfrm>
            <a:off x="728980" y="3514725"/>
            <a:ext cx="5143500" cy="2733675"/>
          </a:xfrm>
          <a:prstGeom prst="rect">
            <a:avLst/>
          </a:prstGeom>
        </p:spPr>
      </p:pic>
      <p:sp>
        <p:nvSpPr>
          <p:cNvPr id="6" name="文本框 5"/>
          <p:cNvSpPr txBox="1"/>
          <p:nvPr/>
        </p:nvSpPr>
        <p:spPr>
          <a:xfrm>
            <a:off x="6445885" y="4635500"/>
            <a:ext cx="5137785" cy="774700"/>
          </a:xfrm>
          <a:prstGeom prst="rect">
            <a:avLst/>
          </a:prstGeom>
          <a:noFill/>
        </p:spPr>
        <p:txBody>
          <a:bodyPr wrap="square" rtlCol="0" anchor="t">
            <a:noAutofit/>
          </a:bodyPr>
          <a:p>
            <a:pPr>
              <a:lnSpc>
                <a:spcPct val="120000"/>
              </a:lnSpc>
            </a:pPr>
            <a:r>
              <a:rPr lang="zh-CN" altLang="en-US"/>
              <a:t>随机读性能在</a:t>
            </a:r>
            <a:r>
              <a:rPr lang="en-US" altLang="zh-CN"/>
              <a:t>ZenFS</a:t>
            </a:r>
            <a:r>
              <a:rPr lang="zh-CN" altLang="en-US"/>
              <a:t>和</a:t>
            </a:r>
            <a:r>
              <a:rPr lang="en-US" altLang="zh-CN"/>
              <a:t>RocksDB</a:t>
            </a:r>
            <a:r>
              <a:rPr lang="zh-CN" altLang="en-US"/>
              <a:t>之间</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4</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性能评估</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4" name="图片 3"/>
          <p:cNvPicPr>
            <a:picLocks noChangeAspect="1"/>
          </p:cNvPicPr>
          <p:nvPr/>
        </p:nvPicPr>
        <p:blipFill>
          <a:blip r:embed="rId3"/>
          <a:stretch>
            <a:fillRect/>
          </a:stretch>
        </p:blipFill>
        <p:spPr>
          <a:xfrm>
            <a:off x="-130175" y="844550"/>
            <a:ext cx="9460865" cy="5200015"/>
          </a:xfrm>
          <a:prstGeom prst="rect">
            <a:avLst/>
          </a:prstGeom>
        </p:spPr>
      </p:pic>
      <p:sp>
        <p:nvSpPr>
          <p:cNvPr id="3" name="文本框 2"/>
          <p:cNvSpPr txBox="1"/>
          <p:nvPr/>
        </p:nvSpPr>
        <p:spPr>
          <a:xfrm>
            <a:off x="8928100" y="2731135"/>
            <a:ext cx="2936875" cy="1426845"/>
          </a:xfrm>
          <a:prstGeom prst="rect">
            <a:avLst/>
          </a:prstGeom>
          <a:noFill/>
        </p:spPr>
        <p:txBody>
          <a:bodyPr wrap="square" rtlCol="0" anchor="t">
            <a:noAutofit/>
          </a:bodyPr>
          <a:p>
            <a:pPr indent="0" algn="just">
              <a:spcAft>
                <a:spcPts val="1200"/>
              </a:spcAft>
              <a:buFont typeface="Arial" panose="020B0604020202020204" pitchFamily="34" charset="0"/>
              <a:buNone/>
            </a:pPr>
            <a:r>
              <a:rPr lang="zh-CN" altLang="en-US" kern="100">
                <a:effectLst/>
                <a:latin typeface="Times New Roman" panose="02020603050405020304" pitchFamily="18" charset="0"/>
                <a:ea typeface="宋体" panose="02010600030101010101" pitchFamily="2" charset="-122"/>
                <a:cs typeface="Times New Roman" panose="02020603050405020304" pitchFamily="18" charset="0"/>
                <a:sym typeface="+mn-ea"/>
              </a:rPr>
              <a:t>在空间占用上</a:t>
            </a:r>
            <a:r>
              <a:rPr lang="zh-CN" altLang="en-US" kern="100">
                <a:effectLst/>
                <a:latin typeface="Times New Roman" panose="02020603050405020304" pitchFamily="18" charset="0"/>
                <a:ea typeface="宋体" panose="02010600030101010101" pitchFamily="2" charset="-122"/>
                <a:cs typeface="Times New Roman" panose="02020603050405020304" pitchFamily="18" charset="0"/>
                <a:sym typeface="+mn-ea"/>
              </a:rPr>
              <a:t>优化效果明显</a:t>
            </a:r>
            <a:r>
              <a:rPr lang="zh-CN" altLang="en-US" kern="100">
                <a:effectLst/>
                <a:latin typeface="Times New Roman" panose="02020603050405020304" pitchFamily="18" charset="0"/>
                <a:ea typeface="宋体" panose="02010600030101010101" pitchFamily="2" charset="-122"/>
                <a:cs typeface="Times New Roman" panose="02020603050405020304" pitchFamily="18" charset="0"/>
                <a:sym typeface="+mn-ea"/>
              </a:rPr>
              <a:t>：在吞吐量一致的情况下（小幅度提升），降低了空间使用</a:t>
            </a:r>
            <a:endParaRPr lang="zh-CN" altLang="en-US" kern="10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spcAft>
                <a:spcPts val="1200"/>
              </a:spcAft>
              <a:buFont typeface="Arial" panose="020B0604020202020204" pitchFamily="34" charset="0"/>
              <a:buNone/>
            </a:pPr>
            <a:endParaRPr lang="zh-CN" altLang="en-US" kern="10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spcAft>
                <a:spcPts val="1200"/>
              </a:spcAft>
              <a:buFont typeface="Arial" panose="020B0604020202020204" pitchFamily="34" charset="0"/>
              <a:buNone/>
            </a:pPr>
            <a:endParaRPr lang="zh-CN" altLang="en-US" kern="10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spcAft>
                <a:spcPts val="1200"/>
              </a:spcAft>
              <a:buFont typeface="Arial" panose="020B0604020202020204" pitchFamily="34" charset="0"/>
              <a:buNone/>
            </a:pPr>
            <a:endParaRPr lang="zh-CN" altLang="en-US" kern="100">
              <a:effectLst/>
              <a:latin typeface="Times New Roman" panose="02020603050405020304" pitchFamily="18" charset="0"/>
              <a:ea typeface="宋体" panose="02010600030101010101" pitchFamily="2" charset="-122"/>
              <a:cs typeface="Times New Roman" panose="02020603050405020304" pitchFamily="18" charset="0"/>
              <a:sym typeface="+mn-ea"/>
            </a:endParaRPr>
          </a:p>
        </p:txBody>
      </p:sp>
      <p:pic>
        <p:nvPicPr>
          <p:cNvPr id="6" name="图片 5"/>
          <p:cNvPicPr>
            <a:picLocks noChangeAspect="1"/>
          </p:cNvPicPr>
          <p:nvPr/>
        </p:nvPicPr>
        <p:blipFill>
          <a:blip r:embed="rId4"/>
          <a:stretch>
            <a:fillRect/>
          </a:stretch>
        </p:blipFill>
        <p:spPr>
          <a:xfrm>
            <a:off x="3444240" y="7169150"/>
            <a:ext cx="5172075" cy="161925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文本框 20"/>
          <p:cNvSpPr txBox="1"/>
          <p:nvPr/>
        </p:nvSpPr>
        <p:spPr>
          <a:xfrm>
            <a:off x="8244849" y="4730406"/>
            <a:ext cx="2099301" cy="1328569"/>
          </a:xfrm>
          <a:prstGeom prst="rect">
            <a:avLst/>
          </a:prstGeom>
          <a:noFill/>
        </p:spPr>
        <p:txBody>
          <a:bodyPr wrap="square" rtlCol="0">
            <a:spAutoFit/>
          </a:bodyPr>
          <a:lstStyle/>
          <a:p>
            <a:pPr algn="ctr">
              <a:lnSpc>
                <a:spcPct val="90000"/>
              </a:lnSpc>
              <a:spcBef>
                <a:spcPts val="1000"/>
              </a:spcBef>
              <a:defRPr/>
            </a:pP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Q&amp;A</a:t>
            </a:r>
            <a:endPar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lvl="0" algn="ctr">
              <a:lnSpc>
                <a:spcPct val="90000"/>
              </a:lnSpc>
              <a:spcBef>
                <a:spcPts val="1000"/>
              </a:spcBef>
              <a:defRPr/>
            </a:pP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Thanks</a:t>
            </a: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a:t>
            </a:r>
            <a:endPar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8" name="矩形: 圆角 7"/>
          <p:cNvSpPr/>
          <p:nvPr/>
        </p:nvSpPr>
        <p:spPr>
          <a:xfrm rot="2755966">
            <a:off x="4146517" y="3347706"/>
            <a:ext cx="1613489" cy="1613489"/>
          </a:xfrm>
          <a:prstGeom prst="roundRect">
            <a:avLst/>
          </a:prstGeom>
          <a:solidFill>
            <a:srgbClr val="8484D1"/>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圆角 8"/>
          <p:cNvSpPr/>
          <p:nvPr/>
        </p:nvSpPr>
        <p:spPr>
          <a:xfrm rot="2755966">
            <a:off x="2770276" y="966707"/>
            <a:ext cx="1613489" cy="1613489"/>
          </a:xfrm>
          <a:prstGeom prst="roundRect">
            <a:avLst/>
          </a:prstGeom>
          <a:solidFill>
            <a:srgbClr val="8484D1"/>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圆角 9"/>
          <p:cNvSpPr/>
          <p:nvPr/>
        </p:nvSpPr>
        <p:spPr>
          <a:xfrm rot="2755966">
            <a:off x="4586763" y="2029472"/>
            <a:ext cx="732996" cy="732996"/>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圆角 10"/>
          <p:cNvSpPr/>
          <p:nvPr/>
        </p:nvSpPr>
        <p:spPr>
          <a:xfrm rot="2755966">
            <a:off x="1415554" y="2470682"/>
            <a:ext cx="3134556" cy="3134556"/>
          </a:xfrm>
          <a:prstGeom prst="roundRect">
            <a:avLst/>
          </a:prstGeom>
          <a:blipFill dpi="0" rotWithShape="0">
            <a:blip r:embed="rId1"/>
            <a:srcRect/>
            <a:stretch>
              <a:fillRect/>
            </a:stretch>
          </a:blipFill>
          <a:ln>
            <a:noFill/>
          </a:ln>
          <a:effectLst>
            <a:outerShdw blurRad="114300" dist="50800" dir="7800000" sx="101000" sy="101000" algn="tr" rotWithShape="0">
              <a:prstClr val="black">
                <a:alpha val="6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矩形: 圆角 11"/>
          <p:cNvSpPr/>
          <p:nvPr/>
        </p:nvSpPr>
        <p:spPr>
          <a:xfrm rot="2755966">
            <a:off x="5633126" y="2433704"/>
            <a:ext cx="1685894" cy="1685894"/>
          </a:xfrm>
          <a:prstGeom prst="roundRect">
            <a:avLst/>
          </a:prstGeom>
          <a:solidFill>
            <a:srgbClr val="4747BA"/>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5" name="矩形: 圆角 14"/>
          <p:cNvSpPr/>
          <p:nvPr/>
        </p:nvSpPr>
        <p:spPr>
          <a:xfrm rot="2755966">
            <a:off x="3965400" y="5546431"/>
            <a:ext cx="732996" cy="732996"/>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圆角 15"/>
          <p:cNvSpPr/>
          <p:nvPr/>
        </p:nvSpPr>
        <p:spPr>
          <a:xfrm rot="2755966">
            <a:off x="5089423" y="716157"/>
            <a:ext cx="1134056" cy="1134056"/>
          </a:xfrm>
          <a:prstGeom prst="roundRect">
            <a:avLst/>
          </a:prstGeom>
          <a:solidFill>
            <a:srgbClr val="4747BA"/>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圆角 18"/>
          <p:cNvSpPr/>
          <p:nvPr/>
        </p:nvSpPr>
        <p:spPr>
          <a:xfrm rot="2755966">
            <a:off x="7189439" y="1365266"/>
            <a:ext cx="396502" cy="396502"/>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7" name="图片 1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p:cNvSpPr txBox="1"/>
          <p:nvPr/>
        </p:nvSpPr>
        <p:spPr>
          <a:xfrm>
            <a:off x="385590" y="226263"/>
            <a:ext cx="6798981" cy="590931"/>
          </a:xfrm>
          <a:prstGeom prst="rect">
            <a:avLst/>
          </a:prstGeom>
          <a:noFill/>
        </p:spPr>
        <p:txBody>
          <a:bodyPr wrap="square" rtlCol="0">
            <a:spAutoFit/>
          </a:bodyPr>
          <a:lstStyle/>
          <a:p>
            <a:pPr>
              <a:lnSpc>
                <a:spcPct val="90000"/>
              </a:lnSpc>
              <a:spcBef>
                <a:spcPts val="1000"/>
              </a:spcBef>
              <a:defRPr/>
            </a:pPr>
            <a:endParaRPr lang="zh-CN" altLang="en-US"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7" name="文本框 6"/>
          <p:cNvSpPr txBox="1"/>
          <p:nvPr/>
        </p:nvSpPr>
        <p:spPr>
          <a:xfrm>
            <a:off x="440055" y="4344766"/>
            <a:ext cx="10852786" cy="1711366"/>
          </a:xfrm>
          <a:prstGeom prst="rect">
            <a:avLst/>
          </a:prstGeom>
          <a:noFill/>
        </p:spPr>
        <p:txBody>
          <a:bodyPr wrap="square">
            <a:spAutoFit/>
          </a:bodyPr>
          <a:lstStyle/>
          <a:p>
            <a:pPr algn="l">
              <a:lnSpc>
                <a:spcPct val="150000"/>
              </a:lnSpc>
            </a:pPr>
            <a:r>
              <a:rPr lang="zh-CN" altLang="en-US" dirty="0">
                <a:solidFill>
                  <a:srgbClr val="374151"/>
                </a:solidFill>
                <a:latin typeface="_5b8b_4f53"/>
              </a:rPr>
              <a:t>三、性能优化和数据放置策略：</a:t>
            </a:r>
            <a:endParaRPr lang="en-US" altLang="zh-CN" dirty="0">
              <a:solidFill>
                <a:srgbClr val="374151"/>
              </a:solidFill>
              <a:latin typeface="_5b8b_4f53"/>
            </a:endParaRPr>
          </a:p>
          <a:p>
            <a:pPr>
              <a:lnSpc>
                <a:spcPct val="150000"/>
              </a:lnSpc>
            </a:pPr>
            <a:r>
              <a:rPr lang="zh-CN" altLang="en-US" dirty="0">
                <a:solidFill>
                  <a:srgbClr val="374151"/>
                </a:solidFill>
                <a:latin typeface="_5b8b_4f53"/>
              </a:rPr>
              <a:t>进一步地，根据所得实验数据，</a:t>
            </a:r>
            <a:r>
              <a:rPr lang="zh-CN" altLang="zh-CN" dirty="0">
                <a:solidFill>
                  <a:srgbClr val="374151"/>
                </a:solidFill>
                <a:latin typeface="_5b8b_4f53"/>
              </a:rPr>
              <a:t>探索适用于</a:t>
            </a:r>
            <a:r>
              <a:rPr lang="en-US" altLang="zh-CN" dirty="0">
                <a:solidFill>
                  <a:srgbClr val="374151"/>
                </a:solidFill>
                <a:latin typeface="_5b8b_4f53"/>
              </a:rPr>
              <a:t>ZNS SSD</a:t>
            </a:r>
            <a:r>
              <a:rPr lang="zh-CN" altLang="zh-CN" dirty="0">
                <a:solidFill>
                  <a:srgbClr val="374151"/>
                </a:solidFill>
                <a:latin typeface="_5b8b_4f53"/>
              </a:rPr>
              <a:t>的数据管理机制，利用</a:t>
            </a:r>
            <a:r>
              <a:rPr lang="en-US" altLang="zh-CN" dirty="0">
                <a:solidFill>
                  <a:srgbClr val="374151"/>
                </a:solidFill>
                <a:latin typeface="_5b8b_4f53"/>
              </a:rPr>
              <a:t>ZNS</a:t>
            </a:r>
            <a:r>
              <a:rPr lang="zh-CN" altLang="zh-CN" dirty="0">
                <a:solidFill>
                  <a:srgbClr val="374151"/>
                </a:solidFill>
                <a:latin typeface="_5b8b_4f53"/>
              </a:rPr>
              <a:t>的区块信息可见性的优势，可能有效的优化例如：利用硬件的区域状态信息优化数据放置策略，优化缓存策略或垃圾回收算法等。</a:t>
            </a:r>
            <a:endParaRPr lang="zh-CN" altLang="zh-CN" dirty="0">
              <a:solidFill>
                <a:srgbClr val="374151"/>
              </a:solidFill>
              <a:latin typeface="_5b8b_4f53"/>
            </a:endParaRPr>
          </a:p>
          <a:p>
            <a:pPr algn="l">
              <a:lnSpc>
                <a:spcPct val="150000"/>
              </a:lnSpc>
            </a:pPr>
            <a:endParaRPr lang="zh-CN" altLang="en-US" dirty="0">
              <a:solidFill>
                <a:srgbClr val="374151"/>
              </a:solidFill>
              <a:latin typeface="_5b8b_4f53"/>
            </a:endParaRPr>
          </a:p>
        </p:txBody>
      </p:sp>
      <p:sp>
        <p:nvSpPr>
          <p:cNvPr id="9" name="文本框 8"/>
          <p:cNvSpPr txBox="1"/>
          <p:nvPr/>
        </p:nvSpPr>
        <p:spPr>
          <a:xfrm>
            <a:off x="440055" y="1349747"/>
            <a:ext cx="6274781" cy="369332"/>
          </a:xfrm>
          <a:prstGeom prst="rect">
            <a:avLst/>
          </a:prstGeom>
          <a:noFill/>
        </p:spPr>
        <p:txBody>
          <a:bodyPr wrap="square">
            <a:spAutoFit/>
          </a:bodyPr>
          <a:lstStyle/>
          <a:p>
            <a:r>
              <a:rPr lang="zh-CN" altLang="en-US" dirty="0">
                <a:solidFill>
                  <a:srgbClr val="374151"/>
                </a:solidFill>
                <a:latin typeface="_5b8b_4f53"/>
              </a:rPr>
              <a:t>一、实验环境搭建</a:t>
            </a:r>
            <a:r>
              <a:rPr lang="en-US" altLang="zh-CN" dirty="0">
                <a:solidFill>
                  <a:srgbClr val="374151"/>
                </a:solidFill>
                <a:latin typeface="_5b8b_4f53"/>
              </a:rPr>
              <a:t>: </a:t>
            </a:r>
            <a:r>
              <a:rPr lang="zh-CN" altLang="en-US" dirty="0">
                <a:solidFill>
                  <a:srgbClr val="374151"/>
                </a:solidFill>
                <a:latin typeface="_5b8b_4f53"/>
              </a:rPr>
              <a:t>搭建模拟环境，配置真实测试环境。</a:t>
            </a:r>
            <a:endParaRPr lang="zh-CN" altLang="en-US" dirty="0">
              <a:solidFill>
                <a:srgbClr val="374151"/>
              </a:solidFill>
              <a:latin typeface="_5b8b_4f53"/>
            </a:endParaRPr>
          </a:p>
        </p:txBody>
      </p:sp>
      <p:sp>
        <p:nvSpPr>
          <p:cNvPr id="8" name="文本框 7"/>
          <p:cNvSpPr txBox="1"/>
          <p:nvPr/>
        </p:nvSpPr>
        <p:spPr>
          <a:xfrm>
            <a:off x="440055" y="2005188"/>
            <a:ext cx="9850120" cy="2122376"/>
          </a:xfrm>
          <a:prstGeom prst="rect">
            <a:avLst/>
          </a:prstGeom>
          <a:noFill/>
        </p:spPr>
        <p:txBody>
          <a:bodyPr wrap="square">
            <a:spAutoFit/>
          </a:bodyPr>
          <a:lstStyle/>
          <a:p>
            <a:pPr>
              <a:lnSpc>
                <a:spcPct val="150000"/>
              </a:lnSpc>
            </a:pPr>
            <a:r>
              <a:rPr lang="zh-CN" altLang="en-US" dirty="0">
                <a:solidFill>
                  <a:srgbClr val="374151"/>
                </a:solidFill>
                <a:latin typeface="_5b8b_4f53"/>
              </a:rPr>
              <a:t>二、</a:t>
            </a:r>
            <a:r>
              <a:rPr lang="zh-CN" altLang="zh-CN" dirty="0">
                <a:solidFill>
                  <a:srgbClr val="374151"/>
                </a:solidFill>
                <a:latin typeface="_5b8b_4f53"/>
              </a:rPr>
              <a:t>分别基于模拟平台和真实设备进行评估测试</a:t>
            </a:r>
            <a:r>
              <a:rPr lang="zh-CN" altLang="en-US" dirty="0">
                <a:solidFill>
                  <a:srgbClr val="374151"/>
                </a:solidFill>
                <a:latin typeface="_5b8b_4f53"/>
              </a:rPr>
              <a:t>：</a:t>
            </a:r>
            <a:endParaRPr lang="en-US" altLang="zh-CN" dirty="0">
              <a:solidFill>
                <a:srgbClr val="374151"/>
              </a:solidFill>
              <a:latin typeface="_5b8b_4f53"/>
            </a:endParaRPr>
          </a:p>
          <a:p>
            <a:pPr algn="l">
              <a:lnSpc>
                <a:spcPct val="150000"/>
              </a:lnSpc>
              <a:buFont typeface="Arial" panose="020B0604020202020204" pitchFamily="34" charset="0"/>
              <a:buChar char="•"/>
            </a:pPr>
            <a:r>
              <a:rPr lang="zh-CN" altLang="en-US" dirty="0">
                <a:solidFill>
                  <a:srgbClr val="374151"/>
                </a:solidFill>
                <a:latin typeface="_5b8b_4f53"/>
              </a:rPr>
              <a:t>  系统级测试</a:t>
            </a:r>
            <a:r>
              <a:rPr lang="en-US" altLang="zh-CN" dirty="0">
                <a:solidFill>
                  <a:srgbClr val="374151"/>
                </a:solidFill>
                <a:latin typeface="_5b8b_4f53"/>
              </a:rPr>
              <a:t>: </a:t>
            </a:r>
            <a:r>
              <a:rPr lang="zh-CN" altLang="en-US" dirty="0">
                <a:solidFill>
                  <a:srgbClr val="374151"/>
                </a:solidFill>
                <a:latin typeface="_5b8b_4f53"/>
              </a:rPr>
              <a:t>利用</a:t>
            </a:r>
            <a:r>
              <a:rPr lang="en-US" altLang="zh-CN" dirty="0">
                <a:solidFill>
                  <a:srgbClr val="374151"/>
                </a:solidFill>
                <a:latin typeface="_5b8b_4f53"/>
              </a:rPr>
              <a:t>Linux</a:t>
            </a:r>
            <a:r>
              <a:rPr lang="zh-CN" altLang="en-US" dirty="0">
                <a:solidFill>
                  <a:srgbClr val="374151"/>
                </a:solidFill>
                <a:latin typeface="_5b8b_4f53"/>
              </a:rPr>
              <a:t>下系统工具如</a:t>
            </a:r>
            <a:r>
              <a:rPr lang="en-US" altLang="zh-CN" dirty="0" err="1">
                <a:solidFill>
                  <a:srgbClr val="374151"/>
                </a:solidFill>
                <a:latin typeface="_5b8b_4f53"/>
              </a:rPr>
              <a:t>fio</a:t>
            </a:r>
            <a:r>
              <a:rPr lang="zh-CN" altLang="en-US" dirty="0">
                <a:solidFill>
                  <a:srgbClr val="374151"/>
                </a:solidFill>
                <a:latin typeface="_5b8b_4f53"/>
              </a:rPr>
              <a:t>、</a:t>
            </a:r>
            <a:r>
              <a:rPr lang="en-US" altLang="zh-CN" dirty="0" err="1">
                <a:solidFill>
                  <a:srgbClr val="374151"/>
                </a:solidFill>
                <a:latin typeface="_5b8b_4f53"/>
              </a:rPr>
              <a:t>nvme</a:t>
            </a:r>
            <a:r>
              <a:rPr lang="en-US" altLang="zh-CN" dirty="0">
                <a:solidFill>
                  <a:srgbClr val="374151"/>
                </a:solidFill>
                <a:latin typeface="_5b8b_4f53"/>
              </a:rPr>
              <a:t>-cli</a:t>
            </a:r>
            <a:r>
              <a:rPr lang="zh-CN" altLang="en-US" dirty="0">
                <a:solidFill>
                  <a:srgbClr val="374151"/>
                </a:solidFill>
                <a:latin typeface="_5b8b_4f53"/>
              </a:rPr>
              <a:t>测试，主要关注设备本身硬件性能。</a:t>
            </a:r>
            <a:endParaRPr lang="zh-CN" altLang="en-US" dirty="0">
              <a:solidFill>
                <a:srgbClr val="374151"/>
              </a:solidFill>
              <a:latin typeface="_5b8b_4f53"/>
            </a:endParaRPr>
          </a:p>
          <a:p>
            <a:pPr algn="l">
              <a:lnSpc>
                <a:spcPct val="150000"/>
              </a:lnSpc>
              <a:buFont typeface="Arial" panose="020B0604020202020204" pitchFamily="34" charset="0"/>
              <a:buChar char="•"/>
            </a:pPr>
            <a:r>
              <a:rPr lang="zh-CN" altLang="en-US" dirty="0">
                <a:solidFill>
                  <a:srgbClr val="374151"/>
                </a:solidFill>
                <a:latin typeface="_5b8b_4f53"/>
              </a:rPr>
              <a:t>  端到端应用测试</a:t>
            </a:r>
            <a:r>
              <a:rPr lang="en-US" altLang="zh-CN" dirty="0">
                <a:solidFill>
                  <a:srgbClr val="374151"/>
                </a:solidFill>
                <a:latin typeface="_5b8b_4f53"/>
              </a:rPr>
              <a:t>: </a:t>
            </a:r>
            <a:r>
              <a:rPr lang="zh-CN" altLang="en-US" dirty="0">
                <a:solidFill>
                  <a:srgbClr val="374151"/>
                </a:solidFill>
                <a:latin typeface="_5b8b_4f53"/>
              </a:rPr>
              <a:t>部署应用（如</a:t>
            </a:r>
            <a:r>
              <a:rPr lang="en-US" altLang="zh-CN" dirty="0" err="1">
                <a:solidFill>
                  <a:srgbClr val="374151"/>
                </a:solidFill>
                <a:latin typeface="_5b8b_4f53"/>
              </a:rPr>
              <a:t>RocksDB</a:t>
            </a:r>
            <a:r>
              <a:rPr lang="en-US" altLang="zh-CN" dirty="0">
                <a:solidFill>
                  <a:srgbClr val="374151"/>
                </a:solidFill>
                <a:latin typeface="_5b8b_4f53"/>
              </a:rPr>
              <a:t> with </a:t>
            </a:r>
            <a:r>
              <a:rPr lang="en-US" altLang="zh-CN" dirty="0" err="1">
                <a:solidFill>
                  <a:srgbClr val="374151"/>
                </a:solidFill>
                <a:latin typeface="_5b8b_4f53"/>
              </a:rPr>
              <a:t>ZenFS</a:t>
            </a:r>
            <a:r>
              <a:rPr lang="en-US" altLang="zh-CN" dirty="0">
                <a:solidFill>
                  <a:srgbClr val="374151"/>
                </a:solidFill>
                <a:latin typeface="_5b8b_4f53"/>
              </a:rPr>
              <a:t> </a:t>
            </a:r>
            <a:r>
              <a:rPr lang="zh-CN" altLang="en-US" dirty="0">
                <a:solidFill>
                  <a:srgbClr val="374151"/>
                </a:solidFill>
                <a:latin typeface="_5b8b_4f53"/>
              </a:rPr>
              <a:t>）设计实验，分析性能表现。具体包括但不限于：</a:t>
            </a:r>
            <a:r>
              <a:rPr lang="zh-CN" altLang="zh-CN" dirty="0">
                <a:solidFill>
                  <a:srgbClr val="374151"/>
                </a:solidFill>
                <a:latin typeface="_5b8b_4f53"/>
              </a:rPr>
              <a:t>写入、更新性能</a:t>
            </a:r>
            <a:r>
              <a:rPr lang="zh-CN" altLang="en-US" dirty="0">
                <a:solidFill>
                  <a:srgbClr val="374151"/>
                </a:solidFill>
                <a:latin typeface="_5b8b_4f53"/>
              </a:rPr>
              <a:t>，</a:t>
            </a:r>
            <a:r>
              <a:rPr lang="zh-CN" altLang="zh-CN" dirty="0">
                <a:solidFill>
                  <a:srgbClr val="374151"/>
                </a:solidFill>
                <a:latin typeface="_5b8b_4f53"/>
              </a:rPr>
              <a:t>读性能</a:t>
            </a:r>
            <a:r>
              <a:rPr lang="zh-CN" altLang="en-US" dirty="0">
                <a:solidFill>
                  <a:srgbClr val="374151"/>
                </a:solidFill>
                <a:latin typeface="_5b8b_4f53"/>
              </a:rPr>
              <a:t>，</a:t>
            </a:r>
            <a:r>
              <a:rPr lang="zh-CN" altLang="zh-CN" dirty="0">
                <a:solidFill>
                  <a:srgbClr val="374151"/>
                </a:solidFill>
                <a:latin typeface="_5b8b_4f53"/>
              </a:rPr>
              <a:t>简单的并发测试多线程读、多线程写性能</a:t>
            </a:r>
            <a:r>
              <a:rPr lang="zh-CN" altLang="en-US" dirty="0">
                <a:solidFill>
                  <a:srgbClr val="374151"/>
                </a:solidFill>
                <a:latin typeface="_5b8b_4f53"/>
              </a:rPr>
              <a:t>，</a:t>
            </a:r>
            <a:r>
              <a:rPr lang="zh-CN" altLang="zh-CN" dirty="0">
                <a:solidFill>
                  <a:srgbClr val="374151"/>
                </a:solidFill>
                <a:latin typeface="_5b8b_4f53"/>
              </a:rPr>
              <a:t>不同比例的读写混合负载下的表现。</a:t>
            </a:r>
            <a:endParaRPr lang="zh-CN" altLang="en-US" dirty="0">
              <a:solidFill>
                <a:srgbClr val="374151"/>
              </a:solidFill>
              <a:latin typeface="_5b8b_4f53"/>
            </a:endParaRPr>
          </a:p>
        </p:txBody>
      </p:sp>
      <p:sp>
        <p:nvSpPr>
          <p:cNvPr id="15" name="文本框 14"/>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技术方案</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p:cNvSpPr txBox="1"/>
          <p:nvPr/>
        </p:nvSpPr>
        <p:spPr>
          <a:xfrm>
            <a:off x="385590" y="226263"/>
            <a:ext cx="6798981" cy="590931"/>
          </a:xfrm>
          <a:prstGeom prst="rect">
            <a:avLst/>
          </a:prstGeom>
          <a:noFill/>
        </p:spPr>
        <p:txBody>
          <a:bodyPr wrap="square" rtlCol="0">
            <a:spAutoFit/>
          </a:bodyPr>
          <a:lstStyle/>
          <a:p>
            <a:pPr>
              <a:lnSpc>
                <a:spcPct val="90000"/>
              </a:lnSpc>
              <a:spcBef>
                <a:spcPts val="1000"/>
              </a:spcBef>
              <a:defRPr/>
            </a:pPr>
            <a:endParaRPr lang="zh-CN" altLang="en-US"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3" name="文本框 2"/>
          <p:cNvSpPr txBox="1"/>
          <p:nvPr/>
        </p:nvSpPr>
        <p:spPr>
          <a:xfrm>
            <a:off x="440055" y="1176360"/>
            <a:ext cx="10768965" cy="1311834"/>
          </a:xfrm>
          <a:prstGeom prst="rect">
            <a:avLst/>
          </a:prstGeom>
          <a:noFill/>
        </p:spPr>
        <p:txBody>
          <a:bodyPr wrap="square">
            <a:spAutoFit/>
          </a:bodyPr>
          <a:lstStyle/>
          <a:p>
            <a:pPr indent="0" algn="just">
              <a:spcAft>
                <a:spcPts val="1200"/>
              </a:spcAft>
              <a:buFont typeface="Arial" panose="020B0604020202020204" pitchFamily="34" charset="0"/>
              <a:buNone/>
            </a:pPr>
            <a:r>
              <a:rPr lang="zh-CN" altLang="en-US" b="1" dirty="0">
                <a:solidFill>
                  <a:srgbClr val="4747BA"/>
                </a:solidFill>
                <a:ea typeface="+mn-lt"/>
                <a:cs typeface="Times New Roman" panose="02020603050405020304" pitchFamily="18" charset="0"/>
              </a:rPr>
              <a:t>与现有的工作相比：</a:t>
            </a:r>
            <a:endParaRPr lang="en-US" altLang="zh-CN" b="1" dirty="0">
              <a:solidFill>
                <a:srgbClr val="4747BA"/>
              </a:solidFill>
              <a:ea typeface="+mn-lt"/>
              <a:cs typeface="Times New Roman" panose="02020603050405020304" pitchFamily="18" charset="0"/>
            </a:endParaRPr>
          </a:p>
          <a:p>
            <a:pPr>
              <a:lnSpc>
                <a:spcPct val="150000"/>
              </a:lnSpc>
              <a:spcAft>
                <a:spcPts val="1200"/>
              </a:spcAft>
            </a:pPr>
            <a:r>
              <a:rPr lang="zh-CN" altLang="zh-CN" dirty="0">
                <a:solidFill>
                  <a:srgbClr val="374151"/>
                </a:solidFill>
                <a:latin typeface="_5b8b_4f53"/>
              </a:rPr>
              <a:t>相较于在</a:t>
            </a:r>
            <a:r>
              <a:rPr lang="en-US" altLang="zh-CN" dirty="0">
                <a:solidFill>
                  <a:srgbClr val="374151"/>
                </a:solidFill>
                <a:latin typeface="_5b8b_4f53"/>
              </a:rPr>
              <a:t>QEMU</a:t>
            </a:r>
            <a:r>
              <a:rPr lang="zh-CN" altLang="zh-CN" dirty="0">
                <a:solidFill>
                  <a:srgbClr val="374151"/>
                </a:solidFill>
                <a:latin typeface="_5b8b_4f53"/>
              </a:rPr>
              <a:t>、</a:t>
            </a:r>
            <a:r>
              <a:rPr lang="en-US" altLang="zh-CN" dirty="0">
                <a:solidFill>
                  <a:srgbClr val="374151"/>
                </a:solidFill>
                <a:latin typeface="_5b8b_4f53"/>
              </a:rPr>
              <a:t>FEMU</a:t>
            </a:r>
            <a:r>
              <a:rPr lang="zh-CN" altLang="zh-CN" dirty="0">
                <a:solidFill>
                  <a:srgbClr val="374151"/>
                </a:solidFill>
                <a:latin typeface="_5b8b_4f53"/>
              </a:rPr>
              <a:t>等模拟器上</a:t>
            </a:r>
            <a:r>
              <a:rPr lang="zh-CN" altLang="en-US" dirty="0">
                <a:solidFill>
                  <a:srgbClr val="374151"/>
                </a:solidFill>
                <a:latin typeface="_5b8b_4f53"/>
              </a:rPr>
              <a:t>的研究</a:t>
            </a:r>
            <a:r>
              <a:rPr lang="zh-CN" altLang="zh-CN" dirty="0">
                <a:solidFill>
                  <a:srgbClr val="374151"/>
                </a:solidFill>
                <a:latin typeface="_5b8b_4f53"/>
              </a:rPr>
              <a:t>，</a:t>
            </a:r>
            <a:r>
              <a:rPr lang="zh-CN" altLang="en-US" dirty="0">
                <a:solidFill>
                  <a:srgbClr val="374151"/>
                </a:solidFill>
                <a:latin typeface="_5b8b_4f53"/>
              </a:rPr>
              <a:t>一方面，我们使用的模拟器是最新的，基于内核实现的；另一方面，能展示</a:t>
            </a:r>
            <a:r>
              <a:rPr lang="en-US" altLang="zh-CN" dirty="0">
                <a:solidFill>
                  <a:srgbClr val="374151"/>
                </a:solidFill>
                <a:latin typeface="_5b8b_4f53"/>
              </a:rPr>
              <a:t>ZNS SSD</a:t>
            </a:r>
            <a:r>
              <a:rPr lang="zh-CN" altLang="zh-CN" dirty="0">
                <a:solidFill>
                  <a:srgbClr val="374151"/>
                </a:solidFill>
                <a:latin typeface="_5b8b_4f53"/>
              </a:rPr>
              <a:t>在不同的真实场景下的性能表现</a:t>
            </a:r>
            <a:r>
              <a:rPr lang="zh-CN" altLang="en-US" dirty="0">
                <a:solidFill>
                  <a:srgbClr val="374151"/>
                </a:solidFill>
                <a:latin typeface="_5b8b_4f53"/>
              </a:rPr>
              <a:t>，尤其是延迟等参数上区别会较明显。</a:t>
            </a:r>
            <a:endParaRPr lang="en-US" altLang="zh-CN" dirty="0">
              <a:solidFill>
                <a:srgbClr val="374151"/>
              </a:solidFill>
              <a:latin typeface="_5b8b_4f53"/>
            </a:endParaRPr>
          </a:p>
        </p:txBody>
      </p:sp>
      <p:sp>
        <p:nvSpPr>
          <p:cNvPr id="12" name="文本框 11"/>
          <p:cNvSpPr txBox="1"/>
          <p:nvPr/>
        </p:nvSpPr>
        <p:spPr>
          <a:xfrm>
            <a:off x="440055" y="2757274"/>
            <a:ext cx="10090785" cy="1711944"/>
          </a:xfrm>
          <a:prstGeom prst="rect">
            <a:avLst/>
          </a:prstGeom>
          <a:noFill/>
        </p:spPr>
        <p:txBody>
          <a:bodyPr wrap="square">
            <a:spAutoFit/>
          </a:bodyPr>
          <a:lstStyle/>
          <a:p>
            <a:pPr>
              <a:lnSpc>
                <a:spcPct val="150000"/>
              </a:lnSpc>
              <a:spcAft>
                <a:spcPts val="1200"/>
              </a:spcAft>
            </a:pPr>
            <a:r>
              <a:rPr lang="zh-CN" altLang="en-US" dirty="0">
                <a:solidFill>
                  <a:srgbClr val="374151"/>
                </a:solidFill>
                <a:latin typeface="_5b8b_4f53"/>
              </a:rPr>
              <a:t>相较于西数已有的基于真实设备（</a:t>
            </a:r>
            <a:r>
              <a:rPr lang="en-US" altLang="zh-CN" dirty="0">
                <a:solidFill>
                  <a:srgbClr val="374151"/>
                </a:solidFill>
                <a:latin typeface="_5b8b_4f53"/>
              </a:rPr>
              <a:t>ZN540</a:t>
            </a:r>
            <a:r>
              <a:rPr lang="zh-CN" altLang="en-US" dirty="0">
                <a:solidFill>
                  <a:srgbClr val="374151"/>
                </a:solidFill>
                <a:latin typeface="_5b8b_4f53"/>
              </a:rPr>
              <a:t>）的工作，首先西数更关注于硬盘内部的硬件级设计规划。另外我们使用浪潮提供的最新</a:t>
            </a:r>
            <a:r>
              <a:rPr lang="en-US" altLang="zh-CN" dirty="0">
                <a:solidFill>
                  <a:srgbClr val="374151"/>
                </a:solidFill>
                <a:latin typeface="_5b8b_4f53"/>
              </a:rPr>
              <a:t>ZNS</a:t>
            </a:r>
            <a:r>
              <a:rPr lang="zh-CN" altLang="en-US" dirty="0">
                <a:solidFill>
                  <a:srgbClr val="374151"/>
                </a:solidFill>
                <a:latin typeface="_5b8b_4f53"/>
              </a:rPr>
              <a:t>盘，一方面，其介质选用更好的</a:t>
            </a:r>
            <a:r>
              <a:rPr lang="en-US" altLang="zh-CN" dirty="0">
                <a:solidFill>
                  <a:srgbClr val="374151"/>
                </a:solidFill>
                <a:latin typeface="_5b8b_4f53"/>
              </a:rPr>
              <a:t>TLC</a:t>
            </a:r>
            <a:r>
              <a:rPr lang="zh-CN" altLang="en-US" dirty="0">
                <a:solidFill>
                  <a:srgbClr val="374151"/>
                </a:solidFill>
                <a:latin typeface="_5b8b_4f53"/>
              </a:rPr>
              <a:t>颗粒</a:t>
            </a:r>
            <a:r>
              <a:rPr lang="en-US" altLang="zh-CN" dirty="0">
                <a:solidFill>
                  <a:srgbClr val="374151"/>
                </a:solidFill>
                <a:latin typeface="_5b8b_4f53"/>
              </a:rPr>
              <a:t>(</a:t>
            </a:r>
            <a:r>
              <a:rPr lang="zh-CN" altLang="en-US" dirty="0">
                <a:solidFill>
                  <a:srgbClr val="374151"/>
                </a:solidFill>
                <a:latin typeface="_5b8b_4f53"/>
              </a:rPr>
              <a:t>西数是</a:t>
            </a:r>
            <a:r>
              <a:rPr lang="en-US" altLang="zh-CN" dirty="0">
                <a:solidFill>
                  <a:srgbClr val="374151"/>
                </a:solidFill>
                <a:latin typeface="_5b8b_4f53"/>
              </a:rPr>
              <a:t>QLC</a:t>
            </a:r>
            <a:r>
              <a:rPr lang="zh-CN" altLang="en-US" dirty="0">
                <a:solidFill>
                  <a:srgbClr val="374151"/>
                </a:solidFill>
                <a:latin typeface="_5b8b_4f53"/>
              </a:rPr>
              <a:t>颗粒，延迟高寿命短），另一方面二者关键参数上也有区别，如</a:t>
            </a:r>
            <a:r>
              <a:rPr lang="en-US" altLang="zh-CN" dirty="0">
                <a:solidFill>
                  <a:srgbClr val="374151"/>
                </a:solidFill>
                <a:latin typeface="_5b8b_4f53"/>
              </a:rPr>
              <a:t>Zone</a:t>
            </a:r>
            <a:r>
              <a:rPr lang="zh-CN" altLang="en-US" dirty="0">
                <a:solidFill>
                  <a:srgbClr val="374151"/>
                </a:solidFill>
                <a:latin typeface="_5b8b_4f53"/>
              </a:rPr>
              <a:t> </a:t>
            </a:r>
            <a:r>
              <a:rPr lang="en-US" altLang="zh-CN" dirty="0">
                <a:solidFill>
                  <a:srgbClr val="374151"/>
                </a:solidFill>
                <a:latin typeface="_5b8b_4f53"/>
              </a:rPr>
              <a:t>size</a:t>
            </a:r>
            <a:r>
              <a:rPr lang="zh-CN" altLang="en-US" dirty="0">
                <a:solidFill>
                  <a:srgbClr val="374151"/>
                </a:solidFill>
                <a:latin typeface="_5b8b_4f53"/>
              </a:rPr>
              <a:t>等（之前基于实际设备的工作中只出现过一款</a:t>
            </a:r>
            <a:r>
              <a:rPr lang="en-US" altLang="zh-CN" dirty="0">
                <a:solidFill>
                  <a:srgbClr val="374151"/>
                </a:solidFill>
                <a:latin typeface="_5b8b_4f53"/>
              </a:rPr>
              <a:t>Zone size = 2GB</a:t>
            </a:r>
            <a:r>
              <a:rPr lang="zh-CN" altLang="en-US" dirty="0">
                <a:solidFill>
                  <a:srgbClr val="374151"/>
                </a:solidFill>
                <a:latin typeface="_5b8b_4f53"/>
              </a:rPr>
              <a:t>的硬盘）。</a:t>
            </a:r>
            <a:endParaRPr lang="zh-CN" altLang="en-US" dirty="0">
              <a:solidFill>
                <a:srgbClr val="374151"/>
              </a:solidFill>
              <a:latin typeface="_5b8b_4f53"/>
            </a:endParaRPr>
          </a:p>
        </p:txBody>
      </p:sp>
      <p:sp>
        <p:nvSpPr>
          <p:cNvPr id="13" name="文本框 12"/>
          <p:cNvSpPr txBox="1"/>
          <p:nvPr/>
        </p:nvSpPr>
        <p:spPr>
          <a:xfrm>
            <a:off x="122628" y="5450801"/>
            <a:ext cx="11553118" cy="1255152"/>
          </a:xfrm>
          <a:prstGeom prst="rect">
            <a:avLst/>
          </a:prstGeom>
          <a:noFill/>
        </p:spPr>
        <p:txBody>
          <a:bodyPr wrap="square">
            <a:spAutoFit/>
          </a:bodyPr>
          <a:lstStyle/>
          <a:p>
            <a:pPr marR="0" lvl="0" indent="0" fontAlgn="auto">
              <a:lnSpc>
                <a:spcPct val="70000"/>
              </a:lnSpc>
              <a:spcBef>
                <a:spcPts val="0"/>
              </a:spcBef>
              <a:spcAft>
                <a:spcPts val="1200"/>
              </a:spcAft>
              <a:buClrTx/>
              <a:buSzTx/>
              <a:buFont typeface="Arial" panose="020B0604020202020204" pitchFamily="34" charset="0"/>
              <a:buNone/>
              <a:defRPr/>
            </a:pPr>
            <a:r>
              <a:rPr lang="en-US" altLang="zh-CN" sz="1600" dirty="0"/>
              <a:t>QEMU</a:t>
            </a:r>
            <a:r>
              <a:rPr lang="zh-CN" altLang="en-US" sz="1600" dirty="0"/>
              <a:t>：</a:t>
            </a:r>
            <a:r>
              <a:rPr lang="en-US" altLang="zh-CN" sz="1600" dirty="0">
                <a:hlinkClick r:id="rId3"/>
              </a:rPr>
              <a:t>https://www.qemu.org/</a:t>
            </a:r>
            <a:endParaRPr lang="en-US" altLang="zh-CN" sz="1600" dirty="0"/>
          </a:p>
          <a:p>
            <a:pPr marR="0" lvl="0" indent="0" fontAlgn="auto">
              <a:lnSpc>
                <a:spcPct val="70000"/>
              </a:lnSpc>
              <a:spcBef>
                <a:spcPts val="0"/>
              </a:spcBef>
              <a:spcAft>
                <a:spcPts val="1200"/>
              </a:spcAft>
              <a:buClrTx/>
              <a:buSzTx/>
              <a:buFont typeface="Arial" panose="020B0604020202020204" pitchFamily="34" charset="0"/>
              <a:buNone/>
              <a:defRPr/>
            </a:pPr>
            <a:r>
              <a:rPr lang="en-US" altLang="zh-CN" sz="1600" dirty="0"/>
              <a:t>FEMU</a:t>
            </a:r>
            <a:r>
              <a:rPr lang="zh-CN" altLang="en-US" sz="1600" dirty="0"/>
              <a:t>：</a:t>
            </a:r>
            <a:r>
              <a:rPr lang="en-US" altLang="zh-CN" sz="1600" dirty="0">
                <a:hlinkClick r:id="rId4"/>
              </a:rPr>
              <a:t>https://github.com/vtess/FEMU</a:t>
            </a:r>
            <a:endParaRPr lang="en-US" altLang="zh-CN" sz="1600" dirty="0"/>
          </a:p>
          <a:p>
            <a:pPr>
              <a:lnSpc>
                <a:spcPct val="70000"/>
              </a:lnSpc>
              <a:spcAft>
                <a:spcPts val="1200"/>
              </a:spcAft>
              <a:defRPr/>
            </a:pPr>
            <a:r>
              <a:rPr lang="en-US" altLang="zh-CN" sz="1600" dirty="0" err="1"/>
              <a:t>NVMeVirt</a:t>
            </a:r>
            <a:r>
              <a:rPr lang="en-US" altLang="zh-CN" sz="1600" dirty="0"/>
              <a:t>: A Versatile Software-defined Virtual </a:t>
            </a:r>
            <a:r>
              <a:rPr lang="en-US" altLang="zh-CN" sz="1600" dirty="0" err="1"/>
              <a:t>NVMe</a:t>
            </a:r>
            <a:r>
              <a:rPr lang="en-US" altLang="zh-CN" sz="1600" dirty="0"/>
              <a:t> Device</a:t>
            </a:r>
            <a:r>
              <a:rPr lang="zh-CN" altLang="en-US" sz="1600" dirty="0"/>
              <a:t>，</a:t>
            </a:r>
            <a:r>
              <a:rPr lang="en-US" altLang="zh-CN" sz="1600" dirty="0"/>
              <a:t>FAST 23</a:t>
            </a:r>
            <a:endParaRPr lang="en-US" altLang="zh-CN" sz="1600" dirty="0">
              <a:hlinkClick r:id="rId5"/>
            </a:endParaRPr>
          </a:p>
          <a:p>
            <a:pPr marR="0" lvl="0" indent="0" fontAlgn="auto">
              <a:lnSpc>
                <a:spcPct val="70000"/>
              </a:lnSpc>
              <a:spcBef>
                <a:spcPts val="0"/>
              </a:spcBef>
              <a:spcAft>
                <a:spcPts val="1200"/>
              </a:spcAft>
              <a:buClrTx/>
              <a:buSzTx/>
              <a:buFont typeface="Arial" panose="020B0604020202020204" pitchFamily="34" charset="0"/>
              <a:buNone/>
              <a:defRPr/>
            </a:pPr>
            <a:endParaRPr lang="en-US" altLang="zh-CN" sz="1600" dirty="0"/>
          </a:p>
        </p:txBody>
      </p:sp>
      <p:sp>
        <p:nvSpPr>
          <p:cNvPr id="15" name="文本框 14"/>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技术方案</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6"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7" name="文本框 6"/>
          <p:cNvSpPr txBox="1"/>
          <p:nvPr/>
        </p:nvSpPr>
        <p:spPr>
          <a:xfrm>
            <a:off x="190500" y="5432932"/>
            <a:ext cx="8260080" cy="928909"/>
          </a:xfrm>
          <a:prstGeom prst="rect">
            <a:avLst/>
          </a:prstGeom>
          <a:noFill/>
        </p:spPr>
        <p:txBody>
          <a:bodyPr wrap="square" rtlCol="0" anchor="t">
            <a:spAutoFit/>
          </a:bodyPr>
          <a:lstStyle/>
          <a:p>
            <a:pPr>
              <a:lnSpc>
                <a:spcPct val="70000"/>
              </a:lnSpc>
              <a:spcAft>
                <a:spcPts val="1200"/>
              </a:spcAft>
              <a:defRPr/>
            </a:pPr>
            <a:r>
              <a:rPr lang="en-US" altLang="zh-CN" sz="1600" dirty="0" err="1"/>
              <a:t>NVMeVirt</a:t>
            </a:r>
            <a:r>
              <a:rPr lang="en-US" altLang="zh-CN" sz="1600" dirty="0"/>
              <a:t>: A Versatile Software-defined Virtual </a:t>
            </a:r>
            <a:r>
              <a:rPr lang="en-US" altLang="zh-CN" sz="1600" dirty="0" err="1"/>
              <a:t>NVMe</a:t>
            </a:r>
            <a:r>
              <a:rPr lang="en-US" altLang="zh-CN" sz="1600" dirty="0"/>
              <a:t> Device</a:t>
            </a:r>
            <a:r>
              <a:rPr lang="zh-CN" altLang="en-US" sz="1600" dirty="0"/>
              <a:t>，</a:t>
            </a:r>
            <a:r>
              <a:rPr lang="en-US" altLang="zh-CN" sz="1600" dirty="0"/>
              <a:t>FAST 23</a:t>
            </a:r>
            <a:endParaRPr lang="en-US" altLang="zh-CN" sz="1600" dirty="0">
              <a:hlinkClick r:id="rId3"/>
            </a:endParaRPr>
          </a:p>
          <a:p>
            <a:pPr marR="0" lvl="0" indent="0" fontAlgn="auto">
              <a:lnSpc>
                <a:spcPct val="70000"/>
              </a:lnSpc>
              <a:spcBef>
                <a:spcPts val="0"/>
              </a:spcBef>
              <a:spcAft>
                <a:spcPts val="1200"/>
              </a:spcAft>
              <a:buClrTx/>
              <a:buSzTx/>
              <a:buFont typeface="Arial" panose="020B0604020202020204" pitchFamily="34" charset="0"/>
              <a:buNone/>
              <a:defRPr/>
            </a:pPr>
            <a:r>
              <a:rPr lang="en-US" altLang="zh-CN" sz="1600" dirty="0" err="1">
                <a:hlinkClick r:id="rId3"/>
              </a:rPr>
              <a:t>Nvme</a:t>
            </a:r>
            <a:r>
              <a:rPr lang="en-US" altLang="zh-CN" sz="1600" dirty="0">
                <a:hlinkClick r:id="rId3"/>
              </a:rPr>
              <a:t>-cli: https://github.com/linux-nvme/nvme-cli</a:t>
            </a:r>
            <a:endParaRPr lang="en-US" altLang="zh-CN" sz="1600" dirty="0"/>
          </a:p>
          <a:p>
            <a:pPr marR="0" lvl="0" indent="0" fontAlgn="auto">
              <a:lnSpc>
                <a:spcPct val="70000"/>
              </a:lnSpc>
              <a:spcBef>
                <a:spcPts val="0"/>
              </a:spcBef>
              <a:spcAft>
                <a:spcPts val="1200"/>
              </a:spcAft>
              <a:buClrTx/>
              <a:buSzTx/>
              <a:buFont typeface="Arial" panose="020B0604020202020204" pitchFamily="34" charset="0"/>
              <a:buNone/>
              <a:defRPr/>
            </a:pPr>
            <a:r>
              <a:rPr lang="en-US" altLang="zh-CN" sz="1600" dirty="0" err="1"/>
              <a:t>Libzbd</a:t>
            </a:r>
            <a:r>
              <a:rPr lang="en-US" altLang="zh-CN" sz="1600" dirty="0"/>
              <a:t>: https://zonedstorage.io/docs/tools/libzbd</a:t>
            </a:r>
            <a:endParaRPr lang="en-US" altLang="zh-CN" sz="1600" dirty="0"/>
          </a:p>
        </p:txBody>
      </p:sp>
      <p:sp>
        <p:nvSpPr>
          <p:cNvPr id="8" name="文本框 7"/>
          <p:cNvSpPr txBox="1"/>
          <p:nvPr/>
        </p:nvSpPr>
        <p:spPr>
          <a:xfrm>
            <a:off x="385590" y="1318324"/>
            <a:ext cx="10483318" cy="3276923"/>
          </a:xfrm>
          <a:prstGeom prst="rect">
            <a:avLst/>
          </a:prstGeom>
          <a:noFill/>
        </p:spPr>
        <p:txBody>
          <a:bodyPr wrap="square">
            <a:spAutoFit/>
          </a:bodyPr>
          <a:lstStyle/>
          <a:p>
            <a:pPr indent="-285750">
              <a:lnSpc>
                <a:spcPct val="150000"/>
              </a:lnSpc>
              <a:buFont typeface="Arial" panose="020B0604020202020204" pitchFamily="34" charset="0"/>
              <a:buChar char="•"/>
            </a:pPr>
            <a:r>
              <a:rPr lang="en-US" altLang="zh-CN" sz="2000" b="1" dirty="0" err="1">
                <a:solidFill>
                  <a:srgbClr val="0D0D0D"/>
                </a:solidFill>
                <a:latin typeface="Söhne"/>
              </a:rPr>
              <a:t>NVMEvirt</a:t>
            </a:r>
            <a:r>
              <a:rPr lang="en-US" altLang="zh-CN" sz="2000" b="1" dirty="0">
                <a:solidFill>
                  <a:srgbClr val="0D0D0D"/>
                </a:solidFill>
                <a:latin typeface="Söhne"/>
              </a:rPr>
              <a:t>: </a:t>
            </a:r>
            <a:r>
              <a:rPr lang="zh-CN" altLang="en-US" sz="2000" dirty="0">
                <a:solidFill>
                  <a:srgbClr val="0D0D0D"/>
                </a:solidFill>
                <a:latin typeface="Söhne"/>
              </a:rPr>
              <a:t>最新的</a:t>
            </a:r>
            <a:r>
              <a:rPr lang="en-US" altLang="zh-CN" sz="2000" dirty="0" err="1">
                <a:solidFill>
                  <a:srgbClr val="0D0D0D"/>
                </a:solidFill>
                <a:latin typeface="Söhne"/>
              </a:rPr>
              <a:t>NVMe</a:t>
            </a:r>
            <a:r>
              <a:rPr lang="zh-CN" altLang="en-US" sz="2000" dirty="0">
                <a:solidFill>
                  <a:srgbClr val="0D0D0D"/>
                </a:solidFill>
                <a:latin typeface="Söhne"/>
              </a:rPr>
              <a:t>模拟器，支持</a:t>
            </a:r>
            <a:r>
              <a:rPr lang="en-US" altLang="zh-CN" sz="2000" dirty="0">
                <a:solidFill>
                  <a:srgbClr val="0D0D0D"/>
                </a:solidFill>
                <a:latin typeface="Söhne"/>
              </a:rPr>
              <a:t>ZNS</a:t>
            </a:r>
            <a:r>
              <a:rPr lang="zh-CN" altLang="en-US" sz="2000" dirty="0">
                <a:solidFill>
                  <a:srgbClr val="0D0D0D"/>
                </a:solidFill>
                <a:latin typeface="Söhne"/>
              </a:rPr>
              <a:t>，用于构建</a:t>
            </a:r>
            <a:r>
              <a:rPr lang="en-US" altLang="zh-CN" sz="2000" dirty="0">
                <a:solidFill>
                  <a:srgbClr val="0D0D0D"/>
                </a:solidFill>
                <a:latin typeface="Söhne"/>
              </a:rPr>
              <a:t>ZNS</a:t>
            </a:r>
            <a:r>
              <a:rPr lang="zh-CN" altLang="en-US" sz="2000" dirty="0">
                <a:solidFill>
                  <a:srgbClr val="0D0D0D"/>
                </a:solidFill>
                <a:latin typeface="Söhne"/>
              </a:rPr>
              <a:t>模拟环境，该模拟器通过内核模块模拟</a:t>
            </a:r>
            <a:r>
              <a:rPr lang="en-US" altLang="zh-CN" sz="2000" dirty="0" err="1">
                <a:solidFill>
                  <a:srgbClr val="0D0D0D"/>
                </a:solidFill>
                <a:latin typeface="Söhne"/>
              </a:rPr>
              <a:t>NVMe</a:t>
            </a:r>
            <a:r>
              <a:rPr lang="zh-CN" altLang="en-US" sz="2000" dirty="0">
                <a:solidFill>
                  <a:srgbClr val="0D0D0D"/>
                </a:solidFill>
                <a:latin typeface="Söhne"/>
              </a:rPr>
              <a:t>设备，提供类似真实设备的性能表现。</a:t>
            </a:r>
            <a:endParaRPr lang="zh-CN" altLang="en-US" sz="2000" dirty="0">
              <a:solidFill>
                <a:srgbClr val="0D0D0D"/>
              </a:solidFill>
              <a:latin typeface="Söhne"/>
            </a:endParaRPr>
          </a:p>
          <a:p>
            <a:pPr indent="-285750">
              <a:lnSpc>
                <a:spcPct val="150000"/>
              </a:lnSpc>
              <a:buFont typeface="Arial" panose="020B0604020202020204" pitchFamily="34" charset="0"/>
              <a:buChar char="•"/>
            </a:pPr>
            <a:r>
              <a:rPr lang="en-US" altLang="zh-CN" sz="2000" b="1" dirty="0" err="1">
                <a:solidFill>
                  <a:srgbClr val="0D0D0D"/>
                </a:solidFill>
                <a:latin typeface="Söhne"/>
              </a:rPr>
              <a:t>ZenFS</a:t>
            </a:r>
            <a:r>
              <a:rPr lang="en-US" altLang="zh-CN" sz="2000" b="1" dirty="0">
                <a:solidFill>
                  <a:srgbClr val="0D0D0D"/>
                </a:solidFill>
                <a:latin typeface="Söhne"/>
              </a:rPr>
              <a:t>: </a:t>
            </a:r>
            <a:r>
              <a:rPr lang="zh-CN" altLang="en-US" sz="2000" dirty="0">
                <a:solidFill>
                  <a:srgbClr val="0D0D0D"/>
                </a:solidFill>
                <a:latin typeface="Söhne"/>
              </a:rPr>
              <a:t>为</a:t>
            </a:r>
            <a:r>
              <a:rPr lang="en-US" altLang="zh-CN" sz="2000" dirty="0" err="1">
                <a:solidFill>
                  <a:srgbClr val="0D0D0D"/>
                </a:solidFill>
                <a:latin typeface="Söhne"/>
              </a:rPr>
              <a:t>RocksDB</a:t>
            </a:r>
            <a:r>
              <a:rPr lang="zh-CN" altLang="en-US" sz="2000" dirty="0">
                <a:solidFill>
                  <a:srgbClr val="0D0D0D"/>
                </a:solidFill>
                <a:latin typeface="Söhne"/>
              </a:rPr>
              <a:t>提供的文件系统插件，支持</a:t>
            </a:r>
            <a:r>
              <a:rPr lang="en-US" altLang="zh-CN" sz="2000" dirty="0">
                <a:solidFill>
                  <a:srgbClr val="0D0D0D"/>
                </a:solidFill>
                <a:latin typeface="Söhne"/>
              </a:rPr>
              <a:t>ZNS SSD</a:t>
            </a:r>
            <a:r>
              <a:rPr lang="zh-CN" altLang="en-US" sz="2000" dirty="0">
                <a:solidFill>
                  <a:srgbClr val="0D0D0D"/>
                </a:solidFill>
                <a:latin typeface="Söhne"/>
              </a:rPr>
              <a:t>，显著减少系统写放大。</a:t>
            </a:r>
            <a:endParaRPr lang="zh-CN" altLang="en-US" sz="2000" dirty="0">
              <a:solidFill>
                <a:srgbClr val="0D0D0D"/>
              </a:solidFill>
              <a:latin typeface="Söhne"/>
            </a:endParaRPr>
          </a:p>
          <a:p>
            <a:pPr indent="-285750">
              <a:lnSpc>
                <a:spcPct val="150000"/>
              </a:lnSpc>
              <a:buFont typeface="Arial" panose="020B0604020202020204" pitchFamily="34" charset="0"/>
              <a:buChar char="•"/>
            </a:pPr>
            <a:r>
              <a:rPr lang="en-US" altLang="zh-CN" sz="2000" b="1" dirty="0">
                <a:solidFill>
                  <a:srgbClr val="0D0D0D"/>
                </a:solidFill>
                <a:latin typeface="Söhne"/>
              </a:rPr>
              <a:t>Linux</a:t>
            </a:r>
            <a:r>
              <a:rPr lang="zh-CN" altLang="en-US" sz="2000" b="1" dirty="0">
                <a:solidFill>
                  <a:srgbClr val="0D0D0D"/>
                </a:solidFill>
                <a:latin typeface="Söhne"/>
              </a:rPr>
              <a:t>系统工具</a:t>
            </a:r>
            <a:r>
              <a:rPr lang="en-US" altLang="zh-CN" sz="2000" b="1" dirty="0">
                <a:solidFill>
                  <a:srgbClr val="0D0D0D"/>
                </a:solidFill>
                <a:latin typeface="Söhne"/>
              </a:rPr>
              <a:t>: </a:t>
            </a:r>
            <a:r>
              <a:rPr lang="zh-CN" altLang="en-US" sz="2000" dirty="0">
                <a:solidFill>
                  <a:srgbClr val="0D0D0D"/>
                </a:solidFill>
                <a:latin typeface="Söhne"/>
              </a:rPr>
              <a:t>经前期测试验证已支持</a:t>
            </a:r>
            <a:r>
              <a:rPr lang="en-US" altLang="zh-CN" sz="2000" dirty="0">
                <a:solidFill>
                  <a:srgbClr val="0D0D0D"/>
                </a:solidFill>
                <a:latin typeface="Söhne"/>
              </a:rPr>
              <a:t>ZNS</a:t>
            </a:r>
            <a:r>
              <a:rPr lang="zh-CN" altLang="en-US" sz="2000" dirty="0">
                <a:solidFill>
                  <a:srgbClr val="0D0D0D"/>
                </a:solidFill>
                <a:latin typeface="Söhne"/>
              </a:rPr>
              <a:t>的工具：包括</a:t>
            </a:r>
            <a:r>
              <a:rPr lang="en-US" altLang="zh-CN" sz="2000" dirty="0" err="1">
                <a:solidFill>
                  <a:srgbClr val="0D0D0D"/>
                </a:solidFill>
                <a:latin typeface="Söhne"/>
              </a:rPr>
              <a:t>fio</a:t>
            </a:r>
            <a:r>
              <a:rPr lang="zh-CN" altLang="en-US" sz="2000" dirty="0">
                <a:solidFill>
                  <a:srgbClr val="0D0D0D"/>
                </a:solidFill>
                <a:latin typeface="Söhne"/>
              </a:rPr>
              <a:t>、</a:t>
            </a:r>
            <a:r>
              <a:rPr lang="en-US" altLang="zh-CN" sz="2000" dirty="0" err="1">
                <a:solidFill>
                  <a:srgbClr val="0D0D0D"/>
                </a:solidFill>
                <a:latin typeface="Söhne"/>
              </a:rPr>
              <a:t>nvme</a:t>
            </a:r>
            <a:r>
              <a:rPr lang="en-US" altLang="zh-CN" sz="2000" dirty="0">
                <a:solidFill>
                  <a:srgbClr val="0D0D0D"/>
                </a:solidFill>
                <a:latin typeface="Söhne"/>
              </a:rPr>
              <a:t>-cli</a:t>
            </a:r>
            <a:r>
              <a:rPr lang="zh-CN" altLang="en-US" sz="2000" dirty="0">
                <a:solidFill>
                  <a:srgbClr val="0D0D0D"/>
                </a:solidFill>
                <a:latin typeface="Söhne"/>
              </a:rPr>
              <a:t>等，用于性能测试和管理</a:t>
            </a:r>
            <a:r>
              <a:rPr lang="en-US" altLang="zh-CN" sz="2000" dirty="0">
                <a:solidFill>
                  <a:srgbClr val="0D0D0D"/>
                </a:solidFill>
                <a:latin typeface="Söhne"/>
              </a:rPr>
              <a:t>ZNS SSD</a:t>
            </a:r>
            <a:r>
              <a:rPr lang="zh-CN" altLang="en-US" sz="2000" dirty="0">
                <a:solidFill>
                  <a:srgbClr val="0D0D0D"/>
                </a:solidFill>
                <a:latin typeface="Söhne"/>
              </a:rPr>
              <a:t>。</a:t>
            </a:r>
            <a:endParaRPr lang="zh-CN" altLang="en-US" sz="2000" dirty="0">
              <a:solidFill>
                <a:srgbClr val="0D0D0D"/>
              </a:solidFill>
              <a:latin typeface="Söhne"/>
            </a:endParaRPr>
          </a:p>
          <a:p>
            <a:pPr indent="-285750">
              <a:lnSpc>
                <a:spcPct val="150000"/>
              </a:lnSpc>
              <a:buFont typeface="Arial" panose="020B0604020202020204" pitchFamily="34" charset="0"/>
              <a:buChar char="•"/>
            </a:pPr>
            <a:r>
              <a:rPr lang="en-US" altLang="zh-CN" sz="2000" b="1" dirty="0" err="1">
                <a:solidFill>
                  <a:srgbClr val="0D0D0D"/>
                </a:solidFill>
                <a:latin typeface="Söhne"/>
              </a:rPr>
              <a:t>zbd</a:t>
            </a:r>
            <a:r>
              <a:rPr lang="en-US" altLang="zh-CN" sz="2000" b="1" dirty="0">
                <a:solidFill>
                  <a:srgbClr val="0D0D0D"/>
                </a:solidFill>
                <a:latin typeface="Söhne"/>
              </a:rPr>
              <a:t>-tools: </a:t>
            </a:r>
            <a:r>
              <a:rPr lang="zh-CN" altLang="en-US" sz="2000" dirty="0">
                <a:solidFill>
                  <a:srgbClr val="0D0D0D"/>
                </a:solidFill>
                <a:latin typeface="Söhne"/>
              </a:rPr>
              <a:t>包括</a:t>
            </a:r>
            <a:r>
              <a:rPr lang="en-US" altLang="zh-CN" sz="2000" dirty="0" err="1">
                <a:solidFill>
                  <a:srgbClr val="0D0D0D"/>
                </a:solidFill>
                <a:latin typeface="Söhne"/>
              </a:rPr>
              <a:t>gzbd</a:t>
            </a:r>
            <a:r>
              <a:rPr lang="zh-CN" altLang="en-US" sz="2000" dirty="0">
                <a:solidFill>
                  <a:srgbClr val="0D0D0D"/>
                </a:solidFill>
                <a:latin typeface="Söhne"/>
              </a:rPr>
              <a:t>、</a:t>
            </a:r>
            <a:r>
              <a:rPr lang="en-US" altLang="zh-CN" sz="2000" dirty="0" err="1">
                <a:solidFill>
                  <a:srgbClr val="0D0D0D"/>
                </a:solidFill>
                <a:latin typeface="Söhne"/>
              </a:rPr>
              <a:t>libzbd</a:t>
            </a:r>
            <a:r>
              <a:rPr lang="zh-CN" altLang="en-US" sz="2000" dirty="0">
                <a:solidFill>
                  <a:srgbClr val="0D0D0D"/>
                </a:solidFill>
                <a:latin typeface="Söhne"/>
              </a:rPr>
              <a:t>。</a:t>
            </a:r>
            <a:r>
              <a:rPr lang="en-US" altLang="zh-CN" sz="2000" dirty="0" err="1">
                <a:solidFill>
                  <a:srgbClr val="0D0D0D"/>
                </a:solidFill>
                <a:latin typeface="Söhne"/>
              </a:rPr>
              <a:t>Gzbd</a:t>
            </a:r>
            <a:r>
              <a:rPr lang="zh-CN" altLang="en-US" sz="2000" dirty="0">
                <a:solidFill>
                  <a:srgbClr val="0D0D0D"/>
                </a:solidFill>
                <a:latin typeface="Söhne"/>
              </a:rPr>
              <a:t>能提供可视化，</a:t>
            </a:r>
            <a:r>
              <a:rPr lang="en-US" altLang="zh-CN" sz="2000" dirty="0" err="1">
                <a:solidFill>
                  <a:srgbClr val="0D0D0D"/>
                </a:solidFill>
                <a:latin typeface="Söhne"/>
              </a:rPr>
              <a:t>libzbd</a:t>
            </a:r>
            <a:r>
              <a:rPr lang="zh-CN" altLang="en-US" sz="2000" dirty="0">
                <a:solidFill>
                  <a:srgbClr val="0D0D0D"/>
                </a:solidFill>
                <a:latin typeface="Söhne"/>
              </a:rPr>
              <a:t>是最新的</a:t>
            </a:r>
            <a:r>
              <a:rPr lang="en-US" altLang="zh-CN" sz="2000" dirty="0">
                <a:solidFill>
                  <a:srgbClr val="0D0D0D"/>
                </a:solidFill>
                <a:latin typeface="Söhne"/>
              </a:rPr>
              <a:t>zone</a:t>
            </a:r>
            <a:r>
              <a:rPr lang="zh-CN" altLang="en-US" sz="2000" dirty="0">
                <a:solidFill>
                  <a:srgbClr val="0D0D0D"/>
                </a:solidFill>
                <a:latin typeface="Söhne"/>
              </a:rPr>
              <a:t>语义用户库，支持</a:t>
            </a:r>
            <a:r>
              <a:rPr lang="en-US" altLang="zh-CN" sz="2000" dirty="0">
                <a:solidFill>
                  <a:srgbClr val="0D0D0D"/>
                </a:solidFill>
                <a:latin typeface="Söhne"/>
              </a:rPr>
              <a:t>Zone</a:t>
            </a:r>
            <a:r>
              <a:rPr lang="zh-CN" altLang="en-US" sz="2000" dirty="0">
                <a:solidFill>
                  <a:srgbClr val="0D0D0D"/>
                </a:solidFill>
                <a:latin typeface="Söhne"/>
              </a:rPr>
              <a:t>逻辑设备的管理和操作。</a:t>
            </a:r>
            <a:endParaRPr lang="zh-CN" altLang="en-US" sz="2000" dirty="0">
              <a:solidFill>
                <a:srgbClr val="0D0D0D"/>
              </a:solidFill>
              <a:latin typeface="Söhne"/>
            </a:endParaRPr>
          </a:p>
        </p:txBody>
      </p:sp>
      <p:sp>
        <p:nvSpPr>
          <p:cNvPr id="2" name="文本框 1"/>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实验工具</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 name="文本框 1"/>
          <p:cNvSpPr txBox="1"/>
          <p:nvPr/>
        </p:nvSpPr>
        <p:spPr>
          <a:xfrm>
            <a:off x="385590" y="1095737"/>
            <a:ext cx="6951980" cy="460375"/>
          </a:xfrm>
          <a:prstGeom prst="rect">
            <a:avLst/>
          </a:prstGeom>
          <a:noFill/>
        </p:spPr>
        <p:txBody>
          <a:bodyPr wrap="square" rtlCol="0">
            <a:spAutoFit/>
          </a:bodyPr>
          <a:lstStyle/>
          <a:p>
            <a:r>
              <a:rPr lang="en-US" altLang="zh-CN" sz="2400" dirty="0" err="1">
                <a:solidFill>
                  <a:srgbClr val="4747BA"/>
                </a:solidFill>
                <a:ea typeface="+mn-lt"/>
                <a:cs typeface="Times New Roman" panose="02020603050405020304" pitchFamily="18" charset="0"/>
              </a:rPr>
              <a:t>NVMevirt</a:t>
            </a:r>
            <a:r>
              <a:rPr lang="zh-CN" altLang="en-US" sz="2400" dirty="0">
                <a:solidFill>
                  <a:srgbClr val="4747BA"/>
                </a:solidFill>
                <a:ea typeface="+mn-lt"/>
                <a:cs typeface="Times New Roman" panose="02020603050405020304" pitchFamily="18" charset="0"/>
              </a:rPr>
              <a:t>模拟器</a:t>
            </a:r>
            <a:endParaRPr lang="en-US" altLang="zh-CN" sz="2400" dirty="0">
              <a:solidFill>
                <a:srgbClr val="4747BA"/>
              </a:solidFill>
              <a:ea typeface="+mn-lt"/>
              <a:cs typeface="Times New Roman" panose="02020603050405020304" pitchFamily="18" charset="0"/>
            </a:endParaRPr>
          </a:p>
        </p:txBody>
      </p:sp>
      <p:sp>
        <p:nvSpPr>
          <p:cNvPr id="7"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pic>
        <p:nvPicPr>
          <p:cNvPr id="9" name="图片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920" y="2129895"/>
            <a:ext cx="10789920" cy="3632368"/>
          </a:xfrm>
          <a:prstGeom prst="rect">
            <a:avLst/>
          </a:prstGeom>
        </p:spPr>
      </p:pic>
      <p:sp>
        <p:nvSpPr>
          <p:cNvPr id="10" name="文本框 9"/>
          <p:cNvSpPr txBox="1"/>
          <p:nvPr/>
        </p:nvSpPr>
        <p:spPr>
          <a:xfrm>
            <a:off x="385590" y="1513449"/>
            <a:ext cx="10483318" cy="506934"/>
          </a:xfrm>
          <a:prstGeom prst="rect">
            <a:avLst/>
          </a:prstGeom>
          <a:noFill/>
        </p:spPr>
        <p:txBody>
          <a:bodyPr wrap="square">
            <a:spAutoFit/>
          </a:bodyPr>
          <a:lstStyle/>
          <a:p>
            <a:pPr>
              <a:lnSpc>
                <a:spcPct val="150000"/>
              </a:lnSpc>
            </a:pPr>
            <a:r>
              <a:rPr lang="zh-CN" altLang="en-US" sz="2000" dirty="0">
                <a:solidFill>
                  <a:srgbClr val="0D0D0D"/>
                </a:solidFill>
                <a:latin typeface="Söhne"/>
              </a:rPr>
              <a:t>如图，构建了一个</a:t>
            </a:r>
            <a:r>
              <a:rPr lang="en-US" altLang="zh-CN" sz="2000" dirty="0">
                <a:solidFill>
                  <a:srgbClr val="0D0D0D"/>
                </a:solidFill>
                <a:latin typeface="Söhne"/>
              </a:rPr>
              <a:t>Zone</a:t>
            </a:r>
            <a:r>
              <a:rPr lang="zh-CN" altLang="en-US" sz="2000" dirty="0">
                <a:solidFill>
                  <a:srgbClr val="0D0D0D"/>
                </a:solidFill>
                <a:latin typeface="Söhne"/>
              </a:rPr>
              <a:t>大小为</a:t>
            </a:r>
            <a:r>
              <a:rPr lang="en-US" altLang="zh-CN" sz="2000" dirty="0">
                <a:solidFill>
                  <a:srgbClr val="0D0D0D"/>
                </a:solidFill>
                <a:latin typeface="Söhne"/>
              </a:rPr>
              <a:t>10MB</a:t>
            </a:r>
            <a:r>
              <a:rPr lang="zh-CN" altLang="en-US" sz="2000" dirty="0">
                <a:solidFill>
                  <a:srgbClr val="0D0D0D"/>
                </a:solidFill>
                <a:latin typeface="Söhne"/>
              </a:rPr>
              <a:t>的</a:t>
            </a:r>
            <a:r>
              <a:rPr lang="en-US" altLang="zh-CN" sz="2000" dirty="0">
                <a:solidFill>
                  <a:srgbClr val="0D0D0D"/>
                </a:solidFill>
                <a:latin typeface="Söhne"/>
              </a:rPr>
              <a:t>ZNS</a:t>
            </a:r>
            <a:r>
              <a:rPr lang="zh-CN" altLang="en-US" sz="2000" dirty="0">
                <a:solidFill>
                  <a:srgbClr val="0D0D0D"/>
                </a:solidFill>
                <a:latin typeface="Söhne"/>
              </a:rPr>
              <a:t>盘，使用</a:t>
            </a:r>
            <a:r>
              <a:rPr lang="en-US" altLang="zh-CN" sz="2000" dirty="0" err="1">
                <a:solidFill>
                  <a:srgbClr val="0D0D0D"/>
                </a:solidFill>
                <a:latin typeface="Söhne"/>
              </a:rPr>
              <a:t>nvme</a:t>
            </a:r>
            <a:r>
              <a:rPr lang="en-US" altLang="zh-CN" sz="2000" dirty="0">
                <a:solidFill>
                  <a:srgbClr val="0D0D0D"/>
                </a:solidFill>
                <a:latin typeface="Söhne"/>
              </a:rPr>
              <a:t>-cli</a:t>
            </a:r>
            <a:r>
              <a:rPr lang="zh-CN" altLang="en-US" sz="2000" dirty="0">
                <a:solidFill>
                  <a:srgbClr val="0D0D0D"/>
                </a:solidFill>
                <a:latin typeface="Söhne"/>
              </a:rPr>
              <a:t>报告状态如下</a:t>
            </a:r>
            <a:r>
              <a:rPr lang="en-US" altLang="zh-CN" sz="2000" dirty="0">
                <a:solidFill>
                  <a:srgbClr val="0D0D0D"/>
                </a:solidFill>
                <a:latin typeface="Söhne"/>
              </a:rPr>
              <a:t>:</a:t>
            </a:r>
            <a:endParaRPr lang="zh-CN" altLang="en-US" sz="2000" dirty="0">
              <a:solidFill>
                <a:srgbClr val="0D0D0D"/>
              </a:solidFill>
              <a:latin typeface="Söhne"/>
            </a:endParaRPr>
          </a:p>
        </p:txBody>
      </p:sp>
      <p:sp>
        <p:nvSpPr>
          <p:cNvPr id="12" name="文本框 11"/>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实验平台</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415183" y="166469"/>
            <a:ext cx="6798981" cy="645160"/>
          </a:xfrm>
          <a:prstGeom prst="rect">
            <a:avLst/>
          </a:prstGeom>
          <a:noFill/>
        </p:spPr>
        <p:txBody>
          <a:bodyPr wrap="square" rtlCol="0">
            <a:spAutoFit/>
          </a:bodyPr>
          <a:lstStyle/>
          <a:p>
            <a:pPr>
              <a:lnSpc>
                <a:spcPct val="90000"/>
              </a:lnSpc>
              <a:spcBef>
                <a:spcPts val="1000"/>
              </a:spcBef>
              <a:defRPr/>
            </a:pP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实验平台</a:t>
            </a:r>
            <a:endPar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 name="文本框 1"/>
          <p:cNvSpPr txBox="1"/>
          <p:nvPr/>
        </p:nvSpPr>
        <p:spPr>
          <a:xfrm>
            <a:off x="440055" y="1088390"/>
            <a:ext cx="6951980" cy="460375"/>
          </a:xfrm>
          <a:prstGeom prst="rect">
            <a:avLst/>
          </a:prstGeom>
          <a:noFill/>
        </p:spPr>
        <p:txBody>
          <a:bodyPr wrap="square" rtlCol="0">
            <a:spAutoFit/>
          </a:bodyPr>
          <a:lstStyle/>
          <a:p>
            <a:r>
              <a:rPr lang="en-US" altLang="zh-CN" sz="2400" dirty="0">
                <a:solidFill>
                  <a:srgbClr val="4747BA"/>
                </a:solidFill>
                <a:ea typeface="+mn-lt"/>
                <a:cs typeface="Times New Roman" panose="02020603050405020304" pitchFamily="18" charset="0"/>
              </a:rPr>
              <a:t>ZNS</a:t>
            </a:r>
            <a:r>
              <a:rPr lang="zh-CN" altLang="en-US" sz="2400" dirty="0">
                <a:solidFill>
                  <a:srgbClr val="4747BA"/>
                </a:solidFill>
                <a:ea typeface="+mn-lt"/>
                <a:cs typeface="Times New Roman" panose="02020603050405020304" pitchFamily="18" charset="0"/>
              </a:rPr>
              <a:t>设备</a:t>
            </a:r>
            <a:endParaRPr lang="en-US" altLang="zh-CN" sz="2400" dirty="0">
              <a:solidFill>
                <a:srgbClr val="4747BA"/>
              </a:solidFill>
              <a:ea typeface="+mn-lt"/>
              <a:cs typeface="Times New Roman" panose="02020603050405020304" pitchFamily="18" charset="0"/>
            </a:endParaRPr>
          </a:p>
        </p:txBody>
      </p:sp>
      <p:sp>
        <p:nvSpPr>
          <p:cNvPr id="5" name="文本框 4"/>
          <p:cNvSpPr txBox="1"/>
          <p:nvPr/>
        </p:nvSpPr>
        <p:spPr>
          <a:xfrm>
            <a:off x="385590" y="1576511"/>
            <a:ext cx="6696883" cy="2461508"/>
          </a:xfrm>
          <a:prstGeom prst="rect">
            <a:avLst/>
          </a:prstGeom>
          <a:noFill/>
        </p:spPr>
        <p:txBody>
          <a:bodyPr wrap="square" rtlCol="0" anchor="t">
            <a:spAutoFit/>
          </a:bodyPr>
          <a:lstStyle/>
          <a:p>
            <a:pPr marL="342900" indent="-342900">
              <a:lnSpc>
                <a:spcPct val="130000"/>
              </a:lnSpc>
              <a:buFont typeface="Wingdings" panose="05000000000000000000" charset="0"/>
              <a:buChar char="q"/>
            </a:pPr>
            <a:r>
              <a:rPr lang="en-US" altLang="zh-CN" sz="2000" dirty="0">
                <a:sym typeface="+mn-ea"/>
              </a:rPr>
              <a:t>ZNS</a:t>
            </a:r>
            <a:r>
              <a:rPr lang="zh-CN" altLang="en-US" sz="2000" dirty="0">
                <a:sym typeface="+mn-ea"/>
              </a:rPr>
              <a:t>采用</a:t>
            </a:r>
            <a:r>
              <a:rPr lang="en-US" altLang="zh-CN" sz="2000" dirty="0">
                <a:sym typeface="+mn-ea"/>
              </a:rPr>
              <a:t>U.2</a:t>
            </a:r>
            <a:r>
              <a:rPr lang="zh-CN" altLang="en-US" sz="2000" dirty="0">
                <a:sym typeface="+mn-ea"/>
              </a:rPr>
              <a:t>接口，如右图</a:t>
            </a:r>
            <a:r>
              <a:rPr lang="en-US" altLang="zh-CN" sz="2000" dirty="0">
                <a:sym typeface="+mn-ea"/>
              </a:rPr>
              <a:t> </a:t>
            </a:r>
            <a:endParaRPr lang="en-US" altLang="zh-CN" sz="2000" dirty="0">
              <a:sym typeface="+mn-ea"/>
            </a:endParaRPr>
          </a:p>
          <a:p>
            <a:pPr marL="342900" indent="-342900">
              <a:lnSpc>
                <a:spcPct val="130000"/>
              </a:lnSpc>
              <a:buFont typeface="Wingdings" panose="05000000000000000000" charset="0"/>
              <a:buChar char="q"/>
            </a:pPr>
            <a:r>
              <a:rPr lang="zh-CN" altLang="en-US" sz="2000" dirty="0">
                <a:sym typeface="+mn-ea"/>
              </a:rPr>
              <a:t>另外，初步测试了</a:t>
            </a:r>
            <a:r>
              <a:rPr lang="en-US" altLang="zh-CN" sz="2000" dirty="0" err="1">
                <a:sym typeface="+mn-ea"/>
              </a:rPr>
              <a:t>RocksDB</a:t>
            </a:r>
            <a:r>
              <a:rPr lang="en-US" altLang="zh-CN" sz="2000" dirty="0">
                <a:sym typeface="+mn-ea"/>
              </a:rPr>
              <a:t> + </a:t>
            </a:r>
            <a:r>
              <a:rPr lang="en-US" altLang="zh-CN" sz="2000" dirty="0" err="1">
                <a:sym typeface="+mn-ea"/>
              </a:rPr>
              <a:t>ZenFS</a:t>
            </a:r>
            <a:r>
              <a:rPr lang="zh-CN" altLang="en-US" sz="2000" dirty="0">
                <a:sym typeface="+mn-ea"/>
              </a:rPr>
              <a:t>的表现，与之前</a:t>
            </a:r>
            <a:r>
              <a:rPr lang="en-US" altLang="zh-CN" sz="2000" dirty="0" err="1">
                <a:sym typeface="+mn-ea"/>
              </a:rPr>
              <a:t>NVMevirt</a:t>
            </a:r>
            <a:r>
              <a:rPr lang="zh-CN" altLang="en-US" sz="2000" dirty="0">
                <a:sym typeface="+mn-ea"/>
              </a:rPr>
              <a:t>模拟结果相比，模拟器的延迟过低。我认为原因在于它是内核模块实现，可能只体现了主机</a:t>
            </a:r>
            <a:r>
              <a:rPr lang="en-US" altLang="zh-CN" sz="2000" dirty="0">
                <a:sym typeface="+mn-ea"/>
              </a:rPr>
              <a:t>l/O</a:t>
            </a:r>
            <a:r>
              <a:rPr lang="zh-CN" altLang="en-US" sz="2000" dirty="0">
                <a:sym typeface="+mn-ea"/>
              </a:rPr>
              <a:t>栈的延迟。</a:t>
            </a:r>
            <a:endParaRPr lang="en-US" altLang="zh-CN" sz="2000" dirty="0">
              <a:sym typeface="+mn-ea"/>
            </a:endParaRPr>
          </a:p>
          <a:p>
            <a:pPr marL="342900" indent="-342900">
              <a:lnSpc>
                <a:spcPct val="130000"/>
              </a:lnSpc>
              <a:buFont typeface="Wingdings" panose="05000000000000000000" charset="0"/>
              <a:buChar char="q"/>
            </a:pPr>
            <a:r>
              <a:rPr lang="zh-CN" altLang="en-US" sz="2000" dirty="0">
                <a:sym typeface="+mn-ea"/>
              </a:rPr>
              <a:t>连接到服务器后，查看块设备，如右下图所示</a:t>
            </a:r>
            <a:endParaRPr lang="en-US" altLang="zh-CN" sz="2000" dirty="0">
              <a:sym typeface="+mn-ea"/>
            </a:endParaRPr>
          </a:p>
        </p:txBody>
      </p:sp>
      <p:sp>
        <p:nvSpPr>
          <p:cNvPr id="7"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pic>
        <p:nvPicPr>
          <p:cNvPr id="8" name="图片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985299" y="1248081"/>
            <a:ext cx="1598233" cy="2243013"/>
          </a:xfrm>
          <a:prstGeom prst="rect">
            <a:avLst/>
          </a:prstGeom>
        </p:spPr>
      </p:pic>
      <p:pic>
        <p:nvPicPr>
          <p:cNvPr id="11" name="图片 1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43977" y="1248799"/>
            <a:ext cx="1693704" cy="2258272"/>
          </a:xfrm>
          <a:prstGeom prst="rect">
            <a:avLst/>
          </a:prstGeom>
        </p:spPr>
      </p:pic>
      <p:pic>
        <p:nvPicPr>
          <p:cNvPr id="27" name="图片 2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66174" y="4065765"/>
            <a:ext cx="5517358" cy="2270957"/>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 name="文本框 1"/>
          <p:cNvSpPr txBox="1"/>
          <p:nvPr/>
        </p:nvSpPr>
        <p:spPr>
          <a:xfrm>
            <a:off x="415183" y="1080755"/>
            <a:ext cx="6951980" cy="460375"/>
          </a:xfrm>
          <a:prstGeom prst="rect">
            <a:avLst/>
          </a:prstGeom>
          <a:noFill/>
        </p:spPr>
        <p:txBody>
          <a:bodyPr wrap="square" rtlCol="0">
            <a:spAutoFit/>
          </a:bodyPr>
          <a:lstStyle/>
          <a:p>
            <a:r>
              <a:rPr lang="en-US" altLang="zh-CN" sz="2400" dirty="0">
                <a:solidFill>
                  <a:srgbClr val="4747BA"/>
                </a:solidFill>
                <a:ea typeface="+mn-lt"/>
                <a:cs typeface="Times New Roman" panose="02020603050405020304" pitchFamily="18" charset="0"/>
              </a:rPr>
              <a:t>ZNS</a:t>
            </a:r>
            <a:r>
              <a:rPr lang="zh-CN" altLang="en-US" sz="2400" dirty="0">
                <a:solidFill>
                  <a:srgbClr val="4747BA"/>
                </a:solidFill>
                <a:ea typeface="+mn-lt"/>
                <a:cs typeface="Times New Roman" panose="02020603050405020304" pitchFamily="18" charset="0"/>
              </a:rPr>
              <a:t>设计及其特性</a:t>
            </a:r>
            <a:endParaRPr lang="en-US" altLang="zh-CN" sz="2400" dirty="0">
              <a:solidFill>
                <a:srgbClr val="4747BA"/>
              </a:solidFill>
              <a:ea typeface="+mn-lt"/>
              <a:cs typeface="Times New Roman" panose="02020603050405020304" pitchFamily="18" charset="0"/>
            </a:endParaRPr>
          </a:p>
        </p:txBody>
      </p:sp>
      <p:sp>
        <p:nvSpPr>
          <p:cNvPr id="3" name="文本框 2"/>
          <p:cNvSpPr txBox="1"/>
          <p:nvPr/>
        </p:nvSpPr>
        <p:spPr>
          <a:xfrm>
            <a:off x="440055" y="1790929"/>
            <a:ext cx="10217207" cy="2059218"/>
          </a:xfrm>
          <a:prstGeom prst="rect">
            <a:avLst/>
          </a:prstGeom>
          <a:noFill/>
        </p:spPr>
        <p:txBody>
          <a:bodyPr wrap="square" rtlCol="0">
            <a:spAutoFit/>
          </a:bodyPr>
          <a:lstStyle/>
          <a:p>
            <a:pPr marL="285750" indent="-285750">
              <a:lnSpc>
                <a:spcPct val="130000"/>
              </a:lnSpc>
              <a:buFont typeface="Wingdings" panose="05000000000000000000" charset="0"/>
              <a:buChar char="q"/>
            </a:pPr>
            <a:r>
              <a:rPr lang="en-US" altLang="zh-CN" sz="2000" i="0" dirty="0">
                <a:solidFill>
                  <a:srgbClr val="374151"/>
                </a:solidFill>
                <a:effectLst/>
                <a:latin typeface="Söhne"/>
              </a:rPr>
              <a:t>ZNS</a:t>
            </a:r>
            <a:r>
              <a:rPr lang="zh-CN" altLang="en-US" sz="2000" i="0" dirty="0">
                <a:solidFill>
                  <a:srgbClr val="374151"/>
                </a:solidFill>
                <a:effectLst/>
                <a:latin typeface="Söhne"/>
              </a:rPr>
              <a:t>（</a:t>
            </a:r>
            <a:r>
              <a:rPr lang="en-US" altLang="zh-CN" sz="2000" i="0" dirty="0">
                <a:solidFill>
                  <a:srgbClr val="374151"/>
                </a:solidFill>
                <a:effectLst/>
                <a:latin typeface="Söhne"/>
              </a:rPr>
              <a:t>Zoned Namespace</a:t>
            </a:r>
            <a:r>
              <a:rPr lang="zh-CN" altLang="en-US" sz="2000" i="0" dirty="0">
                <a:solidFill>
                  <a:srgbClr val="374151"/>
                </a:solidFill>
                <a:effectLst/>
                <a:latin typeface="Söhne"/>
              </a:rPr>
              <a:t>）</a:t>
            </a:r>
            <a:r>
              <a:rPr lang="zh-CN" altLang="en-US" sz="2000" i="0" dirty="0">
                <a:solidFill>
                  <a:srgbClr val="000000"/>
                </a:solidFill>
                <a:effectLst/>
                <a:latin typeface="_5b8b_4f53"/>
              </a:rPr>
              <a:t>是一种面向大规模数据中心设计的新型存储设备，其设计理念是将</a:t>
            </a:r>
            <a:r>
              <a:rPr lang="en-US" altLang="zh-CN" sz="2000" i="0" dirty="0">
                <a:solidFill>
                  <a:srgbClr val="000000"/>
                </a:solidFill>
                <a:effectLst/>
                <a:latin typeface="_5b8b_4f53"/>
              </a:rPr>
              <a:t>SSD</a:t>
            </a:r>
            <a:r>
              <a:rPr lang="zh-CN" altLang="en-US" sz="2000" i="0" dirty="0">
                <a:solidFill>
                  <a:srgbClr val="000000"/>
                </a:solidFill>
                <a:effectLst/>
                <a:latin typeface="_5b8b_4f53"/>
              </a:rPr>
              <a:t>的存储空间按更大的粒度划分为不同的区域，每个区域具有独立的属性。与传统的块设备最大的不同在于，</a:t>
            </a:r>
            <a:r>
              <a:rPr lang="en-US" altLang="zh-CN" sz="2000" i="0" dirty="0">
                <a:solidFill>
                  <a:srgbClr val="000000"/>
                </a:solidFill>
                <a:effectLst/>
                <a:latin typeface="_5b8b_4f53"/>
              </a:rPr>
              <a:t>ZNS</a:t>
            </a:r>
            <a:r>
              <a:rPr lang="zh-CN" altLang="en-US" sz="2000" i="0" dirty="0">
                <a:solidFill>
                  <a:srgbClr val="000000"/>
                </a:solidFill>
                <a:effectLst/>
                <a:latin typeface="_5b8b_4f53"/>
              </a:rPr>
              <a:t>要求在一个区域内顺序写入数据。</a:t>
            </a:r>
            <a:r>
              <a:rPr lang="en-US" altLang="zh-CN" sz="2000" i="0" dirty="0">
                <a:solidFill>
                  <a:srgbClr val="000000"/>
                </a:solidFill>
                <a:effectLst/>
                <a:latin typeface="_5b8b_4f53"/>
              </a:rPr>
              <a:t>ZNS</a:t>
            </a:r>
            <a:r>
              <a:rPr lang="zh-CN" altLang="en-US" sz="2000" i="0" dirty="0">
                <a:solidFill>
                  <a:srgbClr val="000000"/>
                </a:solidFill>
                <a:effectLst/>
                <a:latin typeface="_5b8b_4f53"/>
              </a:rPr>
              <a:t>的设计旨在解决传统固态硬盘</a:t>
            </a:r>
            <a:r>
              <a:rPr lang="en-US" altLang="zh-CN" sz="2000" i="0" dirty="0">
                <a:solidFill>
                  <a:srgbClr val="000000"/>
                </a:solidFill>
                <a:effectLst/>
                <a:latin typeface="_5b8b_4f53"/>
              </a:rPr>
              <a:t>(SSD)</a:t>
            </a:r>
            <a:r>
              <a:rPr lang="zh-CN" altLang="en-US" sz="2000" i="0" dirty="0">
                <a:solidFill>
                  <a:srgbClr val="000000"/>
                </a:solidFill>
                <a:effectLst/>
                <a:latin typeface="_5b8b_4f53"/>
              </a:rPr>
              <a:t>存在的一些问题，例如其中比较典型的写放大问题</a:t>
            </a:r>
            <a:r>
              <a:rPr lang="zh-CN" altLang="en-US" sz="2000" dirty="0">
                <a:solidFill>
                  <a:srgbClr val="000000"/>
                </a:solidFill>
                <a:latin typeface="_5b8b_4f53"/>
              </a:rPr>
              <a:t>，</a:t>
            </a:r>
            <a:r>
              <a:rPr lang="zh-CN" altLang="en-US" sz="2000" i="0" dirty="0">
                <a:solidFill>
                  <a:srgbClr val="000000"/>
                </a:solidFill>
                <a:effectLst/>
                <a:latin typeface="_5b8b_4f53"/>
              </a:rPr>
              <a:t>并提供了更高性能和更低成本的存储解决方案。</a:t>
            </a:r>
            <a:endParaRPr lang="zh-CN" altLang="en-US" sz="2000" dirty="0">
              <a:latin typeface="Cambria Math" panose="02040503050406030204" pitchFamily="18" charset="0"/>
              <a:cs typeface="Cambria Math" panose="02040503050406030204" pitchFamily="18" charset="0"/>
            </a:endParaRPr>
          </a:p>
        </p:txBody>
      </p:sp>
      <p:sp>
        <p:nvSpPr>
          <p:cNvPr id="15"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10" name="文本框 9"/>
          <p:cNvSpPr txBox="1"/>
          <p:nvPr/>
        </p:nvSpPr>
        <p:spPr>
          <a:xfrm>
            <a:off x="440055" y="4314086"/>
            <a:ext cx="10075545" cy="858889"/>
          </a:xfrm>
          <a:prstGeom prst="rect">
            <a:avLst/>
          </a:prstGeom>
          <a:noFill/>
        </p:spPr>
        <p:txBody>
          <a:bodyPr wrap="square">
            <a:spAutoFit/>
          </a:bodyPr>
          <a:lstStyle/>
          <a:p>
            <a:pPr marL="285750" indent="-285750">
              <a:lnSpc>
                <a:spcPct val="130000"/>
              </a:lnSpc>
              <a:buFont typeface="Wingdings" panose="05000000000000000000" charset="0"/>
              <a:buChar char="q"/>
            </a:pPr>
            <a:r>
              <a:rPr lang="en-US" altLang="zh-CN" sz="2000" dirty="0">
                <a:latin typeface="Cambria Math" panose="02040503050406030204" pitchFamily="18" charset="0"/>
                <a:cs typeface="Cambria Math" panose="02040503050406030204" pitchFamily="18" charset="0"/>
              </a:rPr>
              <a:t> </a:t>
            </a:r>
            <a:r>
              <a:rPr lang="zh-CN" altLang="en-US" sz="2000" dirty="0">
                <a:latin typeface="Cambria Math" panose="02040503050406030204" pitchFamily="18" charset="0"/>
                <a:cs typeface="Cambria Math" panose="02040503050406030204" pitchFamily="18" charset="0"/>
              </a:rPr>
              <a:t>更具体地，</a:t>
            </a:r>
            <a:r>
              <a:rPr lang="en-US" altLang="zh-CN" sz="2000" dirty="0">
                <a:latin typeface="Cambria Math" panose="02040503050406030204" pitchFamily="18" charset="0"/>
                <a:cs typeface="Cambria Math" panose="02040503050406030204" pitchFamily="18" charset="0"/>
              </a:rPr>
              <a:t>ZNS</a:t>
            </a:r>
            <a:r>
              <a:rPr lang="zh-CN" altLang="en-US" sz="2000" dirty="0">
                <a:latin typeface="Cambria Math" panose="02040503050406030204" pitchFamily="18" charset="0"/>
                <a:cs typeface="Cambria Math" panose="02040503050406030204" pitchFamily="18" charset="0"/>
              </a:rPr>
              <a:t>将存储空间划分为多个区域（</a:t>
            </a:r>
            <a:r>
              <a:rPr lang="en-US" altLang="zh-CN" sz="2000" dirty="0">
                <a:latin typeface="Cambria Math" panose="02040503050406030204" pitchFamily="18" charset="0"/>
                <a:cs typeface="Cambria Math" panose="02040503050406030204" pitchFamily="18" charset="0"/>
              </a:rPr>
              <a:t>zones</a:t>
            </a:r>
            <a:r>
              <a:rPr lang="zh-CN" altLang="en-US" sz="2000" dirty="0">
                <a:latin typeface="Cambria Math" panose="02040503050406030204" pitchFamily="18" charset="0"/>
                <a:cs typeface="Cambria Math" panose="02040503050406030204" pitchFamily="18" charset="0"/>
              </a:rPr>
              <a:t>），每个区必须按顺序写入，回收复用之前必须被显示的重置。</a:t>
            </a:r>
            <a:r>
              <a:rPr lang="en-US" altLang="zh-CN" sz="2000" dirty="0">
                <a:latin typeface="Cambria Math" panose="02040503050406030204" pitchFamily="18" charset="0"/>
                <a:cs typeface="Cambria Math" panose="02040503050406030204" pitchFamily="18" charset="0"/>
              </a:rPr>
              <a:t>ZNS</a:t>
            </a:r>
            <a:r>
              <a:rPr lang="zh-CN" altLang="en-US" sz="2000" dirty="0">
                <a:latin typeface="Cambria Math" panose="02040503050406030204" pitchFamily="18" charset="0"/>
                <a:cs typeface="Cambria Math" panose="02040503050406030204" pitchFamily="18" charset="0"/>
              </a:rPr>
              <a:t>带来的优势主要有：</a:t>
            </a:r>
            <a:endParaRPr lang="zh-CN" altLang="en-US" sz="2000" dirty="0">
              <a:latin typeface="Cambria Math" panose="02040503050406030204" pitchFamily="18" charset="0"/>
              <a:cs typeface="Cambria Math" panose="02040503050406030204" pitchFamily="18" charset="0"/>
            </a:endParaRPr>
          </a:p>
        </p:txBody>
      </p:sp>
      <p:sp>
        <p:nvSpPr>
          <p:cNvPr id="4" name="文本框 3"/>
          <p:cNvSpPr txBox="1"/>
          <p:nvPr/>
        </p:nvSpPr>
        <p:spPr>
          <a:xfrm>
            <a:off x="385590" y="226263"/>
            <a:ext cx="6798981" cy="5909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ZNS</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简介</a:t>
            </a:r>
            <a:r>
              <a:rPr lang="en-US" altLang="zh-CN"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endParaRPr lang="zh-CN" altLang="en-US"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 name="文本框 1"/>
          <p:cNvSpPr txBox="1"/>
          <p:nvPr/>
        </p:nvSpPr>
        <p:spPr>
          <a:xfrm>
            <a:off x="440055" y="1088390"/>
            <a:ext cx="6951980" cy="460375"/>
          </a:xfrm>
          <a:prstGeom prst="rect">
            <a:avLst/>
          </a:prstGeom>
          <a:noFill/>
        </p:spPr>
        <p:txBody>
          <a:bodyPr wrap="square" rtlCol="0">
            <a:spAutoFit/>
          </a:bodyPr>
          <a:lstStyle/>
          <a:p>
            <a:r>
              <a:rPr lang="en-US" altLang="zh-CN" sz="2400" dirty="0">
                <a:solidFill>
                  <a:srgbClr val="4747BA"/>
                </a:solidFill>
                <a:ea typeface="+mn-lt"/>
                <a:cs typeface="Times New Roman" panose="02020603050405020304" pitchFamily="18" charset="0"/>
              </a:rPr>
              <a:t>ZNS</a:t>
            </a:r>
            <a:r>
              <a:rPr lang="zh-CN" altLang="en-US" sz="2400" dirty="0">
                <a:solidFill>
                  <a:srgbClr val="4747BA"/>
                </a:solidFill>
                <a:ea typeface="+mn-lt"/>
                <a:cs typeface="Times New Roman" panose="02020603050405020304" pitchFamily="18" charset="0"/>
              </a:rPr>
              <a:t>的优势</a:t>
            </a:r>
            <a:endParaRPr lang="en-US" altLang="zh-CN" sz="2400" dirty="0">
              <a:solidFill>
                <a:srgbClr val="4747BA"/>
              </a:solidFill>
              <a:ea typeface="+mn-lt"/>
              <a:cs typeface="Times New Roman" panose="02020603050405020304" pitchFamily="18" charset="0"/>
            </a:endParaRPr>
          </a:p>
        </p:txBody>
      </p:sp>
      <p:sp>
        <p:nvSpPr>
          <p:cNvPr id="3" name="文本框 2"/>
          <p:cNvSpPr txBox="1"/>
          <p:nvPr/>
        </p:nvSpPr>
        <p:spPr>
          <a:xfrm>
            <a:off x="385590" y="1836044"/>
            <a:ext cx="10217207" cy="966611"/>
          </a:xfrm>
          <a:prstGeom prst="rect">
            <a:avLst/>
          </a:prstGeom>
          <a:noFill/>
        </p:spPr>
        <p:txBody>
          <a:bodyPr wrap="square" rtlCol="0">
            <a:spAutoFit/>
          </a:bodyPr>
          <a:lstStyle/>
          <a:p>
            <a:pPr marL="285750" indent="-285750">
              <a:lnSpc>
                <a:spcPct val="150000"/>
              </a:lnSpc>
              <a:buFont typeface="Wingdings" panose="05000000000000000000" charset="0"/>
              <a:buChar char="q"/>
            </a:pPr>
            <a:r>
              <a:rPr lang="zh-CN" altLang="en-US" sz="2000" b="1" dirty="0">
                <a:latin typeface="Cambria Math" panose="02040503050406030204" pitchFamily="18" charset="0"/>
                <a:cs typeface="Cambria Math" panose="02040503050406030204" pitchFamily="18" charset="0"/>
              </a:rPr>
              <a:t>提高性能：</a:t>
            </a:r>
            <a:r>
              <a:rPr lang="zh-CN" altLang="en-US" sz="2000" dirty="0">
                <a:latin typeface="Cambria Math" panose="02040503050406030204" pitchFamily="18" charset="0"/>
                <a:cs typeface="Cambria Math" panose="02040503050406030204" pitchFamily="18" charset="0"/>
              </a:rPr>
              <a:t>主要通过引入顺序写入方式，减少寻址（映射）、垃圾回收等传统</a:t>
            </a:r>
            <a:r>
              <a:rPr lang="en-US" altLang="zh-CN" sz="2000" dirty="0">
                <a:latin typeface="Cambria Math" panose="02040503050406030204" pitchFamily="18" charset="0"/>
                <a:cs typeface="Cambria Math" panose="02040503050406030204" pitchFamily="18" charset="0"/>
              </a:rPr>
              <a:t>SSD</a:t>
            </a:r>
            <a:r>
              <a:rPr lang="zh-CN" altLang="en-US" sz="2000" dirty="0">
                <a:latin typeface="Cambria Math" panose="02040503050406030204" pitchFamily="18" charset="0"/>
                <a:cs typeface="Cambria Math" panose="02040503050406030204" pitchFamily="18" charset="0"/>
              </a:rPr>
              <a:t>中</a:t>
            </a:r>
            <a:r>
              <a:rPr lang="en-US" altLang="zh-CN" sz="2000" dirty="0">
                <a:latin typeface="Cambria Math" panose="02040503050406030204" pitchFamily="18" charset="0"/>
                <a:cs typeface="Cambria Math" panose="02040503050406030204" pitchFamily="18" charset="0"/>
              </a:rPr>
              <a:t>FTL</a:t>
            </a:r>
            <a:r>
              <a:rPr lang="zh-CN" altLang="en-US" sz="2000" dirty="0">
                <a:latin typeface="Cambria Math" panose="02040503050406030204" pitchFamily="18" charset="0"/>
                <a:cs typeface="Cambria Math" panose="02040503050406030204" pitchFamily="18" charset="0"/>
              </a:rPr>
              <a:t>层带来的开销，提高了性能。</a:t>
            </a:r>
            <a:endParaRPr lang="zh-CN" altLang="en-US" sz="2000" dirty="0">
              <a:latin typeface="Cambria Math" panose="02040503050406030204" pitchFamily="18" charset="0"/>
              <a:cs typeface="Cambria Math" panose="02040503050406030204" pitchFamily="18" charset="0"/>
            </a:endParaRPr>
          </a:p>
        </p:txBody>
      </p:sp>
      <p:sp>
        <p:nvSpPr>
          <p:cNvPr id="5" name="文本框 4"/>
          <p:cNvSpPr txBox="1"/>
          <p:nvPr/>
        </p:nvSpPr>
        <p:spPr>
          <a:xfrm>
            <a:off x="385590" y="2945694"/>
            <a:ext cx="10217207" cy="966611"/>
          </a:xfrm>
          <a:prstGeom prst="rect">
            <a:avLst/>
          </a:prstGeom>
          <a:noFill/>
        </p:spPr>
        <p:txBody>
          <a:bodyPr wrap="square" rtlCol="0">
            <a:spAutoFit/>
          </a:bodyPr>
          <a:lstStyle/>
          <a:p>
            <a:pPr marL="285750" indent="-285750">
              <a:lnSpc>
                <a:spcPct val="150000"/>
              </a:lnSpc>
              <a:buFont typeface="Wingdings" panose="05000000000000000000" charset="0"/>
              <a:buChar char="q"/>
            </a:pPr>
            <a:r>
              <a:rPr lang="zh-CN" altLang="en-US" sz="2000" b="1" dirty="0">
                <a:latin typeface="Cambria Math" panose="02040503050406030204" pitchFamily="18" charset="0"/>
                <a:cs typeface="Cambria Math" panose="02040503050406030204" pitchFamily="18" charset="0"/>
              </a:rPr>
              <a:t>寿命优化： </a:t>
            </a:r>
            <a:r>
              <a:rPr lang="zh-CN" altLang="en-US" sz="2000" dirty="0">
                <a:latin typeface="Cambria Math" panose="02040503050406030204" pitchFamily="18" charset="0"/>
                <a:cs typeface="Cambria Math" panose="02040503050406030204" pitchFamily="18" charset="0"/>
              </a:rPr>
              <a:t>通过减少随机写入（其可能带来设备内写放大），延长存储设备的使用寿命，降低维护和更换的成本。使得制作更廉价、更大容量、更可靠的</a:t>
            </a:r>
            <a:r>
              <a:rPr lang="en-US" altLang="zh-CN" sz="2000" dirty="0">
                <a:latin typeface="Cambria Math" panose="02040503050406030204" pitchFamily="18" charset="0"/>
                <a:cs typeface="Cambria Math" panose="02040503050406030204" pitchFamily="18" charset="0"/>
              </a:rPr>
              <a:t>SSD</a:t>
            </a:r>
            <a:r>
              <a:rPr lang="zh-CN" altLang="en-US" sz="2000" dirty="0">
                <a:latin typeface="Cambria Math" panose="02040503050406030204" pitchFamily="18" charset="0"/>
                <a:cs typeface="Cambria Math" panose="02040503050406030204" pitchFamily="18" charset="0"/>
              </a:rPr>
              <a:t>变得可能。</a:t>
            </a:r>
            <a:endParaRPr lang="zh-CN" altLang="en-US" sz="2000" dirty="0">
              <a:latin typeface="Cambria Math" panose="02040503050406030204" pitchFamily="18" charset="0"/>
              <a:cs typeface="Cambria Math" panose="02040503050406030204" pitchFamily="18" charset="0"/>
            </a:endParaRPr>
          </a:p>
        </p:txBody>
      </p:sp>
      <p:sp>
        <p:nvSpPr>
          <p:cNvPr id="7" name="文本框 6"/>
          <p:cNvSpPr txBox="1"/>
          <p:nvPr/>
        </p:nvSpPr>
        <p:spPr>
          <a:xfrm>
            <a:off x="410462" y="4117551"/>
            <a:ext cx="10217207" cy="1428276"/>
          </a:xfrm>
          <a:prstGeom prst="rect">
            <a:avLst/>
          </a:prstGeom>
          <a:noFill/>
        </p:spPr>
        <p:txBody>
          <a:bodyPr wrap="square" rtlCol="0">
            <a:spAutoFit/>
          </a:bodyPr>
          <a:lstStyle/>
          <a:p>
            <a:pPr marL="285750" indent="-285750">
              <a:lnSpc>
                <a:spcPct val="150000"/>
              </a:lnSpc>
              <a:buFont typeface="Wingdings" panose="05000000000000000000" charset="0"/>
              <a:buChar char="q"/>
            </a:pPr>
            <a:r>
              <a:rPr lang="zh-CN" altLang="en-US" sz="2000" b="1" dirty="0">
                <a:latin typeface="Cambria Math" panose="02040503050406030204" pitchFamily="18" charset="0"/>
                <a:cs typeface="Cambria Math" panose="02040503050406030204" pitchFamily="18" charset="0"/>
              </a:rPr>
              <a:t>可见性</a:t>
            </a:r>
            <a:r>
              <a:rPr lang="en-US" altLang="zh-CN" sz="2000" b="1" dirty="0">
                <a:latin typeface="Cambria Math" panose="02040503050406030204" pitchFamily="18" charset="0"/>
                <a:cs typeface="Cambria Math" panose="02040503050406030204" pitchFamily="18" charset="0"/>
              </a:rPr>
              <a:t>&amp;</a:t>
            </a:r>
            <a:r>
              <a:rPr lang="zh-CN" altLang="en-US" sz="2000" b="1" dirty="0">
                <a:latin typeface="Cambria Math" panose="02040503050406030204" pitchFamily="18" charset="0"/>
                <a:cs typeface="Cambria Math" panose="02040503050406030204" pitchFamily="18" charset="0"/>
              </a:rPr>
              <a:t>可预测性：</a:t>
            </a:r>
            <a:r>
              <a:rPr lang="zh-CN" altLang="en-US" sz="2000" dirty="0">
                <a:latin typeface="Cambria Math" panose="02040503050406030204" pitchFamily="18" charset="0"/>
                <a:cs typeface="Cambria Math" panose="02040503050406030204" pitchFamily="18" charset="0"/>
              </a:rPr>
              <a:t>传统硬盘对于上层应用来说是黑盒。但</a:t>
            </a:r>
            <a:r>
              <a:rPr lang="en-US" altLang="zh-CN" sz="2000" dirty="0">
                <a:latin typeface="Cambria Math" panose="02040503050406030204" pitchFamily="18" charset="0"/>
                <a:cs typeface="Cambria Math" panose="02040503050406030204" pitchFamily="18" charset="0"/>
              </a:rPr>
              <a:t>ZNS</a:t>
            </a:r>
            <a:r>
              <a:rPr lang="zh-CN" altLang="en-US" sz="2000" dirty="0">
                <a:latin typeface="Cambria Math" panose="02040503050406030204" pitchFamily="18" charset="0"/>
                <a:cs typeface="Cambria Math" panose="02040503050406030204" pitchFamily="18" charset="0"/>
              </a:rPr>
              <a:t>允许应用感知数据存入磁盘后的物理位置，支持根据不同的应用场景对存储空间进行灵活划分，以提高存储效率。另一方面，由于消除了设备内的写放大，使得写入的性能开销可预测。</a:t>
            </a:r>
            <a:endParaRPr lang="zh-CN" altLang="en-US" sz="2000" dirty="0">
              <a:latin typeface="Cambria Math" panose="02040503050406030204" pitchFamily="18" charset="0"/>
              <a:cs typeface="Cambria Math" panose="02040503050406030204" pitchFamily="18" charset="0"/>
            </a:endParaRPr>
          </a:p>
        </p:txBody>
      </p:sp>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p:cNvSpPr txBox="1"/>
          <p:nvPr/>
        </p:nvSpPr>
        <p:spPr>
          <a:xfrm>
            <a:off x="385590" y="226263"/>
            <a:ext cx="6798981" cy="5909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ZNS</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简介</a:t>
            </a:r>
            <a:r>
              <a:rPr lang="en-US" altLang="zh-CN"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endParaRPr lang="zh-CN" altLang="en-US"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226263"/>
            <a:ext cx="6798981" cy="5909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ZNS</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简介</a:t>
            </a:r>
            <a:r>
              <a:rPr lang="en-US" altLang="zh-CN"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endParaRPr lang="zh-CN" altLang="en-US"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 name="文本框 1"/>
          <p:cNvSpPr txBox="1"/>
          <p:nvPr/>
        </p:nvSpPr>
        <p:spPr>
          <a:xfrm>
            <a:off x="440055" y="1088390"/>
            <a:ext cx="6951980" cy="460375"/>
          </a:xfrm>
          <a:prstGeom prst="rect">
            <a:avLst/>
          </a:prstGeom>
          <a:noFill/>
        </p:spPr>
        <p:txBody>
          <a:bodyPr wrap="square" rtlCol="0">
            <a:spAutoFit/>
          </a:bodyPr>
          <a:lstStyle/>
          <a:p>
            <a:r>
              <a:rPr lang="zh-CN" altLang="en-US" sz="2400" dirty="0">
                <a:solidFill>
                  <a:srgbClr val="4747BA"/>
                </a:solidFill>
                <a:ea typeface="+mn-lt"/>
                <a:cs typeface="Times New Roman" panose="02020603050405020304" pitchFamily="18" charset="0"/>
              </a:rPr>
              <a:t>如何适配</a:t>
            </a:r>
            <a:r>
              <a:rPr lang="en-US" altLang="zh-CN" sz="2400" dirty="0">
                <a:solidFill>
                  <a:srgbClr val="4747BA"/>
                </a:solidFill>
                <a:ea typeface="+mn-lt"/>
                <a:cs typeface="Times New Roman" panose="02020603050405020304" pitchFamily="18" charset="0"/>
              </a:rPr>
              <a:t>ZNS</a:t>
            </a:r>
            <a:endParaRPr lang="en-US" altLang="zh-CN" sz="2400" dirty="0">
              <a:solidFill>
                <a:srgbClr val="4747BA"/>
              </a:solidFill>
              <a:ea typeface="+mn-lt"/>
              <a:cs typeface="Times New Roman" panose="02020603050405020304" pitchFamily="18" charset="0"/>
            </a:endParaRPr>
          </a:p>
        </p:txBody>
      </p:sp>
      <p:sp>
        <p:nvSpPr>
          <p:cNvPr id="3" name="文本框 2"/>
          <p:cNvSpPr txBox="1"/>
          <p:nvPr/>
        </p:nvSpPr>
        <p:spPr>
          <a:xfrm>
            <a:off x="385590" y="1548765"/>
            <a:ext cx="10811351" cy="3928127"/>
          </a:xfrm>
          <a:prstGeom prst="rect">
            <a:avLst/>
          </a:prstGeom>
          <a:noFill/>
        </p:spPr>
        <p:txBody>
          <a:bodyPr wrap="square" rtlCol="0">
            <a:spAutoFit/>
          </a:bodyPr>
          <a:lstStyle/>
          <a:p>
            <a:pPr>
              <a:lnSpc>
                <a:spcPct val="200000"/>
              </a:lnSpc>
            </a:pPr>
            <a:r>
              <a:rPr lang="zh-CN" altLang="en-US" dirty="0">
                <a:latin typeface="Cambria Math" panose="02040503050406030204" pitchFamily="18" charset="0"/>
                <a:cs typeface="Cambria Math" panose="02040503050406030204" pitchFamily="18" charset="0"/>
              </a:rPr>
              <a:t>下面介绍主机软件适应</a:t>
            </a:r>
            <a:r>
              <a:rPr lang="en-US" altLang="zh-CN" dirty="0">
                <a:latin typeface="Cambria Math" panose="02040503050406030204" pitchFamily="18" charset="0"/>
                <a:cs typeface="Cambria Math" panose="02040503050406030204" pitchFamily="18" charset="0"/>
              </a:rPr>
              <a:t>ZNS</a:t>
            </a:r>
            <a:r>
              <a:rPr lang="zh-CN" altLang="en-US" dirty="0">
                <a:latin typeface="Cambria Math" panose="02040503050406030204" pitchFamily="18" charset="0"/>
                <a:cs typeface="Cambria Math" panose="02040503050406030204" pitchFamily="18" charset="0"/>
              </a:rPr>
              <a:t>的三种方法：</a:t>
            </a:r>
            <a:endParaRPr lang="en-US" altLang="zh-CN" dirty="0">
              <a:latin typeface="Cambria Math" panose="02040503050406030204" pitchFamily="18" charset="0"/>
              <a:cs typeface="Cambria Math" panose="02040503050406030204" pitchFamily="18" charset="0"/>
            </a:endParaRPr>
          </a:p>
          <a:p>
            <a:pPr indent="-285750">
              <a:lnSpc>
                <a:spcPct val="150000"/>
              </a:lnSpc>
              <a:buFont typeface="Wingdings" panose="05000000000000000000" charset="0"/>
              <a:buChar char="q"/>
            </a:pPr>
            <a:r>
              <a:rPr lang="zh-CN" altLang="en-US" b="1" dirty="0"/>
              <a:t>主机端闪存转换层（</a:t>
            </a:r>
            <a:r>
              <a:rPr lang="en-US" altLang="zh-CN" b="1" dirty="0"/>
              <a:t>HFTL</a:t>
            </a:r>
            <a:r>
              <a:rPr lang="zh-CN" altLang="en-US" b="1" dirty="0"/>
              <a:t>）：</a:t>
            </a:r>
            <a:r>
              <a:rPr lang="en-US" altLang="zh-CN" dirty="0"/>
              <a:t>HFTL</a:t>
            </a:r>
            <a:r>
              <a:rPr lang="zh-CN" altLang="en-US" dirty="0"/>
              <a:t>充当</a:t>
            </a:r>
            <a:r>
              <a:rPr lang="en-US" altLang="zh-CN" dirty="0"/>
              <a:t>ZNS SSD</a:t>
            </a:r>
            <a:r>
              <a:rPr lang="zh-CN" altLang="en-US" dirty="0"/>
              <a:t>的写入语义与执行随机写入及就地更新的应用之间的中介。它的职责与</a:t>
            </a:r>
            <a:r>
              <a:rPr lang="en-US" altLang="zh-CN" dirty="0"/>
              <a:t>SSD</a:t>
            </a:r>
            <a:r>
              <a:rPr lang="zh-CN" altLang="en-US" dirty="0"/>
              <a:t>中的</a:t>
            </a:r>
            <a:r>
              <a:rPr lang="en-US" altLang="zh-CN" dirty="0"/>
              <a:t>FTL</a:t>
            </a:r>
            <a:r>
              <a:rPr lang="zh-CN" altLang="en-US" dirty="0"/>
              <a:t>相似，但仅限于管理转换映射和相关的垃圾回收。</a:t>
            </a:r>
            <a:endParaRPr lang="en-US" altLang="zh-CN" dirty="0"/>
          </a:p>
          <a:p>
            <a:pPr indent="-285750">
              <a:lnSpc>
                <a:spcPct val="150000"/>
              </a:lnSpc>
              <a:buFont typeface="Wingdings" panose="05000000000000000000" charset="0"/>
              <a:buChar char="q"/>
            </a:pPr>
            <a:r>
              <a:rPr lang="zh-CN" altLang="en-US" b="1" dirty="0"/>
              <a:t>文件系统：</a:t>
            </a:r>
            <a:r>
              <a:rPr lang="zh-CN" altLang="en-US" dirty="0"/>
              <a:t>通过将</a:t>
            </a:r>
            <a:r>
              <a:rPr lang="en-US" altLang="zh-CN" dirty="0"/>
              <a:t>Zone</a:t>
            </a:r>
            <a:r>
              <a:rPr lang="zh-CN" altLang="en-US" dirty="0"/>
              <a:t>接口逻辑与现有存储堆栈整合，可以消除与</a:t>
            </a:r>
            <a:r>
              <a:rPr lang="en-US" altLang="zh-CN" dirty="0"/>
              <a:t>HFTL</a:t>
            </a:r>
            <a:r>
              <a:rPr lang="zh-CN" altLang="en-US" dirty="0"/>
              <a:t>和</a:t>
            </a:r>
            <a:r>
              <a:rPr lang="en-US" altLang="zh-CN" dirty="0"/>
              <a:t>FTL</a:t>
            </a:r>
            <a:r>
              <a:rPr lang="zh-CN" altLang="en-US" dirty="0"/>
              <a:t>数据放置及相关间接开销。这也可以改善设备上的数据放置。但是，目前大多数文件系统主要执行就地写入，适应区域存储模型通常很困难。一些文件系统（如</a:t>
            </a:r>
            <a:r>
              <a:rPr lang="en-US" altLang="zh-CN" dirty="0"/>
              <a:t>f2fs</a:t>
            </a:r>
            <a:r>
              <a:rPr lang="zh-CN" altLang="en-US" dirty="0"/>
              <a:t>、</a:t>
            </a:r>
            <a:r>
              <a:rPr lang="en-US" altLang="zh-CN" dirty="0" err="1"/>
              <a:t>btrfs</a:t>
            </a:r>
            <a:r>
              <a:rPr lang="zh-CN" altLang="en-US" dirty="0"/>
              <a:t>和</a:t>
            </a:r>
            <a:r>
              <a:rPr lang="en-US" altLang="zh-CN" dirty="0" err="1"/>
              <a:t>zfs</a:t>
            </a:r>
            <a:r>
              <a:rPr lang="zh-CN" altLang="en-US" dirty="0"/>
              <a:t>）可能更适合</a:t>
            </a:r>
            <a:r>
              <a:rPr lang="en-US" altLang="zh-CN" dirty="0"/>
              <a:t>ZNS</a:t>
            </a:r>
            <a:r>
              <a:rPr lang="zh-CN" altLang="en-US" dirty="0"/>
              <a:t>。</a:t>
            </a:r>
            <a:endParaRPr lang="en-US" altLang="zh-CN" dirty="0"/>
          </a:p>
          <a:p>
            <a:pPr indent="-285750">
              <a:lnSpc>
                <a:spcPct val="150000"/>
              </a:lnSpc>
              <a:buFont typeface="Wingdings" panose="05000000000000000000" charset="0"/>
              <a:buChar char="q"/>
            </a:pPr>
            <a:r>
              <a:rPr lang="zh-CN" altLang="en-US" b="1" dirty="0"/>
              <a:t>针对顺序写入操作的应用：</a:t>
            </a:r>
            <a:r>
              <a:rPr lang="zh-CN" altLang="en-US" dirty="0"/>
              <a:t>对于顺序写为主的存储应用来说，</a:t>
            </a:r>
            <a:r>
              <a:rPr lang="en-US" altLang="zh-CN" dirty="0"/>
              <a:t>ZNS</a:t>
            </a:r>
            <a:r>
              <a:rPr lang="zh-CN" altLang="en-US" dirty="0"/>
              <a:t>是一个很好的选择。例如，基于日志合并（</a:t>
            </a:r>
            <a:r>
              <a:rPr lang="en-US" altLang="zh-CN" dirty="0"/>
              <a:t>LSM</a:t>
            </a:r>
            <a:r>
              <a:rPr lang="zh-CN" altLang="en-US" dirty="0"/>
              <a:t>）树的数据库。这些应用因为其顺序写入的特性，与</a:t>
            </a:r>
            <a:r>
              <a:rPr lang="en-US" altLang="zh-CN" dirty="0"/>
              <a:t>ZNS</a:t>
            </a:r>
            <a:r>
              <a:rPr lang="zh-CN" altLang="en-US" dirty="0"/>
              <a:t>接口的设计高度兼容。反之，就地更新为主的应用则很难支持，除非对核心数据结构进行根本性修改。</a:t>
            </a:r>
            <a:endParaRPr lang="zh-CN" altLang="en-US" dirty="0"/>
          </a:p>
        </p:txBody>
      </p:sp>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415183" y="166469"/>
            <a:ext cx="6798981" cy="645160"/>
          </a:xfrm>
          <a:prstGeom prst="rect">
            <a:avLst/>
          </a:prstGeom>
          <a:noFill/>
        </p:spPr>
        <p:txBody>
          <a:bodyPr wrap="square" rtlCol="0">
            <a:spAutoFit/>
          </a:bodyPr>
          <a:lstStyle/>
          <a:p>
            <a:pPr>
              <a:lnSpc>
                <a:spcPct val="90000"/>
              </a:lnSpc>
              <a:spcBef>
                <a:spcPts val="1000"/>
              </a:spcBef>
              <a:defRPr/>
            </a:pP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相关文献</a:t>
            </a:r>
            <a:endPar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 name="文本框 1"/>
          <p:cNvSpPr txBox="1"/>
          <p:nvPr/>
        </p:nvSpPr>
        <p:spPr>
          <a:xfrm>
            <a:off x="440055" y="1088390"/>
            <a:ext cx="6951980" cy="460375"/>
          </a:xfrm>
          <a:prstGeom prst="rect">
            <a:avLst/>
          </a:prstGeom>
          <a:noFill/>
        </p:spPr>
        <p:txBody>
          <a:bodyPr wrap="square" rtlCol="0">
            <a:spAutoFit/>
          </a:bodyPr>
          <a:lstStyle/>
          <a:p>
            <a:r>
              <a:rPr lang="en-US" altLang="zh-CN" sz="2400" dirty="0">
                <a:solidFill>
                  <a:srgbClr val="4747BA"/>
                </a:solidFill>
                <a:ea typeface="+mn-lt"/>
                <a:cs typeface="Times New Roman" panose="02020603050405020304" pitchFamily="18" charset="0"/>
              </a:rPr>
              <a:t>ZNS</a:t>
            </a:r>
            <a:r>
              <a:rPr lang="zh-CN" altLang="en-US" sz="2400" dirty="0">
                <a:solidFill>
                  <a:srgbClr val="4747BA"/>
                </a:solidFill>
                <a:ea typeface="+mn-lt"/>
                <a:cs typeface="Times New Roman" panose="02020603050405020304" pitchFamily="18" charset="0"/>
              </a:rPr>
              <a:t>相关文献：</a:t>
            </a:r>
            <a:endParaRPr lang="en-US" altLang="zh-CN" sz="2400" dirty="0">
              <a:solidFill>
                <a:srgbClr val="4747BA"/>
              </a:solidFill>
              <a:ea typeface="+mn-lt"/>
              <a:cs typeface="Times New Roman" panose="02020603050405020304" pitchFamily="18" charset="0"/>
            </a:endParaRPr>
          </a:p>
        </p:txBody>
      </p:sp>
      <p:sp>
        <p:nvSpPr>
          <p:cNvPr id="11" name="文本框 10"/>
          <p:cNvSpPr txBox="1"/>
          <p:nvPr/>
        </p:nvSpPr>
        <p:spPr>
          <a:xfrm>
            <a:off x="440055" y="1666450"/>
            <a:ext cx="9407814" cy="4662110"/>
          </a:xfrm>
          <a:prstGeom prst="rect">
            <a:avLst/>
          </a:prstGeom>
          <a:noFill/>
        </p:spPr>
        <p:txBody>
          <a:bodyPr wrap="square" rtlCol="0">
            <a:spAutoFit/>
          </a:bodyPr>
          <a:lstStyle/>
          <a:p>
            <a:pPr indent="-285750">
              <a:lnSpc>
                <a:spcPct val="150000"/>
              </a:lnSpc>
              <a:buFont typeface="Wingdings" panose="05000000000000000000" charset="0"/>
              <a:buChar char="q"/>
            </a:pPr>
            <a:r>
              <a:rPr lang="en-US" altLang="zh-CN" sz="2000" dirty="0"/>
              <a:t>ZNS: Avoiding the Block Interface Tax for Flash-based SSDs</a:t>
            </a:r>
            <a:endParaRPr lang="en-US" altLang="zh-CN" sz="2000" dirty="0"/>
          </a:p>
          <a:p>
            <a:pPr indent="-285750">
              <a:lnSpc>
                <a:spcPct val="150000"/>
              </a:lnSpc>
              <a:buFont typeface="Wingdings" panose="05000000000000000000" charset="0"/>
              <a:buChar char="q"/>
            </a:pPr>
            <a:r>
              <a:rPr lang="en-US" altLang="zh-CN" sz="2000" dirty="0"/>
              <a:t>ZNS+: Advanced Zoned Namespace Interface for Supporting In-Storage Zone Compaction</a:t>
            </a:r>
            <a:endParaRPr lang="en-US" altLang="zh-CN" sz="2000" dirty="0"/>
          </a:p>
          <a:p>
            <a:pPr indent="-285750">
              <a:lnSpc>
                <a:spcPct val="150000"/>
              </a:lnSpc>
              <a:buFont typeface="Wingdings" panose="05000000000000000000" charset="0"/>
              <a:buChar char="q"/>
            </a:pPr>
            <a:r>
              <a:rPr lang="en-US" altLang="zh-CN" sz="2000" dirty="0" err="1"/>
              <a:t>eZNS</a:t>
            </a:r>
            <a:r>
              <a:rPr lang="zh-CN" altLang="en-US" sz="2000" dirty="0"/>
              <a:t>：</a:t>
            </a:r>
            <a:r>
              <a:rPr lang="en-US" altLang="zh-CN" sz="2000" dirty="0"/>
              <a:t>An Elastic Zoned Namespace for Commodity ZNS SSDs</a:t>
            </a:r>
            <a:endParaRPr lang="en-US" altLang="zh-CN" sz="2000" dirty="0"/>
          </a:p>
          <a:p>
            <a:pPr indent="-285750">
              <a:lnSpc>
                <a:spcPct val="150000"/>
              </a:lnSpc>
              <a:buFont typeface="Wingdings" panose="05000000000000000000" charset="0"/>
              <a:buChar char="q"/>
            </a:pPr>
            <a:r>
              <a:rPr lang="en-US" altLang="zh-CN" sz="2000" dirty="0" err="1"/>
              <a:t>ZNSwap</a:t>
            </a:r>
            <a:r>
              <a:rPr lang="en-US" altLang="zh-CN" sz="2000" dirty="0"/>
              <a:t>: </a:t>
            </a:r>
            <a:r>
              <a:rPr lang="en-US" altLang="zh-CN" sz="2000" dirty="0" err="1"/>
              <a:t>ZNSwap</a:t>
            </a:r>
            <a:r>
              <a:rPr lang="en-US" altLang="zh-CN" sz="2000" dirty="0"/>
              <a:t>: un-Block your Swap</a:t>
            </a:r>
            <a:endParaRPr lang="en-US" altLang="zh-CN" sz="2000" dirty="0"/>
          </a:p>
          <a:p>
            <a:pPr indent="-285750">
              <a:lnSpc>
                <a:spcPct val="150000"/>
              </a:lnSpc>
              <a:buFont typeface="Wingdings" panose="05000000000000000000" charset="0"/>
              <a:buChar char="q"/>
            </a:pPr>
            <a:r>
              <a:rPr lang="en-US" altLang="zh-CN" sz="2000" dirty="0"/>
              <a:t>WALTZ</a:t>
            </a:r>
            <a:r>
              <a:rPr lang="zh-CN" altLang="en-US" sz="2000" dirty="0"/>
              <a:t>：</a:t>
            </a:r>
            <a:r>
              <a:rPr lang="en-US" altLang="zh-CN" sz="2000" dirty="0"/>
              <a:t>Leveraging Zone Append to Tighten the Tail Latency of LSM Tree on ZNS SSD</a:t>
            </a:r>
            <a:endParaRPr lang="en-US" altLang="zh-CN" sz="2000" dirty="0"/>
          </a:p>
          <a:p>
            <a:pPr indent="-285750">
              <a:lnSpc>
                <a:spcPct val="150000"/>
              </a:lnSpc>
              <a:buFont typeface="Wingdings" panose="05000000000000000000" charset="0"/>
              <a:buChar char="q"/>
            </a:pPr>
            <a:r>
              <a:rPr lang="en-US" altLang="zh-CN" sz="2000" dirty="0" err="1"/>
              <a:t>GearDB</a:t>
            </a:r>
            <a:r>
              <a:rPr lang="en-US" altLang="zh-CN" sz="2000" dirty="0"/>
              <a:t>: A GC-free Key-Value Store on HM-SMR Drives with Gear Compaction</a:t>
            </a:r>
            <a:endParaRPr lang="en-US" altLang="zh-CN" sz="2000" dirty="0"/>
          </a:p>
          <a:p>
            <a:pPr indent="-285750">
              <a:lnSpc>
                <a:spcPct val="150000"/>
              </a:lnSpc>
              <a:buFont typeface="Wingdings" panose="05000000000000000000" charset="0"/>
              <a:buChar char="q"/>
            </a:pPr>
            <a:r>
              <a:rPr lang="en-US" altLang="zh-CN" sz="2000" dirty="0"/>
              <a:t>……</a:t>
            </a:r>
            <a:endParaRPr lang="zh-CN" altLang="en-US" sz="2000" dirty="0"/>
          </a:p>
          <a:p>
            <a:pPr indent="-285750">
              <a:lnSpc>
                <a:spcPct val="150000"/>
              </a:lnSpc>
              <a:buFont typeface="Wingdings" panose="05000000000000000000" charset="0"/>
              <a:buChar char="q"/>
            </a:pPr>
            <a:endParaRPr lang="zh-CN" altLang="en-US" sz="2000" dirty="0"/>
          </a:p>
        </p:txBody>
      </p:sp>
      <p:sp>
        <p:nvSpPr>
          <p:cNvPr id="13"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Tree>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tags/tag1.xml><?xml version="1.0" encoding="utf-8"?>
<p:tagLst xmlns:p="http://schemas.openxmlformats.org/presentationml/2006/main">
  <p:tag name="KSO_WPP_MARK_KEY" val="fd68cb81-96cb-4b63-9d56-4d2877e4c057"/>
  <p:tag name="COMMONDATA" val="eyJoZGlkIjoiNmY4NTU2ZDI3ZjJkNmQ4YmU4NTU2YmM5ZmVhMWRlODIifQ=="/>
  <p:tag name="commondata" val="eyJoZGlkIjoiYTA2MjAyN2RkOGM0YTljNjJhMjlhZWRlMDA3YmZjZGMifQ=="/>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5972</Words>
  <Application>WPS 演示</Application>
  <PresentationFormat>宽屏</PresentationFormat>
  <Paragraphs>328</Paragraphs>
  <Slides>22</Slides>
  <Notes>27</Notes>
  <HiddenSlides>0</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22</vt:i4>
      </vt:variant>
    </vt:vector>
  </HeadingPairs>
  <TitlesOfParts>
    <vt:vector size="42" baseType="lpstr">
      <vt:lpstr>Arial</vt:lpstr>
      <vt:lpstr>宋体</vt:lpstr>
      <vt:lpstr>Wingdings</vt:lpstr>
      <vt:lpstr>Constantia</vt:lpstr>
      <vt:lpstr>Times</vt:lpstr>
      <vt:lpstr>微软雅黑</vt:lpstr>
      <vt:lpstr>Calibri</vt:lpstr>
      <vt:lpstr>Ubuntu</vt:lpstr>
      <vt:lpstr>Yu Gothic UI</vt:lpstr>
      <vt:lpstr>Wingdings</vt:lpstr>
      <vt:lpstr>_5b8b_4f53</vt:lpstr>
      <vt:lpstr>Segoe Print</vt:lpstr>
      <vt:lpstr>腾讯体 W3</vt:lpstr>
      <vt:lpstr>Times New Roman</vt:lpstr>
      <vt:lpstr>Cambria Math</vt:lpstr>
      <vt:lpstr>Söhne</vt:lpstr>
      <vt:lpstr>等线</vt:lpstr>
      <vt:lpstr>Arial Unicode MS</vt:lpstr>
      <vt:lpstr>等线 Light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zhouke</dc:creator>
  <cp:lastModifiedBy>柳子淇fzzf</cp:lastModifiedBy>
  <cp:revision>2783</cp:revision>
  <dcterms:created xsi:type="dcterms:W3CDTF">2019-02-21T08:55:00Z</dcterms:created>
  <dcterms:modified xsi:type="dcterms:W3CDTF">2024-03-27T09:58:25Z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65A6CB78243D48A083A0131B29BE5B9E_12</vt:lpwstr>
  </property>
  <property fmtid="{D5CDD505-2E9C-101B-9397-08002B2CF9AE}" pid="3" name="KSOProductBuildVer">
    <vt:lpwstr>2052-12.1.0.16417</vt:lpwstr>
  </property>
</Properties>
</file>