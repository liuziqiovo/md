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536" r:id="rId2"/>
    <p:sldId id="549" r:id="rId3"/>
    <p:sldId id="548" r:id="rId4"/>
    <p:sldId id="555" r:id="rId5"/>
    <p:sldId id="552" r:id="rId6"/>
    <p:sldId id="551" r:id="rId7"/>
    <p:sldId id="554" r:id="rId8"/>
    <p:sldId id="544" r:id="rId9"/>
    <p:sldId id="553" r:id="rId10"/>
    <p:sldId id="545" r:id="rId11"/>
    <p:sldId id="261" r:id="rId12"/>
    <p:sldId id="532" r:id="rId13"/>
    <p:sldId id="547" r:id="rId14"/>
    <p:sldId id="550" r:id="rId15"/>
    <p:sldId id="543" r:id="rId16"/>
    <p:sldId id="524" r:id="rId17"/>
    <p:sldId id="535" r:id="rId18"/>
    <p:sldId id="522" r:id="rId19"/>
    <p:sldId id="525" r:id="rId20"/>
    <p:sldId id="534" r:id="rId21"/>
    <p:sldId id="523" r:id="rId22"/>
    <p:sldId id="527" r:id="rId23"/>
    <p:sldId id="528" r:id="rId24"/>
    <p:sldId id="529" r:id="rId25"/>
    <p:sldId id="530" r:id="rId26"/>
    <p:sldId id="531" r:id="rId27"/>
    <p:sldId id="533"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D005FB-1F80-42D3-AAEF-86A4217B13FB}">
          <p14:sldIdLst/>
        </p14:section>
        <p14:section name="默认节" id="{E03E238F-8B49-4D2C-90B4-E980B118F013}">
          <p14:sldIdLst>
            <p14:sldId id="536"/>
            <p14:sldId id="549"/>
            <p14:sldId id="548"/>
            <p14:sldId id="555"/>
            <p14:sldId id="552"/>
            <p14:sldId id="551"/>
            <p14:sldId id="554"/>
            <p14:sldId id="544"/>
            <p14:sldId id="553"/>
            <p14:sldId id="545"/>
            <p14:sldId id="261"/>
            <p14:sldId id="532"/>
            <p14:sldId id="547"/>
            <p14:sldId id="550"/>
            <p14:sldId id="543"/>
            <p14:sldId id="524"/>
            <p14:sldId id="535"/>
            <p14:sldId id="522"/>
            <p14:sldId id="525"/>
            <p14:sldId id="534"/>
            <p14:sldId id="523"/>
            <p14:sldId id="527"/>
            <p14:sldId id="528"/>
            <p14:sldId id="529"/>
            <p14:sldId id="530"/>
            <p14:sldId id="531"/>
            <p14:sldId id="5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47BA"/>
    <a:srgbClr val="ADADE0"/>
    <a:srgbClr val="8484D1"/>
    <a:srgbClr val="0152D9"/>
    <a:srgbClr val="E519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957" autoAdjust="0"/>
  </p:normalViewPr>
  <p:slideViewPr>
    <p:cSldViewPr snapToGrid="0">
      <p:cViewPr varScale="1">
        <p:scale>
          <a:sx n="86" d="100"/>
          <a:sy n="86" d="100"/>
        </p:scale>
        <p:origin x="29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AFB0F-6192-48FE-99AC-AF225DC028A7}" type="datetimeFigureOut">
              <a:rPr lang="zh-CN" altLang="en-US" smtClean="0"/>
              <a:t>2024/3/25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1677A-EDDD-4DA4-9464-453B9AC957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ieeexplore.ieee.org/stamp/stamp.jsp?tp=&amp;arnumber=10247926"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linux-nvme/nvme-cli"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i="0" u="none" strike="noStrike" cap="none" normalizeH="0" baseline="0" dirty="0">
                <a:ln>
                  <a:noFill/>
                </a:ln>
                <a:solidFill>
                  <a:srgbClr val="0563C1"/>
                </a:solidFill>
                <a:effectLst/>
                <a:latin typeface="Ubuntu" panose="020B0504030602030204" pitchFamily="34" charset="0"/>
                <a:hlinkClick r:id="rId3">
                  <a:extLst>
                    <a:ext uri="{A12FA001-AC4F-418D-AE19-62706E023703}">
                      <ahyp:hlinkClr xmlns:ahyp="http://schemas.microsoft.com/office/drawing/2018/hyperlinkcolor" val="tx"/>
                    </a:ext>
                  </a:extLst>
                </a:hlinkClick>
              </a:rPr>
              <a:t>https://ieeexplore.ieee.org/stamp/stamp.jsp?tp=&amp;arnumber=10247926</a:t>
            </a:r>
            <a:endParaRPr kumimoji="0" lang="zh-CN" altLang="zh-CN" sz="1800" i="0" u="none" strike="noStrike" cap="none" normalizeH="0" baseline="0" dirty="0">
              <a:ln>
                <a:noFill/>
              </a:ln>
              <a:solidFill>
                <a:schemeClr val="tx1"/>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相较于现有在</a:t>
            </a:r>
            <a:r>
              <a:rPr lang="en-US" altLang="zh-CN" sz="1800" kern="100" dirty="0">
                <a:effectLst/>
                <a:latin typeface="Times New Roman" panose="02020603050405020304" pitchFamily="18" charset="0"/>
                <a:ea typeface="宋体" panose="02010600030101010101" pitchFamily="2" charset="-122"/>
              </a:rPr>
              <a:t>QEMU</a:t>
            </a:r>
            <a:r>
              <a:rPr lang="en-US" altLang="zh-CN" sz="1800" kern="100" baseline="300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FEMU</a:t>
            </a:r>
            <a:r>
              <a:rPr lang="en-US" altLang="zh-CN" sz="1800" kern="100" baseline="300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等模拟器上的工作，</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此工作能展示</a:t>
            </a:r>
            <a:r>
              <a:rPr lang="en-US" altLang="zh-CN" sz="1800" kern="100" dirty="0">
                <a:effectLst/>
                <a:latin typeface="Times New Roman" panose="02020603050405020304" pitchFamily="18" charset="0"/>
                <a:ea typeface="宋体" panose="02010600030101010101" pitchFamily="2" charset="-122"/>
              </a:rPr>
              <a:t>ZNS SSD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在不同的真实场景下的性能表现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相较于西数已有的基于真实设备（</a:t>
            </a:r>
            <a:r>
              <a:rPr lang="en-US" altLang="zh-CN" sz="1200" dirty="0">
                <a:latin typeface="Constantia" panose="02030602050306030303" pitchFamily="18" charset="0"/>
              </a:rPr>
              <a:t>ZN540</a:t>
            </a:r>
            <a:r>
              <a:rPr lang="zh-CN" altLang="en-US" sz="1200" dirty="0">
                <a:latin typeface="Constantia" panose="02030602050306030303" pitchFamily="18" charset="0"/>
              </a:rPr>
              <a:t>）的工作，我们使用浪潮提供的最新</a:t>
            </a:r>
            <a:r>
              <a:rPr lang="en-US" altLang="zh-CN" sz="1200" dirty="0">
                <a:latin typeface="Constantia" panose="02030602050306030303" pitchFamily="18" charset="0"/>
              </a:rPr>
              <a:t>ZNS</a:t>
            </a:r>
            <a:r>
              <a:rPr lang="zh-CN" altLang="en-US" sz="1200" dirty="0">
                <a:latin typeface="Constantia" panose="02030602050306030303" pitchFamily="18" charset="0"/>
              </a:rPr>
              <a:t>盘，一方面，其介质选用更好的</a:t>
            </a:r>
            <a:r>
              <a:rPr lang="en-US" altLang="zh-CN" sz="1200" dirty="0">
                <a:latin typeface="Constantia" panose="02030602050306030303" pitchFamily="18" charset="0"/>
              </a:rPr>
              <a:t>TLC</a:t>
            </a:r>
            <a:r>
              <a:rPr lang="zh-CN" altLang="en-US" sz="1200" dirty="0">
                <a:latin typeface="Constantia" panose="02030602050306030303" pitchFamily="18" charset="0"/>
              </a:rPr>
              <a:t>颗粒</a:t>
            </a:r>
            <a:r>
              <a:rPr lang="en-US" altLang="zh-CN" sz="1200" dirty="0">
                <a:latin typeface="Constantia" panose="02030602050306030303" pitchFamily="18" charset="0"/>
              </a:rPr>
              <a:t>(</a:t>
            </a:r>
            <a:r>
              <a:rPr lang="zh-CN" altLang="en-US" sz="1200" dirty="0">
                <a:latin typeface="Constantia" panose="02030602050306030303" pitchFamily="18" charset="0"/>
              </a:rPr>
              <a:t>西数是</a:t>
            </a:r>
            <a:r>
              <a:rPr lang="en-US" altLang="zh-CN" sz="1200" dirty="0">
                <a:latin typeface="Constantia" panose="02030602050306030303" pitchFamily="18" charset="0"/>
              </a:rPr>
              <a:t>QLC</a:t>
            </a:r>
            <a:r>
              <a:rPr lang="zh-CN" altLang="en-US" sz="1200" dirty="0">
                <a:latin typeface="Constantia" panose="02030602050306030303" pitchFamily="18" charset="0"/>
              </a:rPr>
              <a:t>颗粒），关键参数上也有区别，例如已知的，</a:t>
            </a:r>
            <a:r>
              <a:rPr lang="en-US" altLang="zh-CN" sz="1200" dirty="0">
                <a:latin typeface="Constantia" panose="02030602050306030303" pitchFamily="18" charset="0"/>
              </a:rPr>
              <a:t>zone size 2GB-&gt;1.4GB</a:t>
            </a:r>
            <a:r>
              <a:rPr lang="zh-CN" altLang="en-US" sz="1200" dirty="0">
                <a:latin typeface="Constantia" panose="02030602050306030303" pitchFamily="18" charset="0"/>
              </a:rPr>
              <a:t>，最大带宽也更大。另一方面，</a:t>
            </a: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extLst>
      <p:ext uri="{BB962C8B-B14F-4D97-AF65-F5344CB8AC3E}">
        <p14:creationId xmlns:p14="http://schemas.microsoft.com/office/powerpoint/2010/main" val="2646977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相较于现有在</a:t>
            </a:r>
            <a:r>
              <a:rPr lang="en-US" altLang="zh-CN" sz="1800" kern="100" dirty="0">
                <a:effectLst/>
                <a:latin typeface="Times New Roman" panose="02020603050405020304" pitchFamily="18" charset="0"/>
                <a:ea typeface="宋体" panose="02010600030101010101" pitchFamily="2" charset="-122"/>
              </a:rPr>
              <a:t>QEMU</a:t>
            </a:r>
            <a:r>
              <a:rPr lang="en-US" altLang="zh-CN" sz="1800" kern="100" baseline="300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FEMU</a:t>
            </a:r>
            <a:r>
              <a:rPr lang="en-US" altLang="zh-CN" sz="1800" kern="100" baseline="300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等模拟器上的工作，</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此工作能展示</a:t>
            </a:r>
            <a:r>
              <a:rPr lang="en-US" altLang="zh-CN" sz="1800" kern="100" dirty="0">
                <a:effectLst/>
                <a:latin typeface="Times New Roman" panose="02020603050405020304" pitchFamily="18" charset="0"/>
                <a:ea typeface="宋体" panose="02010600030101010101" pitchFamily="2" charset="-122"/>
              </a:rPr>
              <a:t>ZNS SSD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在不同的真实场景下的性能表现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r>
              <a:rPr lang="zh-CN" altLang="en-US" sz="1200" dirty="0">
                <a:latin typeface="Constantia" panose="02030602050306030303" pitchFamily="18" charset="0"/>
              </a:rPr>
              <a:t>相较于西数已有的基于真实设备（</a:t>
            </a:r>
            <a:r>
              <a:rPr lang="en-US" altLang="zh-CN" sz="1200" dirty="0">
                <a:latin typeface="Constantia" panose="02030602050306030303" pitchFamily="18" charset="0"/>
              </a:rPr>
              <a:t>ZN540</a:t>
            </a:r>
            <a:r>
              <a:rPr lang="zh-CN" altLang="en-US" sz="1200" dirty="0">
                <a:latin typeface="Constantia" panose="02030602050306030303" pitchFamily="18" charset="0"/>
              </a:rPr>
              <a:t>）的工作，我们使用浪潮提供的最新</a:t>
            </a:r>
            <a:r>
              <a:rPr lang="en-US" altLang="zh-CN" sz="1200" dirty="0">
                <a:latin typeface="Constantia" panose="02030602050306030303" pitchFamily="18" charset="0"/>
              </a:rPr>
              <a:t>ZNS</a:t>
            </a:r>
            <a:r>
              <a:rPr lang="zh-CN" altLang="en-US" sz="1200" dirty="0">
                <a:latin typeface="Constantia" panose="02030602050306030303" pitchFamily="18" charset="0"/>
              </a:rPr>
              <a:t>盘，一方面，其介质选用更好的</a:t>
            </a:r>
            <a:r>
              <a:rPr lang="en-US" altLang="zh-CN" sz="1200" dirty="0">
                <a:latin typeface="Constantia" panose="02030602050306030303" pitchFamily="18" charset="0"/>
              </a:rPr>
              <a:t>TLC</a:t>
            </a:r>
            <a:r>
              <a:rPr lang="zh-CN" altLang="en-US" sz="1200" dirty="0">
                <a:latin typeface="Constantia" panose="02030602050306030303" pitchFamily="18" charset="0"/>
              </a:rPr>
              <a:t>颗粒</a:t>
            </a:r>
            <a:r>
              <a:rPr lang="en-US" altLang="zh-CN" sz="1200" dirty="0">
                <a:latin typeface="Constantia" panose="02030602050306030303" pitchFamily="18" charset="0"/>
              </a:rPr>
              <a:t>(</a:t>
            </a:r>
            <a:r>
              <a:rPr lang="zh-CN" altLang="en-US" sz="1200" dirty="0">
                <a:latin typeface="Constantia" panose="02030602050306030303" pitchFamily="18" charset="0"/>
              </a:rPr>
              <a:t>西数是</a:t>
            </a:r>
            <a:r>
              <a:rPr lang="en-US" altLang="zh-CN" sz="1200" dirty="0">
                <a:latin typeface="Constantia" panose="02030602050306030303" pitchFamily="18" charset="0"/>
              </a:rPr>
              <a:t>QLC</a:t>
            </a:r>
            <a:r>
              <a:rPr lang="zh-CN" altLang="en-US" sz="1200" dirty="0">
                <a:latin typeface="Constantia" panose="02030602050306030303" pitchFamily="18" charset="0"/>
              </a:rPr>
              <a:t>颗粒）；另一方面，关键参数上有区别，例如已知的，</a:t>
            </a:r>
            <a:r>
              <a:rPr lang="en-US" altLang="zh-CN" sz="1200" dirty="0">
                <a:latin typeface="Constantia" panose="02030602050306030303" pitchFamily="18" charset="0"/>
              </a:rPr>
              <a:t>zone size 2GB-&gt;1.4GB</a:t>
            </a:r>
            <a:r>
              <a:rPr lang="zh-CN" altLang="en-US" sz="1200" dirty="0">
                <a:latin typeface="Constantia" panose="02030602050306030303" pitchFamily="18" charset="0"/>
              </a:rPr>
              <a:t>，最大带宽也更大。</a:t>
            </a: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extLst>
      <p:ext uri="{BB962C8B-B14F-4D97-AF65-F5344CB8AC3E}">
        <p14:creationId xmlns:p14="http://schemas.microsoft.com/office/powerpoint/2010/main" val="2596265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dirty="0">
                    <a:solidFill>
                      <a:srgbClr val="374151"/>
                    </a:solidFill>
                    <a:latin typeface="_5b8b_4f53"/>
                  </a:rPr>
                  <a:t>例如，当选择</a:t>
                </a:r>
                <a14:m>
                  <m:oMath xmlns:m="http://schemas.openxmlformats.org/officeDocument/2006/math">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𝐿</m:t>
                        </m:r>
                      </m:e>
                      <m:sub>
                        <m:r>
                          <a:rPr lang="en-US" altLang="zh-CN" sz="1800" dirty="0">
                            <a:solidFill>
                              <a:srgbClr val="374151"/>
                            </a:solidFill>
                            <a:latin typeface="Cambria Math" panose="02040503050406030204" pitchFamily="18" charset="0"/>
                          </a:rPr>
                          <m:t>2</m:t>
                        </m:r>
                      </m:sub>
                    </m:sSub>
                  </m:oMath>
                </a14:m>
                <a:r>
                  <a:rPr lang="zh-CN" altLang="en-US" sz="1800" dirty="0">
                    <a:solidFill>
                      <a:srgbClr val="374151"/>
                    </a:solidFill>
                    <a:latin typeface="_5b8b_4f53"/>
                  </a:rPr>
                  <a:t>中的</a:t>
                </a:r>
                <a:r>
                  <a:rPr lang="en-US" altLang="zh-CN" sz="1800" dirty="0" err="1">
                    <a:solidFill>
                      <a:srgbClr val="374151"/>
                    </a:solidFill>
                    <a:latin typeface="_5b8b_4f53"/>
                  </a:rPr>
                  <a:t>SSTable</a:t>
                </a:r>
                <a:r>
                  <a:rPr lang="zh-CN" altLang="en-US" sz="1800" dirty="0">
                    <a:solidFill>
                      <a:srgbClr val="374151"/>
                    </a:solidFill>
                    <a:latin typeface="_5b8b_4f53"/>
                  </a:rPr>
                  <a:t>来执行压缩，并且</a:t>
                </a:r>
                <a14:m>
                  <m:oMath xmlns:m="http://schemas.openxmlformats.org/officeDocument/2006/math">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𝐿</m:t>
                        </m:r>
                      </m:e>
                      <m:sub>
                        <m:r>
                          <a:rPr lang="en-US" altLang="zh-CN" sz="1800" dirty="0">
                            <a:solidFill>
                              <a:srgbClr val="374151"/>
                            </a:solidFill>
                            <a:latin typeface="Cambria Math" panose="02040503050406030204" pitchFamily="18" charset="0"/>
                          </a:rPr>
                          <m:t>3</m:t>
                        </m:r>
                      </m:sub>
                    </m:sSub>
                  </m:oMath>
                </a14:m>
                <a:r>
                  <a:rPr lang="zh-CN" altLang="en-US" sz="1800" dirty="0">
                    <a:solidFill>
                      <a:srgbClr val="374151"/>
                    </a:solidFill>
                    <a:latin typeface="_5b8b_4f53"/>
                  </a:rPr>
                  <a:t>中的所有</a:t>
                </a:r>
                <a:r>
                  <a:rPr lang="en-US" altLang="zh-CN" sz="1800" dirty="0" err="1">
                    <a:solidFill>
                      <a:srgbClr val="374151"/>
                    </a:solidFill>
                    <a:latin typeface="_5b8b_4f53"/>
                  </a:rPr>
                  <a:t>SSTable</a:t>
                </a:r>
                <a:r>
                  <a:rPr lang="zh-CN" altLang="en-US" sz="1800" dirty="0">
                    <a:solidFill>
                      <a:srgbClr val="374151"/>
                    </a:solidFill>
                    <a:latin typeface="_5b8b_4f53"/>
                  </a:rPr>
                  <a:t>都应该存储在</a:t>
                </a:r>
                <a14:m>
                  <m:oMath xmlns:m="http://schemas.openxmlformats.org/officeDocument/2006/math">
                    <m:r>
                      <a:rPr lang="en-US" altLang="zh-CN" sz="1800" dirty="0">
                        <a:solidFill>
                          <a:srgbClr val="374151"/>
                        </a:solidFill>
                        <a:latin typeface="Cambria Math" panose="02040503050406030204" pitchFamily="18" charset="0"/>
                      </a:rPr>
                      <m:t>𝑍𝑜𝑛</m:t>
                    </m:r>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𝑒</m:t>
                        </m:r>
                      </m:e>
                      <m:sub>
                        <m:r>
                          <a:rPr lang="en-US" altLang="zh-CN" sz="1800" dirty="0">
                            <a:solidFill>
                              <a:srgbClr val="374151"/>
                            </a:solidFill>
                            <a:latin typeface="Cambria Math" panose="02040503050406030204" pitchFamily="18" charset="0"/>
                          </a:rPr>
                          <m:t>1</m:t>
                        </m:r>
                      </m:sub>
                    </m:sSub>
                  </m:oMath>
                </a14:m>
                <a:r>
                  <a:rPr lang="zh-CN" altLang="en-US" sz="1800" dirty="0">
                    <a:solidFill>
                      <a:srgbClr val="374151"/>
                    </a:solidFill>
                    <a:latin typeface="_5b8b_4f53"/>
                  </a:rPr>
                  <a:t>中，压缩后新生成的</a:t>
                </a:r>
                <a:r>
                  <a:rPr lang="en-US" altLang="zh-CN" sz="1800" dirty="0" err="1">
                    <a:solidFill>
                      <a:srgbClr val="374151"/>
                    </a:solidFill>
                    <a:latin typeface="_5b8b_4f53"/>
                  </a:rPr>
                  <a:t>SSTable</a:t>
                </a:r>
                <a:r>
                  <a:rPr lang="zh-CN" altLang="en-US" sz="1800" dirty="0">
                    <a:solidFill>
                      <a:srgbClr val="374151"/>
                    </a:solidFill>
                    <a:latin typeface="_5b8b_4f53"/>
                  </a:rPr>
                  <a:t>可以被写入到不同的</a:t>
                </a:r>
                <a:r>
                  <a:rPr lang="en-US" altLang="zh-CN" sz="1800" dirty="0">
                    <a:solidFill>
                      <a:srgbClr val="374151"/>
                    </a:solidFill>
                    <a:latin typeface="_5b8b_4f53"/>
                  </a:rPr>
                  <a:t>Zone</a:t>
                </a:r>
                <a:r>
                  <a:rPr lang="zh-CN" altLang="en-US" sz="1800" dirty="0">
                    <a:solidFill>
                      <a:srgbClr val="374151"/>
                    </a:solidFill>
                    <a:latin typeface="_5b8b_4f53"/>
                  </a:rPr>
                  <a:t>，例如</a:t>
                </a:r>
                <a14:m>
                  <m:oMath xmlns:m="http://schemas.openxmlformats.org/officeDocument/2006/math">
                    <m:r>
                      <a:rPr lang="en-US" altLang="zh-CN" sz="1800" dirty="0">
                        <a:solidFill>
                          <a:srgbClr val="374151"/>
                        </a:solidFill>
                        <a:latin typeface="Cambria Math" panose="02040503050406030204" pitchFamily="18" charset="0"/>
                      </a:rPr>
                      <m:t>𝑍𝑜𝑛</m:t>
                    </m:r>
                    <m:sSub>
                      <m:sSubPr>
                        <m:ctrlPr>
                          <a:rPr lang="en-US" altLang="zh-CN" sz="1800" i="1" dirty="0">
                            <a:solidFill>
                              <a:srgbClr val="374151"/>
                            </a:solidFill>
                            <a:latin typeface="Cambria Math" panose="02040503050406030204" pitchFamily="18" charset="0"/>
                          </a:rPr>
                        </m:ctrlPr>
                      </m:sSubPr>
                      <m:e>
                        <m:r>
                          <a:rPr lang="en-US" altLang="zh-CN" sz="1800" dirty="0">
                            <a:solidFill>
                              <a:srgbClr val="374151"/>
                            </a:solidFill>
                            <a:latin typeface="Cambria Math" panose="02040503050406030204" pitchFamily="18" charset="0"/>
                          </a:rPr>
                          <m:t>𝑒</m:t>
                        </m:r>
                      </m:e>
                      <m:sub>
                        <m:r>
                          <a:rPr lang="en-US" altLang="zh-CN" sz="1800" dirty="0">
                            <a:solidFill>
                              <a:srgbClr val="374151"/>
                            </a:solidFill>
                            <a:latin typeface="Cambria Math" panose="02040503050406030204" pitchFamily="18" charset="0"/>
                          </a:rPr>
                          <m:t>2</m:t>
                        </m:r>
                      </m:sub>
                    </m:sSub>
                  </m:oMath>
                </a14:m>
                <a:r>
                  <a:rPr lang="zh-CN" altLang="en-US" sz="1800" dirty="0">
                    <a:solidFill>
                      <a:srgbClr val="374151"/>
                    </a:solidFill>
                    <a:latin typeface="_5b8b_4f53"/>
                  </a:rPr>
                  <a:t>。因此，每个</a:t>
                </a:r>
                <a:r>
                  <a:rPr lang="en-US" altLang="zh-CN" sz="1800" dirty="0">
                    <a:solidFill>
                      <a:srgbClr val="374151"/>
                    </a:solidFill>
                    <a:latin typeface="_5b8b_4f53"/>
                  </a:rPr>
                  <a:t>zone</a:t>
                </a:r>
                <a:r>
                  <a:rPr lang="zh-CN" altLang="en-US" sz="1800" dirty="0">
                    <a:solidFill>
                      <a:srgbClr val="374151"/>
                    </a:solidFill>
                    <a:latin typeface="_5b8b_4f53"/>
                  </a:rPr>
                  <a:t>里包含的数据的生命周期就不同了。这样一来，</a:t>
                </a:r>
                <a:r>
                  <a:rPr lang="en-US" altLang="zh-CN" sz="1800" dirty="0">
                    <a:solidFill>
                      <a:srgbClr val="374151"/>
                    </a:solidFill>
                    <a:latin typeface="_5b8b_4f53"/>
                  </a:rPr>
                  <a:t>zone</a:t>
                </a:r>
                <a:r>
                  <a:rPr lang="zh-CN" altLang="en-US" sz="1800" dirty="0">
                    <a:solidFill>
                      <a:srgbClr val="374151"/>
                    </a:solidFill>
                    <a:latin typeface="_5b8b_4f53"/>
                  </a:rPr>
                  <a:t>中的无效数据就不会被及时回收，增加了</a:t>
                </a:r>
                <a:r>
                  <a:rPr lang="en-US" altLang="zh-CN" sz="1800" dirty="0">
                    <a:solidFill>
                      <a:srgbClr val="374151"/>
                    </a:solidFill>
                    <a:latin typeface="_5b8b_4f53"/>
                  </a:rPr>
                  <a:t>LSM-tree</a:t>
                </a:r>
                <a:r>
                  <a:rPr lang="zh-CN" altLang="en-US" sz="1800" dirty="0">
                    <a:solidFill>
                      <a:srgbClr val="374151"/>
                    </a:solidFill>
                    <a:latin typeface="_5b8b_4f53"/>
                  </a:rPr>
                  <a:t>的空间放大。</a:t>
                </a:r>
                <a:r>
                  <a:rPr lang="en-US" altLang="zh-CN" sz="1800" dirty="0">
                    <a:solidFill>
                      <a:srgbClr val="374151"/>
                    </a:solidFill>
                    <a:latin typeface="_5b8b_4f53"/>
                  </a:rPr>
                  <a:t>	</a:t>
                </a:r>
                <a:endParaRPr lang="zh-CN" altLang="en-US" sz="1200" dirty="0">
                  <a:latin typeface="Constantia" panose="02030602050306030303" pitchFamily="18" charset="0"/>
                </a:endParaRPr>
              </a:p>
            </p:txBody>
          </p:sp>
        </mc:Choice>
        <mc:Fallback>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dirty="0">
                    <a:solidFill>
                      <a:srgbClr val="374151"/>
                    </a:solidFill>
                    <a:latin typeface="_5b8b_4f53"/>
                  </a:rPr>
                  <a:t>例如，当选择</a:t>
                </a:r>
                <a:r>
                  <a:rPr lang="en-US" altLang="zh-CN" sz="1800" i="0" dirty="0">
                    <a:solidFill>
                      <a:srgbClr val="374151"/>
                    </a:solidFill>
                    <a:latin typeface="Cambria Math" panose="02040503050406030204" pitchFamily="18" charset="0"/>
                  </a:rPr>
                  <a:t>𝐿_2</a:t>
                </a:r>
                <a:r>
                  <a:rPr lang="zh-CN" altLang="en-US" sz="1800" dirty="0">
                    <a:solidFill>
                      <a:srgbClr val="374151"/>
                    </a:solidFill>
                    <a:latin typeface="_5b8b_4f53"/>
                  </a:rPr>
                  <a:t>中的</a:t>
                </a:r>
                <a:r>
                  <a:rPr lang="en-US" altLang="zh-CN" sz="1800" dirty="0" err="1">
                    <a:solidFill>
                      <a:srgbClr val="374151"/>
                    </a:solidFill>
                    <a:latin typeface="_5b8b_4f53"/>
                  </a:rPr>
                  <a:t>SSTable</a:t>
                </a:r>
                <a:r>
                  <a:rPr lang="zh-CN" altLang="en-US" sz="1800" dirty="0">
                    <a:solidFill>
                      <a:srgbClr val="374151"/>
                    </a:solidFill>
                    <a:latin typeface="_5b8b_4f53"/>
                  </a:rPr>
                  <a:t>来执行压缩，并且</a:t>
                </a:r>
                <a:r>
                  <a:rPr lang="en-US" altLang="zh-CN" sz="1800" i="0" dirty="0">
                    <a:solidFill>
                      <a:srgbClr val="374151"/>
                    </a:solidFill>
                    <a:latin typeface="Cambria Math" panose="02040503050406030204" pitchFamily="18" charset="0"/>
                  </a:rPr>
                  <a:t>𝐿_3</a:t>
                </a:r>
                <a:r>
                  <a:rPr lang="zh-CN" altLang="en-US" sz="1800" dirty="0">
                    <a:solidFill>
                      <a:srgbClr val="374151"/>
                    </a:solidFill>
                    <a:latin typeface="_5b8b_4f53"/>
                  </a:rPr>
                  <a:t>中的所有</a:t>
                </a:r>
                <a:r>
                  <a:rPr lang="en-US" altLang="zh-CN" sz="1800" dirty="0" err="1">
                    <a:solidFill>
                      <a:srgbClr val="374151"/>
                    </a:solidFill>
                    <a:latin typeface="_5b8b_4f53"/>
                  </a:rPr>
                  <a:t>SSTable</a:t>
                </a:r>
                <a:r>
                  <a:rPr lang="zh-CN" altLang="en-US" sz="1800" dirty="0">
                    <a:solidFill>
                      <a:srgbClr val="374151"/>
                    </a:solidFill>
                    <a:latin typeface="_5b8b_4f53"/>
                  </a:rPr>
                  <a:t>都应该存储在</a:t>
                </a:r>
                <a:r>
                  <a:rPr lang="en-US" altLang="zh-CN" sz="1800" i="0" dirty="0">
                    <a:solidFill>
                      <a:srgbClr val="374151"/>
                    </a:solidFill>
                    <a:latin typeface="Cambria Math" panose="02040503050406030204" pitchFamily="18" charset="0"/>
                  </a:rPr>
                  <a:t>𝑍𝑜𝑛𝑒_1</a:t>
                </a:r>
                <a:r>
                  <a:rPr lang="zh-CN" altLang="en-US" sz="1800" dirty="0">
                    <a:solidFill>
                      <a:srgbClr val="374151"/>
                    </a:solidFill>
                    <a:latin typeface="_5b8b_4f53"/>
                  </a:rPr>
                  <a:t>中，压缩后新生成的</a:t>
                </a:r>
                <a:r>
                  <a:rPr lang="en-US" altLang="zh-CN" sz="1800" dirty="0" err="1">
                    <a:solidFill>
                      <a:srgbClr val="374151"/>
                    </a:solidFill>
                    <a:latin typeface="_5b8b_4f53"/>
                  </a:rPr>
                  <a:t>SSTable</a:t>
                </a:r>
                <a:r>
                  <a:rPr lang="zh-CN" altLang="en-US" sz="1800" dirty="0">
                    <a:solidFill>
                      <a:srgbClr val="374151"/>
                    </a:solidFill>
                    <a:latin typeface="_5b8b_4f53"/>
                  </a:rPr>
                  <a:t>可以被写入到不同的</a:t>
                </a:r>
                <a:r>
                  <a:rPr lang="en-US" altLang="zh-CN" sz="1800" dirty="0">
                    <a:solidFill>
                      <a:srgbClr val="374151"/>
                    </a:solidFill>
                    <a:latin typeface="_5b8b_4f53"/>
                  </a:rPr>
                  <a:t>Zone</a:t>
                </a:r>
                <a:r>
                  <a:rPr lang="zh-CN" altLang="en-US" sz="1800" dirty="0">
                    <a:solidFill>
                      <a:srgbClr val="374151"/>
                    </a:solidFill>
                    <a:latin typeface="_5b8b_4f53"/>
                  </a:rPr>
                  <a:t>，例如</a:t>
                </a:r>
                <a:r>
                  <a:rPr lang="en-US" altLang="zh-CN" sz="1800" i="0" dirty="0">
                    <a:solidFill>
                      <a:srgbClr val="374151"/>
                    </a:solidFill>
                    <a:latin typeface="Cambria Math" panose="02040503050406030204" pitchFamily="18" charset="0"/>
                  </a:rPr>
                  <a:t>𝑍𝑜𝑛𝑒_2</a:t>
                </a:r>
                <a:r>
                  <a:rPr lang="zh-CN" altLang="en-US" sz="1800" dirty="0">
                    <a:solidFill>
                      <a:srgbClr val="374151"/>
                    </a:solidFill>
                    <a:latin typeface="_5b8b_4f53"/>
                  </a:rPr>
                  <a:t>。因此，每个</a:t>
                </a:r>
                <a:r>
                  <a:rPr lang="en-US" altLang="zh-CN" sz="1800" dirty="0">
                    <a:solidFill>
                      <a:srgbClr val="374151"/>
                    </a:solidFill>
                    <a:latin typeface="_5b8b_4f53"/>
                  </a:rPr>
                  <a:t>zone</a:t>
                </a:r>
                <a:r>
                  <a:rPr lang="zh-CN" altLang="en-US" sz="1800" dirty="0">
                    <a:solidFill>
                      <a:srgbClr val="374151"/>
                    </a:solidFill>
                    <a:latin typeface="_5b8b_4f53"/>
                  </a:rPr>
                  <a:t>里包含的数据的生命周期就不同了。这样一来，</a:t>
                </a:r>
                <a:r>
                  <a:rPr lang="en-US" altLang="zh-CN" sz="1800" dirty="0">
                    <a:solidFill>
                      <a:srgbClr val="374151"/>
                    </a:solidFill>
                    <a:latin typeface="_5b8b_4f53"/>
                  </a:rPr>
                  <a:t>zone</a:t>
                </a:r>
                <a:r>
                  <a:rPr lang="zh-CN" altLang="en-US" sz="1800" dirty="0">
                    <a:solidFill>
                      <a:srgbClr val="374151"/>
                    </a:solidFill>
                    <a:latin typeface="_5b8b_4f53"/>
                  </a:rPr>
                  <a:t>中的无效数据就不会被及时回收，增加了</a:t>
                </a:r>
                <a:r>
                  <a:rPr lang="en-US" altLang="zh-CN" sz="1800" dirty="0">
                    <a:solidFill>
                      <a:srgbClr val="374151"/>
                    </a:solidFill>
                    <a:latin typeface="_5b8b_4f53"/>
                  </a:rPr>
                  <a:t>LSM-tree</a:t>
                </a:r>
                <a:r>
                  <a:rPr lang="zh-CN" altLang="en-US" sz="1800" dirty="0">
                    <a:solidFill>
                      <a:srgbClr val="374151"/>
                    </a:solidFill>
                    <a:latin typeface="_5b8b_4f53"/>
                  </a:rPr>
                  <a:t>的空间放大。</a:t>
                </a:r>
                <a:r>
                  <a:rPr lang="en-US" altLang="zh-CN" sz="1800" dirty="0">
                    <a:solidFill>
                      <a:srgbClr val="374151"/>
                    </a:solidFill>
                    <a:latin typeface="_5b8b_4f53"/>
                  </a:rPr>
                  <a:t>	</a:t>
                </a:r>
                <a:endParaRPr lang="zh-CN" altLang="en-US" sz="1200" dirty="0">
                  <a:latin typeface="Constantia" panose="02030602050306030303" pitchFamily="18" charset="0"/>
                </a:endParaRPr>
              </a:p>
            </p:txBody>
          </p:sp>
        </mc:Fallback>
      </mc:AlternateContent>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extLst>
      <p:ext uri="{BB962C8B-B14F-4D97-AF65-F5344CB8AC3E}">
        <p14:creationId xmlns:p14="http://schemas.microsoft.com/office/powerpoint/2010/main" val="2045063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44C06-F784-6DAC-1915-581C78B29F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3368A4-1A7A-C906-7C38-A1F35E2C25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6F6428-B0C6-CE8A-CAFE-80B3EE0C2A1F}"/>
              </a:ext>
            </a:extLst>
          </p:cNvPr>
          <p:cNvSpPr>
            <a:spLocks noGrp="1"/>
          </p:cNvSpPr>
          <p:nvPr>
            <p:ph type="body" idx="1"/>
          </p:nvPr>
        </p:nvSpPr>
        <p:spPr/>
        <p:txBody>
          <a:bodyPr/>
          <a:lstStyle/>
          <a:p>
            <a:pPr indent="0" algn="just">
              <a:spcAft>
                <a:spcPts val="1200"/>
              </a:spcAft>
              <a:buFont typeface="Arial" panose="020B0604020202020204" pitchFamily="34" charset="0"/>
              <a:buNone/>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实际上还有一篇文章叫</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ZenFS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，可能是当时还没见刊，完全没有提到</a:t>
            </a:r>
            <a:endParaRPr lang="zh-CN" altLang="en-US" sz="1200" dirty="0">
              <a:latin typeface="Constantia" panose="02030602050306030303" pitchFamily="18" charset="0"/>
            </a:endParaRPr>
          </a:p>
        </p:txBody>
      </p:sp>
      <p:sp>
        <p:nvSpPr>
          <p:cNvPr id="4" name="灯片编号占位符 3">
            <a:extLst>
              <a:ext uri="{FF2B5EF4-FFF2-40B4-BE49-F238E27FC236}">
                <a16:creationId xmlns:a16="http://schemas.microsoft.com/office/drawing/2014/main" id="{DB1DAFFE-4908-88CA-8C3E-9E3DEFD08EB3}"/>
              </a:ext>
            </a:extLst>
          </p:cNvPr>
          <p:cNvSpPr>
            <a:spLocks noGrp="1"/>
          </p:cNvSpPr>
          <p:nvPr>
            <p:ph type="sldNum" sz="quarter" idx="10"/>
          </p:nvPr>
        </p:nvSpPr>
        <p:spPr/>
        <p:txBody>
          <a:bodyPr/>
          <a:lstStyle/>
          <a:p>
            <a:fld id="{E4FF5570-FE69-4FDF-99DA-8CDE436443CD}" type="slidenum">
              <a:rPr lang="en-US" smtClean="0"/>
              <a:t>5</a:t>
            </a:fld>
            <a:endParaRPr lang="en-US" dirty="0"/>
          </a:p>
        </p:txBody>
      </p:sp>
    </p:spTree>
    <p:extLst>
      <p:ext uri="{BB962C8B-B14F-4D97-AF65-F5344CB8AC3E}">
        <p14:creationId xmlns:p14="http://schemas.microsoft.com/office/powerpoint/2010/main" val="2960569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9B895-C9E7-A88C-3BF8-81F9E26853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0035CC-CA4E-6838-3CC4-0DF0ED8FF8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C1E2C6-ECF4-23C5-A84F-5FE0BE0EC213}"/>
              </a:ext>
            </a:extLst>
          </p:cNvPr>
          <p:cNvSpPr>
            <a:spLocks noGrp="1"/>
          </p:cNvSpPr>
          <p:nvPr>
            <p:ph type="body" idx="1"/>
          </p:nvPr>
        </p:nvSpPr>
        <p:spPr/>
        <p:txBody>
          <a:bodyPr/>
          <a:lstStyle/>
          <a:p>
            <a:pPr indent="0" algn="just">
              <a:spcAft>
                <a:spcPts val="1200"/>
              </a:spcAft>
              <a:buFont typeface="Arial" panose="020B0604020202020204" pitchFamily="34" charset="0"/>
              <a:buNone/>
            </a:pPr>
            <a:r>
              <a:rPr lang="zh-CN" altLang="en-US" dirty="0">
                <a:solidFill>
                  <a:srgbClr val="0D0D0D"/>
                </a:solidFill>
                <a:latin typeface="Söhne"/>
              </a:rPr>
              <a:t>我们的设备是有区别的，例如：介质区别、关键参数区别，例如已知的，</a:t>
            </a:r>
            <a:r>
              <a:rPr lang="en-US" altLang="zh-CN" dirty="0">
                <a:solidFill>
                  <a:srgbClr val="0D0D0D"/>
                </a:solidFill>
                <a:latin typeface="Söhne"/>
              </a:rPr>
              <a:t>zone size 2GB-&gt;1.4GB</a:t>
            </a:r>
            <a:r>
              <a:rPr lang="zh-CN" altLang="en-US" dirty="0">
                <a:solidFill>
                  <a:srgbClr val="0D0D0D"/>
                </a:solidFill>
                <a:latin typeface="Söhne"/>
              </a:rPr>
              <a:t>，最大带宽也更大。</a:t>
            </a:r>
            <a:endParaRPr lang="en-US" altLang="zh-CN" dirty="0">
              <a:solidFill>
                <a:srgbClr val="0D0D0D"/>
              </a:solidFill>
              <a:latin typeface="Söhne"/>
            </a:endParaRPr>
          </a:p>
          <a:p>
            <a:pPr indent="0" algn="just">
              <a:spcAft>
                <a:spcPts val="1200"/>
              </a:spcAft>
              <a:buFont typeface="Arial" panose="020B0604020202020204" pitchFamily="34" charset="0"/>
              <a:buNone/>
            </a:pPr>
            <a:endParaRPr lang="en-US" altLang="zh-CN" sz="1200" dirty="0">
              <a:solidFill>
                <a:srgbClr val="0D0D0D"/>
              </a:solidFill>
              <a:latin typeface="Söhne"/>
            </a:endParaRPr>
          </a:p>
          <a:p>
            <a:pPr indent="0" algn="just">
              <a:spcAft>
                <a:spcPts val="1200"/>
              </a:spcAft>
              <a:buFont typeface="Arial" panose="020B0604020202020204" pitchFamily="34" charset="0"/>
              <a:buNone/>
            </a:pPr>
            <a:r>
              <a:rPr lang="zh-CN" altLang="en-US" sz="1200" dirty="0">
                <a:solidFill>
                  <a:srgbClr val="0D0D0D"/>
                </a:solidFill>
                <a:latin typeface="Söhne"/>
              </a:rPr>
              <a:t>过去的工作：要么模拟器。要么真实设备，只有一款真实设备，</a:t>
            </a:r>
            <a:r>
              <a:rPr lang="en-US" altLang="zh-CN" sz="1200" dirty="0">
                <a:solidFill>
                  <a:srgbClr val="0D0D0D"/>
                </a:solidFill>
                <a:latin typeface="Söhne"/>
              </a:rPr>
              <a:t>SSD vs ZNS</a:t>
            </a:r>
            <a:r>
              <a:rPr lang="zh-CN" altLang="en-US" sz="1200" dirty="0">
                <a:solidFill>
                  <a:srgbClr val="0D0D0D"/>
                </a:solidFill>
                <a:latin typeface="Söhne"/>
              </a:rPr>
              <a:t>。</a:t>
            </a:r>
            <a:endParaRPr lang="en-US" altLang="zh-CN" sz="1200" dirty="0">
              <a:solidFill>
                <a:srgbClr val="0D0D0D"/>
              </a:solidFill>
              <a:latin typeface="Söhne"/>
            </a:endParaRPr>
          </a:p>
          <a:p>
            <a:pPr indent="0" algn="just">
              <a:spcAft>
                <a:spcPts val="1200"/>
              </a:spcAft>
              <a:buFont typeface="Arial" panose="020B0604020202020204" pitchFamily="34" charset="0"/>
              <a:buNone/>
            </a:pPr>
            <a:endParaRPr lang="en-US" altLang="zh-CN" sz="1200" dirty="0">
              <a:solidFill>
                <a:srgbClr val="0D0D0D"/>
              </a:solidFill>
              <a:latin typeface="Söhne"/>
            </a:endParaRPr>
          </a:p>
          <a:p>
            <a:pPr indent="0" algn="just">
              <a:spcAft>
                <a:spcPts val="1200"/>
              </a:spcAft>
              <a:buFont typeface="Arial" panose="020B0604020202020204" pitchFamily="34" charset="0"/>
              <a:buNone/>
            </a:pPr>
            <a:r>
              <a:rPr lang="zh-CN" altLang="en-US" sz="1200" dirty="0">
                <a:solidFill>
                  <a:srgbClr val="0D0D0D"/>
                </a:solidFill>
                <a:latin typeface="Söhne"/>
              </a:rPr>
              <a:t>我们的工作：模拟器 </a:t>
            </a:r>
            <a:r>
              <a:rPr lang="en-US" altLang="zh-CN" sz="1200" dirty="0">
                <a:solidFill>
                  <a:srgbClr val="0D0D0D"/>
                </a:solidFill>
                <a:latin typeface="Söhne"/>
              </a:rPr>
              <a:t>vs ZNS1 vs ZNS2</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a:extLst>
              <a:ext uri="{FF2B5EF4-FFF2-40B4-BE49-F238E27FC236}">
                <a16:creationId xmlns:a16="http://schemas.microsoft.com/office/drawing/2014/main" id="{8278F522-309B-8225-6AAD-65AFDC5846A1}"/>
              </a:ext>
            </a:extLst>
          </p:cNvPr>
          <p:cNvSpPr>
            <a:spLocks noGrp="1"/>
          </p:cNvSpPr>
          <p:nvPr>
            <p:ph type="sldNum" sz="quarter" idx="10"/>
          </p:nvPr>
        </p:nvSpPr>
        <p:spPr/>
        <p:txBody>
          <a:bodyPr/>
          <a:lstStyle/>
          <a:p>
            <a:fld id="{E4FF5570-FE69-4FDF-99DA-8CDE436443CD}" type="slidenum">
              <a:rPr lang="en-US" smtClean="0"/>
              <a:t>6</a:t>
            </a:fld>
            <a:endParaRPr lang="en-US" dirty="0"/>
          </a:p>
        </p:txBody>
      </p:sp>
    </p:spTree>
    <p:extLst>
      <p:ext uri="{BB962C8B-B14F-4D97-AF65-F5344CB8AC3E}">
        <p14:creationId xmlns:p14="http://schemas.microsoft.com/office/powerpoint/2010/main" val="1853051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C5EF3-11C9-D6B3-0F52-B4277C6EFA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590BC3-B260-8515-1FE4-2829893089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E6EB02-350D-0333-40E4-A9DA232A84D1}"/>
              </a:ext>
            </a:extLst>
          </p:cNvPr>
          <p:cNvSpPr>
            <a:spLocks noGrp="1"/>
          </p:cNvSpPr>
          <p:nvPr>
            <p:ph type="body" idx="1"/>
          </p:nvPr>
        </p:nvSpPr>
        <p:spPr/>
        <p:txBody>
          <a:bodyPr/>
          <a:lstStyle/>
          <a:p>
            <a:pPr indent="0" algn="just">
              <a:spcAft>
                <a:spcPts val="1200"/>
              </a:spcAft>
              <a:buFont typeface="Arial" panose="020B0604020202020204" pitchFamily="34" charset="0"/>
              <a:buNone/>
            </a:pPr>
            <a:r>
              <a:rPr lang="zh-CN" altLang="en-US" dirty="0">
                <a:solidFill>
                  <a:srgbClr val="0D0D0D"/>
                </a:solidFill>
                <a:latin typeface="Söhne"/>
              </a:rPr>
              <a:t>我们的设备是有区别的，例如：介质区别、关键参数区别，例如已知的，</a:t>
            </a:r>
            <a:r>
              <a:rPr lang="en-US" altLang="zh-CN" dirty="0">
                <a:solidFill>
                  <a:srgbClr val="0D0D0D"/>
                </a:solidFill>
                <a:latin typeface="Söhne"/>
              </a:rPr>
              <a:t>zone size 2GB-&gt;1.4GB</a:t>
            </a:r>
            <a:r>
              <a:rPr lang="zh-CN" altLang="en-US" dirty="0">
                <a:solidFill>
                  <a:srgbClr val="0D0D0D"/>
                </a:solidFill>
                <a:latin typeface="Söhne"/>
              </a:rPr>
              <a:t>，最大带宽也更大。</a:t>
            </a:r>
            <a:endParaRPr lang="en-US" altLang="zh-CN" dirty="0">
              <a:solidFill>
                <a:srgbClr val="0D0D0D"/>
              </a:solidFill>
              <a:latin typeface="Söhne"/>
            </a:endParaRPr>
          </a:p>
          <a:p>
            <a:pPr indent="0" algn="just">
              <a:spcAft>
                <a:spcPts val="1200"/>
              </a:spcAft>
              <a:buFont typeface="Arial" panose="020B0604020202020204" pitchFamily="34" charset="0"/>
              <a:buNone/>
            </a:pPr>
            <a:endParaRPr lang="en-US" altLang="zh-CN" sz="1200" dirty="0">
              <a:solidFill>
                <a:srgbClr val="0D0D0D"/>
              </a:solidFill>
              <a:latin typeface="Söhne"/>
            </a:endParaRPr>
          </a:p>
          <a:p>
            <a:pPr indent="0" algn="just">
              <a:spcAft>
                <a:spcPts val="1200"/>
              </a:spcAft>
              <a:buFont typeface="Arial" panose="020B0604020202020204" pitchFamily="34" charset="0"/>
              <a:buNone/>
            </a:pPr>
            <a:r>
              <a:rPr lang="zh-CN" altLang="en-US" sz="1200" dirty="0">
                <a:solidFill>
                  <a:srgbClr val="0D0D0D"/>
                </a:solidFill>
                <a:latin typeface="Söhne"/>
              </a:rPr>
              <a:t>过去的工作：要么模拟器。要么真实设备，只有一款真实设备，</a:t>
            </a:r>
            <a:r>
              <a:rPr lang="en-US" altLang="zh-CN" sz="1200" dirty="0">
                <a:solidFill>
                  <a:srgbClr val="0D0D0D"/>
                </a:solidFill>
                <a:latin typeface="Söhne"/>
              </a:rPr>
              <a:t>SSD vs ZNS</a:t>
            </a:r>
            <a:r>
              <a:rPr lang="zh-CN" altLang="en-US" sz="1200" dirty="0">
                <a:solidFill>
                  <a:srgbClr val="0D0D0D"/>
                </a:solidFill>
                <a:latin typeface="Söhne"/>
              </a:rPr>
              <a:t>。</a:t>
            </a:r>
            <a:endParaRPr lang="en-US" altLang="zh-CN" sz="1200" dirty="0">
              <a:solidFill>
                <a:srgbClr val="0D0D0D"/>
              </a:solidFill>
              <a:latin typeface="Söhne"/>
            </a:endParaRPr>
          </a:p>
          <a:p>
            <a:pPr indent="0" algn="just">
              <a:spcAft>
                <a:spcPts val="1200"/>
              </a:spcAft>
              <a:buFont typeface="Arial" panose="020B0604020202020204" pitchFamily="34" charset="0"/>
              <a:buNone/>
            </a:pPr>
            <a:endParaRPr lang="en-US" altLang="zh-CN" sz="1200" dirty="0">
              <a:solidFill>
                <a:srgbClr val="0D0D0D"/>
              </a:solidFill>
              <a:latin typeface="Söhne"/>
            </a:endParaRPr>
          </a:p>
          <a:p>
            <a:pPr indent="0" algn="just">
              <a:spcAft>
                <a:spcPts val="1200"/>
              </a:spcAft>
              <a:buFont typeface="Arial" panose="020B0604020202020204" pitchFamily="34" charset="0"/>
              <a:buNone/>
            </a:pPr>
            <a:r>
              <a:rPr lang="zh-CN" altLang="en-US" sz="1200" dirty="0">
                <a:solidFill>
                  <a:srgbClr val="0D0D0D"/>
                </a:solidFill>
                <a:latin typeface="Söhne"/>
              </a:rPr>
              <a:t>我们的工作：模拟器 </a:t>
            </a:r>
            <a:r>
              <a:rPr lang="en-US" altLang="zh-CN" sz="1200" dirty="0">
                <a:solidFill>
                  <a:srgbClr val="0D0D0D"/>
                </a:solidFill>
                <a:latin typeface="Söhne"/>
              </a:rPr>
              <a:t>vs ZNS1 vs ZNS2</a:t>
            </a:r>
          </a:p>
          <a:p>
            <a:pPr indent="0" algn="just">
              <a:spcAft>
                <a:spcPts val="1200"/>
              </a:spcAft>
              <a:buFont typeface="Arial" panose="020B0604020202020204" pitchFamily="34" charset="0"/>
              <a:buNone/>
            </a:pPr>
            <a:endParaRPr lang="en-US" altLang="zh-CN" sz="1200" dirty="0">
              <a:latin typeface="Constantia" panose="02030602050306030303" pitchFamily="18" charset="0"/>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a:extLst>
              <a:ext uri="{FF2B5EF4-FFF2-40B4-BE49-F238E27FC236}">
                <a16:creationId xmlns:a16="http://schemas.microsoft.com/office/drawing/2014/main" id="{752EB2F3-C9F4-40C9-D4C6-45CF66EC62A8}"/>
              </a:ext>
            </a:extLst>
          </p:cNvPr>
          <p:cNvSpPr>
            <a:spLocks noGrp="1"/>
          </p:cNvSpPr>
          <p:nvPr>
            <p:ph type="sldNum" sz="quarter" idx="10"/>
          </p:nvPr>
        </p:nvSpPr>
        <p:spPr/>
        <p:txBody>
          <a:bodyPr/>
          <a:lstStyle/>
          <a:p>
            <a:fld id="{E4FF5570-FE69-4FDF-99DA-8CDE436443CD}" type="slidenum">
              <a:rPr lang="en-US" smtClean="0"/>
              <a:t>7</a:t>
            </a:fld>
            <a:endParaRPr lang="en-US" dirty="0"/>
          </a:p>
        </p:txBody>
      </p:sp>
    </p:spTree>
    <p:extLst>
      <p:ext uri="{BB962C8B-B14F-4D97-AF65-F5344CB8AC3E}">
        <p14:creationId xmlns:p14="http://schemas.microsoft.com/office/powerpoint/2010/main" val="2946095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u="sng" kern="100" dirty="0">
                <a:solidFill>
                  <a:srgbClr val="0000FF"/>
                </a:solidFill>
                <a:effectLst/>
                <a:latin typeface="Times New Roman" panose="02020603050405020304" pitchFamily="18" charset="0"/>
                <a:ea typeface="宋体" panose="02010600030101010101" pitchFamily="2" charset="-122"/>
                <a:hlinkClick r:id="rId3"/>
              </a:rPr>
              <a:t>https://github.com/linux-nvme/nvme-cli</a:t>
            </a:r>
            <a:endParaRPr lang="zh-CN" altLang="zh-CN" sz="1800" kern="100" dirty="0">
              <a:effectLst/>
              <a:latin typeface="Times New Roman" panose="02020603050405020304" pitchFamily="18" charset="0"/>
              <a:ea typeface="宋体" panose="02010600030101010101" pitchFamily="2" charset="-122"/>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altLang="zh-CN" sz="1800" kern="100" dirty="0">
              <a:effectLst/>
              <a:latin typeface="Times New Roman" panose="02020603050405020304" pitchFamily="18" charset="0"/>
              <a:ea typeface="宋体" panose="02010600030101010101" pitchFamily="2" charset="-122"/>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altLang="zh-CN" sz="1800" kern="100" dirty="0">
                <a:effectLst/>
                <a:latin typeface="Times New Roman" panose="02020603050405020304" pitchFamily="18" charset="0"/>
                <a:ea typeface="宋体" panose="02010600030101010101" pitchFamily="2" charset="-122"/>
              </a:rPr>
              <a:t>https://zonedstorage.io/docs/tools/libzbd</a:t>
            </a:r>
            <a:endParaRPr lang="zh-CN" altLang="zh-CN" sz="1800" kern="100" dirty="0">
              <a:effectLst/>
              <a:latin typeface="Times New Roman" panose="02020603050405020304" pitchFamily="18" charset="0"/>
              <a:ea typeface="宋体" panose="02010600030101010101" pitchFamily="2" charset="-122"/>
            </a:endParaRPr>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extLst>
      <p:ext uri="{BB962C8B-B14F-4D97-AF65-F5344CB8AC3E}">
        <p14:creationId xmlns:p14="http://schemas.microsoft.com/office/powerpoint/2010/main" val="948309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A3B81-9CF4-6BFD-9CC0-DF88017BFD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E87DA7-FA76-5271-BE95-15A8F1F523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DF0B2C-E52D-596D-6C67-2E27279B6177}"/>
              </a:ext>
            </a:extLst>
          </p:cNvPr>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a:extLst>
              <a:ext uri="{FF2B5EF4-FFF2-40B4-BE49-F238E27FC236}">
                <a16:creationId xmlns:a16="http://schemas.microsoft.com/office/drawing/2014/main" id="{481D76E1-8033-610B-DF27-66AF877871DB}"/>
              </a:ext>
            </a:extLst>
          </p:cNvPr>
          <p:cNvSpPr>
            <a:spLocks noGrp="1"/>
          </p:cNvSpPr>
          <p:nvPr>
            <p:ph type="sldNum" sz="quarter" idx="10"/>
          </p:nvPr>
        </p:nvSpPr>
        <p:spPr/>
        <p:txBody>
          <a:bodyPr/>
          <a:lstStyle/>
          <a:p>
            <a:fld id="{E4FF5570-FE69-4FDF-99DA-8CDE436443CD}" type="slidenum">
              <a:rPr lang="en-US" smtClean="0"/>
              <a:t>9</a:t>
            </a:fld>
            <a:endParaRPr lang="en-US" dirty="0"/>
          </a:p>
        </p:txBody>
      </p:sp>
    </p:spTree>
    <p:extLst>
      <p:ext uri="{BB962C8B-B14F-4D97-AF65-F5344CB8AC3E}">
        <p14:creationId xmlns:p14="http://schemas.microsoft.com/office/powerpoint/2010/main" val="949241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extLst>
      <p:ext uri="{BB962C8B-B14F-4D97-AF65-F5344CB8AC3E}">
        <p14:creationId xmlns:p14="http://schemas.microsoft.com/office/powerpoint/2010/main" val="1442627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Thanks</a:t>
            </a:r>
            <a:r>
              <a:rPr kumimoji="1" lang="zh-CN" altLang="en-US" dirty="0"/>
              <a:t> </a:t>
            </a:r>
            <a:r>
              <a:rPr kumimoji="1" lang="en-US" altLang="zh-CN" dirty="0"/>
              <a:t>for</a:t>
            </a:r>
            <a:r>
              <a:rPr kumimoji="1" lang="zh-CN" altLang="en-US" dirty="0"/>
              <a:t> </a:t>
            </a:r>
            <a:r>
              <a:rPr kumimoji="1" lang="en-US" altLang="zh-CN" dirty="0"/>
              <a:t>listening!</a:t>
            </a:r>
            <a:endParaRPr kumimoji="1" lang="zh-CN" altLang="en-US" dirty="0"/>
          </a:p>
        </p:txBody>
      </p:sp>
      <p:sp>
        <p:nvSpPr>
          <p:cNvPr id="4" name="幻灯片编号占位符 3"/>
          <p:cNvSpPr>
            <a:spLocks noGrp="1"/>
          </p:cNvSpPr>
          <p:nvPr>
            <p:ph type="sldNum" sz="quarter" idx="10"/>
          </p:nvPr>
        </p:nvSpPr>
        <p:spPr/>
        <p:txBody>
          <a:bodyPr/>
          <a:lstStyle/>
          <a:p>
            <a:fld id="{94B1677A-EDDD-4DA4-9464-453B9AC9570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dirty="0"/>
          </a:p>
        </p:txBody>
      </p:sp>
    </p:spTree>
    <p:extLst>
      <p:ext uri="{BB962C8B-B14F-4D97-AF65-F5344CB8AC3E}">
        <p14:creationId xmlns:p14="http://schemas.microsoft.com/office/powerpoint/2010/main" val="3729349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t>尽管</a:t>
            </a:r>
            <a:r>
              <a:rPr lang="en-US" altLang="zh-CN" sz="1200" dirty="0"/>
              <a:t>HFTL</a:t>
            </a:r>
            <a:r>
              <a:rPr lang="zh-CN" altLang="en-US" sz="1200" dirty="0"/>
              <a:t>的职责较</a:t>
            </a:r>
            <a:r>
              <a:rPr lang="en-US" altLang="zh-CN" sz="1200" dirty="0"/>
              <a:t>SSD FTL</a:t>
            </a:r>
            <a:r>
              <a:rPr lang="zh-CN" altLang="en-US" sz="1200" dirty="0"/>
              <a:t>小，但它必须管理其对</a:t>
            </a:r>
            <a:r>
              <a:rPr lang="en-US" altLang="zh-CN" sz="1200" dirty="0"/>
              <a:t>CPU</a:t>
            </a:r>
            <a:r>
              <a:rPr lang="zh-CN" altLang="en-US" sz="1200" dirty="0"/>
              <a:t>和</a:t>
            </a:r>
            <a:r>
              <a:rPr lang="en-US" altLang="zh-CN" sz="1200" dirty="0"/>
              <a:t>DRAM</a:t>
            </a:r>
            <a:r>
              <a:rPr lang="zh-CN" altLang="en-US" sz="1200" dirty="0"/>
              <a:t>资源的使用，因为这些资源与主机应用共享。</a:t>
            </a:r>
            <a:r>
              <a:rPr lang="en-US" altLang="zh-CN" sz="1200" dirty="0"/>
              <a:t>HFTL</a:t>
            </a:r>
            <a:r>
              <a:rPr lang="zh-CN" altLang="en-US" sz="1200" dirty="0"/>
              <a:t>简化了与主机端信息的整合，增强了数据放置和垃圾回收的控制，并向应用程序提供传统块接口。目前，例如</a:t>
            </a:r>
            <a:r>
              <a:rPr lang="en-US" altLang="zh-CN" sz="1200" dirty="0"/>
              <a:t>dm-zoned</a:t>
            </a:r>
            <a:r>
              <a:rPr lang="zh-CN" altLang="en-US" sz="1200" dirty="0"/>
              <a:t>、</a:t>
            </a:r>
            <a:r>
              <a:rPr lang="en-US" altLang="zh-CN" sz="1200" dirty="0"/>
              <a:t>dm-zap</a:t>
            </a:r>
            <a:r>
              <a:rPr lang="zh-CN" altLang="en-US" sz="1200" dirty="0"/>
              <a:t>、</a:t>
            </a:r>
            <a:r>
              <a:rPr lang="en-US" altLang="zh-CN" sz="1200" dirty="0" err="1"/>
              <a:t>pblk</a:t>
            </a:r>
            <a:r>
              <a:rPr lang="zh-CN" altLang="en-US" sz="1200" dirty="0"/>
              <a:t>和</a:t>
            </a:r>
            <a:r>
              <a:rPr lang="en-US" altLang="zh-CN" sz="1200" dirty="0"/>
              <a:t>SPDK</a:t>
            </a:r>
            <a:r>
              <a:rPr lang="zh-CN" altLang="en-US" sz="1200" dirty="0"/>
              <a:t>的</a:t>
            </a:r>
            <a:r>
              <a:rPr lang="en-US" altLang="zh-CN" sz="1200" dirty="0"/>
              <a:t>FTL</a:t>
            </a:r>
            <a:r>
              <a:rPr lang="zh-CN" altLang="en-US" sz="1200" dirty="0"/>
              <a:t>等工作显示了</a:t>
            </a:r>
            <a:r>
              <a:rPr lang="en-US" altLang="zh-CN" sz="1200" dirty="0"/>
              <a:t>HFTL</a:t>
            </a:r>
            <a:r>
              <a:rPr lang="zh-CN" altLang="en-US" sz="1200" dirty="0"/>
              <a:t>的可行性和应用性，但目前只有</a:t>
            </a:r>
            <a:r>
              <a:rPr lang="en-US" altLang="zh-CN" sz="1200" dirty="0"/>
              <a:t>dm-zap</a:t>
            </a:r>
            <a:r>
              <a:rPr lang="zh-CN" altLang="en-US" sz="1200" dirty="0"/>
              <a:t>支持</a:t>
            </a:r>
            <a:r>
              <a:rPr lang="en-US" altLang="zh-CN" sz="1200" dirty="0"/>
              <a:t>ZNS SSD</a:t>
            </a:r>
            <a:r>
              <a:rPr lang="zh-CN" altLang="en-US" sz="1200" dirty="0"/>
              <a:t>。</a:t>
            </a:r>
            <a:endParaRPr lang="en-US" altLang="zh-CN" sz="1200" dirty="0"/>
          </a:p>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dirty="0"/>
          </a:p>
        </p:txBody>
      </p:sp>
    </p:spTree>
    <p:extLst>
      <p:ext uri="{BB962C8B-B14F-4D97-AF65-F5344CB8AC3E}">
        <p14:creationId xmlns:p14="http://schemas.microsoft.com/office/powerpoint/2010/main" val="1541625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spcAft>
                <a:spcPts val="1200"/>
              </a:spcAft>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15</a:t>
            </a:fld>
            <a:endParaRPr lang="en-US" dirty="0"/>
          </a:p>
        </p:txBody>
      </p:sp>
    </p:spTree>
    <p:extLst>
      <p:ext uri="{BB962C8B-B14F-4D97-AF65-F5344CB8AC3E}">
        <p14:creationId xmlns:p14="http://schemas.microsoft.com/office/powerpoint/2010/main" val="3851060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200" dirty="0"/>
              <a:t>当系统内存占用高时，选择内存页将其驱逐到交换设备。</a:t>
            </a:r>
            <a:r>
              <a:rPr lang="en-US" altLang="zh-CN" sz="1200" dirty="0"/>
              <a:t>Linux</a:t>
            </a:r>
            <a:r>
              <a:rPr lang="zh-CN" altLang="en-US" sz="1200" dirty="0"/>
              <a:t>会将这些页面标记为“交换出”。数据页的内容将被写入</a:t>
            </a:r>
            <a:r>
              <a:rPr lang="en-US" altLang="zh-CN" sz="1200" dirty="0"/>
              <a:t>Swap</a:t>
            </a:r>
            <a:r>
              <a:rPr lang="zh-CN" altLang="en-US" sz="1200" dirty="0"/>
              <a:t>分区或</a:t>
            </a:r>
            <a:r>
              <a:rPr lang="en-US" altLang="zh-CN" sz="1200" dirty="0"/>
              <a:t>Swap</a:t>
            </a:r>
            <a:r>
              <a:rPr lang="zh-CN" altLang="en-US" sz="1200" dirty="0"/>
              <a:t>文件中，以释放内存供其他进程使用。如果系统需要访问已经被交换出的页面，</a:t>
            </a:r>
            <a:r>
              <a:rPr lang="en-US" altLang="zh-CN" sz="1200" dirty="0"/>
              <a:t>Linux</a:t>
            </a:r>
            <a:r>
              <a:rPr lang="zh-CN" altLang="en-US" sz="1200" dirty="0"/>
              <a:t>会将这些页面重新读取到内存中。这将可能导致其他数据页被交换出，以便为需要的页面腾出空间。</a:t>
            </a:r>
          </a:p>
          <a:p>
            <a:pPr indent="0" algn="just">
              <a:buFont typeface="Arial" panose="020B0604020202020204" pitchFamily="34" charset="0"/>
              <a:buNone/>
            </a:pPr>
            <a:endParaRPr lang="en-US" altLang="zh-CN"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dirty="0"/>
              <a:t>swap-slots</a:t>
            </a:r>
            <a:r>
              <a:rPr lang="zh-CN" altLang="en-US" sz="1200" dirty="0"/>
              <a:t>：</a:t>
            </a:r>
            <a:r>
              <a:rPr lang="en-US" altLang="zh-CN" sz="1200" dirty="0"/>
              <a:t>Linux</a:t>
            </a:r>
            <a:r>
              <a:rPr lang="zh-CN" altLang="en-US" sz="1200" dirty="0"/>
              <a:t>将交换设备上的空间划分为内存大小的块，称为交换槽。操作系统为每个被换出的页面分配一个新的插槽。</a:t>
            </a:r>
            <a:endParaRPr lang="en-US" altLang="zh-CN" sz="1200" dirty="0"/>
          </a:p>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16</a:t>
            </a:fld>
            <a:endParaRPr lang="en-US" dirty="0"/>
          </a:p>
        </p:txBody>
      </p:sp>
    </p:spTree>
    <p:extLst>
      <p:ext uri="{BB962C8B-B14F-4D97-AF65-F5344CB8AC3E}">
        <p14:creationId xmlns:p14="http://schemas.microsoft.com/office/powerpoint/2010/main" val="2967523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200" dirty="0"/>
              <a:t>当系统内存占用高时，选择内存页将其驱逐到交换设备。</a:t>
            </a:r>
            <a:r>
              <a:rPr lang="en-US" altLang="zh-CN" sz="1200" dirty="0"/>
              <a:t>Linux</a:t>
            </a:r>
            <a:r>
              <a:rPr lang="zh-CN" altLang="en-US" sz="1200" dirty="0"/>
              <a:t>会将这些页面标记为“交换出”。数据页的内容将被写入</a:t>
            </a:r>
            <a:r>
              <a:rPr lang="en-US" altLang="zh-CN" sz="1200" dirty="0"/>
              <a:t>Swap</a:t>
            </a:r>
            <a:r>
              <a:rPr lang="zh-CN" altLang="en-US" sz="1200" dirty="0"/>
              <a:t>分区或</a:t>
            </a:r>
            <a:r>
              <a:rPr lang="en-US" altLang="zh-CN" sz="1200" dirty="0"/>
              <a:t>Swap</a:t>
            </a:r>
            <a:r>
              <a:rPr lang="zh-CN" altLang="en-US" sz="1200" dirty="0"/>
              <a:t>文件中，以释放内存供其他进程使用。如果系统需要访问已经被交换出的页面，</a:t>
            </a:r>
            <a:r>
              <a:rPr lang="en-US" altLang="zh-CN" sz="1200" dirty="0"/>
              <a:t>Linux</a:t>
            </a:r>
            <a:r>
              <a:rPr lang="zh-CN" altLang="en-US" sz="1200" dirty="0"/>
              <a:t>会将这些页面重新读取到内存中。这将可能导致其他数据页被交换出，以便为需要的页面腾出空间。</a:t>
            </a:r>
          </a:p>
          <a:p>
            <a:pPr indent="0" algn="just">
              <a:buFont typeface="Arial" panose="020B0604020202020204" pitchFamily="34" charset="0"/>
              <a:buNone/>
            </a:pPr>
            <a:endParaRPr lang="en-US" altLang="zh-CN"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dirty="0"/>
              <a:t>swap-slots</a:t>
            </a:r>
            <a:r>
              <a:rPr lang="zh-CN" altLang="en-US" sz="1200" dirty="0"/>
              <a:t>：</a:t>
            </a:r>
            <a:r>
              <a:rPr lang="en-US" altLang="zh-CN" sz="1200" dirty="0"/>
              <a:t>Linux</a:t>
            </a:r>
            <a:r>
              <a:rPr lang="zh-CN" altLang="en-US" sz="1200" dirty="0"/>
              <a:t>将交换设备上的空间划分为内存大小的块，称为交换槽。操作系统为每个被换出的页面分配一个新的插槽。</a:t>
            </a:r>
            <a:endParaRPr lang="en-US" altLang="zh-CN" sz="1200" dirty="0"/>
          </a:p>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17</a:t>
            </a:fld>
            <a:endParaRPr lang="en-US" dirty="0"/>
          </a:p>
        </p:txBody>
      </p:sp>
    </p:spTree>
    <p:extLst>
      <p:ext uri="{BB962C8B-B14F-4D97-AF65-F5344CB8AC3E}">
        <p14:creationId xmlns:p14="http://schemas.microsoft.com/office/powerpoint/2010/main" val="1333603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作者认为：这种现象是由于</a:t>
            </a:r>
            <a:r>
              <a:rPr lang="en-US" altLang="zh-CN" dirty="0"/>
              <a:t>OS</a:t>
            </a:r>
            <a:r>
              <a:rPr lang="zh-CN" altLang="en-US" dirty="0"/>
              <a:t>和</a:t>
            </a:r>
            <a:r>
              <a:rPr lang="en-US" altLang="zh-CN" dirty="0"/>
              <a:t>SSD</a:t>
            </a:r>
            <a:r>
              <a:rPr lang="zh-CN" altLang="en-US" dirty="0"/>
              <a:t>之间的消息不互通导致的。“</a:t>
            </a:r>
            <a:r>
              <a:rPr lang="en-US" altLang="zh-CN" b="0" i="0" dirty="0">
                <a:solidFill>
                  <a:srgbClr val="FFFFFF"/>
                </a:solidFill>
                <a:effectLst/>
                <a:latin typeface="Roboto" panose="02000000000000000000" pitchFamily="2" charset="0"/>
              </a:rPr>
              <a:t>knowledge gap</a:t>
            </a:r>
            <a:r>
              <a:rPr lang="zh-CN" altLang="en-US" dirty="0"/>
              <a:t>”</a:t>
            </a:r>
            <a:endParaRPr lang="en-US" altLang="zh-CN" dirty="0"/>
          </a:p>
          <a:p>
            <a:r>
              <a:rPr lang="en-US" altLang="zh-CN" dirty="0"/>
              <a:t>SSD</a:t>
            </a:r>
            <a:r>
              <a:rPr lang="zh-CN" altLang="en-US" dirty="0"/>
              <a:t>不知道哪些数据是不会再被</a:t>
            </a:r>
            <a:r>
              <a:rPr lang="en-US" altLang="zh-CN" dirty="0"/>
              <a:t>OS</a:t>
            </a:r>
            <a:r>
              <a:rPr lang="zh-CN" altLang="en-US" dirty="0"/>
              <a:t>使用的，又垃圾回收器进行了大量的复制  </a:t>
            </a:r>
          </a:p>
        </p:txBody>
      </p:sp>
      <p:sp>
        <p:nvSpPr>
          <p:cNvPr id="4" name="灯片编号占位符 3"/>
          <p:cNvSpPr>
            <a:spLocks noGrp="1"/>
          </p:cNvSpPr>
          <p:nvPr>
            <p:ph type="sldNum" sz="quarter" idx="10"/>
          </p:nvPr>
        </p:nvSpPr>
        <p:spPr/>
        <p:txBody>
          <a:bodyPr/>
          <a:lstStyle/>
          <a:p>
            <a:fld id="{E4FF5570-FE69-4FDF-99DA-8CDE436443CD}" type="slidenum">
              <a:rPr lang="en-US" smtClean="0"/>
              <a:t>18</a:t>
            </a:fld>
            <a:endParaRPr lang="en-US" dirty="0"/>
          </a:p>
        </p:txBody>
      </p:sp>
    </p:spTree>
    <p:extLst>
      <p:ext uri="{BB962C8B-B14F-4D97-AF65-F5344CB8AC3E}">
        <p14:creationId xmlns:p14="http://schemas.microsoft.com/office/powerpoint/2010/main" val="3384025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r>
              <a:rPr lang="zh-CN" altLang="en-US" sz="1200" kern="1200" dirty="0">
                <a:solidFill>
                  <a:schemeClr val="tx1"/>
                </a:solidFill>
                <a:effectLst/>
                <a:latin typeface="+mn-lt"/>
                <a:ea typeface="+mn-ea"/>
                <a:cs typeface="+mn-cs"/>
              </a:rPr>
              <a:t>再次观察这张图</a:t>
            </a:r>
          </a:p>
        </p:txBody>
      </p:sp>
      <p:sp>
        <p:nvSpPr>
          <p:cNvPr id="4" name="灯片编号占位符 3"/>
          <p:cNvSpPr>
            <a:spLocks noGrp="1"/>
          </p:cNvSpPr>
          <p:nvPr>
            <p:ph type="sldNum" sz="quarter" idx="10"/>
          </p:nvPr>
        </p:nvSpPr>
        <p:spPr/>
        <p:txBody>
          <a:bodyPr/>
          <a:lstStyle/>
          <a:p>
            <a:fld id="{E4FF5570-FE69-4FDF-99DA-8CDE436443CD}" type="slidenum">
              <a:rPr lang="en-US" smtClean="0"/>
              <a:t>19</a:t>
            </a:fld>
            <a:endParaRPr lang="en-US" dirty="0"/>
          </a:p>
        </p:txBody>
      </p:sp>
    </p:spTree>
    <p:extLst>
      <p:ext uri="{BB962C8B-B14F-4D97-AF65-F5344CB8AC3E}">
        <p14:creationId xmlns:p14="http://schemas.microsoft.com/office/powerpoint/2010/main" val="3239249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r>
              <a:rPr lang="zh-CN" altLang="en-US" sz="1200" kern="1200" dirty="0">
                <a:solidFill>
                  <a:schemeClr val="tx1"/>
                </a:solidFill>
                <a:effectLst/>
                <a:latin typeface="+mn-lt"/>
                <a:ea typeface="+mn-ea"/>
                <a:cs typeface="+mn-cs"/>
              </a:rPr>
              <a:t>给出了测试时，强行开启</a:t>
            </a:r>
            <a:r>
              <a:rPr lang="en-US" altLang="zh-CN" sz="1200" kern="1200" dirty="0">
                <a:solidFill>
                  <a:schemeClr val="tx1"/>
                </a:solidFill>
                <a:effectLst/>
                <a:latin typeface="+mn-lt"/>
                <a:ea typeface="+mn-ea"/>
                <a:cs typeface="+mn-cs"/>
              </a:rPr>
              <a:t>TRIM</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占用率， 最大值在</a:t>
            </a:r>
            <a:r>
              <a:rPr lang="en-US" altLang="zh-CN" sz="1200" kern="1200" dirty="0">
                <a:solidFill>
                  <a:schemeClr val="tx1"/>
                </a:solidFill>
                <a:effectLst/>
                <a:latin typeface="+mn-lt"/>
                <a:ea typeface="+mn-ea"/>
                <a:cs typeface="+mn-cs"/>
              </a:rPr>
              <a:t>32%</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20</a:t>
            </a:fld>
            <a:endParaRPr lang="en-US" dirty="0"/>
          </a:p>
        </p:txBody>
      </p:sp>
    </p:spTree>
    <p:extLst>
      <p:ext uri="{BB962C8B-B14F-4D97-AF65-F5344CB8AC3E}">
        <p14:creationId xmlns:p14="http://schemas.microsoft.com/office/powerpoint/2010/main" val="761515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21</a:t>
            </a:fld>
            <a:endParaRPr lang="en-US" dirty="0"/>
          </a:p>
        </p:txBody>
      </p:sp>
    </p:spTree>
    <p:extLst>
      <p:ext uri="{BB962C8B-B14F-4D97-AF65-F5344CB8AC3E}">
        <p14:creationId xmlns:p14="http://schemas.microsoft.com/office/powerpoint/2010/main" val="381513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solidFill>
                  <a:srgbClr val="000000"/>
                </a:solidFill>
                <a:latin typeface="微软雅黑" panose="020B0503020204020204" pitchFamily="34" charset="-122"/>
                <a:ea typeface="微软雅黑" panose="020B0503020204020204" pitchFamily="34" charset="-122"/>
              </a:rPr>
              <a:t>为了允许主机端</a:t>
            </a:r>
            <a:r>
              <a:rPr lang="en-US" altLang="zh-CN" sz="1800" dirty="0">
                <a:solidFill>
                  <a:srgbClr val="000000"/>
                </a:solidFill>
                <a:latin typeface="微软雅黑" panose="020B0503020204020204" pitchFamily="34" charset="-122"/>
                <a:ea typeface="微软雅黑" panose="020B0503020204020204" pitchFamily="34" charset="-122"/>
              </a:rPr>
              <a:t>GC</a:t>
            </a:r>
            <a:r>
              <a:rPr lang="zh-CN" altLang="en-US" sz="1800" dirty="0">
                <a:solidFill>
                  <a:srgbClr val="000000"/>
                </a:solidFill>
                <a:latin typeface="微软雅黑" panose="020B0503020204020204" pitchFamily="34" charset="-122"/>
                <a:ea typeface="微软雅黑" panose="020B0503020204020204" pitchFamily="34" charset="-122"/>
              </a:rPr>
              <a:t>移动数据而不影响使用数据的应用程序，维护一些元数据信息是不可避免的</a:t>
            </a:r>
            <a:endParaRPr lang="en-US" altLang="zh-CN" sz="1200" dirty="0"/>
          </a:p>
          <a:p>
            <a:endParaRPr lang="en-US" altLang="zh-CN" sz="1200" dirty="0"/>
          </a:p>
          <a:p>
            <a:r>
              <a:rPr lang="en-US" altLang="zh-CN" sz="1200" dirty="0"/>
              <a:t>ZNGC</a:t>
            </a:r>
            <a:r>
              <a:rPr lang="zh-CN" altLang="en-US" sz="1200" dirty="0"/>
              <a:t>不需要维护额外的间接层：</a:t>
            </a:r>
            <a:r>
              <a:rPr lang="en-US" altLang="zh-CN" sz="1200" dirty="0" err="1"/>
              <a:t>znGC</a:t>
            </a:r>
            <a:r>
              <a:rPr lang="zh-CN" altLang="en-US" sz="1200" dirty="0"/>
              <a:t>通过将内核的反向映射元数据与交换出的页面一起存储在</a:t>
            </a:r>
            <a:r>
              <a:rPr lang="en-US" altLang="zh-CN" sz="1200" dirty="0"/>
              <a:t>SSD</a:t>
            </a:r>
            <a:r>
              <a:rPr lang="zh-CN" altLang="en-US" sz="1200" dirty="0"/>
              <a:t>中，避免了额外的间接层。这意味着在进行垃圾回收时，不需要查找额外的数据结构或表来获取页面的映射信息。相反，这些映射信息直接附加在交换出的页面本身上。</a:t>
            </a:r>
            <a:endParaRPr lang="en-US" altLang="zh-CN" sz="1200" dirty="0"/>
          </a:p>
          <a:p>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22</a:t>
            </a:fld>
            <a:endParaRPr lang="en-US" dirty="0"/>
          </a:p>
        </p:txBody>
      </p:sp>
    </p:spTree>
    <p:extLst>
      <p:ext uri="{BB962C8B-B14F-4D97-AF65-F5344CB8AC3E}">
        <p14:creationId xmlns:p14="http://schemas.microsoft.com/office/powerpoint/2010/main" val="32139269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endParaRPr lang="en-US" altLang="zh-CN" b="0" i="0" dirty="0">
              <a:solidFill>
                <a:srgbClr val="000000"/>
              </a:solidFill>
              <a:effectLst/>
              <a:latin typeface="-apple-system"/>
            </a:endParaRPr>
          </a:p>
          <a:p>
            <a:pPr indent="0" algn="just">
              <a:buFont typeface="Arial" panose="020B0604020202020204" pitchFamily="34" charset="0"/>
              <a:buNone/>
            </a:pPr>
            <a:endParaRPr lang="en-US" altLang="zh-CN" b="0" i="0" dirty="0">
              <a:solidFill>
                <a:srgbClr val="000000"/>
              </a:solidFill>
              <a:effectLst/>
              <a:latin typeface="-apple-system"/>
            </a:endParaRPr>
          </a:p>
          <a:p>
            <a:pPr indent="0" algn="just">
              <a:buFont typeface="Arial" panose="020B0604020202020204" pitchFamily="34" charset="0"/>
              <a:buNone/>
            </a:pPr>
            <a:r>
              <a:rPr lang="en-US" altLang="zh-CN" b="0" i="0" dirty="0" err="1">
                <a:solidFill>
                  <a:srgbClr val="000000"/>
                </a:solidFill>
                <a:effectLst/>
                <a:latin typeface="-apple-system"/>
              </a:rPr>
              <a:t>blkmq</a:t>
            </a:r>
            <a:r>
              <a:rPr lang="zh-CN" altLang="en-US" b="0" i="0" dirty="0">
                <a:solidFill>
                  <a:srgbClr val="000000"/>
                </a:solidFill>
                <a:effectLst/>
                <a:latin typeface="-apple-system"/>
              </a:rPr>
              <a:t>（</a:t>
            </a:r>
            <a:r>
              <a:rPr lang="en-US" altLang="zh-CN" b="0" i="0" dirty="0">
                <a:solidFill>
                  <a:srgbClr val="000000"/>
                </a:solidFill>
                <a:effectLst/>
                <a:latin typeface="-apple-system"/>
              </a:rPr>
              <a:t>Block </a:t>
            </a:r>
            <a:r>
              <a:rPr lang="en-US" altLang="zh-CN" b="0" i="0" dirty="0" err="1">
                <a:solidFill>
                  <a:srgbClr val="000000"/>
                </a:solidFill>
                <a:effectLst/>
                <a:latin typeface="-apple-system"/>
              </a:rPr>
              <a:t>Multiqueue</a:t>
            </a:r>
            <a:r>
              <a:rPr lang="zh-CN" altLang="en-US" b="0" i="0" dirty="0">
                <a:solidFill>
                  <a:srgbClr val="000000"/>
                </a:solidFill>
                <a:effectLst/>
                <a:latin typeface="-apple-system"/>
              </a:rPr>
              <a:t>）是</a:t>
            </a:r>
            <a:r>
              <a:rPr lang="en-US" altLang="zh-CN" b="0" i="0" dirty="0">
                <a:solidFill>
                  <a:srgbClr val="000000"/>
                </a:solidFill>
                <a:effectLst/>
                <a:latin typeface="-apple-system"/>
              </a:rPr>
              <a:t>Linux</a:t>
            </a:r>
            <a:r>
              <a:rPr lang="zh-CN" altLang="en-US" b="0" i="0" dirty="0">
                <a:solidFill>
                  <a:srgbClr val="000000"/>
                </a:solidFill>
                <a:effectLst/>
                <a:latin typeface="-apple-system"/>
              </a:rPr>
              <a:t>内核中的块设备多队列子系统。它是一种用于处理块设备</a:t>
            </a:r>
            <a:r>
              <a:rPr lang="en-US" altLang="zh-CN" b="0" i="0" dirty="0">
                <a:solidFill>
                  <a:srgbClr val="000000"/>
                </a:solidFill>
                <a:effectLst/>
                <a:latin typeface="-apple-system"/>
              </a:rPr>
              <a:t>I/O</a:t>
            </a:r>
            <a:r>
              <a:rPr lang="zh-CN" altLang="en-US" b="0" i="0" dirty="0">
                <a:solidFill>
                  <a:srgbClr val="000000"/>
                </a:solidFill>
                <a:effectLst/>
                <a:latin typeface="-apple-system"/>
              </a:rPr>
              <a:t>请求的高性能、多队列设计。</a:t>
            </a:r>
            <a:r>
              <a:rPr lang="en-US" altLang="zh-CN" b="0" i="0" dirty="0" err="1">
                <a:solidFill>
                  <a:srgbClr val="000000"/>
                </a:solidFill>
                <a:effectLst/>
                <a:latin typeface="-apple-system"/>
              </a:rPr>
              <a:t>blkmq</a:t>
            </a:r>
            <a:r>
              <a:rPr lang="zh-CN" altLang="en-US" b="0" i="0" dirty="0">
                <a:solidFill>
                  <a:srgbClr val="000000"/>
                </a:solidFill>
                <a:effectLst/>
                <a:latin typeface="-apple-system"/>
              </a:rPr>
              <a:t>引入了多队列的概念，通过将</a:t>
            </a:r>
            <a:r>
              <a:rPr lang="en-US" altLang="zh-CN" b="0" i="0" dirty="0">
                <a:solidFill>
                  <a:srgbClr val="000000"/>
                </a:solidFill>
                <a:effectLst/>
                <a:latin typeface="-apple-system"/>
              </a:rPr>
              <a:t>I/O</a:t>
            </a:r>
            <a:r>
              <a:rPr lang="zh-CN" altLang="en-US" b="0" i="0" dirty="0">
                <a:solidFill>
                  <a:srgbClr val="000000"/>
                </a:solidFill>
                <a:effectLst/>
                <a:latin typeface="-apple-system"/>
              </a:rPr>
              <a:t>请求分发到多个独立的队列中进行处理，从而提高了并发性和扩展性。每个队列都有自己的调度器，可以独立地处理</a:t>
            </a:r>
            <a:r>
              <a:rPr lang="en-US" altLang="zh-CN" b="0" i="0" dirty="0">
                <a:solidFill>
                  <a:srgbClr val="000000"/>
                </a:solidFill>
                <a:effectLst/>
                <a:latin typeface="-apple-system"/>
              </a:rPr>
              <a:t>I/O</a:t>
            </a:r>
            <a:r>
              <a:rPr lang="zh-CN" altLang="en-US" b="0" i="0" dirty="0">
                <a:solidFill>
                  <a:srgbClr val="000000"/>
                </a:solidFill>
                <a:effectLst/>
                <a:latin typeface="-apple-system"/>
              </a:rPr>
              <a:t>请求，减少了竞争和争用，并且可以更好地利用多核处理器的性能。</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23</a:t>
            </a:fld>
            <a:endParaRPr lang="en-US" dirty="0"/>
          </a:p>
        </p:txBody>
      </p:sp>
    </p:spTree>
    <p:extLst>
      <p:ext uri="{BB962C8B-B14F-4D97-AF65-F5344CB8AC3E}">
        <p14:creationId xmlns:p14="http://schemas.microsoft.com/office/powerpoint/2010/main" val="15103333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r>
              <a:rPr lang="en-US" altLang="zh-CN" sz="1200" kern="1200" dirty="0" err="1">
                <a:solidFill>
                  <a:schemeClr val="tx1"/>
                </a:solidFill>
                <a:effectLst/>
                <a:latin typeface="+mn-lt"/>
                <a:ea typeface="+mn-ea"/>
                <a:cs typeface="+mn-cs"/>
              </a:rPr>
              <a:t>znGC</a:t>
            </a:r>
            <a:r>
              <a:rPr lang="zh-CN" altLang="en-US" sz="1200" kern="1200" dirty="0">
                <a:solidFill>
                  <a:schemeClr val="tx1"/>
                </a:solidFill>
                <a:effectLst/>
                <a:latin typeface="+mn-lt"/>
                <a:ea typeface="+mn-ea"/>
                <a:cs typeface="+mn-cs"/>
              </a:rPr>
              <a:t>的主机端</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垃圾回收，消除了：</a:t>
            </a:r>
            <a:r>
              <a:rPr lang="en-US" altLang="zh-CN" sz="1200" kern="1200" dirty="0">
                <a:solidFill>
                  <a:schemeClr val="tx1"/>
                </a:solidFill>
                <a:effectLst/>
                <a:latin typeface="+mn-lt"/>
                <a:ea typeface="+mn-ea"/>
                <a:cs typeface="+mn-cs"/>
              </a:rPr>
              <a:t>1TRIM</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2 </a:t>
            </a:r>
            <a:r>
              <a:rPr lang="zh-CN" altLang="en-US" sz="1200" kern="1200" dirty="0">
                <a:solidFill>
                  <a:schemeClr val="tx1"/>
                </a:solidFill>
                <a:effectLst/>
                <a:latin typeface="+mn-lt"/>
                <a:ea typeface="+mn-ea"/>
                <a:cs typeface="+mn-cs"/>
              </a:rPr>
              <a:t>不可见的自动垃圾回收 </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失效数据的复制。</a:t>
            </a:r>
            <a:endParaRPr lang="en-US" altLang="zh-CN" sz="1200" kern="1200" dirty="0">
              <a:solidFill>
                <a:schemeClr val="tx1"/>
              </a:solidFill>
              <a:effectLst/>
              <a:latin typeface="+mn-lt"/>
              <a:ea typeface="+mn-ea"/>
              <a:cs typeface="+mn-cs"/>
            </a:endParaRPr>
          </a:p>
          <a:p>
            <a:pPr indent="0" algn="just">
              <a:buFont typeface="Arial" panose="020B0604020202020204" pitchFamily="34" charset="0"/>
              <a:buNone/>
            </a:pPr>
            <a:endParaRPr lang="en-US" altLang="zh-CN" sz="1200" kern="1200" dirty="0">
              <a:solidFill>
                <a:schemeClr val="tx1"/>
              </a:solidFill>
              <a:effectLst/>
              <a:latin typeface="+mn-lt"/>
              <a:ea typeface="+mn-ea"/>
              <a:cs typeface="+mn-cs"/>
            </a:endParaRPr>
          </a:p>
          <a:p>
            <a:pPr indent="0" algn="just">
              <a:buFont typeface="Arial" panose="020B0604020202020204" pitchFamily="34" charset="0"/>
              <a:buNone/>
            </a:pPr>
            <a:r>
              <a:rPr lang="zh-CN" altLang="en-US" sz="1200" kern="1200" dirty="0">
                <a:solidFill>
                  <a:schemeClr val="tx1"/>
                </a:solidFill>
                <a:effectLst/>
                <a:latin typeface="+mn-lt"/>
                <a:ea typeface="+mn-ea"/>
                <a:cs typeface="+mn-cs"/>
              </a:rPr>
              <a:t>这个元数据将在一次请求内，与数据同时被写入</a:t>
            </a:r>
            <a:r>
              <a:rPr lang="en-US" altLang="zh-CN" sz="1200" kern="1200" dirty="0">
                <a:solidFill>
                  <a:schemeClr val="tx1"/>
                </a:solidFill>
                <a:effectLst/>
                <a:latin typeface="+mn-lt"/>
                <a:ea typeface="+mn-ea"/>
                <a:cs typeface="+mn-cs"/>
              </a:rPr>
              <a:t>SSD</a:t>
            </a:r>
            <a:r>
              <a:rPr lang="zh-CN" altLang="en-US" sz="1200" kern="1200" dirty="0">
                <a:solidFill>
                  <a:schemeClr val="tx1"/>
                </a:solidFill>
                <a:effectLst/>
                <a:latin typeface="+mn-lt"/>
                <a:ea typeface="+mn-ea"/>
                <a:cs typeface="+mn-cs"/>
              </a:rPr>
              <a:t>， 没有明确说明 是如何做到的，也没说明这个元数据具体存在哪</a:t>
            </a:r>
          </a:p>
        </p:txBody>
      </p:sp>
      <p:sp>
        <p:nvSpPr>
          <p:cNvPr id="4" name="灯片编号占位符 3"/>
          <p:cNvSpPr>
            <a:spLocks noGrp="1"/>
          </p:cNvSpPr>
          <p:nvPr>
            <p:ph type="sldNum" sz="quarter" idx="10"/>
          </p:nvPr>
        </p:nvSpPr>
        <p:spPr/>
        <p:txBody>
          <a:bodyPr/>
          <a:lstStyle/>
          <a:p>
            <a:fld id="{E4FF5570-FE69-4FDF-99DA-8CDE436443CD}" type="slidenum">
              <a:rPr lang="en-US" smtClean="0"/>
              <a:t>24</a:t>
            </a:fld>
            <a:endParaRPr lang="en-US" dirty="0"/>
          </a:p>
        </p:txBody>
      </p:sp>
    </p:spTree>
    <p:extLst>
      <p:ext uri="{BB962C8B-B14F-4D97-AF65-F5344CB8AC3E}">
        <p14:creationId xmlns:p14="http://schemas.microsoft.com/office/powerpoint/2010/main" val="34901608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25</a:t>
            </a:fld>
            <a:endParaRPr lang="en-US" dirty="0"/>
          </a:p>
        </p:txBody>
      </p:sp>
    </p:spTree>
    <p:extLst>
      <p:ext uri="{BB962C8B-B14F-4D97-AF65-F5344CB8AC3E}">
        <p14:creationId xmlns:p14="http://schemas.microsoft.com/office/powerpoint/2010/main" val="682122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26</a:t>
            </a:fld>
            <a:endParaRPr lang="en-US" dirty="0"/>
          </a:p>
        </p:txBody>
      </p:sp>
    </p:spTree>
    <p:extLst>
      <p:ext uri="{BB962C8B-B14F-4D97-AF65-F5344CB8AC3E}">
        <p14:creationId xmlns:p14="http://schemas.microsoft.com/office/powerpoint/2010/main" val="13721529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just">
              <a:buFont typeface="Arial" panose="020B0604020202020204" pitchFamily="34" charset="0"/>
              <a:buNone/>
            </a:pP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4FF5570-FE69-4FDF-99DA-8CDE436443CD}" type="slidenum">
              <a:rPr lang="en-US" smtClean="0"/>
              <a:t>27</a:t>
            </a:fld>
            <a:endParaRPr lang="en-US" dirty="0"/>
          </a:p>
        </p:txBody>
      </p:sp>
    </p:spTree>
    <p:extLst>
      <p:ext uri="{BB962C8B-B14F-4D97-AF65-F5344CB8AC3E}">
        <p14:creationId xmlns:p14="http://schemas.microsoft.com/office/powerpoint/2010/main" val="1646474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1CB8A-CC46-473E-BAED-B264D45A45B1}" type="datetimeFigureOut">
              <a:rPr lang="zh-CN" altLang="en-US" smtClean="0"/>
              <a:t>2024/3/25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86486-090B-4251-B152-8050B4D26F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hyperlink" Target="https://github.com/linux-nvme/nvme-cli"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github.com/vtess/FEMU" TargetMode="External"/><Relationship Id="rId5" Type="http://schemas.openxmlformats.org/officeDocument/2006/relationships/hyperlink" Target="https://www.qemu.org/"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github.com/linux-nvme/nvme-cli" TargetMode="Externa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tiff"/><Relationship Id="rId7"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7" name="矩形 16"/>
          <p:cNvSpPr/>
          <p:nvPr/>
        </p:nvSpPr>
        <p:spPr>
          <a:xfrm>
            <a:off x="747870" y="2347912"/>
            <a:ext cx="10424795" cy="1323439"/>
          </a:xfrm>
          <a:prstGeom prst="rect">
            <a:avLst/>
          </a:prstGeom>
        </p:spPr>
        <p:txBody>
          <a:bodyPr wrap="square">
            <a:spAutoFit/>
          </a:bodyPr>
          <a:lstStyle/>
          <a:p>
            <a:pPr algn="ctr"/>
            <a:r>
              <a:rPr lang="en-US" altLang="zh-CN" sz="4000" b="1" dirty="0" err="1">
                <a:solidFill>
                  <a:srgbClr val="4747BA"/>
                </a:solidFill>
                <a:latin typeface="Constantia" panose="02030602050306030303" pitchFamily="18" charset="0"/>
                <a:ea typeface="微软雅黑" panose="020B0503020204020204" charset="-122"/>
                <a:cs typeface="Calibri" panose="020F0502020204030204" pitchFamily="34" charset="0"/>
              </a:rPr>
              <a:t>ZoneKV</a:t>
            </a:r>
            <a:r>
              <a:rPr lang="en-US" altLang="zh-CN" sz="4000" b="1" dirty="0">
                <a:solidFill>
                  <a:srgbClr val="4747BA"/>
                </a:solidFill>
                <a:latin typeface="Constantia" panose="02030602050306030303" pitchFamily="18" charset="0"/>
                <a:ea typeface="微软雅黑" panose="020B0503020204020204" charset="-122"/>
                <a:cs typeface="Calibri" panose="020F0502020204030204" pitchFamily="34" charset="0"/>
              </a:rPr>
              <a:t>: A Space-Efficient Key-Value Store for ZNS SSDs</a:t>
            </a: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9" name="Rectangle 1">
            <a:extLst>
              <a:ext uri="{FF2B5EF4-FFF2-40B4-BE49-F238E27FC236}">
                <a16:creationId xmlns:a16="http://schemas.microsoft.com/office/drawing/2014/main" id="{1AA3583E-99D3-FE70-D8D7-A1A6B907B760}"/>
              </a:ext>
            </a:extLst>
          </p:cNvPr>
          <p:cNvSpPr>
            <a:spLocks noChangeArrowheads="1"/>
          </p:cNvSpPr>
          <p:nvPr/>
        </p:nvSpPr>
        <p:spPr bwMode="auto">
          <a:xfrm>
            <a:off x="4495314" y="4522003"/>
            <a:ext cx="3201371" cy="737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66635" rIns="0" bIns="7141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ctr" eaLnBrk="1" fontAlgn="base" hangingPunct="1">
              <a:lnSpc>
                <a:spcPct val="150000"/>
              </a:lnSpc>
              <a:spcBef>
                <a:spcPct val="0"/>
              </a:spcBef>
              <a:spcAft>
                <a:spcPct val="0"/>
              </a:spcAft>
              <a:buClrTx/>
              <a:buSzTx/>
              <a:buFontTx/>
              <a:buNone/>
              <a:tabLst/>
            </a:pPr>
            <a:r>
              <a:rPr lang="en-US" altLang="zh-CN" sz="2400" b="1" dirty="0">
                <a:solidFill>
                  <a:srgbClr val="4747BA"/>
                </a:solidFill>
                <a:latin typeface="Constantia" panose="02030602050306030303" pitchFamily="18" charset="0"/>
              </a:rPr>
              <a:t>DAC 23</a:t>
            </a:r>
            <a:r>
              <a:rPr lang="zh-CN" altLang="en-US" sz="2400" b="1" dirty="0">
                <a:solidFill>
                  <a:srgbClr val="4747BA"/>
                </a:solidFill>
                <a:latin typeface="Constantia" panose="02030602050306030303" pitchFamily="18" charset="0"/>
              </a:rPr>
              <a:t>，中科大， 字节</a:t>
            </a:r>
            <a:endParaRPr lang="zh-CN" altLang="zh-CN" sz="2400" b="1" dirty="0">
              <a:solidFill>
                <a:srgbClr val="4747BA"/>
              </a:solidFill>
              <a:latin typeface="Constantia" panose="02030602050306030303"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5" name="Fußzeilenplatzhalter 4">
            <a:extLst>
              <a:ext uri="{FF2B5EF4-FFF2-40B4-BE49-F238E27FC236}">
                <a16:creationId xmlns:a16="http://schemas.microsoft.com/office/drawing/2014/main" id="{2F8C07CB-D5E6-905C-4CA5-A0B50B3FAE09}"/>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C739986A-8663-B12B-5E7F-8CBB550422EA}"/>
              </a:ext>
            </a:extLst>
          </p:cNvPr>
          <p:cNvSpPr txBox="1"/>
          <p:nvPr/>
        </p:nvSpPr>
        <p:spPr>
          <a:xfrm>
            <a:off x="462584" y="1998087"/>
            <a:ext cx="11266832" cy="2461315"/>
          </a:xfrm>
          <a:prstGeom prst="rect">
            <a:avLst/>
          </a:prstGeom>
          <a:noFill/>
        </p:spPr>
        <p:txBody>
          <a:bodyPr wrap="square" rtlCol="0">
            <a:spAutoFit/>
          </a:bodyPr>
          <a:lstStyle/>
          <a:p>
            <a:pPr marL="285750" indent="-285750">
              <a:lnSpc>
                <a:spcPct val="13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提出了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，一种针对</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的空间高效键值存储系统。</a:t>
            </a:r>
          </a:p>
          <a:p>
            <a:pPr marL="285750" indent="-285750">
              <a:lnSpc>
                <a:spcPct val="13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观察到现有的</a:t>
            </a:r>
            <a:r>
              <a:rPr lang="en-US" altLang="zh-CN" sz="2000" b="0" i="0" dirty="0" err="1">
                <a:solidFill>
                  <a:srgbClr val="374151"/>
                </a:solidFill>
                <a:effectLst/>
                <a:latin typeface="_5b8b_4f53"/>
              </a:rPr>
              <a:t>RocksDB</a:t>
            </a:r>
            <a:r>
              <a:rPr lang="zh-CN" altLang="en-US" sz="2000" b="0" i="0" dirty="0">
                <a:solidFill>
                  <a:srgbClr val="374151"/>
                </a:solidFill>
                <a:effectLst/>
                <a:latin typeface="_5b8b_4f53"/>
              </a:rPr>
              <a:t>适配到</a:t>
            </a:r>
            <a:r>
              <a:rPr lang="en-US" altLang="zh-CN" sz="2000" b="0" i="0" dirty="0">
                <a:solidFill>
                  <a:srgbClr val="374151"/>
                </a:solidFill>
                <a:effectLst/>
                <a:latin typeface="_5b8b_4f53"/>
              </a:rPr>
              <a:t>ZNS SSDs</a:t>
            </a:r>
            <a:r>
              <a:rPr lang="zh-CN" altLang="en-US" sz="2000" b="0" i="0" dirty="0">
                <a:solidFill>
                  <a:srgbClr val="374151"/>
                </a:solidFill>
                <a:effectLst/>
                <a:latin typeface="_5b8b_4f53"/>
              </a:rPr>
              <a:t>会导致区域碎片化和空间放大问题。</a:t>
            </a:r>
          </a:p>
          <a:p>
            <a:pPr marL="285750" indent="-285750">
              <a:lnSpc>
                <a:spcPct val="13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因此，我们提出了一个基于生命周期的区域存储模型和特定级别的区域分配算法，将生命周期相似的</a:t>
            </a:r>
            <a:r>
              <a:rPr lang="en-US" altLang="zh-CN" sz="2000" b="0" i="0" dirty="0" err="1">
                <a:solidFill>
                  <a:srgbClr val="374151"/>
                </a:solidFill>
                <a:effectLst/>
                <a:latin typeface="_5b8b_4f53"/>
              </a:rPr>
              <a:t>SSTables</a:t>
            </a:r>
            <a:r>
              <a:rPr lang="zh-CN" altLang="en-US" sz="2000" b="0" i="0" dirty="0">
                <a:solidFill>
                  <a:srgbClr val="374151"/>
                </a:solidFill>
                <a:effectLst/>
                <a:latin typeface="_5b8b_4f53"/>
              </a:rPr>
              <a:t>存储在同一区域。</a:t>
            </a:r>
          </a:p>
          <a:p>
            <a:pPr marL="285750" indent="-285750">
              <a:lnSpc>
                <a:spcPct val="130000"/>
              </a:lnSpc>
              <a:buFont typeface="Wingdings" panose="05000000000000000000" charset="0"/>
              <a:buChar char="q"/>
            </a:pPr>
            <a:r>
              <a:rPr lang="en-US" altLang="zh-CN" sz="2000" b="0" i="0" dirty="0">
                <a:solidFill>
                  <a:srgbClr val="374151"/>
                </a:solidFill>
                <a:effectLst/>
                <a:latin typeface="_5b8b_4f53"/>
              </a:rPr>
              <a:t>- </a:t>
            </a:r>
            <a:r>
              <a:rPr lang="zh-CN" altLang="en-US" sz="2000" b="0" i="0" dirty="0">
                <a:solidFill>
                  <a:srgbClr val="374151"/>
                </a:solidFill>
                <a:effectLst/>
                <a:latin typeface="_5b8b_4f53"/>
              </a:rPr>
              <a:t>在真实的</a:t>
            </a:r>
            <a:r>
              <a:rPr lang="en-US" altLang="zh-CN" sz="2000" b="0" i="0" dirty="0">
                <a:solidFill>
                  <a:srgbClr val="374151"/>
                </a:solidFill>
                <a:effectLst/>
                <a:latin typeface="_5b8b_4f53"/>
              </a:rPr>
              <a:t>ZNS SSD</a:t>
            </a:r>
            <a:r>
              <a:rPr lang="zh-CN" altLang="en-US" sz="2000" b="0" i="0" dirty="0">
                <a:solidFill>
                  <a:srgbClr val="374151"/>
                </a:solidFill>
                <a:effectLst/>
                <a:latin typeface="_5b8b_4f53"/>
              </a:rPr>
              <a:t>上评估了</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，结果显示</a:t>
            </a:r>
            <a:r>
              <a:rPr lang="en-US" altLang="zh-CN" sz="2000" b="0" i="0" dirty="0" err="1">
                <a:solidFill>
                  <a:srgbClr val="374151"/>
                </a:solidFill>
                <a:effectLst/>
                <a:latin typeface="_5b8b_4f53"/>
              </a:rPr>
              <a:t>ZoneKV</a:t>
            </a:r>
            <a:r>
              <a:rPr lang="zh-CN" altLang="en-US" sz="2000" b="0" i="0" dirty="0">
                <a:solidFill>
                  <a:srgbClr val="374151"/>
                </a:solidFill>
                <a:effectLst/>
                <a:latin typeface="_5b8b_4f53"/>
              </a:rPr>
              <a:t>能够减少高达</a:t>
            </a:r>
            <a:r>
              <a:rPr lang="en-US" altLang="zh-CN" sz="2000" b="0" i="0" dirty="0">
                <a:solidFill>
                  <a:srgbClr val="374151"/>
                </a:solidFill>
                <a:effectLst/>
                <a:latin typeface="_5b8b_4f53"/>
              </a:rPr>
              <a:t>60%</a:t>
            </a:r>
            <a:r>
              <a:rPr lang="zh-CN" altLang="en-US" sz="2000" b="0" i="0" dirty="0">
                <a:solidFill>
                  <a:srgbClr val="374151"/>
                </a:solidFill>
                <a:effectLst/>
                <a:latin typeface="_5b8b_4f53"/>
              </a:rPr>
              <a:t>的空间放大，并保持比</a:t>
            </a:r>
            <a:r>
              <a:rPr lang="en-US" altLang="zh-CN" sz="2000" b="0" i="0" dirty="0" err="1">
                <a:solidFill>
                  <a:srgbClr val="374151"/>
                </a:solidFill>
                <a:effectLst/>
                <a:latin typeface="_5b8b_4f53"/>
              </a:rPr>
              <a:t>RocksDB</a:t>
            </a:r>
            <a:r>
              <a:rPr lang="en-US" altLang="zh-CN" sz="2000" b="0" i="0" dirty="0">
                <a:solidFill>
                  <a:srgbClr val="374151"/>
                </a:solidFill>
                <a:effectLst/>
                <a:latin typeface="_5b8b_4f53"/>
              </a:rPr>
              <a:t> with </a:t>
            </a:r>
            <a:r>
              <a:rPr lang="en-US" altLang="zh-CN" sz="2000" b="0" i="0" dirty="0" err="1">
                <a:solidFill>
                  <a:srgbClr val="374151"/>
                </a:solidFill>
                <a:effectLst/>
                <a:latin typeface="_5b8b_4f53"/>
              </a:rPr>
              <a:t>ZenFS</a:t>
            </a:r>
            <a:r>
              <a:rPr lang="zh-CN" altLang="en-US" sz="2000" b="0" i="0" dirty="0">
                <a:solidFill>
                  <a:srgbClr val="374151"/>
                </a:solidFill>
                <a:effectLst/>
                <a:latin typeface="_5b8b_4f53"/>
              </a:rPr>
              <a:t>更高的吞吐量。</a:t>
            </a:r>
            <a:endParaRPr lang="en-US" altLang="zh-CN" sz="2000" dirty="0">
              <a:solidFill>
                <a:srgbClr val="374151"/>
              </a:solidFill>
              <a:latin typeface="_5b8b_4f53"/>
            </a:endParaRPr>
          </a:p>
        </p:txBody>
      </p:sp>
      <p:sp>
        <p:nvSpPr>
          <p:cNvPr id="2" name="文本框 1">
            <a:extLst>
              <a:ext uri="{FF2B5EF4-FFF2-40B4-BE49-F238E27FC236}">
                <a16:creationId xmlns:a16="http://schemas.microsoft.com/office/drawing/2014/main" id="{8A97A7DF-0F62-BD5E-C895-912387E18576}"/>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摘要</a:t>
            </a:r>
          </a:p>
        </p:txBody>
      </p:sp>
    </p:spTree>
    <p:extLst>
      <p:ext uri="{BB962C8B-B14F-4D97-AF65-F5344CB8AC3E}">
        <p14:creationId xmlns:p14="http://schemas.microsoft.com/office/powerpoint/2010/main" val="16153719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41291BC8-BAF3-496D-6C37-8B6EEABE8583}"/>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1D6EE90F-1E38-6A29-27D6-F130558DA2EF}"/>
              </a:ext>
            </a:extLst>
          </p:cNvPr>
          <p:cNvSpPr txBox="1"/>
          <p:nvPr/>
        </p:nvSpPr>
        <p:spPr>
          <a:xfrm>
            <a:off x="440055" y="1342729"/>
            <a:ext cx="11425112" cy="1502719"/>
          </a:xfrm>
          <a:prstGeom prst="rect">
            <a:avLst/>
          </a:prstGeom>
          <a:noFill/>
        </p:spPr>
        <p:txBody>
          <a:bodyPr wrap="square">
            <a:spAutoFit/>
          </a:bodyPr>
          <a:lstStyle/>
          <a:p>
            <a:pPr>
              <a:lnSpc>
                <a:spcPct val="130000"/>
              </a:lnSpc>
            </a:pPr>
            <a:r>
              <a:rPr lang="en-US" altLang="zh-CN" dirty="0">
                <a:solidFill>
                  <a:srgbClr val="374151"/>
                </a:solidFill>
                <a:latin typeface="_5b8b_4f53"/>
              </a:rPr>
              <a:t>ZNS SSDs</a:t>
            </a:r>
            <a:r>
              <a:rPr lang="zh-CN" altLang="en-US" dirty="0">
                <a:solidFill>
                  <a:srgbClr val="374151"/>
                </a:solidFill>
                <a:latin typeface="_5b8b_4f53"/>
              </a:rPr>
              <a:t>是一种新型</a:t>
            </a:r>
            <a:r>
              <a:rPr lang="en-US" altLang="zh-CN" dirty="0">
                <a:solidFill>
                  <a:srgbClr val="374151"/>
                </a:solidFill>
                <a:latin typeface="_5b8b_4f53"/>
              </a:rPr>
              <a:t>SSD</a:t>
            </a:r>
            <a:r>
              <a:rPr lang="zh-CN" altLang="en-US" dirty="0">
                <a:solidFill>
                  <a:srgbClr val="374151"/>
                </a:solidFill>
                <a:latin typeface="_5b8b_4f53"/>
              </a:rPr>
              <a:t>，采用新的</a:t>
            </a:r>
            <a:r>
              <a:rPr lang="en-US" altLang="zh-CN" dirty="0" err="1">
                <a:solidFill>
                  <a:srgbClr val="374151"/>
                </a:solidFill>
                <a:latin typeface="_5b8b_4f53"/>
              </a:rPr>
              <a:t>NVMe</a:t>
            </a:r>
            <a:r>
              <a:rPr lang="zh-CN" altLang="en-US" dirty="0">
                <a:solidFill>
                  <a:srgbClr val="374151"/>
                </a:solidFill>
                <a:latin typeface="_5b8b_4f53"/>
              </a:rPr>
              <a:t>存储接口。它们将逻辑块地址（</a:t>
            </a:r>
            <a:r>
              <a:rPr lang="en-US" altLang="zh-CN" dirty="0">
                <a:solidFill>
                  <a:srgbClr val="374151"/>
                </a:solidFill>
                <a:latin typeface="_5b8b_4f53"/>
              </a:rPr>
              <a:t>LBA</a:t>
            </a:r>
            <a:r>
              <a:rPr lang="zh-CN" altLang="en-US" dirty="0">
                <a:solidFill>
                  <a:srgbClr val="374151"/>
                </a:solidFill>
                <a:latin typeface="_5b8b_4f53"/>
              </a:rPr>
              <a:t>）划分为多个相同大小的区域，每个区域只能顺序写入并在重置后再次使用。这种强制性的顺序写入允许</a:t>
            </a:r>
            <a:r>
              <a:rPr lang="en-US" altLang="zh-CN" dirty="0">
                <a:solidFill>
                  <a:srgbClr val="374151"/>
                </a:solidFill>
                <a:latin typeface="_5b8b_4f53"/>
              </a:rPr>
              <a:t>ZNS SSDs</a:t>
            </a:r>
            <a:r>
              <a:rPr lang="zh-CN" altLang="en-US" dirty="0">
                <a:solidFill>
                  <a:srgbClr val="374151"/>
                </a:solidFill>
                <a:latin typeface="_5b8b_4f53"/>
              </a:rPr>
              <a:t>进行更粗粒度的地址转换。此外</a:t>
            </a:r>
            <a:r>
              <a:rPr lang="en-US" altLang="zh-CN" dirty="0">
                <a:solidFill>
                  <a:srgbClr val="374151"/>
                </a:solidFill>
                <a:latin typeface="_5b8b_4f53"/>
              </a:rPr>
              <a:t>ZNS SSDs</a:t>
            </a:r>
            <a:r>
              <a:rPr lang="zh-CN" altLang="en-US" dirty="0">
                <a:solidFill>
                  <a:srgbClr val="374151"/>
                </a:solidFill>
                <a:latin typeface="_5b8b_4f53"/>
              </a:rPr>
              <a:t>将垃圾回收和数据放置的功能留给主机侧，这使得用户可以设计出有效技术来利用</a:t>
            </a:r>
            <a:r>
              <a:rPr lang="en-US" altLang="zh-CN" dirty="0">
                <a:solidFill>
                  <a:srgbClr val="374151"/>
                </a:solidFill>
                <a:latin typeface="_5b8b_4f53"/>
              </a:rPr>
              <a:t>ZNS SSDs</a:t>
            </a:r>
            <a:r>
              <a:rPr lang="zh-CN" altLang="en-US" dirty="0">
                <a:solidFill>
                  <a:srgbClr val="374151"/>
                </a:solidFill>
                <a:latin typeface="_5b8b_4f53"/>
              </a:rPr>
              <a:t>的优势，例如新的索引和缓冲区管理器。</a:t>
            </a:r>
            <a:endParaRPr lang="en-US" altLang="zh-CN" sz="1600" kern="100" dirty="0">
              <a:solidFill>
                <a:srgbClr val="4747BA"/>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5A364727-F676-A371-B1D9-DE6CFE5451C8}"/>
              </a:ext>
            </a:extLst>
          </p:cNvPr>
          <p:cNvSpPr txBox="1"/>
          <p:nvPr/>
        </p:nvSpPr>
        <p:spPr>
          <a:xfrm>
            <a:off x="430529" y="2922386"/>
            <a:ext cx="6942202" cy="369332"/>
          </a:xfrm>
          <a:prstGeom prst="rect">
            <a:avLst/>
          </a:prstGeom>
          <a:noFill/>
        </p:spPr>
        <p:txBody>
          <a:bodyPr wrap="square">
            <a:spAutoFit/>
          </a:bodyPr>
          <a:lstStyle/>
          <a:p>
            <a:r>
              <a:rPr lang="en-US" altLang="zh-CN" b="1" dirty="0">
                <a:solidFill>
                  <a:srgbClr val="4747BA"/>
                </a:solidFill>
                <a:ea typeface="+mn-lt"/>
                <a:cs typeface="Times New Roman" panose="02020603050405020304" charset="0"/>
              </a:rPr>
              <a:t>LSM-tree</a:t>
            </a:r>
            <a:r>
              <a:rPr lang="zh-CN" altLang="en-US" b="1" dirty="0">
                <a:solidFill>
                  <a:srgbClr val="4747BA"/>
                </a:solidFill>
                <a:ea typeface="+mn-lt"/>
                <a:cs typeface="Times New Roman" panose="02020603050405020304" charset="0"/>
              </a:rPr>
              <a:t>： </a:t>
            </a:r>
          </a:p>
        </p:txBody>
      </p:sp>
      <p:sp>
        <p:nvSpPr>
          <p:cNvPr id="12" name="文本框 11">
            <a:extLst>
              <a:ext uri="{FF2B5EF4-FFF2-40B4-BE49-F238E27FC236}">
                <a16:creationId xmlns:a16="http://schemas.microsoft.com/office/drawing/2014/main" id="{555CE06B-316F-43EC-1525-4789FBC66C78}"/>
              </a:ext>
            </a:extLst>
          </p:cNvPr>
          <p:cNvSpPr txBox="1"/>
          <p:nvPr/>
        </p:nvSpPr>
        <p:spPr>
          <a:xfrm>
            <a:off x="430529" y="1022703"/>
            <a:ext cx="2806999" cy="400110"/>
          </a:xfrm>
          <a:prstGeom prst="rect">
            <a:avLst/>
          </a:prstGeom>
          <a:noFill/>
        </p:spPr>
        <p:txBody>
          <a:bodyPr wrap="square">
            <a:spAutoFit/>
          </a:bodyPr>
          <a:lstStyle/>
          <a:p>
            <a:r>
              <a:rPr lang="en-US" altLang="zh-CN" sz="2000" b="1" dirty="0">
                <a:solidFill>
                  <a:srgbClr val="4747BA"/>
                </a:solidFill>
                <a:ea typeface="+mn-lt"/>
                <a:cs typeface="Times New Roman" panose="02020603050405020304" charset="0"/>
              </a:rPr>
              <a:t>ZNS</a:t>
            </a:r>
            <a:r>
              <a:rPr lang="zh-CN" altLang="en-US" sz="2000" b="1" dirty="0">
                <a:solidFill>
                  <a:srgbClr val="4747BA"/>
                </a:solidFill>
                <a:ea typeface="+mn-lt"/>
                <a:cs typeface="Times New Roman" panose="02020603050405020304" charset="0"/>
              </a:rPr>
              <a:t> </a:t>
            </a:r>
            <a:r>
              <a:rPr lang="en-US" altLang="zh-CN" sz="2000" b="1" dirty="0">
                <a:solidFill>
                  <a:srgbClr val="4747BA"/>
                </a:solidFill>
                <a:ea typeface="+mn-lt"/>
                <a:cs typeface="Times New Roman" panose="02020603050405020304" charset="0"/>
              </a:rPr>
              <a:t>SSDs</a:t>
            </a:r>
            <a:r>
              <a:rPr lang="zh-CN" altLang="en-US" sz="2000" b="1" dirty="0">
                <a:solidFill>
                  <a:srgbClr val="4747BA"/>
                </a:solidFill>
                <a:ea typeface="+mn-lt"/>
                <a:cs typeface="Times New Roman" panose="02020603050405020304" charset="0"/>
              </a:rPr>
              <a:t>：</a:t>
            </a:r>
            <a:endParaRPr lang="en-US" altLang="zh-CN" sz="2000" b="1" dirty="0">
              <a:solidFill>
                <a:srgbClr val="4747BA"/>
              </a:solidFill>
              <a:ea typeface="+mn-lt"/>
              <a:cs typeface="Times New Roman" panose="02020603050405020304" charset="0"/>
            </a:endParaRPr>
          </a:p>
        </p:txBody>
      </p:sp>
      <p:sp>
        <p:nvSpPr>
          <p:cNvPr id="11" name="文本框 10">
            <a:extLst>
              <a:ext uri="{FF2B5EF4-FFF2-40B4-BE49-F238E27FC236}">
                <a16:creationId xmlns:a16="http://schemas.microsoft.com/office/drawing/2014/main" id="{EE77C4F7-936E-CBC4-D6AC-980A1C5A66F9}"/>
              </a:ext>
            </a:extLst>
          </p:cNvPr>
          <p:cNvSpPr txBox="1"/>
          <p:nvPr/>
        </p:nvSpPr>
        <p:spPr>
          <a:xfrm>
            <a:off x="440055" y="3291719"/>
            <a:ext cx="11321416" cy="2944589"/>
          </a:xfrm>
          <a:prstGeom prst="rect">
            <a:avLst/>
          </a:prstGeom>
          <a:noFill/>
        </p:spPr>
        <p:txBody>
          <a:bodyPr wrap="square">
            <a:spAutoFit/>
          </a:bodyPr>
          <a:lstStyle/>
          <a:p>
            <a:pPr>
              <a:lnSpc>
                <a:spcPct val="130000"/>
              </a:lnSpc>
            </a:pPr>
            <a:r>
              <a:rPr lang="en-US" altLang="zh-CN" dirty="0">
                <a:solidFill>
                  <a:srgbClr val="374151"/>
                </a:solidFill>
                <a:latin typeface="_5b8b_4f53"/>
              </a:rPr>
              <a:t>ZNS SSDs</a:t>
            </a:r>
            <a:r>
              <a:rPr lang="zh-CN" altLang="en-US" dirty="0">
                <a:solidFill>
                  <a:srgbClr val="374151"/>
                </a:solidFill>
                <a:latin typeface="_5b8b_4f53"/>
              </a:rPr>
              <a:t>与</a:t>
            </a:r>
            <a:r>
              <a:rPr lang="en-US" altLang="zh-CN" dirty="0">
                <a:solidFill>
                  <a:srgbClr val="374151"/>
                </a:solidFill>
                <a:latin typeface="_5b8b_4f53"/>
              </a:rPr>
              <a:t>LSM-tree</a:t>
            </a:r>
            <a:r>
              <a:rPr lang="zh-CN" altLang="en-US" dirty="0">
                <a:solidFill>
                  <a:srgbClr val="374151"/>
                </a:solidFill>
                <a:latin typeface="_5b8b_4f53"/>
              </a:rPr>
              <a:t>（</a:t>
            </a:r>
            <a:r>
              <a:rPr lang="en-US" altLang="zh-CN" dirty="0">
                <a:solidFill>
                  <a:srgbClr val="374151"/>
                </a:solidFill>
                <a:latin typeface="_5b8b_4f53"/>
              </a:rPr>
              <a:t>Log-Structured Merge-tree</a:t>
            </a:r>
            <a:r>
              <a:rPr lang="zh-CN" altLang="en-US" dirty="0">
                <a:solidFill>
                  <a:srgbClr val="374151"/>
                </a:solidFill>
                <a:latin typeface="_5b8b_4f53"/>
              </a:rPr>
              <a:t>）的契合性：</a:t>
            </a:r>
            <a:r>
              <a:rPr lang="en-US" altLang="zh-CN" dirty="0">
                <a:solidFill>
                  <a:srgbClr val="374151"/>
                </a:solidFill>
                <a:latin typeface="_5b8b_4f53"/>
              </a:rPr>
              <a:t>LSM-tree</a:t>
            </a:r>
            <a:r>
              <a:rPr lang="zh-CN" altLang="en-US" dirty="0">
                <a:solidFill>
                  <a:srgbClr val="374151"/>
                </a:solidFill>
                <a:latin typeface="_5b8b_4f53"/>
              </a:rPr>
              <a:t>将随机写入转换为顺序写入，大大提高了写入性能。它已被用于许多键值存储中，例如 </a:t>
            </a:r>
            <a:r>
              <a:rPr lang="en-US" altLang="zh-CN" dirty="0" err="1">
                <a:solidFill>
                  <a:srgbClr val="374151"/>
                </a:solidFill>
                <a:latin typeface="_5b8b_4f53"/>
              </a:rPr>
              <a:t>BigTable</a:t>
            </a:r>
            <a:r>
              <a:rPr lang="zh-CN" altLang="en-US" dirty="0">
                <a:solidFill>
                  <a:srgbClr val="374151"/>
                </a:solidFill>
                <a:latin typeface="_5b8b_4f53"/>
              </a:rPr>
              <a:t>、</a:t>
            </a:r>
            <a:r>
              <a:rPr lang="en-US" altLang="zh-CN" dirty="0" err="1">
                <a:solidFill>
                  <a:srgbClr val="374151"/>
                </a:solidFill>
                <a:latin typeface="_5b8b_4f53"/>
              </a:rPr>
              <a:t>LevelDB</a:t>
            </a:r>
            <a:r>
              <a:rPr lang="en-US" altLang="zh-CN" dirty="0">
                <a:solidFill>
                  <a:srgbClr val="374151"/>
                </a:solidFill>
                <a:latin typeface="_5b8b_4f53"/>
              </a:rPr>
              <a:t> </a:t>
            </a:r>
            <a:r>
              <a:rPr lang="zh-CN" altLang="en-US" dirty="0">
                <a:solidFill>
                  <a:srgbClr val="374151"/>
                </a:solidFill>
                <a:latin typeface="_5b8b_4f53"/>
              </a:rPr>
              <a:t>和 </a:t>
            </a:r>
            <a:r>
              <a:rPr lang="en-US" altLang="zh-CN" dirty="0" err="1">
                <a:solidFill>
                  <a:srgbClr val="374151"/>
                </a:solidFill>
                <a:latin typeface="_5b8b_4f53"/>
              </a:rPr>
              <a:t>RocksDB</a:t>
            </a:r>
            <a:r>
              <a:rPr lang="zh-CN" altLang="en-US" dirty="0">
                <a:solidFill>
                  <a:srgbClr val="374151"/>
                </a:solidFill>
                <a:latin typeface="_5b8b_4f53"/>
              </a:rPr>
              <a:t>。 </a:t>
            </a:r>
          </a:p>
          <a:p>
            <a:pPr>
              <a:lnSpc>
                <a:spcPct val="130000"/>
              </a:lnSpc>
            </a:pPr>
            <a:endParaRPr lang="en-US" altLang="zh-CN" dirty="0">
              <a:solidFill>
                <a:srgbClr val="374151"/>
              </a:solidFill>
              <a:latin typeface="_5b8b_4f53"/>
            </a:endParaRPr>
          </a:p>
          <a:p>
            <a:pPr>
              <a:lnSpc>
                <a:spcPct val="130000"/>
              </a:lnSpc>
            </a:pPr>
            <a:r>
              <a:rPr lang="zh-CN" altLang="en-US" dirty="0">
                <a:solidFill>
                  <a:srgbClr val="374151"/>
                </a:solidFill>
                <a:latin typeface="_5b8b_4f53"/>
              </a:rPr>
              <a:t>基于</a:t>
            </a:r>
            <a:r>
              <a:rPr lang="en-US" altLang="zh-CN" dirty="0">
                <a:solidFill>
                  <a:srgbClr val="374151"/>
                </a:solidFill>
                <a:latin typeface="_5b8b_4f53"/>
              </a:rPr>
              <a:t>LSM</a:t>
            </a:r>
            <a:r>
              <a:rPr lang="zh-CN" altLang="en-US" dirty="0">
                <a:solidFill>
                  <a:srgbClr val="374151"/>
                </a:solidFill>
                <a:latin typeface="_5b8b_4f53"/>
              </a:rPr>
              <a:t>树的键值存储包含内存和磁盘两部分。内存组件，由</a:t>
            </a:r>
            <a:r>
              <a:rPr lang="en-US" altLang="zh-CN" dirty="0" err="1">
                <a:solidFill>
                  <a:srgbClr val="374151"/>
                </a:solidFill>
                <a:latin typeface="_5b8b_4f53"/>
              </a:rPr>
              <a:t>MemTable</a:t>
            </a:r>
            <a:r>
              <a:rPr lang="zh-CN" altLang="en-US" dirty="0">
                <a:solidFill>
                  <a:srgbClr val="374151"/>
                </a:solidFill>
                <a:latin typeface="_5b8b_4f53"/>
              </a:rPr>
              <a:t>和</a:t>
            </a:r>
            <a:r>
              <a:rPr lang="en-US" altLang="zh-CN" dirty="0">
                <a:solidFill>
                  <a:srgbClr val="374151"/>
                </a:solidFill>
                <a:latin typeface="_5b8b_4f53"/>
              </a:rPr>
              <a:t>Immutable </a:t>
            </a:r>
            <a:r>
              <a:rPr lang="en-US" altLang="zh-CN" dirty="0" err="1">
                <a:solidFill>
                  <a:srgbClr val="374151"/>
                </a:solidFill>
                <a:latin typeface="_5b8b_4f53"/>
              </a:rPr>
              <a:t>MemTable</a:t>
            </a:r>
            <a:r>
              <a:rPr lang="zh-CN" altLang="en-US" dirty="0">
                <a:solidFill>
                  <a:srgbClr val="374151"/>
                </a:solidFill>
                <a:latin typeface="_5b8b_4f53"/>
              </a:rPr>
              <a:t>组成。 </a:t>
            </a:r>
            <a:r>
              <a:rPr lang="en-US" altLang="zh-CN" dirty="0" err="1">
                <a:solidFill>
                  <a:srgbClr val="374151"/>
                </a:solidFill>
                <a:latin typeface="_5b8b_4f53"/>
              </a:rPr>
              <a:t>MemTable</a:t>
            </a:r>
            <a:r>
              <a:rPr lang="zh-CN" altLang="en-US" dirty="0">
                <a:solidFill>
                  <a:srgbClr val="374151"/>
                </a:solidFill>
                <a:latin typeface="_5b8b_4f53"/>
              </a:rPr>
              <a:t>以仅追加模式存储最新的键值。当达到存储阈值时，</a:t>
            </a:r>
            <a:r>
              <a:rPr lang="en-US" altLang="zh-CN" dirty="0" err="1">
                <a:solidFill>
                  <a:srgbClr val="374151"/>
                </a:solidFill>
                <a:latin typeface="_5b8b_4f53"/>
              </a:rPr>
              <a:t>Memtable</a:t>
            </a:r>
            <a:r>
              <a:rPr lang="en-US" altLang="zh-CN" dirty="0">
                <a:solidFill>
                  <a:srgbClr val="374151"/>
                </a:solidFill>
                <a:latin typeface="_5b8b_4f53"/>
              </a:rPr>
              <a:t> </a:t>
            </a:r>
            <a:r>
              <a:rPr lang="zh-CN" altLang="en-US" dirty="0">
                <a:solidFill>
                  <a:srgbClr val="374151"/>
                </a:solidFill>
                <a:latin typeface="_5b8b_4f53"/>
              </a:rPr>
              <a:t>将转换为只读的 </a:t>
            </a:r>
            <a:r>
              <a:rPr lang="en-US" altLang="zh-CN" dirty="0">
                <a:solidFill>
                  <a:srgbClr val="374151"/>
                </a:solidFill>
                <a:latin typeface="_5b8b_4f53"/>
              </a:rPr>
              <a:t>Immutable </a:t>
            </a:r>
            <a:r>
              <a:rPr lang="en-US" altLang="zh-CN" dirty="0" err="1">
                <a:solidFill>
                  <a:srgbClr val="374151"/>
                </a:solidFill>
                <a:latin typeface="_5b8b_4f53"/>
              </a:rPr>
              <a:t>MemTable</a:t>
            </a:r>
            <a:r>
              <a:rPr lang="zh-CN" altLang="en-US" dirty="0">
                <a:solidFill>
                  <a:srgbClr val="374151"/>
                </a:solidFill>
                <a:latin typeface="_5b8b_4f53"/>
              </a:rPr>
              <a:t>；磁盘或</a:t>
            </a:r>
            <a:r>
              <a:rPr lang="en-US" altLang="zh-CN" dirty="0">
                <a:solidFill>
                  <a:srgbClr val="374151"/>
                </a:solidFill>
                <a:latin typeface="_5b8b_4f53"/>
              </a:rPr>
              <a:t>SSD</a:t>
            </a:r>
            <a:r>
              <a:rPr lang="zh-CN" altLang="en-US" dirty="0">
                <a:solidFill>
                  <a:srgbClr val="374151"/>
                </a:solidFill>
                <a:latin typeface="_5b8b_4f53"/>
              </a:rPr>
              <a:t>部分由多个级别组成，每个级别由多个排序字符串表（</a:t>
            </a:r>
            <a:r>
              <a:rPr lang="en-US" altLang="zh-CN" dirty="0" err="1">
                <a:solidFill>
                  <a:srgbClr val="374151"/>
                </a:solidFill>
                <a:latin typeface="_5b8b_4f53"/>
              </a:rPr>
              <a:t>SSTables</a:t>
            </a:r>
            <a:r>
              <a:rPr lang="zh-CN" altLang="en-US" dirty="0">
                <a:solidFill>
                  <a:srgbClr val="374151"/>
                </a:solidFill>
                <a:latin typeface="_5b8b_4f53"/>
              </a:rPr>
              <a:t>）组成。每个级别都有大小限制，并且大小限制呈指数增长。当级别超过其大小限制时，将触发压缩操作，通过将 </a:t>
            </a:r>
            <a:r>
              <a:rPr lang="en-US" altLang="zh-CN" dirty="0">
                <a:solidFill>
                  <a:srgbClr val="374151"/>
                </a:solidFill>
                <a:latin typeface="_5b8b_4f53"/>
              </a:rPr>
              <a:t>L </a:t>
            </a:r>
            <a:r>
              <a:rPr lang="en-US" altLang="zh-CN" dirty="0" err="1">
                <a:solidFill>
                  <a:srgbClr val="374151"/>
                </a:solidFill>
                <a:latin typeface="_5b8b_4f53"/>
              </a:rPr>
              <a:t>i</a:t>
            </a:r>
            <a:r>
              <a:rPr lang="en-US" altLang="zh-CN" dirty="0">
                <a:solidFill>
                  <a:srgbClr val="374151"/>
                </a:solidFill>
                <a:latin typeface="_5b8b_4f53"/>
              </a:rPr>
              <a:t> </a:t>
            </a:r>
            <a:r>
              <a:rPr lang="zh-CN" altLang="en-US" dirty="0">
                <a:solidFill>
                  <a:srgbClr val="374151"/>
                </a:solidFill>
                <a:latin typeface="_5b8b_4f53"/>
              </a:rPr>
              <a:t>中的 </a:t>
            </a:r>
            <a:r>
              <a:rPr lang="en-US" altLang="zh-CN" dirty="0" err="1">
                <a:solidFill>
                  <a:srgbClr val="374151"/>
                </a:solidFill>
                <a:latin typeface="_5b8b_4f53"/>
              </a:rPr>
              <a:t>SSTable</a:t>
            </a:r>
            <a:r>
              <a:rPr lang="en-US" altLang="zh-CN" dirty="0">
                <a:solidFill>
                  <a:srgbClr val="374151"/>
                </a:solidFill>
                <a:latin typeface="_5b8b_4f53"/>
              </a:rPr>
              <a:t> </a:t>
            </a:r>
            <a:r>
              <a:rPr lang="zh-CN" altLang="en-US" dirty="0">
                <a:solidFill>
                  <a:srgbClr val="374151"/>
                </a:solidFill>
                <a:latin typeface="_5b8b_4f53"/>
              </a:rPr>
              <a:t>合并到 </a:t>
            </a:r>
            <a:r>
              <a:rPr lang="en-US" altLang="zh-CN" dirty="0">
                <a:solidFill>
                  <a:srgbClr val="374151"/>
                </a:solidFill>
                <a:latin typeface="_5b8b_4f53"/>
              </a:rPr>
              <a:t>Li +1 </a:t>
            </a:r>
            <a:r>
              <a:rPr lang="zh-CN" altLang="en-US" dirty="0">
                <a:solidFill>
                  <a:srgbClr val="374151"/>
                </a:solidFill>
                <a:latin typeface="_5b8b_4f53"/>
              </a:rPr>
              <a:t>来将数据下推。</a:t>
            </a:r>
            <a:endParaRPr lang="en-US" altLang="zh-CN" dirty="0">
              <a:solidFill>
                <a:srgbClr val="374151"/>
              </a:solidFill>
              <a:latin typeface="_5b8b_4f53"/>
            </a:endParaRPr>
          </a:p>
        </p:txBody>
      </p:sp>
      <p:sp>
        <p:nvSpPr>
          <p:cNvPr id="21" name="文本框 20">
            <a:extLst>
              <a:ext uri="{FF2B5EF4-FFF2-40B4-BE49-F238E27FC236}">
                <a16:creationId xmlns:a16="http://schemas.microsoft.com/office/drawing/2014/main" id="{B513EA87-1747-CAF7-8163-294D9D2ED9A6}"/>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29471854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41291BC8-BAF3-496D-6C37-8B6EEABE8583}"/>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2" name="文本框 11">
            <a:extLst>
              <a:ext uri="{FF2B5EF4-FFF2-40B4-BE49-F238E27FC236}">
                <a16:creationId xmlns:a16="http://schemas.microsoft.com/office/drawing/2014/main" id="{555CE06B-316F-43EC-1525-4789FBC66C78}"/>
              </a:ext>
            </a:extLst>
          </p:cNvPr>
          <p:cNvSpPr txBox="1"/>
          <p:nvPr/>
        </p:nvSpPr>
        <p:spPr>
          <a:xfrm>
            <a:off x="430529" y="1022703"/>
            <a:ext cx="2806999" cy="400110"/>
          </a:xfrm>
          <a:prstGeom prst="rect">
            <a:avLst/>
          </a:prstGeom>
          <a:noFill/>
        </p:spPr>
        <p:txBody>
          <a:bodyPr wrap="square">
            <a:spAutoFit/>
          </a:bodyPr>
          <a:lstStyle/>
          <a:p>
            <a:r>
              <a:rPr lang="en-US" altLang="zh-CN" sz="2000" b="1" dirty="0" err="1">
                <a:solidFill>
                  <a:srgbClr val="4747BA"/>
                </a:solidFill>
                <a:ea typeface="+mn-lt"/>
                <a:cs typeface="Times New Roman" panose="02020603050405020304" charset="0"/>
              </a:rPr>
              <a:t>ZenFS</a:t>
            </a:r>
            <a:r>
              <a:rPr lang="zh-CN" altLang="en-US" sz="2000" b="1" dirty="0">
                <a:solidFill>
                  <a:srgbClr val="4747BA"/>
                </a:solidFill>
                <a:ea typeface="+mn-lt"/>
                <a:cs typeface="Times New Roman" panose="02020603050405020304" charset="0"/>
              </a:rPr>
              <a:t>：</a:t>
            </a:r>
            <a:endParaRPr lang="en-US" altLang="zh-CN" sz="2000" b="1" dirty="0">
              <a:solidFill>
                <a:srgbClr val="4747BA"/>
              </a:solidFill>
              <a:ea typeface="+mn-lt"/>
              <a:cs typeface="Times New Roman" panose="02020603050405020304" charset="0"/>
            </a:endParaRPr>
          </a:p>
        </p:txBody>
      </p:sp>
      <p:sp>
        <p:nvSpPr>
          <p:cNvPr id="21" name="文本框 20">
            <a:extLst>
              <a:ext uri="{FF2B5EF4-FFF2-40B4-BE49-F238E27FC236}">
                <a16:creationId xmlns:a16="http://schemas.microsoft.com/office/drawing/2014/main" id="{B513EA87-1747-CAF7-8163-294D9D2ED9A6}"/>
              </a:ext>
            </a:extLst>
          </p:cNvPr>
          <p:cNvSpPr txBox="1"/>
          <p:nvPr/>
        </p:nvSpPr>
        <p:spPr>
          <a:xfrm>
            <a:off x="430529" y="310125"/>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3" name="文本框 2">
            <a:extLst>
              <a:ext uri="{FF2B5EF4-FFF2-40B4-BE49-F238E27FC236}">
                <a16:creationId xmlns:a16="http://schemas.microsoft.com/office/drawing/2014/main" id="{A98FF936-792A-1003-F0AA-85F57F2467EA}"/>
              </a:ext>
            </a:extLst>
          </p:cNvPr>
          <p:cNvSpPr txBox="1"/>
          <p:nvPr/>
        </p:nvSpPr>
        <p:spPr>
          <a:xfrm>
            <a:off x="385590" y="1565703"/>
            <a:ext cx="11330942" cy="2461315"/>
          </a:xfrm>
          <a:prstGeom prst="rect">
            <a:avLst/>
          </a:prstGeom>
          <a:noFill/>
        </p:spPr>
        <p:txBody>
          <a:bodyPr wrap="square">
            <a:spAutoFit/>
          </a:bodyPr>
          <a:lstStyle/>
          <a:p>
            <a:pPr>
              <a:lnSpc>
                <a:spcPct val="130000"/>
              </a:lnSpc>
            </a:pP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zh-CN" sz="2000" dirty="0">
                <a:solidFill>
                  <a:srgbClr val="374151"/>
                </a:solidFill>
                <a:latin typeface="_5b8b_4f53"/>
              </a:rPr>
              <a:t>被提出用来使</a:t>
            </a:r>
            <a:r>
              <a:rPr lang="en-US" altLang="zh-CN" sz="2000" dirty="0" err="1">
                <a:solidFill>
                  <a:srgbClr val="374151"/>
                </a:solidFill>
                <a:latin typeface="_5b8b_4f53"/>
              </a:rPr>
              <a:t>RocksDB</a:t>
            </a:r>
            <a:r>
              <a:rPr lang="zh-CN" altLang="zh-CN" sz="2000" dirty="0">
                <a:solidFill>
                  <a:srgbClr val="374151"/>
                </a:solidFill>
                <a:latin typeface="_5b8b_4f53"/>
              </a:rPr>
              <a:t>适应</a:t>
            </a:r>
            <a:r>
              <a:rPr lang="en-US" altLang="zh-CN" sz="2000" dirty="0">
                <a:solidFill>
                  <a:srgbClr val="374151"/>
                </a:solidFill>
                <a:latin typeface="_5b8b_4f53"/>
              </a:rPr>
              <a:t>ZNS SSD</a:t>
            </a:r>
            <a:r>
              <a:rPr lang="zh-CN" altLang="zh-CN" sz="2000" dirty="0">
                <a:solidFill>
                  <a:srgbClr val="374151"/>
                </a:solidFill>
                <a:latin typeface="_5b8b_4f53"/>
              </a:rPr>
              <a:t>。到目前为止，</a:t>
            </a: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zh-CN" sz="2000" dirty="0">
                <a:solidFill>
                  <a:srgbClr val="374151"/>
                </a:solidFill>
                <a:latin typeface="_5b8b_4f53"/>
              </a:rPr>
              <a:t>是唯一支持</a:t>
            </a:r>
            <a:r>
              <a:rPr lang="en-US" altLang="zh-CN" sz="2000" dirty="0">
                <a:solidFill>
                  <a:srgbClr val="374151"/>
                </a:solidFill>
                <a:latin typeface="_5b8b_4f53"/>
              </a:rPr>
              <a:t> ZNS SSD </a:t>
            </a:r>
            <a:r>
              <a:rPr lang="zh-CN" altLang="zh-CN" sz="2000" dirty="0">
                <a:solidFill>
                  <a:srgbClr val="374151"/>
                </a:solidFill>
                <a:latin typeface="_5b8b_4f53"/>
              </a:rPr>
              <a:t>的基于</a:t>
            </a:r>
            <a:r>
              <a:rPr lang="en-US" altLang="zh-CN" sz="2000" dirty="0">
                <a:solidFill>
                  <a:srgbClr val="374151"/>
                </a:solidFill>
                <a:latin typeface="_5b8b_4f53"/>
              </a:rPr>
              <a:t> LSM </a:t>
            </a:r>
            <a:r>
              <a:rPr lang="zh-CN" altLang="zh-CN" sz="2000" dirty="0">
                <a:solidFill>
                  <a:srgbClr val="374151"/>
                </a:solidFill>
                <a:latin typeface="_5b8b_4f53"/>
              </a:rPr>
              <a:t>树的键值存储。</a:t>
            </a:r>
            <a:endParaRPr lang="en-US" altLang="zh-CN" sz="2000" dirty="0">
              <a:solidFill>
                <a:srgbClr val="374151"/>
              </a:solidFill>
              <a:latin typeface="_5b8b_4f53"/>
            </a:endParaRPr>
          </a:p>
          <a:p>
            <a:pPr>
              <a:lnSpc>
                <a:spcPct val="130000"/>
              </a:lnSpc>
            </a:pPr>
            <a:endParaRPr lang="en-US" altLang="zh-CN" sz="2000" dirty="0">
              <a:solidFill>
                <a:srgbClr val="374151"/>
              </a:solidFill>
              <a:latin typeface="_5b8b_4f53"/>
            </a:endParaRPr>
          </a:p>
          <a:p>
            <a:pPr>
              <a:lnSpc>
                <a:spcPct val="130000"/>
              </a:lnSpc>
            </a:pPr>
            <a:r>
              <a:rPr lang="en-US" altLang="zh-CN" sz="2000" b="1" dirty="0" err="1">
                <a:solidFill>
                  <a:srgbClr val="374151"/>
                </a:solidFill>
                <a:latin typeface="_5b8b_4f53"/>
              </a:rPr>
              <a:t>ZenFS</a:t>
            </a:r>
            <a:r>
              <a:rPr lang="zh-CN" altLang="en-US" sz="2000" b="1" dirty="0">
                <a:solidFill>
                  <a:srgbClr val="374151"/>
                </a:solidFill>
                <a:latin typeface="_5b8b_4f53"/>
              </a:rPr>
              <a:t>适应</a:t>
            </a:r>
            <a:r>
              <a:rPr lang="en-US" altLang="zh-CN" sz="2000" b="1" dirty="0">
                <a:solidFill>
                  <a:srgbClr val="374151"/>
                </a:solidFill>
                <a:latin typeface="_5b8b_4f53"/>
              </a:rPr>
              <a:t>ZNS</a:t>
            </a:r>
            <a:r>
              <a:rPr lang="zh-CN" altLang="en-US" sz="2000" b="1" dirty="0">
                <a:solidFill>
                  <a:srgbClr val="374151"/>
                </a:solidFill>
                <a:latin typeface="_5b8b_4f53"/>
              </a:rPr>
              <a:t>： </a:t>
            </a:r>
            <a:r>
              <a:rPr lang="en-US" altLang="zh-CN" sz="2000" dirty="0" err="1">
                <a:solidFill>
                  <a:srgbClr val="374151"/>
                </a:solidFill>
                <a:latin typeface="_5b8b_4f53"/>
              </a:rPr>
              <a:t>ZenFS</a:t>
            </a:r>
            <a:r>
              <a:rPr lang="zh-CN" altLang="en-US" sz="2000" dirty="0">
                <a:solidFill>
                  <a:srgbClr val="374151"/>
                </a:solidFill>
                <a:latin typeface="_5b8b_4f53"/>
              </a:rPr>
              <a:t>是西数开发的存储后端模块。它可以为新生成的 </a:t>
            </a:r>
            <a:r>
              <a:rPr lang="en-US" altLang="zh-CN" sz="2000" dirty="0" err="1">
                <a:solidFill>
                  <a:srgbClr val="374151"/>
                </a:solidFill>
                <a:latin typeface="_5b8b_4f53"/>
              </a:rPr>
              <a:t>SSTable</a:t>
            </a:r>
            <a:r>
              <a:rPr lang="en-US" altLang="zh-CN" sz="2000" dirty="0">
                <a:solidFill>
                  <a:srgbClr val="374151"/>
                </a:solidFill>
                <a:latin typeface="_5b8b_4f53"/>
              </a:rPr>
              <a:t> </a:t>
            </a:r>
            <a:r>
              <a:rPr lang="zh-CN" altLang="en-US" sz="2000" dirty="0">
                <a:solidFill>
                  <a:srgbClr val="374151"/>
                </a:solidFill>
                <a:latin typeface="_5b8b_4f53"/>
              </a:rPr>
              <a:t>分配区域，并从包含无效数据的区域回收可用空间。 </a:t>
            </a:r>
            <a:r>
              <a:rPr lang="en-US" altLang="zh-CN" sz="2000" dirty="0" err="1">
                <a:solidFill>
                  <a:srgbClr val="374151"/>
                </a:solidFill>
                <a:latin typeface="_5b8b_4f53"/>
              </a:rPr>
              <a:t>ZenFS</a:t>
            </a:r>
            <a:r>
              <a:rPr lang="en-US" altLang="zh-CN" sz="2000" dirty="0">
                <a:solidFill>
                  <a:srgbClr val="374151"/>
                </a:solidFill>
                <a:latin typeface="_5b8b_4f53"/>
              </a:rPr>
              <a:t> </a:t>
            </a:r>
            <a:r>
              <a:rPr lang="zh-CN" altLang="en-US" sz="2000" dirty="0">
                <a:solidFill>
                  <a:srgbClr val="374151"/>
                </a:solidFill>
                <a:latin typeface="_5b8b_4f53"/>
              </a:rPr>
              <a:t>采用经验方法（？）将 </a:t>
            </a:r>
            <a:r>
              <a:rPr lang="en-US" altLang="zh-CN" sz="2000" dirty="0" err="1">
                <a:solidFill>
                  <a:srgbClr val="374151"/>
                </a:solidFill>
                <a:latin typeface="_5b8b_4f53"/>
              </a:rPr>
              <a:t>SSTable</a:t>
            </a:r>
            <a:r>
              <a:rPr lang="en-US" altLang="zh-CN" sz="2000" dirty="0">
                <a:solidFill>
                  <a:srgbClr val="374151"/>
                </a:solidFill>
                <a:latin typeface="_5b8b_4f53"/>
              </a:rPr>
              <a:t> </a:t>
            </a:r>
            <a:r>
              <a:rPr lang="zh-CN" altLang="en-US" sz="2000" dirty="0">
                <a:solidFill>
                  <a:srgbClr val="374151"/>
                </a:solidFill>
                <a:latin typeface="_5b8b_4f53"/>
              </a:rPr>
              <a:t>放入区域中，由于区域中的 </a:t>
            </a:r>
            <a:r>
              <a:rPr lang="en-US" altLang="zh-CN" sz="2000" dirty="0" err="1">
                <a:solidFill>
                  <a:srgbClr val="374151"/>
                </a:solidFill>
                <a:latin typeface="_5b8b_4f53"/>
              </a:rPr>
              <a:t>SSTable</a:t>
            </a:r>
            <a:r>
              <a:rPr lang="en-US" altLang="zh-CN" sz="2000" dirty="0">
                <a:solidFill>
                  <a:srgbClr val="374151"/>
                </a:solidFill>
                <a:latin typeface="_5b8b_4f53"/>
              </a:rPr>
              <a:t> </a:t>
            </a:r>
            <a:r>
              <a:rPr lang="zh-CN" altLang="en-US" sz="2000" dirty="0">
                <a:solidFill>
                  <a:srgbClr val="374151"/>
                </a:solidFill>
                <a:latin typeface="_5b8b_4f53"/>
              </a:rPr>
              <a:t>可能具有不同的生命周期，因此区域内会产生许多无效数据。</a:t>
            </a:r>
          </a:p>
        </p:txBody>
      </p:sp>
      <p:sp>
        <p:nvSpPr>
          <p:cNvPr id="7" name="文本框 6">
            <a:extLst>
              <a:ext uri="{FF2B5EF4-FFF2-40B4-BE49-F238E27FC236}">
                <a16:creationId xmlns:a16="http://schemas.microsoft.com/office/drawing/2014/main" id="{9757434B-B39C-7AC1-3051-823A4BC85088}"/>
              </a:ext>
            </a:extLst>
          </p:cNvPr>
          <p:cNvSpPr txBox="1"/>
          <p:nvPr/>
        </p:nvSpPr>
        <p:spPr>
          <a:xfrm>
            <a:off x="385590" y="4576400"/>
            <a:ext cx="2806999" cy="400110"/>
          </a:xfrm>
          <a:prstGeom prst="rect">
            <a:avLst/>
          </a:prstGeom>
          <a:noFill/>
        </p:spPr>
        <p:txBody>
          <a:bodyPr wrap="square">
            <a:spAutoFit/>
          </a:bodyPr>
          <a:lstStyle/>
          <a:p>
            <a:r>
              <a:rPr lang="en-US" altLang="zh-CN" sz="2000" b="1" dirty="0" err="1">
                <a:solidFill>
                  <a:srgbClr val="4747BA"/>
                </a:solidFill>
                <a:ea typeface="+mn-lt"/>
                <a:cs typeface="Times New Roman" panose="02020603050405020304" charset="0"/>
              </a:rPr>
              <a:t>ZoneKV</a:t>
            </a:r>
            <a:r>
              <a:rPr lang="zh-CN" altLang="en-US" sz="2000" b="1" dirty="0">
                <a:solidFill>
                  <a:srgbClr val="4747BA"/>
                </a:solidFill>
                <a:ea typeface="+mn-lt"/>
                <a:cs typeface="Times New Roman" panose="02020603050405020304" charset="0"/>
              </a:rPr>
              <a:t>：</a:t>
            </a:r>
            <a:endParaRPr lang="en-US" altLang="zh-CN" sz="2000" b="1" dirty="0">
              <a:solidFill>
                <a:srgbClr val="4747BA"/>
              </a:solidFill>
              <a:ea typeface="+mn-lt"/>
              <a:cs typeface="Times New Roman" panose="02020603050405020304" charset="0"/>
            </a:endParaRPr>
          </a:p>
        </p:txBody>
      </p:sp>
      <p:sp>
        <p:nvSpPr>
          <p:cNvPr id="15" name="文本框 14">
            <a:extLst>
              <a:ext uri="{FF2B5EF4-FFF2-40B4-BE49-F238E27FC236}">
                <a16:creationId xmlns:a16="http://schemas.microsoft.com/office/drawing/2014/main" id="{74FA0358-211F-4C84-A0AB-F3AAF8AD59EE}"/>
              </a:ext>
            </a:extLst>
          </p:cNvPr>
          <p:cNvSpPr txBox="1"/>
          <p:nvPr/>
        </p:nvSpPr>
        <p:spPr>
          <a:xfrm>
            <a:off x="385590" y="5001312"/>
            <a:ext cx="11330941"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34495E"/>
                </a:solidFill>
                <a:effectLst/>
                <a:latin typeface="Ubuntu" panose="020B0504030602030204" pitchFamily="34" charset="0"/>
              </a:rPr>
              <a:t>ZoneKV采用基于生命周期的区域存储模型和特定级别的区域分配算法，使每个区域中的SSTable具有相似的生命周期</a:t>
            </a:r>
            <a:r>
              <a:rPr lang="zh-CN" altLang="en-US" dirty="0">
                <a:solidFill>
                  <a:srgbClr val="34495E"/>
                </a:solidFill>
                <a:latin typeface="Ubuntu" panose="020B0504030602030204" pitchFamily="34" charset="0"/>
              </a:rPr>
              <a:t>。本文</a:t>
            </a:r>
            <a:r>
              <a:rPr kumimoji="0" lang="zh-CN" altLang="en-US" sz="1800" b="0" i="0" u="none" strike="noStrike" cap="none" normalizeH="0" baseline="0" dirty="0">
                <a:ln>
                  <a:noFill/>
                </a:ln>
                <a:solidFill>
                  <a:srgbClr val="34495E"/>
                </a:solidFill>
                <a:effectLst/>
                <a:latin typeface="Ubuntu" panose="020B0504030602030204" pitchFamily="34" charset="0"/>
              </a:rPr>
              <a:t>贡献：</a:t>
            </a:r>
            <a:r>
              <a:rPr kumimoji="0" lang="zh-CN" altLang="zh-CN" sz="800" b="0" i="0" u="none" strike="noStrike" cap="none" normalizeH="0" baseline="0" dirty="0">
                <a:ln>
                  <a:noFill/>
                </a:ln>
                <a:solidFill>
                  <a:schemeClr val="tx1"/>
                </a:solidFill>
                <a:effectLst/>
              </a:rPr>
              <a:t> </a:t>
            </a: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49839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4C42E-10F4-5ED3-3B5F-98D4CE0CFD56}"/>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D51A506B-621B-19F1-C0B5-853F3F9955B6}"/>
              </a:ext>
            </a:extLst>
          </p:cNvPr>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C320792-7830-48E2-B090-5666E8D0E690}"/>
              </a:ext>
            </a:extLst>
          </p:cNvPr>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13210B2-860D-157F-97C1-BD8694B816DF}"/>
              </a:ext>
            </a:extLst>
          </p:cNvPr>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a:extLst>
              <a:ext uri="{FF2B5EF4-FFF2-40B4-BE49-F238E27FC236}">
                <a16:creationId xmlns:a16="http://schemas.microsoft.com/office/drawing/2014/main" id="{04FB94FE-7A75-B338-DF78-EC0146B17384}"/>
              </a:ext>
            </a:extLst>
          </p:cNvPr>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a:extLst>
              <a:ext uri="{FF2B5EF4-FFF2-40B4-BE49-F238E27FC236}">
                <a16:creationId xmlns:a16="http://schemas.microsoft.com/office/drawing/2014/main" id="{017194FE-5173-1130-5C32-0A2D4672BBC3}"/>
              </a:ext>
            </a:extLst>
          </p:cNvPr>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66E33C7C-231E-4438-897B-C3ABD8160D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a:extLst>
              <a:ext uri="{FF2B5EF4-FFF2-40B4-BE49-F238E27FC236}">
                <a16:creationId xmlns:a16="http://schemas.microsoft.com/office/drawing/2014/main" id="{3CFF1627-F6E7-0DD5-39D6-62C425AED19F}"/>
              </a:ext>
            </a:extLst>
          </p:cNvPr>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a:extLst>
              <a:ext uri="{FF2B5EF4-FFF2-40B4-BE49-F238E27FC236}">
                <a16:creationId xmlns:a16="http://schemas.microsoft.com/office/drawing/2014/main" id="{8586C700-5327-41F3-1FDE-1F18A360E6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01D48FFE-4ABA-FC39-7F38-70ECC3997D2D}"/>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5" name="文本框 24">
            <a:extLst>
              <a:ext uri="{FF2B5EF4-FFF2-40B4-BE49-F238E27FC236}">
                <a16:creationId xmlns:a16="http://schemas.microsoft.com/office/drawing/2014/main" id="{07DC2E9D-2952-D68D-FFCC-6C038511F9C0}"/>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1 Introduction</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文本框 1">
            <a:extLst>
              <a:ext uri="{FF2B5EF4-FFF2-40B4-BE49-F238E27FC236}">
                <a16:creationId xmlns:a16="http://schemas.microsoft.com/office/drawing/2014/main" id="{2BE663FA-0FFA-99BE-3C5F-3074FE233E7E}"/>
              </a:ext>
            </a:extLst>
          </p:cNvPr>
          <p:cNvSpPr txBox="1"/>
          <p:nvPr/>
        </p:nvSpPr>
        <p:spPr>
          <a:xfrm>
            <a:off x="385590" y="1428452"/>
            <a:ext cx="10727252" cy="40010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zh-CN" sz="1800" b="0" i="0" u="none" strike="noStrike" cap="none" normalizeH="0" baseline="0" dirty="0">
                <a:ln>
                  <a:noFill/>
                </a:ln>
                <a:solidFill>
                  <a:srgbClr val="34495E"/>
                </a:solidFill>
                <a:effectLst/>
                <a:latin typeface="Ubuntu" panose="020B0504030602030204" pitchFamily="34" charset="0"/>
              </a:rPr>
              <a:t> </a:t>
            </a:r>
            <a:r>
              <a:rPr kumimoji="0" lang="zh-CN" altLang="zh-CN" sz="1800" b="0" i="0" u="none" strike="noStrike" cap="none" normalizeH="0" baseline="0" dirty="0">
                <a:ln>
                  <a:noFill/>
                </a:ln>
                <a:solidFill>
                  <a:srgbClr val="34495E"/>
                </a:solidFill>
                <a:effectLst/>
                <a:latin typeface="Ubuntu" panose="020B0504030602030204" pitchFamily="34" charset="0"/>
              </a:rPr>
              <a:t>为了解决ZNS SSD上LSM-tree的空间放大问题，ZoneKV提出了一种基于生命周期的区域存储模型，在一个区域中维护具有相似生命周期的SSTable，以减少空间放大并提高空间效率。</a:t>
            </a: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zh-CN"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zh-CN" sz="1800" b="0" i="0" u="none" strike="noStrike" cap="none" normalizeH="0" baseline="0" dirty="0">
                <a:ln>
                  <a:noFill/>
                </a:ln>
                <a:solidFill>
                  <a:srgbClr val="34495E"/>
                </a:solidFill>
                <a:effectLst/>
                <a:latin typeface="Ubuntu" panose="020B0504030602030204" pitchFamily="34" charset="0"/>
              </a:rPr>
              <a:t> </a:t>
            </a:r>
            <a:r>
              <a:rPr kumimoji="0" lang="zh-CN" altLang="zh-CN" sz="1800" b="0" i="0" u="none" strike="noStrike" cap="none" normalizeH="0" baseline="0" dirty="0">
                <a:ln>
                  <a:noFill/>
                </a:ln>
                <a:solidFill>
                  <a:srgbClr val="34495E"/>
                </a:solidFill>
                <a:effectLst/>
                <a:latin typeface="Ubuntu" panose="020B0504030602030204" pitchFamily="34" charset="0"/>
              </a:rPr>
              <a:t>ZoneKV提出了一种特定于级别的区域分配算法来组织ZNS SSD中LSM树的级别。特别是，ZoneKV 将 L 0 和 L 1 放在一个区域中，因为这两个级别中的 SSTable 具有相似的生命周期。另外，ZoneKV将L i ( i ≥ 2)中的所有SSTable水平划分为切片，不同的切片存储在不同的zone中，使得每个zone的SSTable具有相同的生命周期。</a:t>
            </a:r>
            <a:endParaRPr kumimoji="0" lang="en-US"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zh-CN" altLang="zh-CN" sz="1800" b="0" i="0" u="none" strike="noStrike" cap="none" normalizeH="0" baseline="0" dirty="0">
              <a:ln>
                <a:noFill/>
              </a:ln>
              <a:solidFill>
                <a:srgbClr val="34495E"/>
              </a:solidFill>
              <a:effectLst/>
              <a:latin typeface="Ubuntu" panose="020B0504030602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zh-CN" sz="1800" b="0" i="0" u="none" strike="noStrike" cap="none" normalizeH="0" baseline="0" dirty="0">
                <a:ln>
                  <a:noFill/>
                </a:ln>
                <a:solidFill>
                  <a:srgbClr val="34495E"/>
                </a:solidFill>
                <a:effectLst/>
                <a:latin typeface="Ubuntu" panose="020B0504030602030204" pitchFamily="34" charset="0"/>
              </a:rPr>
              <a:t> </a:t>
            </a:r>
            <a:r>
              <a:rPr kumimoji="0" lang="zh-CN" altLang="zh-CN" sz="1800" b="0" i="0" u="none" strike="noStrike" cap="none" normalizeH="0" baseline="0" dirty="0">
                <a:ln>
                  <a:noFill/>
                </a:ln>
                <a:solidFill>
                  <a:srgbClr val="34495E"/>
                </a:solidFill>
                <a:effectLst/>
                <a:latin typeface="Ubuntu" panose="020B0504030602030204" pitchFamily="34" charset="0"/>
              </a:rPr>
              <a:t>我们将 ZoneKV 与 RocksDB 以及真实 ZNS SSD 上最先进的系统 ZenFS 进行比较。与RocksDB相比，ZoneKV可以减轻约50%-60%的空间放大，与ZenFS相比，这一改进约为40%-50%。此外，ZoneKV 实现了最高的吞吐量。</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49260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2C4D-6359-6E65-A695-78F744131D98}"/>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3A842122-F6A3-DB31-2373-046B3B397E0D}"/>
              </a:ext>
            </a:extLst>
          </p:cNvPr>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EC4ABAE0-A8B9-5F68-CB5D-11CBB12AE5F5}"/>
              </a:ext>
            </a:extLst>
          </p:cNvPr>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1E3982EE-00FE-98F6-3D0D-1AF5AD2AC13C}"/>
              </a:ext>
            </a:extLst>
          </p:cNvPr>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a:extLst>
              <a:ext uri="{FF2B5EF4-FFF2-40B4-BE49-F238E27FC236}">
                <a16:creationId xmlns:a16="http://schemas.microsoft.com/office/drawing/2014/main" id="{64E4B705-DDF8-BAEB-2D16-4D5E405B4097}"/>
              </a:ext>
            </a:extLst>
          </p:cNvPr>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a:extLst>
              <a:ext uri="{FF2B5EF4-FFF2-40B4-BE49-F238E27FC236}">
                <a16:creationId xmlns:a16="http://schemas.microsoft.com/office/drawing/2014/main" id="{576CD009-9E06-71D5-796C-E7F2677BB612}"/>
              </a:ext>
            </a:extLst>
          </p:cNvPr>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D39DBC95-90B7-CC4A-0674-5E4BE18FAF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a:extLst>
              <a:ext uri="{FF2B5EF4-FFF2-40B4-BE49-F238E27FC236}">
                <a16:creationId xmlns:a16="http://schemas.microsoft.com/office/drawing/2014/main" id="{A825C38F-4064-D66C-7E83-641C6E6CDDDF}"/>
              </a:ext>
            </a:extLst>
          </p:cNvPr>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a:extLst>
              <a:ext uri="{FF2B5EF4-FFF2-40B4-BE49-F238E27FC236}">
                <a16:creationId xmlns:a16="http://schemas.microsoft.com/office/drawing/2014/main" id="{B92E1150-CC3D-3FD6-BE1F-548EE10BA2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41A6F760-2380-4D3B-4121-FC89E5F5F0A2}"/>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3EA2BDBB-DB9F-4471-06D2-4AE13860A54A}"/>
              </a:ext>
            </a:extLst>
          </p:cNvPr>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7" name="文本框 6">
            <a:extLst>
              <a:ext uri="{FF2B5EF4-FFF2-40B4-BE49-F238E27FC236}">
                <a16:creationId xmlns:a16="http://schemas.microsoft.com/office/drawing/2014/main" id="{DB862D24-4C70-B858-E53B-DC9360DFCBF6}"/>
              </a:ext>
            </a:extLst>
          </p:cNvPr>
          <p:cNvSpPr txBox="1"/>
          <p:nvPr/>
        </p:nvSpPr>
        <p:spPr>
          <a:xfrm>
            <a:off x="440055" y="4344766"/>
            <a:ext cx="10852786" cy="1711366"/>
          </a:xfrm>
          <a:prstGeom prst="rect">
            <a:avLst/>
          </a:prstGeom>
          <a:noFill/>
        </p:spPr>
        <p:txBody>
          <a:bodyPr wrap="square">
            <a:spAutoFit/>
          </a:bodyPr>
          <a:lstStyle/>
          <a:p>
            <a:pPr algn="l">
              <a:lnSpc>
                <a:spcPct val="150000"/>
              </a:lnSpc>
            </a:pPr>
            <a:r>
              <a:rPr lang="zh-CN" altLang="en-US" dirty="0">
                <a:solidFill>
                  <a:srgbClr val="374151"/>
                </a:solidFill>
                <a:latin typeface="_5b8b_4f53"/>
              </a:rPr>
              <a:t>三、性能优化和数据放置策略：</a:t>
            </a:r>
            <a:endParaRPr lang="en-US" altLang="zh-CN" dirty="0">
              <a:solidFill>
                <a:srgbClr val="374151"/>
              </a:solidFill>
              <a:latin typeface="_5b8b_4f53"/>
            </a:endParaRPr>
          </a:p>
          <a:p>
            <a:pPr>
              <a:lnSpc>
                <a:spcPct val="150000"/>
              </a:lnSpc>
            </a:pPr>
            <a:r>
              <a:rPr lang="zh-CN" altLang="en-US" dirty="0">
                <a:solidFill>
                  <a:srgbClr val="374151"/>
                </a:solidFill>
                <a:latin typeface="_5b8b_4f53"/>
              </a:rPr>
              <a:t>进一步地，根据所得实验数据，</a:t>
            </a:r>
            <a:r>
              <a:rPr lang="zh-CN" altLang="zh-CN" dirty="0">
                <a:solidFill>
                  <a:srgbClr val="374151"/>
                </a:solidFill>
                <a:latin typeface="_5b8b_4f53"/>
              </a:rPr>
              <a:t>探索适用于</a:t>
            </a:r>
            <a:r>
              <a:rPr lang="en-US" altLang="zh-CN" dirty="0">
                <a:solidFill>
                  <a:srgbClr val="374151"/>
                </a:solidFill>
                <a:latin typeface="_5b8b_4f53"/>
              </a:rPr>
              <a:t>ZNS SSD</a:t>
            </a:r>
            <a:r>
              <a:rPr lang="zh-CN" altLang="zh-CN" dirty="0">
                <a:solidFill>
                  <a:srgbClr val="374151"/>
                </a:solidFill>
                <a:latin typeface="_5b8b_4f53"/>
              </a:rPr>
              <a:t>的数据管理机制，利用</a:t>
            </a:r>
            <a:r>
              <a:rPr lang="en-US" altLang="zh-CN" dirty="0">
                <a:solidFill>
                  <a:srgbClr val="374151"/>
                </a:solidFill>
                <a:latin typeface="_5b8b_4f53"/>
              </a:rPr>
              <a:t>ZNS</a:t>
            </a:r>
            <a:r>
              <a:rPr lang="zh-CN" altLang="zh-CN" dirty="0">
                <a:solidFill>
                  <a:srgbClr val="374151"/>
                </a:solidFill>
                <a:latin typeface="_5b8b_4f53"/>
              </a:rPr>
              <a:t>的区块信息可见性的优势，可能有效的优化例如：利用硬件的区域状态信息优化数据放置策略，优化缓存策略或垃圾回收算法等。</a:t>
            </a:r>
          </a:p>
          <a:p>
            <a:pPr algn="l">
              <a:lnSpc>
                <a:spcPct val="150000"/>
              </a:lnSpc>
            </a:pPr>
            <a:endParaRPr lang="zh-CN" altLang="en-US" dirty="0">
              <a:solidFill>
                <a:srgbClr val="374151"/>
              </a:solidFill>
              <a:latin typeface="_5b8b_4f53"/>
            </a:endParaRPr>
          </a:p>
        </p:txBody>
      </p:sp>
      <p:sp>
        <p:nvSpPr>
          <p:cNvPr id="9" name="文本框 8">
            <a:extLst>
              <a:ext uri="{FF2B5EF4-FFF2-40B4-BE49-F238E27FC236}">
                <a16:creationId xmlns:a16="http://schemas.microsoft.com/office/drawing/2014/main" id="{D4E6F7F0-A216-1C37-8655-1CFCD95488F1}"/>
              </a:ext>
            </a:extLst>
          </p:cNvPr>
          <p:cNvSpPr txBox="1"/>
          <p:nvPr/>
        </p:nvSpPr>
        <p:spPr>
          <a:xfrm>
            <a:off x="440055" y="1349747"/>
            <a:ext cx="6274781" cy="369332"/>
          </a:xfrm>
          <a:prstGeom prst="rect">
            <a:avLst/>
          </a:prstGeom>
          <a:noFill/>
        </p:spPr>
        <p:txBody>
          <a:bodyPr wrap="square">
            <a:spAutoFit/>
          </a:bodyPr>
          <a:lstStyle/>
          <a:p>
            <a:r>
              <a:rPr lang="zh-CN" altLang="en-US" dirty="0">
                <a:solidFill>
                  <a:srgbClr val="374151"/>
                </a:solidFill>
                <a:latin typeface="_5b8b_4f53"/>
              </a:rPr>
              <a:t>一、实验环境搭建</a:t>
            </a:r>
            <a:r>
              <a:rPr lang="en-US" altLang="zh-CN" dirty="0">
                <a:solidFill>
                  <a:srgbClr val="374151"/>
                </a:solidFill>
                <a:latin typeface="_5b8b_4f53"/>
              </a:rPr>
              <a:t>: </a:t>
            </a:r>
            <a:r>
              <a:rPr lang="zh-CN" altLang="en-US" dirty="0">
                <a:solidFill>
                  <a:srgbClr val="374151"/>
                </a:solidFill>
                <a:latin typeface="_5b8b_4f53"/>
              </a:rPr>
              <a:t>搭建模拟环境，配置真实测试环境。</a:t>
            </a:r>
          </a:p>
        </p:txBody>
      </p:sp>
      <p:sp>
        <p:nvSpPr>
          <p:cNvPr id="8" name="文本框 7">
            <a:extLst>
              <a:ext uri="{FF2B5EF4-FFF2-40B4-BE49-F238E27FC236}">
                <a16:creationId xmlns:a16="http://schemas.microsoft.com/office/drawing/2014/main" id="{48A56D66-FF56-FAF9-9FAB-82C42BB4E738}"/>
              </a:ext>
            </a:extLst>
          </p:cNvPr>
          <p:cNvSpPr txBox="1"/>
          <p:nvPr/>
        </p:nvSpPr>
        <p:spPr>
          <a:xfrm>
            <a:off x="440055" y="2005188"/>
            <a:ext cx="9850120" cy="2122376"/>
          </a:xfrm>
          <a:prstGeom prst="rect">
            <a:avLst/>
          </a:prstGeom>
          <a:noFill/>
        </p:spPr>
        <p:txBody>
          <a:bodyPr wrap="square">
            <a:spAutoFit/>
          </a:bodyPr>
          <a:lstStyle/>
          <a:p>
            <a:pPr>
              <a:lnSpc>
                <a:spcPct val="150000"/>
              </a:lnSpc>
            </a:pPr>
            <a:r>
              <a:rPr lang="zh-CN" altLang="en-US" dirty="0">
                <a:solidFill>
                  <a:srgbClr val="374151"/>
                </a:solidFill>
                <a:latin typeface="_5b8b_4f53"/>
              </a:rPr>
              <a:t>二、</a:t>
            </a:r>
            <a:r>
              <a:rPr lang="zh-CN" altLang="zh-CN" dirty="0">
                <a:solidFill>
                  <a:srgbClr val="374151"/>
                </a:solidFill>
                <a:latin typeface="_5b8b_4f53"/>
              </a:rPr>
              <a:t>分别基于模拟平台和真实设备进行评估测试</a:t>
            </a:r>
            <a:r>
              <a:rPr lang="zh-CN" altLang="en-US" dirty="0">
                <a:solidFill>
                  <a:srgbClr val="374151"/>
                </a:solidFill>
                <a:latin typeface="_5b8b_4f53"/>
              </a:rPr>
              <a:t>：</a:t>
            </a:r>
            <a:endParaRPr lang="en-US" altLang="zh-CN" dirty="0">
              <a:solidFill>
                <a:srgbClr val="374151"/>
              </a:solidFill>
              <a:latin typeface="_5b8b_4f53"/>
            </a:endParaRPr>
          </a:p>
          <a:p>
            <a:pPr algn="l">
              <a:lnSpc>
                <a:spcPct val="150000"/>
              </a:lnSpc>
              <a:buFont typeface="Arial" panose="020B0604020202020204" pitchFamily="34" charset="0"/>
              <a:buChar char="•"/>
            </a:pPr>
            <a:r>
              <a:rPr lang="zh-CN" altLang="en-US" dirty="0">
                <a:solidFill>
                  <a:srgbClr val="374151"/>
                </a:solidFill>
                <a:latin typeface="_5b8b_4f53"/>
              </a:rPr>
              <a:t>  系统级测试</a:t>
            </a:r>
            <a:r>
              <a:rPr lang="en-US" altLang="zh-CN" dirty="0">
                <a:solidFill>
                  <a:srgbClr val="374151"/>
                </a:solidFill>
                <a:latin typeface="_5b8b_4f53"/>
              </a:rPr>
              <a:t>: </a:t>
            </a:r>
            <a:r>
              <a:rPr lang="zh-CN" altLang="en-US" dirty="0">
                <a:solidFill>
                  <a:srgbClr val="374151"/>
                </a:solidFill>
                <a:latin typeface="_5b8b_4f53"/>
              </a:rPr>
              <a:t>利用</a:t>
            </a:r>
            <a:r>
              <a:rPr lang="en-US" altLang="zh-CN" dirty="0">
                <a:solidFill>
                  <a:srgbClr val="374151"/>
                </a:solidFill>
                <a:latin typeface="_5b8b_4f53"/>
              </a:rPr>
              <a:t>Linux</a:t>
            </a:r>
            <a:r>
              <a:rPr lang="zh-CN" altLang="en-US" dirty="0">
                <a:solidFill>
                  <a:srgbClr val="374151"/>
                </a:solidFill>
                <a:latin typeface="_5b8b_4f53"/>
              </a:rPr>
              <a:t>下系统工具如</a:t>
            </a:r>
            <a:r>
              <a:rPr lang="en-US" altLang="zh-CN" dirty="0" err="1">
                <a:solidFill>
                  <a:srgbClr val="374151"/>
                </a:solidFill>
                <a:latin typeface="_5b8b_4f53"/>
              </a:rPr>
              <a:t>fio</a:t>
            </a:r>
            <a:r>
              <a:rPr lang="zh-CN" altLang="en-US" dirty="0">
                <a:solidFill>
                  <a:srgbClr val="374151"/>
                </a:solidFill>
                <a:latin typeface="_5b8b_4f53"/>
              </a:rPr>
              <a:t>、</a:t>
            </a:r>
            <a:r>
              <a:rPr lang="en-US" altLang="zh-CN" dirty="0" err="1">
                <a:solidFill>
                  <a:srgbClr val="374151"/>
                </a:solidFill>
                <a:latin typeface="_5b8b_4f53"/>
              </a:rPr>
              <a:t>nvme</a:t>
            </a:r>
            <a:r>
              <a:rPr lang="en-US" altLang="zh-CN" dirty="0">
                <a:solidFill>
                  <a:srgbClr val="374151"/>
                </a:solidFill>
                <a:latin typeface="_5b8b_4f53"/>
              </a:rPr>
              <a:t>-cli</a:t>
            </a:r>
            <a:r>
              <a:rPr lang="zh-CN" altLang="en-US" dirty="0">
                <a:solidFill>
                  <a:srgbClr val="374151"/>
                </a:solidFill>
                <a:latin typeface="_5b8b_4f53"/>
              </a:rPr>
              <a:t>测试，主要关注设备本身硬件性能。</a:t>
            </a:r>
          </a:p>
          <a:p>
            <a:pPr algn="l">
              <a:lnSpc>
                <a:spcPct val="150000"/>
              </a:lnSpc>
              <a:buFont typeface="Arial" panose="020B0604020202020204" pitchFamily="34" charset="0"/>
              <a:buChar char="•"/>
            </a:pPr>
            <a:r>
              <a:rPr lang="zh-CN" altLang="en-US" dirty="0">
                <a:solidFill>
                  <a:srgbClr val="374151"/>
                </a:solidFill>
                <a:latin typeface="_5b8b_4f53"/>
              </a:rPr>
              <a:t>  端到端应用测试</a:t>
            </a:r>
            <a:r>
              <a:rPr lang="en-US" altLang="zh-CN" dirty="0">
                <a:solidFill>
                  <a:srgbClr val="374151"/>
                </a:solidFill>
                <a:latin typeface="_5b8b_4f53"/>
              </a:rPr>
              <a:t>: </a:t>
            </a:r>
            <a:r>
              <a:rPr lang="zh-CN" altLang="en-US" dirty="0">
                <a:solidFill>
                  <a:srgbClr val="374151"/>
                </a:solidFill>
                <a:latin typeface="_5b8b_4f53"/>
              </a:rPr>
              <a:t>部署应用（如</a:t>
            </a:r>
            <a:r>
              <a:rPr lang="en-US" altLang="zh-CN" dirty="0" err="1">
                <a:solidFill>
                  <a:srgbClr val="374151"/>
                </a:solidFill>
                <a:latin typeface="_5b8b_4f53"/>
              </a:rPr>
              <a:t>RocksDB</a:t>
            </a:r>
            <a:r>
              <a:rPr lang="en-US" altLang="zh-CN" dirty="0">
                <a:solidFill>
                  <a:srgbClr val="374151"/>
                </a:solidFill>
                <a:latin typeface="_5b8b_4f53"/>
              </a:rPr>
              <a:t> with </a:t>
            </a:r>
            <a:r>
              <a:rPr lang="en-US" altLang="zh-CN" dirty="0" err="1">
                <a:solidFill>
                  <a:srgbClr val="374151"/>
                </a:solidFill>
                <a:latin typeface="_5b8b_4f53"/>
              </a:rPr>
              <a:t>ZenFS</a:t>
            </a:r>
            <a:r>
              <a:rPr lang="en-US" altLang="zh-CN" dirty="0">
                <a:solidFill>
                  <a:srgbClr val="374151"/>
                </a:solidFill>
                <a:latin typeface="_5b8b_4f53"/>
              </a:rPr>
              <a:t> </a:t>
            </a:r>
            <a:r>
              <a:rPr lang="zh-CN" altLang="en-US" dirty="0">
                <a:solidFill>
                  <a:srgbClr val="374151"/>
                </a:solidFill>
                <a:latin typeface="_5b8b_4f53"/>
              </a:rPr>
              <a:t>）设计实验，分析性能表现。具体包括但不限于：</a:t>
            </a:r>
            <a:r>
              <a:rPr lang="zh-CN" altLang="zh-CN" dirty="0">
                <a:solidFill>
                  <a:srgbClr val="374151"/>
                </a:solidFill>
                <a:latin typeface="_5b8b_4f53"/>
              </a:rPr>
              <a:t>写入、更新性能</a:t>
            </a:r>
            <a:r>
              <a:rPr lang="zh-CN" altLang="en-US" dirty="0">
                <a:solidFill>
                  <a:srgbClr val="374151"/>
                </a:solidFill>
                <a:latin typeface="_5b8b_4f53"/>
              </a:rPr>
              <a:t>，</a:t>
            </a:r>
            <a:r>
              <a:rPr lang="zh-CN" altLang="zh-CN" dirty="0">
                <a:solidFill>
                  <a:srgbClr val="374151"/>
                </a:solidFill>
                <a:latin typeface="_5b8b_4f53"/>
              </a:rPr>
              <a:t>读性能</a:t>
            </a:r>
            <a:r>
              <a:rPr lang="zh-CN" altLang="en-US" dirty="0">
                <a:solidFill>
                  <a:srgbClr val="374151"/>
                </a:solidFill>
                <a:latin typeface="_5b8b_4f53"/>
              </a:rPr>
              <a:t>，</a:t>
            </a:r>
            <a:r>
              <a:rPr lang="zh-CN" altLang="zh-CN" dirty="0">
                <a:solidFill>
                  <a:srgbClr val="374151"/>
                </a:solidFill>
                <a:latin typeface="_5b8b_4f53"/>
              </a:rPr>
              <a:t>简单的并发测试多线程读、多线程写性能</a:t>
            </a:r>
            <a:r>
              <a:rPr lang="zh-CN" altLang="en-US" dirty="0">
                <a:solidFill>
                  <a:srgbClr val="374151"/>
                </a:solidFill>
                <a:latin typeface="_5b8b_4f53"/>
              </a:rPr>
              <a:t>，</a:t>
            </a:r>
            <a:r>
              <a:rPr lang="zh-CN" altLang="zh-CN" dirty="0">
                <a:solidFill>
                  <a:srgbClr val="374151"/>
                </a:solidFill>
                <a:latin typeface="_5b8b_4f53"/>
              </a:rPr>
              <a:t>不同比例的读写混合负载下的表现。</a:t>
            </a:r>
            <a:endParaRPr lang="zh-CN" altLang="en-US" dirty="0">
              <a:solidFill>
                <a:srgbClr val="374151"/>
              </a:solidFill>
              <a:latin typeface="_5b8b_4f53"/>
            </a:endParaRPr>
          </a:p>
        </p:txBody>
      </p:sp>
      <p:sp>
        <p:nvSpPr>
          <p:cNvPr id="15" name="文本框 14">
            <a:extLst>
              <a:ext uri="{FF2B5EF4-FFF2-40B4-BE49-F238E27FC236}">
                <a16:creationId xmlns:a16="http://schemas.microsoft.com/office/drawing/2014/main" id="{B790E075-4835-B9E7-5A45-417B95DE7D3F}"/>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技术方案</a:t>
            </a:r>
          </a:p>
        </p:txBody>
      </p:sp>
    </p:spTree>
    <p:extLst>
      <p:ext uri="{BB962C8B-B14F-4D97-AF65-F5344CB8AC3E}">
        <p14:creationId xmlns:p14="http://schemas.microsoft.com/office/powerpoint/2010/main" val="25127365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391F-AC39-9E5E-F0FC-F9D270F86353}"/>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402C4039-76AE-8EDA-EA48-C04A020B82F9}"/>
              </a:ext>
            </a:extLst>
          </p:cNvPr>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0219BAAD-9360-2457-2569-8DFCF0185E51}"/>
              </a:ext>
            </a:extLst>
          </p:cNvPr>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6AFB8D92-4F2C-CFB4-3840-BF8B42C0A898}"/>
              </a:ext>
            </a:extLst>
          </p:cNvPr>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a:extLst>
              <a:ext uri="{FF2B5EF4-FFF2-40B4-BE49-F238E27FC236}">
                <a16:creationId xmlns:a16="http://schemas.microsoft.com/office/drawing/2014/main" id="{4563E3D6-9E92-01D7-3463-B66078B04F37}"/>
              </a:ext>
            </a:extLst>
          </p:cNvPr>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a:extLst>
              <a:ext uri="{FF2B5EF4-FFF2-40B4-BE49-F238E27FC236}">
                <a16:creationId xmlns:a16="http://schemas.microsoft.com/office/drawing/2014/main" id="{75C1444D-9598-6827-89FD-5A219F5C36A3}"/>
              </a:ext>
            </a:extLst>
          </p:cNvPr>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FE71565E-76F1-B7A6-61A1-44E4DC9DEA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a:extLst>
              <a:ext uri="{FF2B5EF4-FFF2-40B4-BE49-F238E27FC236}">
                <a16:creationId xmlns:a16="http://schemas.microsoft.com/office/drawing/2014/main" id="{193D6FC4-86AB-C582-8F49-0CEF24541030}"/>
              </a:ext>
            </a:extLst>
          </p:cNvPr>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a:extLst>
              <a:ext uri="{FF2B5EF4-FFF2-40B4-BE49-F238E27FC236}">
                <a16:creationId xmlns:a16="http://schemas.microsoft.com/office/drawing/2014/main" id="{4BF04413-D815-B732-46A7-744AD6590C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a:extLst>
              <a:ext uri="{FF2B5EF4-FFF2-40B4-BE49-F238E27FC236}">
                <a16:creationId xmlns:a16="http://schemas.microsoft.com/office/drawing/2014/main" id="{02FACA27-EEEB-EFCC-8E26-04E49EF584D7}"/>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F4FA06A1-9955-9FA1-8138-2E26E0CC3AED}"/>
              </a:ext>
            </a:extLst>
          </p:cNvPr>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3" name="文本框 2">
            <a:extLst>
              <a:ext uri="{FF2B5EF4-FFF2-40B4-BE49-F238E27FC236}">
                <a16:creationId xmlns:a16="http://schemas.microsoft.com/office/drawing/2014/main" id="{70C6BDAB-7624-388F-B27E-26A86A6995AE}"/>
              </a:ext>
            </a:extLst>
          </p:cNvPr>
          <p:cNvSpPr txBox="1"/>
          <p:nvPr/>
        </p:nvSpPr>
        <p:spPr>
          <a:xfrm>
            <a:off x="440055" y="1176360"/>
            <a:ext cx="10768965" cy="1311834"/>
          </a:xfrm>
          <a:prstGeom prst="rect">
            <a:avLst/>
          </a:prstGeom>
          <a:noFill/>
        </p:spPr>
        <p:txBody>
          <a:bodyPr wrap="square">
            <a:spAutoFit/>
          </a:bodyPr>
          <a:lstStyle/>
          <a:p>
            <a:pPr indent="0" algn="just">
              <a:spcAft>
                <a:spcPts val="1200"/>
              </a:spcAft>
              <a:buFont typeface="Arial" panose="020B0604020202020204" pitchFamily="34" charset="0"/>
              <a:buNone/>
            </a:pPr>
            <a:r>
              <a:rPr lang="zh-CN" altLang="en-US" b="1" dirty="0">
                <a:solidFill>
                  <a:srgbClr val="4747BA"/>
                </a:solidFill>
                <a:ea typeface="+mn-lt"/>
                <a:cs typeface="Times New Roman" panose="02020603050405020304" charset="0"/>
              </a:rPr>
              <a:t>与现有的工作相比：</a:t>
            </a:r>
            <a:endParaRPr lang="en-US" altLang="zh-CN" b="1" dirty="0">
              <a:solidFill>
                <a:srgbClr val="4747BA"/>
              </a:solidFill>
              <a:ea typeface="+mn-lt"/>
              <a:cs typeface="Times New Roman" panose="02020603050405020304" charset="0"/>
            </a:endParaRPr>
          </a:p>
          <a:p>
            <a:pPr>
              <a:lnSpc>
                <a:spcPct val="150000"/>
              </a:lnSpc>
              <a:spcAft>
                <a:spcPts val="1200"/>
              </a:spcAft>
            </a:pPr>
            <a:r>
              <a:rPr lang="zh-CN" altLang="zh-CN" dirty="0">
                <a:solidFill>
                  <a:srgbClr val="374151"/>
                </a:solidFill>
                <a:latin typeface="_5b8b_4f53"/>
              </a:rPr>
              <a:t>相较于在</a:t>
            </a:r>
            <a:r>
              <a:rPr lang="en-US" altLang="zh-CN" dirty="0">
                <a:solidFill>
                  <a:srgbClr val="374151"/>
                </a:solidFill>
                <a:latin typeface="_5b8b_4f53"/>
              </a:rPr>
              <a:t>QEMU</a:t>
            </a:r>
            <a:r>
              <a:rPr lang="zh-CN" altLang="zh-CN" dirty="0">
                <a:solidFill>
                  <a:srgbClr val="374151"/>
                </a:solidFill>
                <a:latin typeface="_5b8b_4f53"/>
              </a:rPr>
              <a:t>、</a:t>
            </a:r>
            <a:r>
              <a:rPr lang="en-US" altLang="zh-CN" dirty="0">
                <a:solidFill>
                  <a:srgbClr val="374151"/>
                </a:solidFill>
                <a:latin typeface="_5b8b_4f53"/>
              </a:rPr>
              <a:t>FEMU</a:t>
            </a:r>
            <a:r>
              <a:rPr lang="zh-CN" altLang="zh-CN" dirty="0">
                <a:solidFill>
                  <a:srgbClr val="374151"/>
                </a:solidFill>
                <a:latin typeface="_5b8b_4f53"/>
              </a:rPr>
              <a:t>等模拟器上</a:t>
            </a:r>
            <a:r>
              <a:rPr lang="zh-CN" altLang="en-US" dirty="0">
                <a:solidFill>
                  <a:srgbClr val="374151"/>
                </a:solidFill>
                <a:latin typeface="_5b8b_4f53"/>
              </a:rPr>
              <a:t>的研究</a:t>
            </a:r>
            <a:r>
              <a:rPr lang="zh-CN" altLang="zh-CN" dirty="0">
                <a:solidFill>
                  <a:srgbClr val="374151"/>
                </a:solidFill>
                <a:latin typeface="_5b8b_4f53"/>
              </a:rPr>
              <a:t>，</a:t>
            </a:r>
            <a:r>
              <a:rPr lang="zh-CN" altLang="en-US" dirty="0">
                <a:solidFill>
                  <a:srgbClr val="374151"/>
                </a:solidFill>
                <a:latin typeface="_5b8b_4f53"/>
              </a:rPr>
              <a:t>一方面，我们使用的模拟器是最新的，基于内核实现的；另一方面，能展示</a:t>
            </a:r>
            <a:r>
              <a:rPr lang="en-US" altLang="zh-CN" dirty="0">
                <a:solidFill>
                  <a:srgbClr val="374151"/>
                </a:solidFill>
                <a:latin typeface="_5b8b_4f53"/>
              </a:rPr>
              <a:t>ZNS SSD</a:t>
            </a:r>
            <a:r>
              <a:rPr lang="zh-CN" altLang="zh-CN" dirty="0">
                <a:solidFill>
                  <a:srgbClr val="374151"/>
                </a:solidFill>
                <a:latin typeface="_5b8b_4f53"/>
              </a:rPr>
              <a:t>在不同的真实场景下的性能表现</a:t>
            </a:r>
            <a:r>
              <a:rPr lang="zh-CN" altLang="en-US" dirty="0">
                <a:solidFill>
                  <a:srgbClr val="374151"/>
                </a:solidFill>
                <a:latin typeface="_5b8b_4f53"/>
              </a:rPr>
              <a:t>，尤其是延迟等参数上区别会较明显。</a:t>
            </a:r>
            <a:endParaRPr lang="en-US" altLang="zh-CN" dirty="0">
              <a:solidFill>
                <a:srgbClr val="374151"/>
              </a:solidFill>
              <a:latin typeface="_5b8b_4f53"/>
            </a:endParaRPr>
          </a:p>
        </p:txBody>
      </p:sp>
      <p:sp>
        <p:nvSpPr>
          <p:cNvPr id="12" name="文本框 11">
            <a:extLst>
              <a:ext uri="{FF2B5EF4-FFF2-40B4-BE49-F238E27FC236}">
                <a16:creationId xmlns:a16="http://schemas.microsoft.com/office/drawing/2014/main" id="{28E81CFD-99D8-77F4-C67C-379EE5AB5A55}"/>
              </a:ext>
            </a:extLst>
          </p:cNvPr>
          <p:cNvSpPr txBox="1"/>
          <p:nvPr/>
        </p:nvSpPr>
        <p:spPr>
          <a:xfrm>
            <a:off x="440055" y="2757274"/>
            <a:ext cx="10090785" cy="1711944"/>
          </a:xfrm>
          <a:prstGeom prst="rect">
            <a:avLst/>
          </a:prstGeom>
          <a:noFill/>
        </p:spPr>
        <p:txBody>
          <a:bodyPr wrap="square">
            <a:spAutoFit/>
          </a:bodyPr>
          <a:lstStyle/>
          <a:p>
            <a:pPr>
              <a:lnSpc>
                <a:spcPct val="150000"/>
              </a:lnSpc>
              <a:spcAft>
                <a:spcPts val="1200"/>
              </a:spcAft>
            </a:pPr>
            <a:r>
              <a:rPr lang="zh-CN" altLang="en-US" dirty="0">
                <a:solidFill>
                  <a:srgbClr val="374151"/>
                </a:solidFill>
                <a:latin typeface="_5b8b_4f53"/>
              </a:rPr>
              <a:t>相较于西数已有的基于真实设备（</a:t>
            </a:r>
            <a:r>
              <a:rPr lang="en-US" altLang="zh-CN" dirty="0">
                <a:solidFill>
                  <a:srgbClr val="374151"/>
                </a:solidFill>
                <a:latin typeface="_5b8b_4f53"/>
              </a:rPr>
              <a:t>ZN540</a:t>
            </a:r>
            <a:r>
              <a:rPr lang="zh-CN" altLang="en-US" dirty="0">
                <a:solidFill>
                  <a:srgbClr val="374151"/>
                </a:solidFill>
                <a:latin typeface="_5b8b_4f53"/>
              </a:rPr>
              <a:t>）的工作，首先西数更关注于硬盘内部的硬件级设计规划。另外我们使用浪潮提供的最新</a:t>
            </a:r>
            <a:r>
              <a:rPr lang="en-US" altLang="zh-CN" dirty="0">
                <a:solidFill>
                  <a:srgbClr val="374151"/>
                </a:solidFill>
                <a:latin typeface="_5b8b_4f53"/>
              </a:rPr>
              <a:t>ZNS</a:t>
            </a:r>
            <a:r>
              <a:rPr lang="zh-CN" altLang="en-US" dirty="0">
                <a:solidFill>
                  <a:srgbClr val="374151"/>
                </a:solidFill>
                <a:latin typeface="_5b8b_4f53"/>
              </a:rPr>
              <a:t>盘，一方面，其介质选用更好的</a:t>
            </a:r>
            <a:r>
              <a:rPr lang="en-US" altLang="zh-CN" dirty="0">
                <a:solidFill>
                  <a:srgbClr val="374151"/>
                </a:solidFill>
                <a:latin typeface="_5b8b_4f53"/>
              </a:rPr>
              <a:t>TLC</a:t>
            </a:r>
            <a:r>
              <a:rPr lang="zh-CN" altLang="en-US" dirty="0">
                <a:solidFill>
                  <a:srgbClr val="374151"/>
                </a:solidFill>
                <a:latin typeface="_5b8b_4f53"/>
              </a:rPr>
              <a:t>颗粒</a:t>
            </a:r>
            <a:r>
              <a:rPr lang="en-US" altLang="zh-CN" dirty="0">
                <a:solidFill>
                  <a:srgbClr val="374151"/>
                </a:solidFill>
                <a:latin typeface="_5b8b_4f53"/>
              </a:rPr>
              <a:t>(</a:t>
            </a:r>
            <a:r>
              <a:rPr lang="zh-CN" altLang="en-US" dirty="0">
                <a:solidFill>
                  <a:srgbClr val="374151"/>
                </a:solidFill>
                <a:latin typeface="_5b8b_4f53"/>
              </a:rPr>
              <a:t>西数是</a:t>
            </a:r>
            <a:r>
              <a:rPr lang="en-US" altLang="zh-CN" dirty="0">
                <a:solidFill>
                  <a:srgbClr val="374151"/>
                </a:solidFill>
                <a:latin typeface="_5b8b_4f53"/>
              </a:rPr>
              <a:t>QLC</a:t>
            </a:r>
            <a:r>
              <a:rPr lang="zh-CN" altLang="en-US" dirty="0">
                <a:solidFill>
                  <a:srgbClr val="374151"/>
                </a:solidFill>
                <a:latin typeface="_5b8b_4f53"/>
              </a:rPr>
              <a:t>颗粒，延迟高寿命短），另一方面二者关键参数上也有区别，如</a:t>
            </a:r>
            <a:r>
              <a:rPr lang="en-US" altLang="zh-CN" dirty="0">
                <a:solidFill>
                  <a:srgbClr val="374151"/>
                </a:solidFill>
                <a:latin typeface="_5b8b_4f53"/>
              </a:rPr>
              <a:t>Zone</a:t>
            </a:r>
            <a:r>
              <a:rPr lang="zh-CN" altLang="en-US" dirty="0">
                <a:solidFill>
                  <a:srgbClr val="374151"/>
                </a:solidFill>
                <a:latin typeface="_5b8b_4f53"/>
              </a:rPr>
              <a:t> </a:t>
            </a:r>
            <a:r>
              <a:rPr lang="en-US" altLang="zh-CN" dirty="0">
                <a:solidFill>
                  <a:srgbClr val="374151"/>
                </a:solidFill>
                <a:latin typeface="_5b8b_4f53"/>
              </a:rPr>
              <a:t>size</a:t>
            </a:r>
            <a:r>
              <a:rPr lang="zh-CN" altLang="en-US" dirty="0">
                <a:solidFill>
                  <a:srgbClr val="374151"/>
                </a:solidFill>
                <a:latin typeface="_5b8b_4f53"/>
              </a:rPr>
              <a:t>等（之前基于实际设备的工作中只出现过一款</a:t>
            </a:r>
            <a:r>
              <a:rPr lang="en-US" altLang="zh-CN" dirty="0">
                <a:solidFill>
                  <a:srgbClr val="374151"/>
                </a:solidFill>
                <a:latin typeface="_5b8b_4f53"/>
              </a:rPr>
              <a:t>Zone size = 2GB</a:t>
            </a:r>
            <a:r>
              <a:rPr lang="zh-CN" altLang="en-US" dirty="0">
                <a:solidFill>
                  <a:srgbClr val="374151"/>
                </a:solidFill>
                <a:latin typeface="_5b8b_4f53"/>
              </a:rPr>
              <a:t>的硬盘）。</a:t>
            </a:r>
          </a:p>
        </p:txBody>
      </p:sp>
      <p:sp>
        <p:nvSpPr>
          <p:cNvPr id="13" name="文本框 12">
            <a:extLst>
              <a:ext uri="{FF2B5EF4-FFF2-40B4-BE49-F238E27FC236}">
                <a16:creationId xmlns:a16="http://schemas.microsoft.com/office/drawing/2014/main" id="{BFAB871E-3872-C3F2-1CF4-B9CDD6168859}"/>
              </a:ext>
            </a:extLst>
          </p:cNvPr>
          <p:cNvSpPr txBox="1"/>
          <p:nvPr/>
        </p:nvSpPr>
        <p:spPr>
          <a:xfrm>
            <a:off x="122628" y="5450801"/>
            <a:ext cx="11553118" cy="1255152"/>
          </a:xfrm>
          <a:prstGeom prst="rect">
            <a:avLst/>
          </a:prstGeom>
          <a:noFill/>
        </p:spPr>
        <p:txBody>
          <a:bodyPr wrap="square">
            <a:spAutoFit/>
          </a:bodyPr>
          <a:lstStyle/>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600" dirty="0"/>
              <a:t>QEMU</a:t>
            </a:r>
            <a:r>
              <a:rPr lang="zh-CN" altLang="en-US" sz="1600" dirty="0"/>
              <a:t>：</a:t>
            </a:r>
            <a:r>
              <a:rPr lang="en-US" altLang="zh-CN" sz="1600" dirty="0">
                <a:hlinkClick r:id="rId5"/>
              </a:rPr>
              <a:t>https://www.qemu.org/</a:t>
            </a:r>
            <a:endParaRPr lang="en-US" altLang="zh-CN" sz="1600" dirty="0"/>
          </a:p>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600" dirty="0"/>
              <a:t>FEMU</a:t>
            </a:r>
            <a:r>
              <a:rPr lang="zh-CN" altLang="en-US" sz="1600" dirty="0"/>
              <a:t>：</a:t>
            </a:r>
            <a:r>
              <a:rPr lang="en-US" altLang="zh-CN" sz="1600" dirty="0">
                <a:hlinkClick r:id="rId6"/>
              </a:rPr>
              <a:t>https://github.com/vtess/FEMU</a:t>
            </a:r>
            <a:endParaRPr lang="en-US" altLang="zh-CN" sz="1600" dirty="0"/>
          </a:p>
          <a:p>
            <a:pPr>
              <a:lnSpc>
                <a:spcPct val="70000"/>
              </a:lnSpc>
              <a:spcAft>
                <a:spcPts val="1200"/>
              </a:spcAft>
              <a:defRPr/>
            </a:pPr>
            <a:r>
              <a:rPr lang="en-US" altLang="zh-CN" sz="1600" dirty="0" err="1"/>
              <a:t>NVMeVirt</a:t>
            </a:r>
            <a:r>
              <a:rPr lang="en-US" altLang="zh-CN" sz="1600" dirty="0"/>
              <a:t>: A Versatile Software-defined Virtual </a:t>
            </a:r>
            <a:r>
              <a:rPr lang="en-US" altLang="zh-CN" sz="1600" dirty="0" err="1"/>
              <a:t>NVMe</a:t>
            </a:r>
            <a:r>
              <a:rPr lang="en-US" altLang="zh-CN" sz="1600" dirty="0"/>
              <a:t> Device</a:t>
            </a:r>
            <a:r>
              <a:rPr lang="zh-CN" altLang="en-US" sz="1600" dirty="0"/>
              <a:t>，</a:t>
            </a:r>
            <a:r>
              <a:rPr lang="en-US" altLang="zh-CN" sz="1600" dirty="0"/>
              <a:t>FAST 23</a:t>
            </a:r>
            <a:endParaRPr lang="en-US" altLang="zh-CN" sz="1600" dirty="0">
              <a:hlinkClick r:id="rId7">
                <a:extLst>
                  <a:ext uri="{A12FA001-AC4F-418D-AE19-62706E023703}">
                    <ahyp:hlinkClr xmlns:ahyp="http://schemas.microsoft.com/office/drawing/2018/hyperlinkcolor" val="tx"/>
                  </a:ext>
                </a:extLst>
              </a:hlinkClick>
            </a:endParaRPr>
          </a:p>
          <a:p>
            <a:pPr marR="0" lvl="0" indent="0" fontAlgn="auto">
              <a:lnSpc>
                <a:spcPct val="70000"/>
              </a:lnSpc>
              <a:spcBef>
                <a:spcPts val="0"/>
              </a:spcBef>
              <a:spcAft>
                <a:spcPts val="1200"/>
              </a:spcAft>
              <a:buClrTx/>
              <a:buSzTx/>
              <a:buFont typeface="Arial" panose="020B0604020202020204" pitchFamily="34" charset="0"/>
              <a:buNone/>
              <a:tabLst/>
              <a:defRPr/>
            </a:pPr>
            <a:endParaRPr lang="en-US" altLang="zh-CN" sz="1600" dirty="0"/>
          </a:p>
        </p:txBody>
      </p:sp>
      <p:sp>
        <p:nvSpPr>
          <p:cNvPr id="15" name="文本框 14">
            <a:extLst>
              <a:ext uri="{FF2B5EF4-FFF2-40B4-BE49-F238E27FC236}">
                <a16:creationId xmlns:a16="http://schemas.microsoft.com/office/drawing/2014/main" id="{E58D8FE6-DB4E-87CD-1452-BB0F8905330C}"/>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技术方案</a:t>
            </a:r>
          </a:p>
        </p:txBody>
      </p:sp>
    </p:spTree>
    <p:extLst>
      <p:ext uri="{BB962C8B-B14F-4D97-AF65-F5344CB8AC3E}">
        <p14:creationId xmlns:p14="http://schemas.microsoft.com/office/powerpoint/2010/main" val="19350302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6" name="Fußzeilenplatzhalter 4">
            <a:extLst>
              <a:ext uri="{FF2B5EF4-FFF2-40B4-BE49-F238E27FC236}">
                <a16:creationId xmlns:a16="http://schemas.microsoft.com/office/drawing/2014/main" id="{6337FC42-856A-0234-8EB6-48BB83F05028}"/>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7" name="文本框 6">
            <a:extLst>
              <a:ext uri="{FF2B5EF4-FFF2-40B4-BE49-F238E27FC236}">
                <a16:creationId xmlns:a16="http://schemas.microsoft.com/office/drawing/2014/main" id="{86E63EB8-E0A8-4F07-76F1-4E169ED7808E}"/>
              </a:ext>
            </a:extLst>
          </p:cNvPr>
          <p:cNvSpPr txBox="1"/>
          <p:nvPr/>
        </p:nvSpPr>
        <p:spPr>
          <a:xfrm>
            <a:off x="190500" y="5432932"/>
            <a:ext cx="8260080" cy="928909"/>
          </a:xfrm>
          <a:prstGeom prst="rect">
            <a:avLst/>
          </a:prstGeom>
          <a:noFill/>
        </p:spPr>
        <p:txBody>
          <a:bodyPr wrap="square" rtlCol="0" anchor="t">
            <a:spAutoFit/>
          </a:bodyPr>
          <a:lstStyle/>
          <a:p>
            <a:pPr>
              <a:lnSpc>
                <a:spcPct val="70000"/>
              </a:lnSpc>
              <a:spcAft>
                <a:spcPts val="1200"/>
              </a:spcAft>
              <a:defRPr/>
            </a:pPr>
            <a:r>
              <a:rPr lang="en-US" altLang="zh-CN" sz="1600" dirty="0" err="1"/>
              <a:t>NVMeVirt</a:t>
            </a:r>
            <a:r>
              <a:rPr lang="en-US" altLang="zh-CN" sz="1600" dirty="0"/>
              <a:t>: A Versatile Software-defined Virtual </a:t>
            </a:r>
            <a:r>
              <a:rPr lang="en-US" altLang="zh-CN" sz="1600" dirty="0" err="1"/>
              <a:t>NVMe</a:t>
            </a:r>
            <a:r>
              <a:rPr lang="en-US" altLang="zh-CN" sz="1600" dirty="0"/>
              <a:t> Device</a:t>
            </a:r>
            <a:r>
              <a:rPr lang="zh-CN" altLang="en-US" sz="1600" dirty="0"/>
              <a:t>，</a:t>
            </a:r>
            <a:r>
              <a:rPr lang="en-US" altLang="zh-CN" sz="1600" dirty="0"/>
              <a:t>FAST 23</a:t>
            </a:r>
            <a:endParaRPr lang="en-US" altLang="zh-CN" sz="1600" dirty="0">
              <a:hlinkClick r:id="rId5">
                <a:extLst>
                  <a:ext uri="{A12FA001-AC4F-418D-AE19-62706E023703}">
                    <ahyp:hlinkClr xmlns:ahyp="http://schemas.microsoft.com/office/drawing/2018/hyperlinkcolor" val="tx"/>
                  </a:ext>
                </a:extLst>
              </a:hlinkClick>
            </a:endParaRPr>
          </a:p>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600" dirty="0" err="1">
                <a:hlinkClick r:id="rId5">
                  <a:extLst>
                    <a:ext uri="{A12FA001-AC4F-418D-AE19-62706E023703}">
                      <ahyp:hlinkClr xmlns:ahyp="http://schemas.microsoft.com/office/drawing/2018/hyperlinkcolor" val="tx"/>
                    </a:ext>
                  </a:extLst>
                </a:hlinkClick>
              </a:rPr>
              <a:t>Nvme</a:t>
            </a:r>
            <a:r>
              <a:rPr lang="en-US" altLang="zh-CN" sz="1600" dirty="0">
                <a:hlinkClick r:id="rId5">
                  <a:extLst>
                    <a:ext uri="{A12FA001-AC4F-418D-AE19-62706E023703}">
                      <ahyp:hlinkClr xmlns:ahyp="http://schemas.microsoft.com/office/drawing/2018/hyperlinkcolor" val="tx"/>
                    </a:ext>
                  </a:extLst>
                </a:hlinkClick>
              </a:rPr>
              <a:t>-cli: https://github.com/linux-nvme/nvme-cli</a:t>
            </a:r>
            <a:endParaRPr lang="en-US" altLang="zh-CN" sz="1600" dirty="0"/>
          </a:p>
          <a:p>
            <a:pPr marR="0" lvl="0" indent="0" fontAlgn="auto">
              <a:lnSpc>
                <a:spcPct val="70000"/>
              </a:lnSpc>
              <a:spcBef>
                <a:spcPts val="0"/>
              </a:spcBef>
              <a:spcAft>
                <a:spcPts val="1200"/>
              </a:spcAft>
              <a:buClrTx/>
              <a:buSzTx/>
              <a:buFont typeface="Arial" panose="020B0604020202020204" pitchFamily="34" charset="0"/>
              <a:buNone/>
              <a:tabLst/>
              <a:defRPr/>
            </a:pPr>
            <a:r>
              <a:rPr lang="en-US" altLang="zh-CN" sz="1600" dirty="0" err="1"/>
              <a:t>Libzbd</a:t>
            </a:r>
            <a:r>
              <a:rPr lang="en-US" altLang="zh-CN" sz="1600" dirty="0"/>
              <a:t>: https://zonedstorage.io/docs/tools/libzbd</a:t>
            </a:r>
          </a:p>
        </p:txBody>
      </p:sp>
      <p:sp>
        <p:nvSpPr>
          <p:cNvPr id="8" name="文本框 7">
            <a:extLst>
              <a:ext uri="{FF2B5EF4-FFF2-40B4-BE49-F238E27FC236}">
                <a16:creationId xmlns:a16="http://schemas.microsoft.com/office/drawing/2014/main" id="{B6DD51D5-AA31-D2A9-D660-373048C76BF5}"/>
              </a:ext>
            </a:extLst>
          </p:cNvPr>
          <p:cNvSpPr txBox="1"/>
          <p:nvPr/>
        </p:nvSpPr>
        <p:spPr>
          <a:xfrm>
            <a:off x="385590" y="1318324"/>
            <a:ext cx="10483318" cy="3276923"/>
          </a:xfrm>
          <a:prstGeom prst="rect">
            <a:avLst/>
          </a:prstGeom>
          <a:noFill/>
        </p:spPr>
        <p:txBody>
          <a:bodyPr wrap="square">
            <a:spAutoFit/>
          </a:bodyPr>
          <a:lstStyle/>
          <a:p>
            <a:pPr indent="-285750">
              <a:lnSpc>
                <a:spcPct val="150000"/>
              </a:lnSpc>
              <a:buFont typeface="Arial" panose="020B0604020202020204" pitchFamily="34" charset="0"/>
              <a:buChar char="•"/>
            </a:pPr>
            <a:r>
              <a:rPr lang="en-US" altLang="zh-CN" sz="2000" b="1" dirty="0" err="1">
                <a:solidFill>
                  <a:srgbClr val="0D0D0D"/>
                </a:solidFill>
                <a:latin typeface="Söhne"/>
              </a:rPr>
              <a:t>NVMEvirt</a:t>
            </a:r>
            <a:r>
              <a:rPr lang="en-US" altLang="zh-CN" sz="2000" b="1" dirty="0">
                <a:solidFill>
                  <a:srgbClr val="0D0D0D"/>
                </a:solidFill>
                <a:latin typeface="Söhne"/>
              </a:rPr>
              <a:t>: </a:t>
            </a:r>
            <a:r>
              <a:rPr lang="zh-CN" altLang="en-US" sz="2000" dirty="0">
                <a:solidFill>
                  <a:srgbClr val="0D0D0D"/>
                </a:solidFill>
                <a:latin typeface="Söhne"/>
              </a:rPr>
              <a:t>最新的</a:t>
            </a:r>
            <a:r>
              <a:rPr lang="en-US" altLang="zh-CN" sz="2000" dirty="0" err="1">
                <a:solidFill>
                  <a:srgbClr val="0D0D0D"/>
                </a:solidFill>
                <a:latin typeface="Söhne"/>
              </a:rPr>
              <a:t>NVMe</a:t>
            </a:r>
            <a:r>
              <a:rPr lang="zh-CN" altLang="en-US" sz="2000" dirty="0">
                <a:solidFill>
                  <a:srgbClr val="0D0D0D"/>
                </a:solidFill>
                <a:latin typeface="Söhne"/>
              </a:rPr>
              <a:t>模拟器，支持</a:t>
            </a:r>
            <a:r>
              <a:rPr lang="en-US" altLang="zh-CN" sz="2000" dirty="0">
                <a:solidFill>
                  <a:srgbClr val="0D0D0D"/>
                </a:solidFill>
                <a:latin typeface="Söhne"/>
              </a:rPr>
              <a:t>ZNS</a:t>
            </a:r>
            <a:r>
              <a:rPr lang="zh-CN" altLang="en-US" sz="2000" dirty="0">
                <a:solidFill>
                  <a:srgbClr val="0D0D0D"/>
                </a:solidFill>
                <a:latin typeface="Söhne"/>
              </a:rPr>
              <a:t>，用于构建</a:t>
            </a:r>
            <a:r>
              <a:rPr lang="en-US" altLang="zh-CN" sz="2000" dirty="0">
                <a:solidFill>
                  <a:srgbClr val="0D0D0D"/>
                </a:solidFill>
                <a:latin typeface="Söhne"/>
              </a:rPr>
              <a:t>ZNS</a:t>
            </a:r>
            <a:r>
              <a:rPr lang="zh-CN" altLang="en-US" sz="2000" dirty="0">
                <a:solidFill>
                  <a:srgbClr val="0D0D0D"/>
                </a:solidFill>
                <a:latin typeface="Söhne"/>
              </a:rPr>
              <a:t>模拟环境，该模拟器通过内核模块模拟</a:t>
            </a:r>
            <a:r>
              <a:rPr lang="en-US" altLang="zh-CN" sz="2000" dirty="0" err="1">
                <a:solidFill>
                  <a:srgbClr val="0D0D0D"/>
                </a:solidFill>
                <a:latin typeface="Söhne"/>
              </a:rPr>
              <a:t>NVMe</a:t>
            </a:r>
            <a:r>
              <a:rPr lang="zh-CN" altLang="en-US" sz="2000" dirty="0">
                <a:solidFill>
                  <a:srgbClr val="0D0D0D"/>
                </a:solidFill>
                <a:latin typeface="Söhne"/>
              </a:rPr>
              <a:t>设备，提供类似真实设备的性能表现。</a:t>
            </a:r>
          </a:p>
          <a:p>
            <a:pPr indent="-285750">
              <a:lnSpc>
                <a:spcPct val="150000"/>
              </a:lnSpc>
              <a:buFont typeface="Arial" panose="020B0604020202020204" pitchFamily="34" charset="0"/>
              <a:buChar char="•"/>
            </a:pPr>
            <a:r>
              <a:rPr lang="en-US" altLang="zh-CN" sz="2000" b="1" dirty="0" err="1">
                <a:solidFill>
                  <a:srgbClr val="0D0D0D"/>
                </a:solidFill>
                <a:latin typeface="Söhne"/>
              </a:rPr>
              <a:t>ZenFS</a:t>
            </a:r>
            <a:r>
              <a:rPr lang="en-US" altLang="zh-CN" sz="2000" b="1" dirty="0">
                <a:solidFill>
                  <a:srgbClr val="0D0D0D"/>
                </a:solidFill>
                <a:latin typeface="Söhne"/>
              </a:rPr>
              <a:t>: </a:t>
            </a:r>
            <a:r>
              <a:rPr lang="zh-CN" altLang="en-US" sz="2000" dirty="0">
                <a:solidFill>
                  <a:srgbClr val="0D0D0D"/>
                </a:solidFill>
                <a:latin typeface="Söhne"/>
              </a:rPr>
              <a:t>为</a:t>
            </a:r>
            <a:r>
              <a:rPr lang="en-US" altLang="zh-CN" sz="2000" dirty="0" err="1">
                <a:solidFill>
                  <a:srgbClr val="0D0D0D"/>
                </a:solidFill>
                <a:latin typeface="Söhne"/>
              </a:rPr>
              <a:t>RocksDB</a:t>
            </a:r>
            <a:r>
              <a:rPr lang="zh-CN" altLang="en-US" sz="2000" dirty="0">
                <a:solidFill>
                  <a:srgbClr val="0D0D0D"/>
                </a:solidFill>
                <a:latin typeface="Söhne"/>
              </a:rPr>
              <a:t>提供的文件系统插件，支持</a:t>
            </a:r>
            <a:r>
              <a:rPr lang="en-US" altLang="zh-CN" sz="2000" dirty="0">
                <a:solidFill>
                  <a:srgbClr val="0D0D0D"/>
                </a:solidFill>
                <a:latin typeface="Söhne"/>
              </a:rPr>
              <a:t>ZNS SSD</a:t>
            </a:r>
            <a:r>
              <a:rPr lang="zh-CN" altLang="en-US" sz="2000" dirty="0">
                <a:solidFill>
                  <a:srgbClr val="0D0D0D"/>
                </a:solidFill>
                <a:latin typeface="Söhne"/>
              </a:rPr>
              <a:t>，显著减少系统写放大。</a:t>
            </a:r>
          </a:p>
          <a:p>
            <a:pPr indent="-285750">
              <a:lnSpc>
                <a:spcPct val="150000"/>
              </a:lnSpc>
              <a:buFont typeface="Arial" panose="020B0604020202020204" pitchFamily="34" charset="0"/>
              <a:buChar char="•"/>
            </a:pPr>
            <a:r>
              <a:rPr lang="en-US" altLang="zh-CN" sz="2000" b="1" dirty="0">
                <a:solidFill>
                  <a:srgbClr val="0D0D0D"/>
                </a:solidFill>
                <a:latin typeface="Söhne"/>
              </a:rPr>
              <a:t>Linux</a:t>
            </a:r>
            <a:r>
              <a:rPr lang="zh-CN" altLang="en-US" sz="2000" b="1" dirty="0">
                <a:solidFill>
                  <a:srgbClr val="0D0D0D"/>
                </a:solidFill>
                <a:latin typeface="Söhne"/>
              </a:rPr>
              <a:t>系统工具</a:t>
            </a:r>
            <a:r>
              <a:rPr lang="en-US" altLang="zh-CN" sz="2000" b="1" dirty="0">
                <a:solidFill>
                  <a:srgbClr val="0D0D0D"/>
                </a:solidFill>
                <a:latin typeface="Söhne"/>
              </a:rPr>
              <a:t>: </a:t>
            </a:r>
            <a:r>
              <a:rPr lang="zh-CN" altLang="en-US" sz="2000" dirty="0">
                <a:solidFill>
                  <a:srgbClr val="0D0D0D"/>
                </a:solidFill>
                <a:latin typeface="Söhne"/>
              </a:rPr>
              <a:t>经前期测试验证已支持</a:t>
            </a:r>
            <a:r>
              <a:rPr lang="en-US" altLang="zh-CN" sz="2000" dirty="0">
                <a:solidFill>
                  <a:srgbClr val="0D0D0D"/>
                </a:solidFill>
                <a:latin typeface="Söhne"/>
              </a:rPr>
              <a:t>ZNS</a:t>
            </a:r>
            <a:r>
              <a:rPr lang="zh-CN" altLang="en-US" sz="2000" dirty="0">
                <a:solidFill>
                  <a:srgbClr val="0D0D0D"/>
                </a:solidFill>
                <a:latin typeface="Söhne"/>
              </a:rPr>
              <a:t>的工具：包括</a:t>
            </a:r>
            <a:r>
              <a:rPr lang="en-US" altLang="zh-CN" sz="2000" dirty="0" err="1">
                <a:solidFill>
                  <a:srgbClr val="0D0D0D"/>
                </a:solidFill>
                <a:latin typeface="Söhne"/>
              </a:rPr>
              <a:t>fio</a:t>
            </a:r>
            <a:r>
              <a:rPr lang="zh-CN" altLang="en-US" sz="2000" dirty="0">
                <a:solidFill>
                  <a:srgbClr val="0D0D0D"/>
                </a:solidFill>
                <a:latin typeface="Söhne"/>
              </a:rPr>
              <a:t>、</a:t>
            </a:r>
            <a:r>
              <a:rPr lang="en-US" altLang="zh-CN" sz="2000" dirty="0" err="1">
                <a:solidFill>
                  <a:srgbClr val="0D0D0D"/>
                </a:solidFill>
                <a:latin typeface="Söhne"/>
              </a:rPr>
              <a:t>nvme</a:t>
            </a:r>
            <a:r>
              <a:rPr lang="en-US" altLang="zh-CN" sz="2000" dirty="0">
                <a:solidFill>
                  <a:srgbClr val="0D0D0D"/>
                </a:solidFill>
                <a:latin typeface="Söhne"/>
              </a:rPr>
              <a:t>-cli</a:t>
            </a:r>
            <a:r>
              <a:rPr lang="zh-CN" altLang="en-US" sz="2000" dirty="0">
                <a:solidFill>
                  <a:srgbClr val="0D0D0D"/>
                </a:solidFill>
                <a:latin typeface="Söhne"/>
              </a:rPr>
              <a:t>等，用于性能测试和管理</a:t>
            </a:r>
            <a:r>
              <a:rPr lang="en-US" altLang="zh-CN" sz="2000" dirty="0">
                <a:solidFill>
                  <a:srgbClr val="0D0D0D"/>
                </a:solidFill>
                <a:latin typeface="Söhne"/>
              </a:rPr>
              <a:t>ZNS SSD</a:t>
            </a:r>
            <a:r>
              <a:rPr lang="zh-CN" altLang="en-US" sz="2000" dirty="0">
                <a:solidFill>
                  <a:srgbClr val="0D0D0D"/>
                </a:solidFill>
                <a:latin typeface="Söhne"/>
              </a:rPr>
              <a:t>。</a:t>
            </a:r>
          </a:p>
          <a:p>
            <a:pPr indent="-285750">
              <a:lnSpc>
                <a:spcPct val="150000"/>
              </a:lnSpc>
              <a:buFont typeface="Arial" panose="020B0604020202020204" pitchFamily="34" charset="0"/>
              <a:buChar char="•"/>
            </a:pPr>
            <a:r>
              <a:rPr lang="en-US" altLang="zh-CN" sz="2000" b="1" dirty="0" err="1">
                <a:solidFill>
                  <a:srgbClr val="0D0D0D"/>
                </a:solidFill>
                <a:latin typeface="Söhne"/>
              </a:rPr>
              <a:t>zbd</a:t>
            </a:r>
            <a:r>
              <a:rPr lang="en-US" altLang="zh-CN" sz="2000" b="1" dirty="0">
                <a:solidFill>
                  <a:srgbClr val="0D0D0D"/>
                </a:solidFill>
                <a:latin typeface="Söhne"/>
              </a:rPr>
              <a:t>-tools: </a:t>
            </a:r>
            <a:r>
              <a:rPr lang="zh-CN" altLang="en-US" sz="2000" dirty="0">
                <a:solidFill>
                  <a:srgbClr val="0D0D0D"/>
                </a:solidFill>
                <a:latin typeface="Söhne"/>
              </a:rPr>
              <a:t>包括</a:t>
            </a:r>
            <a:r>
              <a:rPr lang="en-US" altLang="zh-CN" sz="2000" dirty="0" err="1">
                <a:solidFill>
                  <a:srgbClr val="0D0D0D"/>
                </a:solidFill>
                <a:latin typeface="Söhne"/>
              </a:rPr>
              <a:t>gzbd</a:t>
            </a:r>
            <a:r>
              <a:rPr lang="zh-CN" altLang="en-US" sz="2000" dirty="0">
                <a:solidFill>
                  <a:srgbClr val="0D0D0D"/>
                </a:solidFill>
                <a:latin typeface="Söhne"/>
              </a:rPr>
              <a:t>、</a:t>
            </a:r>
            <a:r>
              <a:rPr lang="en-US" altLang="zh-CN" sz="2000" dirty="0" err="1">
                <a:solidFill>
                  <a:srgbClr val="0D0D0D"/>
                </a:solidFill>
                <a:latin typeface="Söhne"/>
              </a:rPr>
              <a:t>libzbd</a:t>
            </a:r>
            <a:r>
              <a:rPr lang="zh-CN" altLang="en-US" sz="2000" dirty="0">
                <a:solidFill>
                  <a:srgbClr val="0D0D0D"/>
                </a:solidFill>
                <a:latin typeface="Söhne"/>
              </a:rPr>
              <a:t>。</a:t>
            </a:r>
            <a:r>
              <a:rPr lang="en-US" altLang="zh-CN" sz="2000" dirty="0" err="1">
                <a:solidFill>
                  <a:srgbClr val="0D0D0D"/>
                </a:solidFill>
                <a:latin typeface="Söhne"/>
              </a:rPr>
              <a:t>Gzbd</a:t>
            </a:r>
            <a:r>
              <a:rPr lang="zh-CN" altLang="en-US" sz="2000" dirty="0">
                <a:solidFill>
                  <a:srgbClr val="0D0D0D"/>
                </a:solidFill>
                <a:latin typeface="Söhne"/>
              </a:rPr>
              <a:t>能提供可视化，</a:t>
            </a:r>
            <a:r>
              <a:rPr lang="en-US" altLang="zh-CN" sz="2000" dirty="0" err="1">
                <a:solidFill>
                  <a:srgbClr val="0D0D0D"/>
                </a:solidFill>
                <a:latin typeface="Söhne"/>
              </a:rPr>
              <a:t>libzbd</a:t>
            </a:r>
            <a:r>
              <a:rPr lang="zh-CN" altLang="en-US" sz="2000" dirty="0">
                <a:solidFill>
                  <a:srgbClr val="0D0D0D"/>
                </a:solidFill>
                <a:latin typeface="Söhne"/>
              </a:rPr>
              <a:t>是最新的</a:t>
            </a:r>
            <a:r>
              <a:rPr lang="en-US" altLang="zh-CN" sz="2000" dirty="0">
                <a:solidFill>
                  <a:srgbClr val="0D0D0D"/>
                </a:solidFill>
                <a:latin typeface="Söhne"/>
              </a:rPr>
              <a:t>zone</a:t>
            </a:r>
            <a:r>
              <a:rPr lang="zh-CN" altLang="en-US" sz="2000" dirty="0">
                <a:solidFill>
                  <a:srgbClr val="0D0D0D"/>
                </a:solidFill>
                <a:latin typeface="Söhne"/>
              </a:rPr>
              <a:t>语义用户库，支持</a:t>
            </a:r>
            <a:r>
              <a:rPr lang="en-US" altLang="zh-CN" sz="2000" dirty="0">
                <a:solidFill>
                  <a:srgbClr val="0D0D0D"/>
                </a:solidFill>
                <a:latin typeface="Söhne"/>
              </a:rPr>
              <a:t>Zone</a:t>
            </a:r>
            <a:r>
              <a:rPr lang="zh-CN" altLang="en-US" sz="2000" dirty="0">
                <a:solidFill>
                  <a:srgbClr val="0D0D0D"/>
                </a:solidFill>
                <a:latin typeface="Söhne"/>
              </a:rPr>
              <a:t>逻辑设备的管理和操作。</a:t>
            </a:r>
          </a:p>
        </p:txBody>
      </p:sp>
      <p:sp>
        <p:nvSpPr>
          <p:cNvPr id="2" name="文本框 1">
            <a:extLst>
              <a:ext uri="{FF2B5EF4-FFF2-40B4-BE49-F238E27FC236}">
                <a16:creationId xmlns:a16="http://schemas.microsoft.com/office/drawing/2014/main" id="{719372B1-5714-D9A0-9C16-7166C8205F4C}"/>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实验工具</a:t>
            </a:r>
          </a:p>
        </p:txBody>
      </p:sp>
    </p:spTree>
    <p:extLst>
      <p:ext uri="{BB962C8B-B14F-4D97-AF65-F5344CB8AC3E}">
        <p14:creationId xmlns:p14="http://schemas.microsoft.com/office/powerpoint/2010/main" val="356045714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207C0-0163-0822-7597-8C5510488C30}"/>
            </a:ext>
          </a:extLst>
        </p:cNvPr>
        <p:cNvGrpSpPr/>
        <p:nvPr/>
      </p:nvGrpSpPr>
      <p:grpSpPr>
        <a:xfrm>
          <a:off x="0" y="0"/>
          <a:ext cx="0" cy="0"/>
          <a:chOff x="0" y="0"/>
          <a:chExt cx="0" cy="0"/>
        </a:xfrm>
      </p:grpSpPr>
      <p:sp>
        <p:nvSpPr>
          <p:cNvPr id="17" name="矩形 16">
            <a:extLst>
              <a:ext uri="{FF2B5EF4-FFF2-40B4-BE49-F238E27FC236}">
                <a16:creationId xmlns:a16="http://schemas.microsoft.com/office/drawing/2014/main" id="{9BCF79AF-AB62-522E-23CD-8967E7E29D91}"/>
              </a:ext>
            </a:extLst>
          </p:cNvPr>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6A0B70DD-CF3B-89F1-B0D3-4073479F593C}"/>
              </a:ext>
            </a:extLst>
          </p:cNvPr>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183472AA-9C9F-0AA9-A8CB-999E847C20CD}"/>
              </a:ext>
            </a:extLst>
          </p:cNvPr>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a:extLst>
              <a:ext uri="{FF2B5EF4-FFF2-40B4-BE49-F238E27FC236}">
                <a16:creationId xmlns:a16="http://schemas.microsoft.com/office/drawing/2014/main" id="{D7B54F2B-53DF-DCF4-3B84-672EB1D28483}"/>
              </a:ext>
            </a:extLst>
          </p:cNvPr>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a:extLst>
              <a:ext uri="{FF2B5EF4-FFF2-40B4-BE49-F238E27FC236}">
                <a16:creationId xmlns:a16="http://schemas.microsoft.com/office/drawing/2014/main" id="{77EF56C9-4B88-FB53-AC70-87290DDF0433}"/>
              </a:ext>
            </a:extLst>
          </p:cNvPr>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A6304232-66F9-4270-3D53-3760030036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a:extLst>
              <a:ext uri="{FF2B5EF4-FFF2-40B4-BE49-F238E27FC236}">
                <a16:creationId xmlns:a16="http://schemas.microsoft.com/office/drawing/2014/main" id="{76305C1D-2303-B699-BA96-36E6E33C3CFB}"/>
              </a:ext>
            </a:extLst>
          </p:cNvPr>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a:extLst>
              <a:ext uri="{FF2B5EF4-FFF2-40B4-BE49-F238E27FC236}">
                <a16:creationId xmlns:a16="http://schemas.microsoft.com/office/drawing/2014/main" id="{E22E6F47-3373-9451-A9BA-54F342BBE8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a:extLst>
              <a:ext uri="{FF2B5EF4-FFF2-40B4-BE49-F238E27FC236}">
                <a16:creationId xmlns:a16="http://schemas.microsoft.com/office/drawing/2014/main" id="{CD6A8635-9568-F2EA-5C9A-135ED944F8D7}"/>
              </a:ext>
            </a:extLst>
          </p:cNvPr>
          <p:cNvSpPr txBox="1"/>
          <p:nvPr/>
        </p:nvSpPr>
        <p:spPr>
          <a:xfrm>
            <a:off x="385590" y="1095737"/>
            <a:ext cx="6951980" cy="460375"/>
          </a:xfrm>
          <a:prstGeom prst="rect">
            <a:avLst/>
          </a:prstGeom>
          <a:noFill/>
        </p:spPr>
        <p:txBody>
          <a:bodyPr wrap="square" rtlCol="0">
            <a:spAutoFit/>
          </a:bodyPr>
          <a:lstStyle/>
          <a:p>
            <a:r>
              <a:rPr lang="en-US" altLang="zh-CN" sz="2400" dirty="0" err="1">
                <a:solidFill>
                  <a:srgbClr val="4747BA"/>
                </a:solidFill>
                <a:ea typeface="+mn-lt"/>
                <a:cs typeface="Times New Roman" panose="02020603050405020304" charset="0"/>
              </a:rPr>
              <a:t>NVMevirt</a:t>
            </a:r>
            <a:r>
              <a:rPr lang="zh-CN" altLang="en-US" sz="2400" dirty="0">
                <a:solidFill>
                  <a:srgbClr val="4747BA"/>
                </a:solidFill>
                <a:ea typeface="+mn-lt"/>
                <a:cs typeface="Times New Roman" panose="02020603050405020304" charset="0"/>
              </a:rPr>
              <a:t>模拟器</a:t>
            </a:r>
            <a:endParaRPr lang="en-US" altLang="zh-CN" sz="2400" dirty="0">
              <a:solidFill>
                <a:srgbClr val="4747BA"/>
              </a:solidFill>
              <a:ea typeface="+mn-lt"/>
              <a:cs typeface="Times New Roman" panose="02020603050405020304" charset="0"/>
            </a:endParaRPr>
          </a:p>
        </p:txBody>
      </p:sp>
      <p:sp>
        <p:nvSpPr>
          <p:cNvPr id="7" name="Fußzeilenplatzhalter 4">
            <a:extLst>
              <a:ext uri="{FF2B5EF4-FFF2-40B4-BE49-F238E27FC236}">
                <a16:creationId xmlns:a16="http://schemas.microsoft.com/office/drawing/2014/main" id="{230A5A59-8CFE-F460-EF76-35BA8DBA5CB4}"/>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9" name="图片 8">
            <a:extLst>
              <a:ext uri="{FF2B5EF4-FFF2-40B4-BE49-F238E27FC236}">
                <a16:creationId xmlns:a16="http://schemas.microsoft.com/office/drawing/2014/main" id="{E4C26BFD-07D2-1402-6762-AA6C1819FF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920" y="2129895"/>
            <a:ext cx="10789920" cy="3632368"/>
          </a:xfrm>
          <a:prstGeom prst="rect">
            <a:avLst/>
          </a:prstGeom>
        </p:spPr>
      </p:pic>
      <p:sp>
        <p:nvSpPr>
          <p:cNvPr id="10" name="文本框 9">
            <a:extLst>
              <a:ext uri="{FF2B5EF4-FFF2-40B4-BE49-F238E27FC236}">
                <a16:creationId xmlns:a16="http://schemas.microsoft.com/office/drawing/2014/main" id="{4C987B7A-4374-B1F9-370C-0F02F92AD88B}"/>
              </a:ext>
            </a:extLst>
          </p:cNvPr>
          <p:cNvSpPr txBox="1"/>
          <p:nvPr/>
        </p:nvSpPr>
        <p:spPr>
          <a:xfrm>
            <a:off x="385590" y="1513449"/>
            <a:ext cx="10483318" cy="506934"/>
          </a:xfrm>
          <a:prstGeom prst="rect">
            <a:avLst/>
          </a:prstGeom>
          <a:noFill/>
        </p:spPr>
        <p:txBody>
          <a:bodyPr wrap="square">
            <a:spAutoFit/>
          </a:bodyPr>
          <a:lstStyle/>
          <a:p>
            <a:pPr>
              <a:lnSpc>
                <a:spcPct val="150000"/>
              </a:lnSpc>
            </a:pPr>
            <a:r>
              <a:rPr lang="zh-CN" altLang="en-US" sz="2000" dirty="0">
                <a:solidFill>
                  <a:srgbClr val="0D0D0D"/>
                </a:solidFill>
                <a:latin typeface="Söhne"/>
              </a:rPr>
              <a:t>如图，构建了一个</a:t>
            </a:r>
            <a:r>
              <a:rPr lang="en-US" altLang="zh-CN" sz="2000" dirty="0">
                <a:solidFill>
                  <a:srgbClr val="0D0D0D"/>
                </a:solidFill>
                <a:latin typeface="Söhne"/>
              </a:rPr>
              <a:t>Zone</a:t>
            </a:r>
            <a:r>
              <a:rPr lang="zh-CN" altLang="en-US" sz="2000" dirty="0">
                <a:solidFill>
                  <a:srgbClr val="0D0D0D"/>
                </a:solidFill>
                <a:latin typeface="Söhne"/>
              </a:rPr>
              <a:t>大小为</a:t>
            </a:r>
            <a:r>
              <a:rPr lang="en-US" altLang="zh-CN" sz="2000" dirty="0">
                <a:solidFill>
                  <a:srgbClr val="0D0D0D"/>
                </a:solidFill>
                <a:latin typeface="Söhne"/>
              </a:rPr>
              <a:t>10MB</a:t>
            </a:r>
            <a:r>
              <a:rPr lang="zh-CN" altLang="en-US" sz="2000" dirty="0">
                <a:solidFill>
                  <a:srgbClr val="0D0D0D"/>
                </a:solidFill>
                <a:latin typeface="Söhne"/>
              </a:rPr>
              <a:t>的</a:t>
            </a:r>
            <a:r>
              <a:rPr lang="en-US" altLang="zh-CN" sz="2000" dirty="0">
                <a:solidFill>
                  <a:srgbClr val="0D0D0D"/>
                </a:solidFill>
                <a:latin typeface="Söhne"/>
              </a:rPr>
              <a:t>ZNS</a:t>
            </a:r>
            <a:r>
              <a:rPr lang="zh-CN" altLang="en-US" sz="2000" dirty="0">
                <a:solidFill>
                  <a:srgbClr val="0D0D0D"/>
                </a:solidFill>
                <a:latin typeface="Söhne"/>
              </a:rPr>
              <a:t>盘，使用</a:t>
            </a:r>
            <a:r>
              <a:rPr lang="en-US" altLang="zh-CN" sz="2000" dirty="0" err="1">
                <a:solidFill>
                  <a:srgbClr val="0D0D0D"/>
                </a:solidFill>
                <a:latin typeface="Söhne"/>
              </a:rPr>
              <a:t>nvme</a:t>
            </a:r>
            <a:r>
              <a:rPr lang="en-US" altLang="zh-CN" sz="2000" dirty="0">
                <a:solidFill>
                  <a:srgbClr val="0D0D0D"/>
                </a:solidFill>
                <a:latin typeface="Söhne"/>
              </a:rPr>
              <a:t>-cli</a:t>
            </a:r>
            <a:r>
              <a:rPr lang="zh-CN" altLang="en-US" sz="2000" dirty="0">
                <a:solidFill>
                  <a:srgbClr val="0D0D0D"/>
                </a:solidFill>
                <a:latin typeface="Söhne"/>
              </a:rPr>
              <a:t>报告状态如下</a:t>
            </a:r>
            <a:r>
              <a:rPr lang="en-US" altLang="zh-CN" sz="2000" dirty="0">
                <a:solidFill>
                  <a:srgbClr val="0D0D0D"/>
                </a:solidFill>
                <a:latin typeface="Söhne"/>
              </a:rPr>
              <a:t>:</a:t>
            </a:r>
            <a:endParaRPr lang="zh-CN" altLang="en-US" sz="2000" dirty="0">
              <a:solidFill>
                <a:srgbClr val="0D0D0D"/>
              </a:solidFill>
              <a:latin typeface="Söhne"/>
            </a:endParaRPr>
          </a:p>
        </p:txBody>
      </p:sp>
      <p:sp>
        <p:nvSpPr>
          <p:cNvPr id="12" name="文本框 11">
            <a:extLst>
              <a:ext uri="{FF2B5EF4-FFF2-40B4-BE49-F238E27FC236}">
                <a16:creationId xmlns:a16="http://schemas.microsoft.com/office/drawing/2014/main" id="{D8F40BCB-A496-472A-3164-1BE66625EF2E}"/>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实验平台</a:t>
            </a:r>
          </a:p>
        </p:txBody>
      </p:sp>
    </p:spTree>
    <p:extLst>
      <p:ext uri="{BB962C8B-B14F-4D97-AF65-F5344CB8AC3E}">
        <p14:creationId xmlns:p14="http://schemas.microsoft.com/office/powerpoint/2010/main" val="13173067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实验平台</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charset="0"/>
              </a:rPr>
              <a:t>ZNS</a:t>
            </a:r>
            <a:r>
              <a:rPr lang="zh-CN" altLang="en-US" sz="2400" dirty="0">
                <a:solidFill>
                  <a:srgbClr val="4747BA"/>
                </a:solidFill>
                <a:ea typeface="+mn-lt"/>
                <a:cs typeface="Times New Roman" panose="02020603050405020304" charset="0"/>
              </a:rPr>
              <a:t>设备</a:t>
            </a:r>
            <a:endParaRPr lang="en-US" altLang="zh-CN" sz="2400" dirty="0">
              <a:solidFill>
                <a:srgbClr val="4747BA"/>
              </a:solidFill>
              <a:ea typeface="+mn-lt"/>
              <a:cs typeface="Times New Roman" panose="02020603050405020304" charset="0"/>
            </a:endParaRPr>
          </a:p>
        </p:txBody>
      </p:sp>
      <p:sp>
        <p:nvSpPr>
          <p:cNvPr id="5" name="文本框 4"/>
          <p:cNvSpPr txBox="1"/>
          <p:nvPr/>
        </p:nvSpPr>
        <p:spPr>
          <a:xfrm>
            <a:off x="385590" y="1576511"/>
            <a:ext cx="6696883" cy="2461508"/>
          </a:xfrm>
          <a:prstGeom prst="rect">
            <a:avLst/>
          </a:prstGeom>
          <a:noFill/>
        </p:spPr>
        <p:txBody>
          <a:bodyPr wrap="square" rtlCol="0" anchor="t">
            <a:spAutoFit/>
          </a:bodyPr>
          <a:lstStyle/>
          <a:p>
            <a:pPr marL="342900" indent="-342900">
              <a:lnSpc>
                <a:spcPct val="130000"/>
              </a:lnSpc>
              <a:buFont typeface="Wingdings" panose="05000000000000000000" charset="0"/>
              <a:buChar char="q"/>
            </a:pPr>
            <a:r>
              <a:rPr lang="en-US" altLang="zh-CN" sz="2000" dirty="0">
                <a:sym typeface="+mn-ea"/>
              </a:rPr>
              <a:t>ZNS</a:t>
            </a:r>
            <a:r>
              <a:rPr lang="zh-CN" altLang="en-US" sz="2000" dirty="0">
                <a:sym typeface="+mn-ea"/>
              </a:rPr>
              <a:t>采用</a:t>
            </a:r>
            <a:r>
              <a:rPr lang="en-US" altLang="zh-CN" sz="2000" dirty="0">
                <a:sym typeface="+mn-ea"/>
              </a:rPr>
              <a:t>U.2</a:t>
            </a:r>
            <a:r>
              <a:rPr lang="zh-CN" altLang="en-US" sz="2000" dirty="0">
                <a:sym typeface="+mn-ea"/>
              </a:rPr>
              <a:t>接口，如右图</a:t>
            </a:r>
            <a:r>
              <a:rPr lang="en-US" altLang="zh-CN" sz="2000" dirty="0">
                <a:sym typeface="+mn-ea"/>
              </a:rPr>
              <a:t> </a:t>
            </a:r>
          </a:p>
          <a:p>
            <a:pPr marL="342900" indent="-342900">
              <a:lnSpc>
                <a:spcPct val="130000"/>
              </a:lnSpc>
              <a:buFont typeface="Wingdings" panose="05000000000000000000" charset="0"/>
              <a:buChar char="q"/>
            </a:pPr>
            <a:r>
              <a:rPr lang="zh-CN" altLang="en-US" sz="2000" dirty="0">
                <a:sym typeface="+mn-ea"/>
              </a:rPr>
              <a:t>另外，初步测试了</a:t>
            </a:r>
            <a:r>
              <a:rPr lang="en-US" altLang="zh-CN" sz="2000" dirty="0" err="1">
                <a:sym typeface="+mn-ea"/>
              </a:rPr>
              <a:t>RocksDB</a:t>
            </a:r>
            <a:r>
              <a:rPr lang="en-US" altLang="zh-CN" sz="2000" dirty="0">
                <a:sym typeface="+mn-ea"/>
              </a:rPr>
              <a:t> + </a:t>
            </a:r>
            <a:r>
              <a:rPr lang="en-US" altLang="zh-CN" sz="2000" dirty="0" err="1">
                <a:sym typeface="+mn-ea"/>
              </a:rPr>
              <a:t>ZenFS</a:t>
            </a:r>
            <a:r>
              <a:rPr lang="zh-CN" altLang="en-US" sz="2000" dirty="0">
                <a:sym typeface="+mn-ea"/>
              </a:rPr>
              <a:t>的表现，与之前</a:t>
            </a:r>
            <a:r>
              <a:rPr lang="en-US" altLang="zh-CN" sz="2000" dirty="0" err="1">
                <a:sym typeface="+mn-ea"/>
              </a:rPr>
              <a:t>NVMevirt</a:t>
            </a:r>
            <a:r>
              <a:rPr lang="zh-CN" altLang="en-US" sz="2000" dirty="0">
                <a:sym typeface="+mn-ea"/>
              </a:rPr>
              <a:t>模拟结果相比，模拟器的延迟过低。我认为原因在于它是内核模块实现，可能只体现了主机</a:t>
            </a:r>
            <a:r>
              <a:rPr lang="en-US" altLang="zh-CN" sz="2000" dirty="0">
                <a:sym typeface="+mn-ea"/>
              </a:rPr>
              <a:t>l/O</a:t>
            </a:r>
            <a:r>
              <a:rPr lang="zh-CN" altLang="en-US" sz="2000" dirty="0">
                <a:sym typeface="+mn-ea"/>
              </a:rPr>
              <a:t>栈的延迟。</a:t>
            </a:r>
            <a:endParaRPr lang="en-US" altLang="zh-CN" sz="2000" dirty="0">
              <a:sym typeface="+mn-ea"/>
            </a:endParaRPr>
          </a:p>
          <a:p>
            <a:pPr marL="342900" indent="-342900">
              <a:lnSpc>
                <a:spcPct val="130000"/>
              </a:lnSpc>
              <a:buFont typeface="Wingdings" panose="05000000000000000000" charset="0"/>
              <a:buChar char="q"/>
            </a:pPr>
            <a:r>
              <a:rPr lang="zh-CN" altLang="en-US" sz="2000" dirty="0">
                <a:sym typeface="+mn-ea"/>
              </a:rPr>
              <a:t>连接到服务器后，查看块设备，如右下图所示</a:t>
            </a:r>
            <a:endParaRPr lang="en-US" altLang="zh-CN" sz="2000" dirty="0">
              <a:sym typeface="+mn-ea"/>
            </a:endParaRPr>
          </a:p>
        </p:txBody>
      </p:sp>
      <p:sp>
        <p:nvSpPr>
          <p:cNvPr id="7" name="Fußzeilenplatzhalter 4">
            <a:extLst>
              <a:ext uri="{FF2B5EF4-FFF2-40B4-BE49-F238E27FC236}">
                <a16:creationId xmlns:a16="http://schemas.microsoft.com/office/drawing/2014/main" id="{293457A3-1637-3737-9B53-1CF17294975F}"/>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8" name="图片 7">
            <a:extLst>
              <a:ext uri="{FF2B5EF4-FFF2-40B4-BE49-F238E27FC236}">
                <a16:creationId xmlns:a16="http://schemas.microsoft.com/office/drawing/2014/main" id="{E6F57F7C-C43A-4F29-54A3-9E2A41811FC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85299" y="1248081"/>
            <a:ext cx="1598233" cy="2243013"/>
          </a:xfrm>
          <a:prstGeom prst="rect">
            <a:avLst/>
          </a:prstGeom>
        </p:spPr>
      </p:pic>
      <p:pic>
        <p:nvPicPr>
          <p:cNvPr id="11" name="图片 10">
            <a:extLst>
              <a:ext uri="{FF2B5EF4-FFF2-40B4-BE49-F238E27FC236}">
                <a16:creationId xmlns:a16="http://schemas.microsoft.com/office/drawing/2014/main" id="{B6DE7B69-1B2D-65EE-4842-C041A20604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3977" y="1248799"/>
            <a:ext cx="1693704" cy="2258272"/>
          </a:xfrm>
          <a:prstGeom prst="rect">
            <a:avLst/>
          </a:prstGeom>
        </p:spPr>
      </p:pic>
      <p:pic>
        <p:nvPicPr>
          <p:cNvPr id="27" name="图片 26">
            <a:extLst>
              <a:ext uri="{FF2B5EF4-FFF2-40B4-BE49-F238E27FC236}">
                <a16:creationId xmlns:a16="http://schemas.microsoft.com/office/drawing/2014/main" id="{777837E1-82E7-66D5-866F-6FEAA4F2882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66174" y="4065765"/>
            <a:ext cx="5517358" cy="2270957"/>
          </a:xfrm>
          <a:prstGeom prst="rect">
            <a:avLst/>
          </a:prstGeom>
        </p:spPr>
      </p:pic>
    </p:spTree>
    <p:extLst>
      <p:ext uri="{BB962C8B-B14F-4D97-AF65-F5344CB8AC3E}">
        <p14:creationId xmlns:p14="http://schemas.microsoft.com/office/powerpoint/2010/main" val="35623334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8" name="矩形: 圆角 7"/>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角 14"/>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15183" y="1080755"/>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charset="0"/>
              </a:rPr>
              <a:t>ZNS</a:t>
            </a:r>
            <a:r>
              <a:rPr lang="zh-CN" altLang="en-US" sz="2400" dirty="0">
                <a:solidFill>
                  <a:srgbClr val="4747BA"/>
                </a:solidFill>
                <a:ea typeface="+mn-lt"/>
                <a:cs typeface="Times New Roman" panose="02020603050405020304" charset="0"/>
              </a:rPr>
              <a:t>设计及其特性</a:t>
            </a:r>
            <a:endParaRPr lang="en-US" altLang="zh-CN" sz="2400" dirty="0">
              <a:solidFill>
                <a:srgbClr val="4747BA"/>
              </a:solidFill>
              <a:ea typeface="+mn-lt"/>
              <a:cs typeface="Times New Roman" panose="02020603050405020304" charset="0"/>
            </a:endParaRPr>
          </a:p>
        </p:txBody>
      </p:sp>
      <p:sp>
        <p:nvSpPr>
          <p:cNvPr id="3" name="文本框 2"/>
          <p:cNvSpPr txBox="1"/>
          <p:nvPr/>
        </p:nvSpPr>
        <p:spPr>
          <a:xfrm>
            <a:off x="440055" y="1790929"/>
            <a:ext cx="10217207" cy="2059218"/>
          </a:xfrm>
          <a:prstGeom prst="rect">
            <a:avLst/>
          </a:prstGeom>
          <a:noFill/>
        </p:spPr>
        <p:txBody>
          <a:bodyPr wrap="square" rtlCol="0">
            <a:spAutoFit/>
          </a:bodyPr>
          <a:lstStyle/>
          <a:p>
            <a:pPr marL="285750" indent="-285750">
              <a:lnSpc>
                <a:spcPct val="130000"/>
              </a:lnSpc>
              <a:buFont typeface="Wingdings" panose="05000000000000000000" charset="0"/>
              <a:buChar char="q"/>
            </a:pPr>
            <a:r>
              <a:rPr lang="en-US" altLang="zh-CN" sz="2000" i="0" dirty="0">
                <a:solidFill>
                  <a:srgbClr val="374151"/>
                </a:solidFill>
                <a:effectLst/>
                <a:latin typeface="Söhne"/>
              </a:rPr>
              <a:t>ZNS</a:t>
            </a:r>
            <a:r>
              <a:rPr lang="zh-CN" altLang="en-US" sz="2000" i="0" dirty="0">
                <a:solidFill>
                  <a:srgbClr val="374151"/>
                </a:solidFill>
                <a:effectLst/>
                <a:latin typeface="Söhne"/>
              </a:rPr>
              <a:t>（</a:t>
            </a:r>
            <a:r>
              <a:rPr lang="en-US" altLang="zh-CN" sz="2000" i="0" dirty="0">
                <a:solidFill>
                  <a:srgbClr val="374151"/>
                </a:solidFill>
                <a:effectLst/>
                <a:latin typeface="Söhne"/>
              </a:rPr>
              <a:t>Zoned Namespace</a:t>
            </a:r>
            <a:r>
              <a:rPr lang="zh-CN" altLang="en-US" sz="2000" i="0" dirty="0">
                <a:solidFill>
                  <a:srgbClr val="374151"/>
                </a:solidFill>
                <a:effectLst/>
                <a:latin typeface="Söhne"/>
              </a:rPr>
              <a:t>）</a:t>
            </a:r>
            <a:r>
              <a:rPr lang="zh-CN" altLang="en-US" sz="2000" i="0" dirty="0">
                <a:solidFill>
                  <a:srgbClr val="000000"/>
                </a:solidFill>
                <a:effectLst/>
                <a:latin typeface="_5b8b_4f53"/>
              </a:rPr>
              <a:t>是一种面向大规模数据中心设计的新型存储设备，其设计理念是将</a:t>
            </a:r>
            <a:r>
              <a:rPr lang="en-US" altLang="zh-CN" sz="2000" i="0" dirty="0">
                <a:solidFill>
                  <a:srgbClr val="000000"/>
                </a:solidFill>
                <a:effectLst/>
                <a:latin typeface="_5b8b_4f53"/>
              </a:rPr>
              <a:t>SSD</a:t>
            </a:r>
            <a:r>
              <a:rPr lang="zh-CN" altLang="en-US" sz="2000" i="0" dirty="0">
                <a:solidFill>
                  <a:srgbClr val="000000"/>
                </a:solidFill>
                <a:effectLst/>
                <a:latin typeface="_5b8b_4f53"/>
              </a:rPr>
              <a:t>的存储空间按更大的粒度划分为不同的区域，每个区域具有独立的属性。与传统的块设备最大的不同在于，</a:t>
            </a:r>
            <a:r>
              <a:rPr lang="en-US" altLang="zh-CN" sz="2000" i="0" dirty="0">
                <a:solidFill>
                  <a:srgbClr val="000000"/>
                </a:solidFill>
                <a:effectLst/>
                <a:latin typeface="_5b8b_4f53"/>
              </a:rPr>
              <a:t>ZNS</a:t>
            </a:r>
            <a:r>
              <a:rPr lang="zh-CN" altLang="en-US" sz="2000" i="0" dirty="0">
                <a:solidFill>
                  <a:srgbClr val="000000"/>
                </a:solidFill>
                <a:effectLst/>
                <a:latin typeface="_5b8b_4f53"/>
              </a:rPr>
              <a:t>要求在一个区域内顺序写入数据。</a:t>
            </a:r>
            <a:r>
              <a:rPr lang="en-US" altLang="zh-CN" sz="2000" i="0" dirty="0">
                <a:solidFill>
                  <a:srgbClr val="000000"/>
                </a:solidFill>
                <a:effectLst/>
                <a:latin typeface="_5b8b_4f53"/>
              </a:rPr>
              <a:t>ZNS</a:t>
            </a:r>
            <a:r>
              <a:rPr lang="zh-CN" altLang="en-US" sz="2000" i="0" dirty="0">
                <a:solidFill>
                  <a:srgbClr val="000000"/>
                </a:solidFill>
                <a:effectLst/>
                <a:latin typeface="_5b8b_4f53"/>
              </a:rPr>
              <a:t>的设计旨在解决传统固态硬盘</a:t>
            </a:r>
            <a:r>
              <a:rPr lang="en-US" altLang="zh-CN" sz="2000" i="0" dirty="0">
                <a:solidFill>
                  <a:srgbClr val="000000"/>
                </a:solidFill>
                <a:effectLst/>
                <a:latin typeface="_5b8b_4f53"/>
              </a:rPr>
              <a:t>(SSD)</a:t>
            </a:r>
            <a:r>
              <a:rPr lang="zh-CN" altLang="en-US" sz="2000" i="0" dirty="0">
                <a:solidFill>
                  <a:srgbClr val="000000"/>
                </a:solidFill>
                <a:effectLst/>
                <a:latin typeface="_5b8b_4f53"/>
              </a:rPr>
              <a:t>存在的一些问题，例如其中比较典型的写放大问题</a:t>
            </a:r>
            <a:r>
              <a:rPr lang="zh-CN" altLang="en-US" sz="2000" dirty="0">
                <a:solidFill>
                  <a:srgbClr val="000000"/>
                </a:solidFill>
                <a:latin typeface="_5b8b_4f53"/>
              </a:rPr>
              <a:t>，</a:t>
            </a:r>
            <a:r>
              <a:rPr lang="zh-CN" altLang="en-US" sz="2000" i="0" dirty="0">
                <a:solidFill>
                  <a:srgbClr val="000000"/>
                </a:solidFill>
                <a:effectLst/>
                <a:latin typeface="_5b8b_4f53"/>
              </a:rPr>
              <a:t>并提供了更高性能和更低成本的存储解决方案。</a:t>
            </a:r>
            <a:endParaRPr lang="zh-CN" altLang="en-US" sz="2000" dirty="0">
              <a:latin typeface="Cambria Math" panose="02040503050406030204" charset="0"/>
              <a:cs typeface="Cambria Math" panose="02040503050406030204" charset="0"/>
            </a:endParaRPr>
          </a:p>
        </p:txBody>
      </p:sp>
      <p:sp>
        <p:nvSpPr>
          <p:cNvPr id="15" name="Fußzeilenplatzhalter 4">
            <a:extLst>
              <a:ext uri="{FF2B5EF4-FFF2-40B4-BE49-F238E27FC236}">
                <a16:creationId xmlns:a16="http://schemas.microsoft.com/office/drawing/2014/main" id="{2F8C07CB-D5E6-905C-4CA5-A0B50B3FAE09}"/>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0" name="文本框 9">
            <a:extLst>
              <a:ext uri="{FF2B5EF4-FFF2-40B4-BE49-F238E27FC236}">
                <a16:creationId xmlns:a16="http://schemas.microsoft.com/office/drawing/2014/main" id="{95B4F2D2-6F9F-ED72-BE0E-8F42CF1296B1}"/>
              </a:ext>
            </a:extLst>
          </p:cNvPr>
          <p:cNvSpPr txBox="1"/>
          <p:nvPr/>
        </p:nvSpPr>
        <p:spPr>
          <a:xfrm>
            <a:off x="440055" y="4314086"/>
            <a:ext cx="10075545" cy="858889"/>
          </a:xfrm>
          <a:prstGeom prst="rect">
            <a:avLst/>
          </a:prstGeom>
          <a:noFill/>
        </p:spPr>
        <p:txBody>
          <a:bodyPr wrap="square">
            <a:spAutoFit/>
          </a:bodyPr>
          <a:lstStyle/>
          <a:p>
            <a:pPr marL="285750" indent="-285750">
              <a:lnSpc>
                <a:spcPct val="130000"/>
              </a:lnSpc>
              <a:buFont typeface="Wingdings" panose="05000000000000000000" charset="0"/>
              <a:buChar char="q"/>
            </a:pPr>
            <a:r>
              <a:rPr lang="en-US" altLang="zh-CN" sz="2000" dirty="0">
                <a:latin typeface="Cambria Math" panose="02040503050406030204" charset="0"/>
                <a:cs typeface="Cambria Math" panose="02040503050406030204" charset="0"/>
              </a:rPr>
              <a:t> </a:t>
            </a:r>
            <a:r>
              <a:rPr lang="zh-CN" altLang="en-US" sz="2000" dirty="0">
                <a:latin typeface="Cambria Math" panose="02040503050406030204" charset="0"/>
                <a:cs typeface="Cambria Math" panose="02040503050406030204" charset="0"/>
              </a:rPr>
              <a:t>更具体地，</a:t>
            </a:r>
            <a:r>
              <a:rPr lang="en-US" altLang="zh-CN" sz="2000" dirty="0">
                <a:latin typeface="Cambria Math" panose="02040503050406030204" charset="0"/>
                <a:cs typeface="Cambria Math" panose="02040503050406030204" charset="0"/>
              </a:rPr>
              <a:t>ZNS</a:t>
            </a:r>
            <a:r>
              <a:rPr lang="zh-CN" altLang="en-US" sz="2000" dirty="0">
                <a:latin typeface="Cambria Math" panose="02040503050406030204" charset="0"/>
                <a:cs typeface="Cambria Math" panose="02040503050406030204" charset="0"/>
              </a:rPr>
              <a:t>将存储空间划分为多个区域（</a:t>
            </a:r>
            <a:r>
              <a:rPr lang="en-US" altLang="zh-CN" sz="2000" dirty="0">
                <a:latin typeface="Cambria Math" panose="02040503050406030204" charset="0"/>
                <a:cs typeface="Cambria Math" panose="02040503050406030204" charset="0"/>
              </a:rPr>
              <a:t>zones</a:t>
            </a:r>
            <a:r>
              <a:rPr lang="zh-CN" altLang="en-US" sz="2000" dirty="0">
                <a:latin typeface="Cambria Math" panose="02040503050406030204" charset="0"/>
                <a:cs typeface="Cambria Math" panose="02040503050406030204" charset="0"/>
              </a:rPr>
              <a:t>），每个区必须按顺序写入，回收复用之前必须被显示的重置。</a:t>
            </a:r>
            <a:r>
              <a:rPr lang="en-US" altLang="zh-CN" sz="2000" dirty="0">
                <a:latin typeface="Cambria Math" panose="02040503050406030204" charset="0"/>
                <a:cs typeface="Cambria Math" panose="02040503050406030204" charset="0"/>
              </a:rPr>
              <a:t>ZNS</a:t>
            </a:r>
            <a:r>
              <a:rPr lang="zh-CN" altLang="en-US" sz="2000" dirty="0">
                <a:latin typeface="Cambria Math" panose="02040503050406030204" charset="0"/>
                <a:cs typeface="Cambria Math" panose="02040503050406030204" charset="0"/>
              </a:rPr>
              <a:t>带来的优势主要有：</a:t>
            </a:r>
          </a:p>
        </p:txBody>
      </p:sp>
      <p:sp>
        <p:nvSpPr>
          <p:cNvPr id="4" name="文本框 3">
            <a:extLst>
              <a:ext uri="{FF2B5EF4-FFF2-40B4-BE49-F238E27FC236}">
                <a16:creationId xmlns:a16="http://schemas.microsoft.com/office/drawing/2014/main" id="{426785E3-D6BA-F9AA-42DF-68F57C5C69C9}"/>
              </a:ext>
            </a:extLst>
          </p:cNvPr>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ZNS</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charset="0"/>
              </a:rPr>
              <a:t>ZNS</a:t>
            </a:r>
            <a:r>
              <a:rPr lang="zh-CN" altLang="en-US" sz="2400" dirty="0">
                <a:solidFill>
                  <a:srgbClr val="4747BA"/>
                </a:solidFill>
                <a:ea typeface="+mn-lt"/>
                <a:cs typeface="Times New Roman" panose="02020603050405020304" charset="0"/>
              </a:rPr>
              <a:t>的优势</a:t>
            </a:r>
            <a:endParaRPr lang="en-US" altLang="zh-CN" sz="2400" dirty="0">
              <a:solidFill>
                <a:srgbClr val="4747BA"/>
              </a:solidFill>
              <a:ea typeface="+mn-lt"/>
              <a:cs typeface="Times New Roman" panose="02020603050405020304" charset="0"/>
            </a:endParaRPr>
          </a:p>
        </p:txBody>
      </p:sp>
      <p:sp>
        <p:nvSpPr>
          <p:cNvPr id="3" name="文本框 2"/>
          <p:cNvSpPr txBox="1"/>
          <p:nvPr/>
        </p:nvSpPr>
        <p:spPr>
          <a:xfrm>
            <a:off x="385590" y="1836044"/>
            <a:ext cx="10217207" cy="966611"/>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charset="0"/>
                <a:cs typeface="Cambria Math" panose="02040503050406030204" charset="0"/>
              </a:rPr>
              <a:t>提高性能：</a:t>
            </a:r>
            <a:r>
              <a:rPr lang="zh-CN" altLang="en-US" sz="2000" dirty="0">
                <a:latin typeface="Cambria Math" panose="02040503050406030204" charset="0"/>
                <a:cs typeface="Cambria Math" panose="02040503050406030204" charset="0"/>
              </a:rPr>
              <a:t>主要通过引入顺序写入方式，减少寻址（映射）、垃圾回收等传统</a:t>
            </a:r>
            <a:r>
              <a:rPr lang="en-US" altLang="zh-CN" sz="2000" dirty="0">
                <a:latin typeface="Cambria Math" panose="02040503050406030204" charset="0"/>
                <a:cs typeface="Cambria Math" panose="02040503050406030204" charset="0"/>
              </a:rPr>
              <a:t>SSD</a:t>
            </a:r>
            <a:r>
              <a:rPr lang="zh-CN" altLang="en-US" sz="2000" dirty="0">
                <a:latin typeface="Cambria Math" panose="02040503050406030204" charset="0"/>
                <a:cs typeface="Cambria Math" panose="02040503050406030204" charset="0"/>
              </a:rPr>
              <a:t>中</a:t>
            </a:r>
            <a:r>
              <a:rPr lang="en-US" altLang="zh-CN" sz="2000" dirty="0">
                <a:latin typeface="Cambria Math" panose="02040503050406030204" charset="0"/>
                <a:cs typeface="Cambria Math" panose="02040503050406030204" charset="0"/>
              </a:rPr>
              <a:t>FTL</a:t>
            </a:r>
            <a:r>
              <a:rPr lang="zh-CN" altLang="en-US" sz="2000" dirty="0">
                <a:latin typeface="Cambria Math" panose="02040503050406030204" charset="0"/>
                <a:cs typeface="Cambria Math" panose="02040503050406030204" charset="0"/>
              </a:rPr>
              <a:t>层带来的开销，提高了性能。</a:t>
            </a:r>
          </a:p>
        </p:txBody>
      </p:sp>
      <p:sp>
        <p:nvSpPr>
          <p:cNvPr id="5" name="文本框 4">
            <a:extLst>
              <a:ext uri="{FF2B5EF4-FFF2-40B4-BE49-F238E27FC236}">
                <a16:creationId xmlns:a16="http://schemas.microsoft.com/office/drawing/2014/main" id="{B57A7FEA-3323-2A94-436B-618CC919B6BC}"/>
              </a:ext>
            </a:extLst>
          </p:cNvPr>
          <p:cNvSpPr txBox="1"/>
          <p:nvPr/>
        </p:nvSpPr>
        <p:spPr>
          <a:xfrm>
            <a:off x="385590" y="2945694"/>
            <a:ext cx="10217207" cy="966611"/>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charset="0"/>
                <a:cs typeface="Cambria Math" panose="02040503050406030204" charset="0"/>
              </a:rPr>
              <a:t>寿命优化： </a:t>
            </a:r>
            <a:r>
              <a:rPr lang="zh-CN" altLang="en-US" sz="2000" dirty="0">
                <a:latin typeface="Cambria Math" panose="02040503050406030204" charset="0"/>
                <a:cs typeface="Cambria Math" panose="02040503050406030204" charset="0"/>
              </a:rPr>
              <a:t>通过减少随机写入（其可能带来设备内写放大），延长存储设备的使用寿命，降低维护和更换的成本。使得制作更廉价、更大容量、更可靠的</a:t>
            </a:r>
            <a:r>
              <a:rPr lang="en-US" altLang="zh-CN" sz="2000" dirty="0">
                <a:latin typeface="Cambria Math" panose="02040503050406030204" charset="0"/>
                <a:cs typeface="Cambria Math" panose="02040503050406030204" charset="0"/>
              </a:rPr>
              <a:t>SSD</a:t>
            </a:r>
            <a:r>
              <a:rPr lang="zh-CN" altLang="en-US" sz="2000" dirty="0">
                <a:latin typeface="Cambria Math" panose="02040503050406030204" charset="0"/>
                <a:cs typeface="Cambria Math" panose="02040503050406030204" charset="0"/>
              </a:rPr>
              <a:t>变得可能。</a:t>
            </a:r>
          </a:p>
        </p:txBody>
      </p:sp>
      <p:sp>
        <p:nvSpPr>
          <p:cNvPr id="7" name="文本框 6">
            <a:extLst>
              <a:ext uri="{FF2B5EF4-FFF2-40B4-BE49-F238E27FC236}">
                <a16:creationId xmlns:a16="http://schemas.microsoft.com/office/drawing/2014/main" id="{AB196CB8-DBDB-EE20-0005-C4DC86ACD3D0}"/>
              </a:ext>
            </a:extLst>
          </p:cNvPr>
          <p:cNvSpPr txBox="1"/>
          <p:nvPr/>
        </p:nvSpPr>
        <p:spPr>
          <a:xfrm>
            <a:off x="410462" y="4117551"/>
            <a:ext cx="10217207" cy="1428276"/>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2000" b="1" dirty="0">
                <a:latin typeface="Cambria Math" panose="02040503050406030204" charset="0"/>
                <a:cs typeface="Cambria Math" panose="02040503050406030204" charset="0"/>
              </a:rPr>
              <a:t>可见性</a:t>
            </a:r>
            <a:r>
              <a:rPr lang="en-US" altLang="zh-CN" sz="2000" b="1" dirty="0">
                <a:latin typeface="Cambria Math" panose="02040503050406030204" charset="0"/>
                <a:cs typeface="Cambria Math" panose="02040503050406030204" charset="0"/>
              </a:rPr>
              <a:t>&amp;</a:t>
            </a:r>
            <a:r>
              <a:rPr lang="zh-CN" altLang="en-US" sz="2000" b="1" dirty="0">
                <a:latin typeface="Cambria Math" panose="02040503050406030204" charset="0"/>
                <a:cs typeface="Cambria Math" panose="02040503050406030204" charset="0"/>
              </a:rPr>
              <a:t>可预测性：</a:t>
            </a:r>
            <a:r>
              <a:rPr lang="zh-CN" altLang="en-US" sz="2000" dirty="0">
                <a:latin typeface="Cambria Math" panose="02040503050406030204" charset="0"/>
                <a:cs typeface="Cambria Math" panose="02040503050406030204" charset="0"/>
              </a:rPr>
              <a:t>传统硬盘对于上层应用来说是黑盒。但</a:t>
            </a:r>
            <a:r>
              <a:rPr lang="en-US" altLang="zh-CN" sz="2000" dirty="0">
                <a:latin typeface="Cambria Math" panose="02040503050406030204" charset="0"/>
                <a:cs typeface="Cambria Math" panose="02040503050406030204" charset="0"/>
              </a:rPr>
              <a:t>ZNS</a:t>
            </a:r>
            <a:r>
              <a:rPr lang="zh-CN" altLang="en-US" sz="2000" dirty="0">
                <a:latin typeface="Cambria Math" panose="02040503050406030204" charset="0"/>
                <a:cs typeface="Cambria Math" panose="02040503050406030204" charset="0"/>
              </a:rPr>
              <a:t>允许应用感知数据存入磁盘后的物理位置，支持根据不同的应用场景对存储空间进行灵活划分，以提高存储效率。另一方面，由于消除了设备内的写放大，使得写入的性能开销可预测。</a:t>
            </a:r>
          </a:p>
        </p:txBody>
      </p:sp>
      <p:sp>
        <p:nvSpPr>
          <p:cNvPr id="10" name="Fußzeilenplatzhalter 4">
            <a:extLst>
              <a:ext uri="{FF2B5EF4-FFF2-40B4-BE49-F238E27FC236}">
                <a16:creationId xmlns:a16="http://schemas.microsoft.com/office/drawing/2014/main" id="{41291BC8-BAF3-496D-6C37-8B6EEABE8583}"/>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4" name="文本框 3">
            <a:extLst>
              <a:ext uri="{FF2B5EF4-FFF2-40B4-BE49-F238E27FC236}">
                <a16:creationId xmlns:a16="http://schemas.microsoft.com/office/drawing/2014/main" id="{DF66B952-2D8B-6C80-4233-3B5CF868A2BD}"/>
              </a:ext>
            </a:extLst>
          </p:cNvPr>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ZNS</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26252256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0" y="226263"/>
            <a:ext cx="6798981" cy="5909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ZNS</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r>
              <a:rPr lang="en-US" altLang="zh-CN"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zh-CN" altLang="en-US" sz="2400" dirty="0">
                <a:solidFill>
                  <a:srgbClr val="4747BA"/>
                </a:solidFill>
                <a:ea typeface="+mn-lt"/>
                <a:cs typeface="Times New Roman" panose="02020603050405020304" charset="0"/>
              </a:rPr>
              <a:t>如何适配</a:t>
            </a:r>
            <a:r>
              <a:rPr lang="en-US" altLang="zh-CN" sz="2400" dirty="0">
                <a:solidFill>
                  <a:srgbClr val="4747BA"/>
                </a:solidFill>
                <a:ea typeface="+mn-lt"/>
                <a:cs typeface="Times New Roman" panose="02020603050405020304" charset="0"/>
              </a:rPr>
              <a:t>ZNS</a:t>
            </a:r>
          </a:p>
        </p:txBody>
      </p:sp>
      <p:sp>
        <p:nvSpPr>
          <p:cNvPr id="3" name="文本框 2"/>
          <p:cNvSpPr txBox="1"/>
          <p:nvPr/>
        </p:nvSpPr>
        <p:spPr>
          <a:xfrm>
            <a:off x="385590" y="1548765"/>
            <a:ext cx="10811351" cy="3928127"/>
          </a:xfrm>
          <a:prstGeom prst="rect">
            <a:avLst/>
          </a:prstGeom>
          <a:noFill/>
        </p:spPr>
        <p:txBody>
          <a:bodyPr wrap="square" rtlCol="0">
            <a:spAutoFit/>
          </a:bodyPr>
          <a:lstStyle/>
          <a:p>
            <a:pPr>
              <a:lnSpc>
                <a:spcPct val="200000"/>
              </a:lnSpc>
            </a:pPr>
            <a:r>
              <a:rPr lang="zh-CN" altLang="en-US" dirty="0">
                <a:latin typeface="Cambria Math" panose="02040503050406030204" charset="0"/>
                <a:cs typeface="Cambria Math" panose="02040503050406030204" charset="0"/>
              </a:rPr>
              <a:t>下面介绍主机软件适应</a:t>
            </a:r>
            <a:r>
              <a:rPr lang="en-US" altLang="zh-CN" dirty="0">
                <a:latin typeface="Cambria Math" panose="02040503050406030204" charset="0"/>
                <a:cs typeface="Cambria Math" panose="02040503050406030204" charset="0"/>
              </a:rPr>
              <a:t>ZNS</a:t>
            </a:r>
            <a:r>
              <a:rPr lang="zh-CN" altLang="en-US" dirty="0">
                <a:latin typeface="Cambria Math" panose="02040503050406030204" charset="0"/>
                <a:cs typeface="Cambria Math" panose="02040503050406030204" charset="0"/>
              </a:rPr>
              <a:t>的三种方法：</a:t>
            </a:r>
            <a:endParaRPr lang="en-US" altLang="zh-CN" dirty="0">
              <a:latin typeface="Cambria Math" panose="02040503050406030204" charset="0"/>
              <a:cs typeface="Cambria Math" panose="02040503050406030204" charset="0"/>
            </a:endParaRPr>
          </a:p>
          <a:p>
            <a:pPr indent="-285750">
              <a:lnSpc>
                <a:spcPct val="150000"/>
              </a:lnSpc>
              <a:buFont typeface="Wingdings" panose="05000000000000000000" charset="0"/>
              <a:buChar char="q"/>
            </a:pPr>
            <a:r>
              <a:rPr lang="zh-CN" altLang="en-US" b="1" dirty="0"/>
              <a:t>主机端闪存转换层（</a:t>
            </a:r>
            <a:r>
              <a:rPr lang="en-US" altLang="zh-CN" b="1" dirty="0"/>
              <a:t>HFTL</a:t>
            </a:r>
            <a:r>
              <a:rPr lang="zh-CN" altLang="en-US" b="1" dirty="0"/>
              <a:t>）：</a:t>
            </a:r>
            <a:r>
              <a:rPr lang="en-US" altLang="zh-CN" dirty="0"/>
              <a:t>HFTL</a:t>
            </a:r>
            <a:r>
              <a:rPr lang="zh-CN" altLang="en-US" dirty="0"/>
              <a:t>充当</a:t>
            </a:r>
            <a:r>
              <a:rPr lang="en-US" altLang="zh-CN" dirty="0"/>
              <a:t>ZNS SSD</a:t>
            </a:r>
            <a:r>
              <a:rPr lang="zh-CN" altLang="en-US" dirty="0"/>
              <a:t>的写入语义与执行随机写入及就地更新的应用之间的中介。它的职责与</a:t>
            </a:r>
            <a:r>
              <a:rPr lang="en-US" altLang="zh-CN" dirty="0"/>
              <a:t>SSD</a:t>
            </a:r>
            <a:r>
              <a:rPr lang="zh-CN" altLang="en-US" dirty="0"/>
              <a:t>中的</a:t>
            </a:r>
            <a:r>
              <a:rPr lang="en-US" altLang="zh-CN" dirty="0"/>
              <a:t>FTL</a:t>
            </a:r>
            <a:r>
              <a:rPr lang="zh-CN" altLang="en-US" dirty="0"/>
              <a:t>相似，但仅限于管理转换映射和相关的垃圾回收。</a:t>
            </a:r>
            <a:endParaRPr lang="en-US" altLang="zh-CN" dirty="0"/>
          </a:p>
          <a:p>
            <a:pPr indent="-285750">
              <a:lnSpc>
                <a:spcPct val="150000"/>
              </a:lnSpc>
              <a:buFont typeface="Wingdings" panose="05000000000000000000" charset="0"/>
              <a:buChar char="q"/>
            </a:pPr>
            <a:r>
              <a:rPr lang="zh-CN" altLang="en-US" b="1" dirty="0"/>
              <a:t>文件系统：</a:t>
            </a:r>
            <a:r>
              <a:rPr lang="zh-CN" altLang="en-US" dirty="0"/>
              <a:t>通过将</a:t>
            </a:r>
            <a:r>
              <a:rPr lang="en-US" altLang="zh-CN" dirty="0"/>
              <a:t>Zone</a:t>
            </a:r>
            <a:r>
              <a:rPr lang="zh-CN" altLang="en-US" dirty="0"/>
              <a:t>接口逻辑与现有存储堆栈整合，可以消除与</a:t>
            </a:r>
            <a:r>
              <a:rPr lang="en-US" altLang="zh-CN" dirty="0"/>
              <a:t>HFTL</a:t>
            </a:r>
            <a:r>
              <a:rPr lang="zh-CN" altLang="en-US" dirty="0"/>
              <a:t>和</a:t>
            </a:r>
            <a:r>
              <a:rPr lang="en-US" altLang="zh-CN" dirty="0"/>
              <a:t>FTL</a:t>
            </a:r>
            <a:r>
              <a:rPr lang="zh-CN" altLang="en-US" dirty="0"/>
              <a:t>数据放置及相关间接开销。这也可以改善设备上的数据放置。但是，目前大多数文件系统主要执行就地写入，适应区域存储模型通常很困难。一些文件系统（如</a:t>
            </a:r>
            <a:r>
              <a:rPr lang="en-US" altLang="zh-CN" dirty="0"/>
              <a:t>f2fs</a:t>
            </a:r>
            <a:r>
              <a:rPr lang="zh-CN" altLang="en-US" dirty="0"/>
              <a:t>、</a:t>
            </a:r>
            <a:r>
              <a:rPr lang="en-US" altLang="zh-CN" dirty="0" err="1"/>
              <a:t>btrfs</a:t>
            </a:r>
            <a:r>
              <a:rPr lang="zh-CN" altLang="en-US" dirty="0"/>
              <a:t>和</a:t>
            </a:r>
            <a:r>
              <a:rPr lang="en-US" altLang="zh-CN" dirty="0" err="1"/>
              <a:t>zfs</a:t>
            </a:r>
            <a:r>
              <a:rPr lang="zh-CN" altLang="en-US" dirty="0"/>
              <a:t>）可能更适合</a:t>
            </a:r>
            <a:r>
              <a:rPr lang="en-US" altLang="zh-CN" dirty="0"/>
              <a:t>ZNS</a:t>
            </a:r>
            <a:r>
              <a:rPr lang="zh-CN" altLang="en-US" dirty="0"/>
              <a:t>。</a:t>
            </a:r>
            <a:endParaRPr lang="en-US" altLang="zh-CN" dirty="0"/>
          </a:p>
          <a:p>
            <a:pPr indent="-285750">
              <a:lnSpc>
                <a:spcPct val="150000"/>
              </a:lnSpc>
              <a:buFont typeface="Wingdings" panose="05000000000000000000" charset="0"/>
              <a:buChar char="q"/>
            </a:pPr>
            <a:r>
              <a:rPr lang="zh-CN" altLang="en-US" b="1" dirty="0"/>
              <a:t>针对顺序写入操作的应用：</a:t>
            </a:r>
            <a:r>
              <a:rPr lang="zh-CN" altLang="en-US" dirty="0"/>
              <a:t>对于顺序写为主的存储应用来说，</a:t>
            </a:r>
            <a:r>
              <a:rPr lang="en-US" altLang="zh-CN" dirty="0"/>
              <a:t>ZNS</a:t>
            </a:r>
            <a:r>
              <a:rPr lang="zh-CN" altLang="en-US" dirty="0"/>
              <a:t>是一个很好的选择。例如，基于日志合并（</a:t>
            </a:r>
            <a:r>
              <a:rPr lang="en-US" altLang="zh-CN" dirty="0"/>
              <a:t>LSM</a:t>
            </a:r>
            <a:r>
              <a:rPr lang="zh-CN" altLang="en-US" dirty="0"/>
              <a:t>）树的数据库。这些应用因为其顺序写入的特性，与</a:t>
            </a:r>
            <a:r>
              <a:rPr lang="en-US" altLang="zh-CN" dirty="0"/>
              <a:t>ZNS</a:t>
            </a:r>
            <a:r>
              <a:rPr lang="zh-CN" altLang="en-US" dirty="0"/>
              <a:t>接口的设计高度兼容。反之，就地更新为主的应用则很难支持，除非对核心数据结构进行根本性修改。</a:t>
            </a:r>
          </a:p>
        </p:txBody>
      </p:sp>
      <p:sp>
        <p:nvSpPr>
          <p:cNvPr id="10" name="Fußzeilenplatzhalter 4">
            <a:extLst>
              <a:ext uri="{FF2B5EF4-FFF2-40B4-BE49-F238E27FC236}">
                <a16:creationId xmlns:a16="http://schemas.microsoft.com/office/drawing/2014/main" id="{41291BC8-BAF3-496D-6C37-8B6EEABE8583}"/>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Tree>
    <p:extLst>
      <p:ext uri="{BB962C8B-B14F-4D97-AF65-F5344CB8AC3E}">
        <p14:creationId xmlns:p14="http://schemas.microsoft.com/office/powerpoint/2010/main" val="41539547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415183" y="166469"/>
            <a:ext cx="6798981" cy="645160"/>
          </a:xfrm>
          <a:prstGeom prst="rect">
            <a:avLst/>
          </a:prstGeom>
          <a:noFill/>
        </p:spPr>
        <p:txBody>
          <a:bodyPr wrap="square" rtlCol="0">
            <a:spAutoFit/>
          </a:bodyPr>
          <a:lstStyle/>
          <a:p>
            <a:pPr>
              <a:lnSpc>
                <a:spcPct val="90000"/>
              </a:lnSpc>
              <a:spcBef>
                <a:spcPts val="1000"/>
              </a:spcBef>
              <a:defRPr/>
            </a:pP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相关文献</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p:cNvSpPr txBox="1"/>
          <p:nvPr/>
        </p:nvSpPr>
        <p:spPr>
          <a:xfrm>
            <a:off x="440055" y="1088390"/>
            <a:ext cx="6951980" cy="460375"/>
          </a:xfrm>
          <a:prstGeom prst="rect">
            <a:avLst/>
          </a:prstGeom>
          <a:noFill/>
        </p:spPr>
        <p:txBody>
          <a:bodyPr wrap="square" rtlCol="0">
            <a:spAutoFit/>
          </a:bodyPr>
          <a:lstStyle/>
          <a:p>
            <a:r>
              <a:rPr lang="en-US" altLang="zh-CN" sz="2400" dirty="0">
                <a:solidFill>
                  <a:srgbClr val="4747BA"/>
                </a:solidFill>
                <a:ea typeface="+mn-lt"/>
                <a:cs typeface="Times New Roman" panose="02020603050405020304" charset="0"/>
              </a:rPr>
              <a:t>ZNS</a:t>
            </a:r>
            <a:r>
              <a:rPr lang="zh-CN" altLang="en-US" sz="2400" dirty="0">
                <a:solidFill>
                  <a:srgbClr val="4747BA"/>
                </a:solidFill>
                <a:ea typeface="+mn-lt"/>
                <a:cs typeface="Times New Roman" panose="02020603050405020304" charset="0"/>
              </a:rPr>
              <a:t>相关文献：</a:t>
            </a:r>
            <a:endParaRPr lang="en-US" altLang="zh-CN" sz="2400" dirty="0">
              <a:solidFill>
                <a:srgbClr val="4747BA"/>
              </a:solidFill>
              <a:ea typeface="+mn-lt"/>
              <a:cs typeface="Times New Roman" panose="02020603050405020304" charset="0"/>
            </a:endParaRPr>
          </a:p>
        </p:txBody>
      </p:sp>
      <p:sp>
        <p:nvSpPr>
          <p:cNvPr id="11" name="文本框 10">
            <a:extLst>
              <a:ext uri="{FF2B5EF4-FFF2-40B4-BE49-F238E27FC236}">
                <a16:creationId xmlns:a16="http://schemas.microsoft.com/office/drawing/2014/main" id="{BC861810-667E-C3E0-36DE-A0040B7D70CD}"/>
              </a:ext>
            </a:extLst>
          </p:cNvPr>
          <p:cNvSpPr txBox="1"/>
          <p:nvPr/>
        </p:nvSpPr>
        <p:spPr>
          <a:xfrm>
            <a:off x="440055" y="1666450"/>
            <a:ext cx="9407814" cy="4662110"/>
          </a:xfrm>
          <a:prstGeom prst="rect">
            <a:avLst/>
          </a:prstGeom>
          <a:noFill/>
        </p:spPr>
        <p:txBody>
          <a:bodyPr wrap="square" rtlCol="0">
            <a:spAutoFit/>
          </a:bodyPr>
          <a:lstStyle/>
          <a:p>
            <a:pPr indent="-285750">
              <a:lnSpc>
                <a:spcPct val="150000"/>
              </a:lnSpc>
              <a:buFont typeface="Wingdings" panose="05000000000000000000" charset="0"/>
              <a:buChar char="q"/>
            </a:pPr>
            <a:r>
              <a:rPr lang="en-US" altLang="zh-CN" sz="2000" dirty="0"/>
              <a:t>ZNS: Avoiding the Block Interface Tax for Flash-based SSDs</a:t>
            </a:r>
          </a:p>
          <a:p>
            <a:pPr indent="-285750">
              <a:lnSpc>
                <a:spcPct val="150000"/>
              </a:lnSpc>
              <a:buFont typeface="Wingdings" panose="05000000000000000000" charset="0"/>
              <a:buChar char="q"/>
            </a:pPr>
            <a:r>
              <a:rPr lang="en-US" altLang="zh-CN" sz="2000" dirty="0"/>
              <a:t>ZNS+: Advanced Zoned Namespace Interface for Supporting In-Storage Zone Compaction</a:t>
            </a:r>
          </a:p>
          <a:p>
            <a:pPr indent="-285750">
              <a:lnSpc>
                <a:spcPct val="150000"/>
              </a:lnSpc>
              <a:buFont typeface="Wingdings" panose="05000000000000000000" charset="0"/>
              <a:buChar char="q"/>
            </a:pPr>
            <a:r>
              <a:rPr lang="en-US" altLang="zh-CN" sz="2000" dirty="0" err="1"/>
              <a:t>eZNS</a:t>
            </a:r>
            <a:r>
              <a:rPr lang="zh-CN" altLang="en-US" sz="2000" dirty="0"/>
              <a:t>：</a:t>
            </a:r>
            <a:r>
              <a:rPr lang="en-US" altLang="zh-CN" sz="2000" dirty="0"/>
              <a:t>An Elastic Zoned Namespace for Commodity ZNS SSDs</a:t>
            </a:r>
          </a:p>
          <a:p>
            <a:pPr indent="-285750">
              <a:lnSpc>
                <a:spcPct val="150000"/>
              </a:lnSpc>
              <a:buFont typeface="Wingdings" panose="05000000000000000000" charset="0"/>
              <a:buChar char="q"/>
            </a:pPr>
            <a:r>
              <a:rPr lang="en-US" altLang="zh-CN" sz="2000" dirty="0" err="1"/>
              <a:t>ZNSwap</a:t>
            </a:r>
            <a:r>
              <a:rPr lang="en-US" altLang="zh-CN" sz="2000" dirty="0"/>
              <a:t>: </a:t>
            </a:r>
            <a:r>
              <a:rPr lang="en-US" altLang="zh-CN" sz="2000" dirty="0" err="1"/>
              <a:t>ZNSwap</a:t>
            </a:r>
            <a:r>
              <a:rPr lang="en-US" altLang="zh-CN" sz="2000" dirty="0"/>
              <a:t>: un-Block your Swap</a:t>
            </a:r>
          </a:p>
          <a:p>
            <a:pPr indent="-285750">
              <a:lnSpc>
                <a:spcPct val="150000"/>
              </a:lnSpc>
              <a:buFont typeface="Wingdings" panose="05000000000000000000" charset="0"/>
              <a:buChar char="q"/>
            </a:pPr>
            <a:r>
              <a:rPr lang="en-US" altLang="zh-CN" sz="2000" dirty="0"/>
              <a:t>WALTZ</a:t>
            </a:r>
            <a:r>
              <a:rPr lang="zh-CN" altLang="en-US" sz="2000" dirty="0"/>
              <a:t>：</a:t>
            </a:r>
            <a:r>
              <a:rPr lang="en-US" altLang="zh-CN" sz="2000" dirty="0"/>
              <a:t>Leveraging Zone Append to Tighten the Tail Latency of LSM Tree on ZNS SSD</a:t>
            </a:r>
          </a:p>
          <a:p>
            <a:pPr indent="-285750">
              <a:lnSpc>
                <a:spcPct val="150000"/>
              </a:lnSpc>
              <a:buFont typeface="Wingdings" panose="05000000000000000000" charset="0"/>
              <a:buChar char="q"/>
            </a:pPr>
            <a:r>
              <a:rPr lang="en-US" altLang="zh-CN" sz="2000" dirty="0" err="1"/>
              <a:t>GearDB</a:t>
            </a:r>
            <a:r>
              <a:rPr lang="en-US" altLang="zh-CN" sz="2000" dirty="0"/>
              <a:t>: A GC-free Key-Value Store on HM-SMR Drives with Gear Compaction</a:t>
            </a:r>
          </a:p>
          <a:p>
            <a:pPr indent="-285750">
              <a:lnSpc>
                <a:spcPct val="150000"/>
              </a:lnSpc>
              <a:buFont typeface="Wingdings" panose="05000000000000000000" charset="0"/>
              <a:buChar char="q"/>
            </a:pPr>
            <a:r>
              <a:rPr lang="en-US" altLang="zh-CN" sz="2000" dirty="0"/>
              <a:t>……</a:t>
            </a:r>
            <a:endParaRPr lang="zh-CN" altLang="en-US" sz="2000" dirty="0"/>
          </a:p>
          <a:p>
            <a:pPr indent="-285750">
              <a:lnSpc>
                <a:spcPct val="150000"/>
              </a:lnSpc>
              <a:buFont typeface="Wingdings" panose="05000000000000000000" charset="0"/>
              <a:buChar char="q"/>
            </a:pPr>
            <a:endParaRPr lang="zh-CN" altLang="en-US" sz="2000" dirty="0"/>
          </a:p>
        </p:txBody>
      </p:sp>
      <p:sp>
        <p:nvSpPr>
          <p:cNvPr id="13" name="Fußzeilenplatzhalter 4">
            <a:extLst>
              <a:ext uri="{FF2B5EF4-FFF2-40B4-BE49-F238E27FC236}">
                <a16:creationId xmlns:a16="http://schemas.microsoft.com/office/drawing/2014/main" id="{F6357315-2265-F808-0074-40FFC57D181C}"/>
              </a:ext>
            </a:extLst>
          </p:cNvPr>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Tree>
    <p:extLst>
      <p:ext uri="{BB962C8B-B14F-4D97-AF65-F5344CB8AC3E}">
        <p14:creationId xmlns:p14="http://schemas.microsoft.com/office/powerpoint/2010/main" val="18572518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a:extLst>
              <a:ext uri="{FF2B5EF4-FFF2-40B4-BE49-F238E27FC236}">
                <a16:creationId xmlns:a16="http://schemas.microsoft.com/office/drawing/2014/main" id="{D5913DB0-99CF-302E-E55B-DDF16107B814}"/>
              </a:ext>
            </a:extLst>
          </p:cNvPr>
          <p:cNvSpPr txBox="1"/>
          <p:nvPr/>
        </p:nvSpPr>
        <p:spPr>
          <a:xfrm>
            <a:off x="424681" y="945222"/>
            <a:ext cx="1086186" cy="461665"/>
          </a:xfrm>
          <a:prstGeom prst="rect">
            <a:avLst/>
          </a:prstGeom>
          <a:noFill/>
        </p:spPr>
        <p:txBody>
          <a:bodyPr wrap="square">
            <a:spAutoFit/>
          </a:bodyPr>
          <a:lstStyle/>
          <a:p>
            <a:r>
              <a:rPr lang="zh-CN" altLang="en-US" sz="2400" b="1" dirty="0"/>
              <a:t>摘要</a:t>
            </a:r>
          </a:p>
        </p:txBody>
      </p:sp>
      <p:sp>
        <p:nvSpPr>
          <p:cNvPr id="3" name="文本框 2">
            <a:extLst>
              <a:ext uri="{FF2B5EF4-FFF2-40B4-BE49-F238E27FC236}">
                <a16:creationId xmlns:a16="http://schemas.microsoft.com/office/drawing/2014/main" id="{D8A367DB-3E00-8BAC-8909-753994028AEF}"/>
              </a:ext>
            </a:extLst>
          </p:cNvPr>
          <p:cNvSpPr txBox="1"/>
          <p:nvPr/>
        </p:nvSpPr>
        <p:spPr>
          <a:xfrm>
            <a:off x="445434" y="1445231"/>
            <a:ext cx="11001754" cy="1139736"/>
          </a:xfrm>
          <a:prstGeom prst="rect">
            <a:avLst/>
          </a:prstGeom>
          <a:noFill/>
        </p:spPr>
        <p:txBody>
          <a:bodyPr wrap="square">
            <a:spAutoFit/>
          </a:bodyPr>
          <a:lstStyle/>
          <a:p>
            <a:pPr>
              <a:lnSpc>
                <a:spcPct val="125000"/>
              </a:lnSpc>
            </a:pPr>
            <a:r>
              <a:rPr lang="en-US" altLang="zh-CN" sz="1800" b="1" i="0" u="none" strike="noStrike" baseline="0" dirty="0">
                <a:latin typeface="NimbusRomNo9L-Medi"/>
              </a:rPr>
              <a:t>OS swap</a:t>
            </a:r>
          </a:p>
          <a:p>
            <a:pPr>
              <a:lnSpc>
                <a:spcPct val="150000"/>
              </a:lnSpc>
            </a:pPr>
            <a:r>
              <a:rPr lang="en-US" altLang="zh-CN" sz="1600" dirty="0"/>
              <a:t>OS swap</a:t>
            </a:r>
            <a:r>
              <a:rPr lang="zh-CN" altLang="en-US" sz="1600" dirty="0"/>
              <a:t>的初衷</a:t>
            </a:r>
            <a:r>
              <a:rPr lang="en-US" altLang="zh-CN" sz="1600" dirty="0"/>
              <a:t>——</a:t>
            </a:r>
            <a:r>
              <a:rPr lang="zh-CN" altLang="en-US" sz="1600" dirty="0"/>
              <a:t>当系统遇到内存压力时，它选择内存页，将其驱逐到交换设备</a:t>
            </a:r>
            <a:r>
              <a:rPr lang="en-US" altLang="zh-CN" sz="1600" dirty="0"/>
              <a:t>(</a:t>
            </a:r>
            <a:r>
              <a:rPr lang="zh-CN" altLang="en-US" sz="1600" dirty="0"/>
              <a:t>操作系统从页表中解映射要驱逐的页，并交换出该页，将其写入交换设备。</a:t>
            </a:r>
            <a:r>
              <a:rPr lang="en-US" altLang="zh-CN" sz="1600" dirty="0"/>
              <a:t>)</a:t>
            </a:r>
          </a:p>
        </p:txBody>
      </p:sp>
      <p:sp>
        <p:nvSpPr>
          <p:cNvPr id="6" name="文本框 5">
            <a:extLst>
              <a:ext uri="{FF2B5EF4-FFF2-40B4-BE49-F238E27FC236}">
                <a16:creationId xmlns:a16="http://schemas.microsoft.com/office/drawing/2014/main" id="{96E9F369-D15F-6A0E-873F-40267DA76987}"/>
              </a:ext>
            </a:extLst>
          </p:cNvPr>
          <p:cNvSpPr txBox="1"/>
          <p:nvPr/>
        </p:nvSpPr>
        <p:spPr>
          <a:xfrm>
            <a:off x="445433" y="2702465"/>
            <a:ext cx="11049881" cy="2405799"/>
          </a:xfrm>
          <a:prstGeom prst="rect">
            <a:avLst/>
          </a:prstGeom>
          <a:noFill/>
        </p:spPr>
        <p:txBody>
          <a:bodyPr wrap="square">
            <a:noAutofit/>
          </a:bodyPr>
          <a:lstStyle/>
          <a:p>
            <a:pPr>
              <a:lnSpc>
                <a:spcPct val="150000"/>
              </a:lnSpc>
            </a:pPr>
            <a:r>
              <a:rPr lang="en-US" altLang="zh-CN" b="1" dirty="0">
                <a:latin typeface="NimbusRomNo9L-Medi"/>
              </a:rPr>
              <a:t>Block SSD</a:t>
            </a:r>
            <a:r>
              <a:rPr lang="zh-CN" altLang="en-US" b="1" dirty="0">
                <a:latin typeface="NimbusRomNo9L-Medi"/>
              </a:rPr>
              <a:t>的空间管理</a:t>
            </a:r>
          </a:p>
          <a:p>
            <a:pPr>
              <a:lnSpc>
                <a:spcPct val="150000"/>
              </a:lnSpc>
            </a:pPr>
            <a:r>
              <a:rPr lang="zh-CN" altLang="en-US" sz="1600" dirty="0"/>
              <a:t>在传统</a:t>
            </a:r>
            <a:r>
              <a:rPr lang="en-US" altLang="zh-CN" sz="1600" dirty="0"/>
              <a:t>SSD</a:t>
            </a:r>
            <a:r>
              <a:rPr lang="zh-CN" altLang="en-US" sz="1600" dirty="0"/>
              <a:t>中，</a:t>
            </a:r>
            <a:r>
              <a:rPr lang="en-US" altLang="zh-CN" sz="1600" dirty="0"/>
              <a:t>FTL</a:t>
            </a:r>
            <a:r>
              <a:rPr lang="zh-CN" altLang="en-US" sz="1600" dirty="0"/>
              <a:t>维护的是</a:t>
            </a:r>
            <a:r>
              <a:rPr lang="en-US" altLang="zh-CN" sz="1600" dirty="0"/>
              <a:t>LBA</a:t>
            </a:r>
            <a:r>
              <a:rPr lang="zh-CN" altLang="en-US" sz="1600" dirty="0"/>
              <a:t>到物理地址的映射。例如：想要更新一个块，找一个新块先写；改映射表；将原位置上的旧数据标为失效。再对旧的失效块进行垃圾回收。</a:t>
            </a:r>
            <a:endParaRPr lang="en-US" altLang="zh-CN" sz="1600" dirty="0"/>
          </a:p>
          <a:p>
            <a:pPr>
              <a:lnSpc>
                <a:spcPct val="150000"/>
              </a:lnSpc>
            </a:pPr>
            <a:r>
              <a:rPr lang="zh-CN" altLang="en-US" sz="1600" dirty="0"/>
              <a:t>这种管理机制一方面需要空间上</a:t>
            </a:r>
            <a:r>
              <a:rPr lang="en-US" altLang="zh-CN" sz="1600" dirty="0"/>
              <a:t>over-provisioning (OP)</a:t>
            </a:r>
            <a:r>
              <a:rPr lang="zh-CN" altLang="en-US" sz="1600" dirty="0"/>
              <a:t>，另一方面设备端进行的</a:t>
            </a:r>
            <a:r>
              <a:rPr lang="en-US" altLang="zh-CN" sz="1600" dirty="0"/>
              <a:t>GC</a:t>
            </a:r>
            <a:r>
              <a:rPr lang="zh-CN" altLang="en-US" sz="1600" dirty="0"/>
              <a:t>会与用户</a:t>
            </a:r>
            <a:r>
              <a:rPr lang="en-US" altLang="zh-CN" sz="1600" dirty="0"/>
              <a:t>I/O</a:t>
            </a:r>
            <a:r>
              <a:rPr lang="zh-CN" altLang="en-US" sz="1600" dirty="0"/>
              <a:t>竞争带宽。</a:t>
            </a:r>
            <a:endParaRPr lang="en-US" altLang="zh-CN" sz="1600" dirty="0"/>
          </a:p>
          <a:p>
            <a:pPr>
              <a:lnSpc>
                <a:spcPct val="150000"/>
              </a:lnSpc>
            </a:pPr>
            <a:endParaRPr lang="en-US" altLang="zh-CN" sz="1600" dirty="0"/>
          </a:p>
          <a:p>
            <a:pPr>
              <a:lnSpc>
                <a:spcPct val="150000"/>
              </a:lnSpc>
            </a:pPr>
            <a:endParaRPr lang="en-US" altLang="zh-CN" sz="1600" dirty="0"/>
          </a:p>
        </p:txBody>
      </p:sp>
      <p:sp>
        <p:nvSpPr>
          <p:cNvPr id="17" name="文本框 16">
            <a:extLst>
              <a:ext uri="{FF2B5EF4-FFF2-40B4-BE49-F238E27FC236}">
                <a16:creationId xmlns:a16="http://schemas.microsoft.com/office/drawing/2014/main" id="{D3EA52F1-5995-4109-BEC2-4FFA84BF182B}"/>
              </a:ext>
            </a:extLst>
          </p:cNvPr>
          <p:cNvSpPr txBox="1"/>
          <p:nvPr/>
        </p:nvSpPr>
        <p:spPr>
          <a:xfrm>
            <a:off x="424681" y="4421410"/>
            <a:ext cx="11166886" cy="1952906"/>
          </a:xfrm>
          <a:prstGeom prst="rect">
            <a:avLst/>
          </a:prstGeom>
          <a:noFill/>
        </p:spPr>
        <p:txBody>
          <a:bodyPr wrap="square">
            <a:noAutofit/>
          </a:bodyPr>
          <a:lstStyle/>
          <a:p>
            <a:pPr>
              <a:lnSpc>
                <a:spcPct val="150000"/>
              </a:lnSpc>
            </a:pPr>
            <a:r>
              <a:rPr lang="en-US" altLang="zh-CN" b="1" dirty="0">
                <a:latin typeface="NimbusRomNo9L-Medi"/>
              </a:rPr>
              <a:t>Zoned Namespace SSD(ZNS)</a:t>
            </a:r>
            <a:endParaRPr lang="en-US" altLang="zh-CN" sz="1600" dirty="0"/>
          </a:p>
          <a:p>
            <a:pPr>
              <a:lnSpc>
                <a:spcPct val="150000"/>
              </a:lnSpc>
            </a:pPr>
            <a:r>
              <a:rPr lang="zh-CN" altLang="en-US" sz="1600" dirty="0"/>
              <a:t>新兴的“存储接口”，改变了逻辑上的组织方式</a:t>
            </a:r>
            <a:r>
              <a:rPr lang="en-US" altLang="zh-CN" sz="1600" dirty="0"/>
              <a:t>——Zone</a:t>
            </a:r>
            <a:r>
              <a:rPr lang="zh-CN" altLang="en-US" sz="1600" dirty="0"/>
              <a:t>，（每个</a:t>
            </a:r>
            <a:r>
              <a:rPr lang="en-US" altLang="zh-CN" sz="1600" dirty="0"/>
              <a:t>Zone</a:t>
            </a:r>
            <a:r>
              <a:rPr lang="zh-CN" altLang="en-US" sz="1600" dirty="0"/>
              <a:t>大小在物理上与</a:t>
            </a:r>
            <a:r>
              <a:rPr lang="en-US" altLang="zh-CN" sz="1600" dirty="0"/>
              <a:t>SSD</a:t>
            </a:r>
            <a:r>
              <a:rPr lang="zh-CN" altLang="en-US" sz="1600" dirty="0"/>
              <a:t>的擦除块大小对齐），在一个</a:t>
            </a:r>
            <a:r>
              <a:rPr lang="en-US" altLang="zh-CN" sz="1600" dirty="0"/>
              <a:t>Zone</a:t>
            </a:r>
            <a:r>
              <a:rPr lang="zh-CN" altLang="en-US" sz="1600" dirty="0"/>
              <a:t>内必须顺序写（</a:t>
            </a:r>
            <a:r>
              <a:rPr lang="en-US" altLang="zh-CN" sz="1600" dirty="0"/>
              <a:t>write</a:t>
            </a:r>
            <a:r>
              <a:rPr lang="zh-CN" altLang="en-US" sz="1600" dirty="0"/>
              <a:t> </a:t>
            </a:r>
            <a:r>
              <a:rPr lang="en-US" altLang="zh-CN" sz="1600" dirty="0"/>
              <a:t>or append</a:t>
            </a:r>
            <a:r>
              <a:rPr lang="zh-CN" altLang="en-US" sz="1600" dirty="0"/>
              <a:t>，对于</a:t>
            </a:r>
            <a:r>
              <a:rPr lang="en-US" altLang="zh-CN" sz="1600" dirty="0"/>
              <a:t>append</a:t>
            </a:r>
            <a:r>
              <a:rPr lang="zh-CN" altLang="en-US" sz="1600" dirty="0"/>
              <a:t>，</a:t>
            </a:r>
            <a:r>
              <a:rPr lang="en-US" altLang="zh-CN" sz="1600" dirty="0"/>
              <a:t>SSD</a:t>
            </a:r>
            <a:r>
              <a:rPr lang="zh-CN" altLang="en-US" sz="1600" dirty="0"/>
              <a:t>在完成后才会返回具体写入的位置，这允许对一个</a:t>
            </a:r>
            <a:r>
              <a:rPr lang="en-US" altLang="zh-CN" sz="1600" dirty="0"/>
              <a:t>Zone</a:t>
            </a:r>
            <a:r>
              <a:rPr lang="zh-CN" altLang="en-US" sz="1600" dirty="0"/>
              <a:t>同时进行多个写请求）。</a:t>
            </a:r>
            <a:r>
              <a:rPr lang="en-US" altLang="zh-CN" sz="1600" dirty="0"/>
              <a:t>Zone</a:t>
            </a:r>
            <a:r>
              <a:rPr lang="zh-CN" altLang="en-US" sz="1600" dirty="0"/>
              <a:t>状态：</a:t>
            </a:r>
            <a:r>
              <a:rPr lang="en-US" altLang="zh-CN" sz="1600" dirty="0"/>
              <a:t>Empty</a:t>
            </a:r>
            <a:r>
              <a:rPr lang="zh-CN" altLang="en-US" sz="1600" dirty="0"/>
              <a:t>，</a:t>
            </a:r>
            <a:r>
              <a:rPr lang="en-US" altLang="zh-CN" sz="1600" dirty="0"/>
              <a:t>Open</a:t>
            </a:r>
            <a:r>
              <a:rPr lang="zh-CN" altLang="en-US" sz="1600" dirty="0"/>
              <a:t>，</a:t>
            </a:r>
            <a:r>
              <a:rPr lang="en-US" altLang="zh-CN" sz="1600" dirty="0"/>
              <a:t>Full</a:t>
            </a:r>
            <a:r>
              <a:rPr lang="zh-CN" altLang="en-US" sz="1600" dirty="0"/>
              <a:t>。要重写</a:t>
            </a:r>
            <a:r>
              <a:rPr lang="en-US" altLang="zh-CN" sz="1600" dirty="0"/>
              <a:t>Zone</a:t>
            </a:r>
            <a:r>
              <a:rPr lang="zh-CN" altLang="en-US" sz="1600" dirty="0"/>
              <a:t>，需要显示的清除，转换为</a:t>
            </a:r>
            <a:r>
              <a:rPr lang="en-US" altLang="zh-CN" sz="1600" dirty="0"/>
              <a:t>Empty</a:t>
            </a:r>
            <a:r>
              <a:rPr lang="zh-CN" altLang="en-US" sz="1600" dirty="0"/>
              <a:t>状态。</a:t>
            </a:r>
            <a:endParaRPr lang="en-US" altLang="zh-CN" sz="1600" dirty="0"/>
          </a:p>
        </p:txBody>
      </p:sp>
    </p:spTree>
    <p:extLst>
      <p:ext uri="{BB962C8B-B14F-4D97-AF65-F5344CB8AC3E}">
        <p14:creationId xmlns:p14="http://schemas.microsoft.com/office/powerpoint/2010/main" val="30937360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a:extLst>
              <a:ext uri="{FF2B5EF4-FFF2-40B4-BE49-F238E27FC236}">
                <a16:creationId xmlns:a16="http://schemas.microsoft.com/office/drawing/2014/main" id="{D5913DB0-99CF-302E-E55B-DDF16107B814}"/>
              </a:ext>
            </a:extLst>
          </p:cNvPr>
          <p:cNvSpPr txBox="1"/>
          <p:nvPr/>
        </p:nvSpPr>
        <p:spPr>
          <a:xfrm>
            <a:off x="424681" y="945222"/>
            <a:ext cx="1086186" cy="461665"/>
          </a:xfrm>
          <a:prstGeom prst="rect">
            <a:avLst/>
          </a:prstGeom>
          <a:noFill/>
        </p:spPr>
        <p:txBody>
          <a:bodyPr wrap="square">
            <a:spAutoFit/>
          </a:bodyPr>
          <a:lstStyle/>
          <a:p>
            <a:r>
              <a:rPr lang="zh-CN" altLang="en-US" sz="2400" b="1" dirty="0"/>
              <a:t>背景</a:t>
            </a:r>
          </a:p>
        </p:txBody>
      </p:sp>
      <p:sp>
        <p:nvSpPr>
          <p:cNvPr id="3" name="文本框 2">
            <a:extLst>
              <a:ext uri="{FF2B5EF4-FFF2-40B4-BE49-F238E27FC236}">
                <a16:creationId xmlns:a16="http://schemas.microsoft.com/office/drawing/2014/main" id="{D8A367DB-3E00-8BAC-8909-753994028AEF}"/>
              </a:ext>
            </a:extLst>
          </p:cNvPr>
          <p:cNvSpPr txBox="1"/>
          <p:nvPr/>
        </p:nvSpPr>
        <p:spPr>
          <a:xfrm>
            <a:off x="445434" y="1445231"/>
            <a:ext cx="11001754" cy="1139736"/>
          </a:xfrm>
          <a:prstGeom prst="rect">
            <a:avLst/>
          </a:prstGeom>
          <a:noFill/>
        </p:spPr>
        <p:txBody>
          <a:bodyPr wrap="square">
            <a:spAutoFit/>
          </a:bodyPr>
          <a:lstStyle/>
          <a:p>
            <a:pPr>
              <a:lnSpc>
                <a:spcPct val="125000"/>
              </a:lnSpc>
            </a:pPr>
            <a:r>
              <a:rPr lang="en-US" altLang="zh-CN" sz="1800" b="1" i="0" u="none" strike="noStrike" baseline="0" dirty="0">
                <a:latin typeface="NimbusRomNo9L-Medi"/>
              </a:rPr>
              <a:t>OS swap</a:t>
            </a:r>
          </a:p>
          <a:p>
            <a:pPr>
              <a:lnSpc>
                <a:spcPct val="150000"/>
              </a:lnSpc>
            </a:pPr>
            <a:r>
              <a:rPr lang="en-US" altLang="zh-CN" sz="1600" dirty="0"/>
              <a:t>OS swap</a:t>
            </a:r>
            <a:r>
              <a:rPr lang="zh-CN" altLang="en-US" sz="1600" dirty="0"/>
              <a:t>的初衷</a:t>
            </a:r>
            <a:r>
              <a:rPr lang="en-US" altLang="zh-CN" sz="1600" dirty="0"/>
              <a:t>——</a:t>
            </a:r>
            <a:r>
              <a:rPr lang="zh-CN" altLang="en-US" sz="1600" dirty="0"/>
              <a:t>当系统遇到内存压力时，它选择内存页，将其驱逐到交换设备</a:t>
            </a:r>
            <a:r>
              <a:rPr lang="en-US" altLang="zh-CN" sz="1600" dirty="0"/>
              <a:t>(</a:t>
            </a:r>
            <a:r>
              <a:rPr lang="zh-CN" altLang="en-US" sz="1600" dirty="0"/>
              <a:t>操作系统从页表中解映射要驱逐的页，并交换出该页，将其写入交换设备。</a:t>
            </a:r>
            <a:r>
              <a:rPr lang="en-US" altLang="zh-CN" sz="1600" dirty="0"/>
              <a:t>)</a:t>
            </a:r>
          </a:p>
        </p:txBody>
      </p:sp>
      <p:sp>
        <p:nvSpPr>
          <p:cNvPr id="6" name="文本框 5">
            <a:extLst>
              <a:ext uri="{FF2B5EF4-FFF2-40B4-BE49-F238E27FC236}">
                <a16:creationId xmlns:a16="http://schemas.microsoft.com/office/drawing/2014/main" id="{96E9F369-D15F-6A0E-873F-40267DA76987}"/>
              </a:ext>
            </a:extLst>
          </p:cNvPr>
          <p:cNvSpPr txBox="1"/>
          <p:nvPr/>
        </p:nvSpPr>
        <p:spPr>
          <a:xfrm>
            <a:off x="445433" y="2702465"/>
            <a:ext cx="11049881" cy="2405799"/>
          </a:xfrm>
          <a:prstGeom prst="rect">
            <a:avLst/>
          </a:prstGeom>
          <a:noFill/>
        </p:spPr>
        <p:txBody>
          <a:bodyPr wrap="square">
            <a:noAutofit/>
          </a:bodyPr>
          <a:lstStyle/>
          <a:p>
            <a:pPr>
              <a:lnSpc>
                <a:spcPct val="150000"/>
              </a:lnSpc>
            </a:pPr>
            <a:r>
              <a:rPr lang="en-US" altLang="zh-CN" b="1" dirty="0">
                <a:latin typeface="NimbusRomNo9L-Medi"/>
              </a:rPr>
              <a:t>Block SSD</a:t>
            </a:r>
            <a:r>
              <a:rPr lang="zh-CN" altLang="en-US" b="1" dirty="0">
                <a:latin typeface="NimbusRomNo9L-Medi"/>
              </a:rPr>
              <a:t>的空间管理</a:t>
            </a:r>
          </a:p>
          <a:p>
            <a:pPr>
              <a:lnSpc>
                <a:spcPct val="150000"/>
              </a:lnSpc>
            </a:pPr>
            <a:r>
              <a:rPr lang="zh-CN" altLang="en-US" sz="1600" dirty="0"/>
              <a:t>在传统</a:t>
            </a:r>
            <a:r>
              <a:rPr lang="en-US" altLang="zh-CN" sz="1600" dirty="0"/>
              <a:t>SSD</a:t>
            </a:r>
            <a:r>
              <a:rPr lang="zh-CN" altLang="en-US" sz="1600" dirty="0"/>
              <a:t>中，</a:t>
            </a:r>
            <a:r>
              <a:rPr lang="en-US" altLang="zh-CN" sz="1600" dirty="0"/>
              <a:t>FTL</a:t>
            </a:r>
            <a:r>
              <a:rPr lang="zh-CN" altLang="en-US" sz="1600" dirty="0"/>
              <a:t>维护的是</a:t>
            </a:r>
            <a:r>
              <a:rPr lang="en-US" altLang="zh-CN" sz="1600" dirty="0"/>
              <a:t>LBA</a:t>
            </a:r>
            <a:r>
              <a:rPr lang="zh-CN" altLang="en-US" sz="1600" dirty="0"/>
              <a:t>到物理地址的映射。例如：想要更新一个块，找一个新块先写；改映射表；将原位置上的旧数据标为失效。再对旧的失效块进行垃圾回收。</a:t>
            </a:r>
            <a:endParaRPr lang="en-US" altLang="zh-CN" sz="1600" dirty="0"/>
          </a:p>
          <a:p>
            <a:pPr>
              <a:lnSpc>
                <a:spcPct val="150000"/>
              </a:lnSpc>
            </a:pPr>
            <a:r>
              <a:rPr lang="zh-CN" altLang="en-US" sz="1600" dirty="0"/>
              <a:t>这种管理机制一方面需要空间上</a:t>
            </a:r>
            <a:r>
              <a:rPr lang="en-US" altLang="zh-CN" sz="1600" dirty="0"/>
              <a:t>over-provisioning (OP)</a:t>
            </a:r>
            <a:r>
              <a:rPr lang="zh-CN" altLang="en-US" sz="1600" dirty="0"/>
              <a:t>，另一方面设备端进行的</a:t>
            </a:r>
            <a:r>
              <a:rPr lang="en-US" altLang="zh-CN" sz="1600" dirty="0"/>
              <a:t>GC</a:t>
            </a:r>
            <a:r>
              <a:rPr lang="zh-CN" altLang="en-US" sz="1600" dirty="0"/>
              <a:t>会与用户</a:t>
            </a:r>
            <a:r>
              <a:rPr lang="en-US" altLang="zh-CN" sz="1600" dirty="0"/>
              <a:t>I/O</a:t>
            </a:r>
            <a:r>
              <a:rPr lang="zh-CN" altLang="en-US" sz="1600" dirty="0"/>
              <a:t>竞争带宽。</a:t>
            </a:r>
            <a:endParaRPr lang="en-US" altLang="zh-CN" sz="1600" dirty="0"/>
          </a:p>
          <a:p>
            <a:pPr>
              <a:lnSpc>
                <a:spcPct val="150000"/>
              </a:lnSpc>
            </a:pPr>
            <a:endParaRPr lang="en-US" altLang="zh-CN" sz="1600" dirty="0"/>
          </a:p>
          <a:p>
            <a:pPr>
              <a:lnSpc>
                <a:spcPct val="150000"/>
              </a:lnSpc>
            </a:pPr>
            <a:endParaRPr lang="en-US" altLang="zh-CN" sz="1600" dirty="0"/>
          </a:p>
        </p:txBody>
      </p:sp>
      <p:sp>
        <p:nvSpPr>
          <p:cNvPr id="17" name="文本框 16">
            <a:extLst>
              <a:ext uri="{FF2B5EF4-FFF2-40B4-BE49-F238E27FC236}">
                <a16:creationId xmlns:a16="http://schemas.microsoft.com/office/drawing/2014/main" id="{D3EA52F1-5995-4109-BEC2-4FFA84BF182B}"/>
              </a:ext>
            </a:extLst>
          </p:cNvPr>
          <p:cNvSpPr txBox="1"/>
          <p:nvPr/>
        </p:nvSpPr>
        <p:spPr>
          <a:xfrm>
            <a:off x="424681" y="4421410"/>
            <a:ext cx="11166886" cy="1952906"/>
          </a:xfrm>
          <a:prstGeom prst="rect">
            <a:avLst/>
          </a:prstGeom>
          <a:noFill/>
        </p:spPr>
        <p:txBody>
          <a:bodyPr wrap="square">
            <a:noAutofit/>
          </a:bodyPr>
          <a:lstStyle/>
          <a:p>
            <a:pPr>
              <a:lnSpc>
                <a:spcPct val="150000"/>
              </a:lnSpc>
            </a:pPr>
            <a:r>
              <a:rPr lang="en-US" altLang="zh-CN" b="1" dirty="0">
                <a:latin typeface="NimbusRomNo9L-Medi"/>
              </a:rPr>
              <a:t>Zoned Namespace SSD(ZNS)</a:t>
            </a:r>
            <a:endParaRPr lang="en-US" altLang="zh-CN" sz="1600" dirty="0"/>
          </a:p>
          <a:p>
            <a:pPr>
              <a:lnSpc>
                <a:spcPct val="150000"/>
              </a:lnSpc>
            </a:pPr>
            <a:r>
              <a:rPr lang="zh-CN" altLang="en-US" sz="1600" dirty="0"/>
              <a:t>新兴的“存储接口”，改变了逻辑上的组织方式</a:t>
            </a:r>
            <a:r>
              <a:rPr lang="en-US" altLang="zh-CN" sz="1600" dirty="0"/>
              <a:t>——Zone</a:t>
            </a:r>
            <a:r>
              <a:rPr lang="zh-CN" altLang="en-US" sz="1600" dirty="0"/>
              <a:t>，（每个</a:t>
            </a:r>
            <a:r>
              <a:rPr lang="en-US" altLang="zh-CN" sz="1600" dirty="0"/>
              <a:t>Zone</a:t>
            </a:r>
            <a:r>
              <a:rPr lang="zh-CN" altLang="en-US" sz="1600" dirty="0"/>
              <a:t>大小在物理上与</a:t>
            </a:r>
            <a:r>
              <a:rPr lang="en-US" altLang="zh-CN" sz="1600" dirty="0"/>
              <a:t>SSD</a:t>
            </a:r>
            <a:r>
              <a:rPr lang="zh-CN" altLang="en-US" sz="1600" dirty="0"/>
              <a:t>的擦除块大小对齐），在一个</a:t>
            </a:r>
            <a:r>
              <a:rPr lang="en-US" altLang="zh-CN" sz="1600" dirty="0"/>
              <a:t>Zone</a:t>
            </a:r>
            <a:r>
              <a:rPr lang="zh-CN" altLang="en-US" sz="1600" dirty="0"/>
              <a:t>内必须顺序写（</a:t>
            </a:r>
            <a:r>
              <a:rPr lang="en-US" altLang="zh-CN" sz="1600" dirty="0"/>
              <a:t>write</a:t>
            </a:r>
            <a:r>
              <a:rPr lang="zh-CN" altLang="en-US" sz="1600" dirty="0"/>
              <a:t> </a:t>
            </a:r>
            <a:r>
              <a:rPr lang="en-US" altLang="zh-CN" sz="1600" dirty="0"/>
              <a:t>or append</a:t>
            </a:r>
            <a:r>
              <a:rPr lang="zh-CN" altLang="en-US" sz="1600" dirty="0"/>
              <a:t>，对于</a:t>
            </a:r>
            <a:r>
              <a:rPr lang="en-US" altLang="zh-CN" sz="1600" dirty="0"/>
              <a:t>append</a:t>
            </a:r>
            <a:r>
              <a:rPr lang="zh-CN" altLang="en-US" sz="1600" dirty="0"/>
              <a:t>，</a:t>
            </a:r>
            <a:r>
              <a:rPr lang="en-US" altLang="zh-CN" sz="1600" dirty="0"/>
              <a:t>SSD</a:t>
            </a:r>
            <a:r>
              <a:rPr lang="zh-CN" altLang="en-US" sz="1600" dirty="0"/>
              <a:t>在完成后才会返回具体写入的位置，这允许对一个</a:t>
            </a:r>
            <a:r>
              <a:rPr lang="en-US" altLang="zh-CN" sz="1600" dirty="0"/>
              <a:t>Zone</a:t>
            </a:r>
            <a:r>
              <a:rPr lang="zh-CN" altLang="en-US" sz="1600" dirty="0"/>
              <a:t>同时进行多个写请求）。</a:t>
            </a:r>
            <a:r>
              <a:rPr lang="en-US" altLang="zh-CN" sz="1600" dirty="0"/>
              <a:t>Zone</a:t>
            </a:r>
            <a:r>
              <a:rPr lang="zh-CN" altLang="en-US" sz="1600" dirty="0"/>
              <a:t>状态：</a:t>
            </a:r>
            <a:r>
              <a:rPr lang="en-US" altLang="zh-CN" sz="1600" dirty="0"/>
              <a:t>Empty</a:t>
            </a:r>
            <a:r>
              <a:rPr lang="zh-CN" altLang="en-US" sz="1600" dirty="0"/>
              <a:t>，</a:t>
            </a:r>
            <a:r>
              <a:rPr lang="en-US" altLang="zh-CN" sz="1600" dirty="0"/>
              <a:t>Open</a:t>
            </a:r>
            <a:r>
              <a:rPr lang="zh-CN" altLang="en-US" sz="1600" dirty="0"/>
              <a:t>，</a:t>
            </a:r>
            <a:r>
              <a:rPr lang="en-US" altLang="zh-CN" sz="1600" dirty="0"/>
              <a:t>Full</a:t>
            </a:r>
            <a:r>
              <a:rPr lang="zh-CN" altLang="en-US" sz="1600" dirty="0"/>
              <a:t>。要重写</a:t>
            </a:r>
            <a:r>
              <a:rPr lang="en-US" altLang="zh-CN" sz="1600" dirty="0"/>
              <a:t>Zone</a:t>
            </a:r>
            <a:r>
              <a:rPr lang="zh-CN" altLang="en-US" sz="1600" dirty="0"/>
              <a:t>，需要显示的清除，转换为</a:t>
            </a:r>
            <a:r>
              <a:rPr lang="en-US" altLang="zh-CN" sz="1600" dirty="0"/>
              <a:t>Empty</a:t>
            </a:r>
            <a:r>
              <a:rPr lang="zh-CN" altLang="en-US" sz="1600" dirty="0"/>
              <a:t>状态。</a:t>
            </a:r>
            <a:endParaRPr lang="en-US" altLang="zh-CN" sz="1600" dirty="0"/>
          </a:p>
        </p:txBody>
      </p:sp>
    </p:spTree>
    <p:extLst>
      <p:ext uri="{BB962C8B-B14F-4D97-AF65-F5344CB8AC3E}">
        <p14:creationId xmlns:p14="http://schemas.microsoft.com/office/powerpoint/2010/main" val="28369536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4" name="文本框 3">
            <a:extLst>
              <a:ext uri="{FF2B5EF4-FFF2-40B4-BE49-F238E27FC236}">
                <a16:creationId xmlns:a16="http://schemas.microsoft.com/office/drawing/2014/main" id="{1E9AD1CD-9CCE-6178-CF90-23DB137E29F8}"/>
              </a:ext>
            </a:extLst>
          </p:cNvPr>
          <p:cNvSpPr txBox="1"/>
          <p:nvPr/>
        </p:nvSpPr>
        <p:spPr>
          <a:xfrm>
            <a:off x="292191" y="1343682"/>
            <a:ext cx="11134371" cy="2144946"/>
          </a:xfrm>
          <a:prstGeom prst="rect">
            <a:avLst/>
          </a:prstGeom>
          <a:noFill/>
        </p:spPr>
        <p:txBody>
          <a:bodyPr wrap="square">
            <a:spAutoFit/>
          </a:bodyPr>
          <a:lstStyle/>
          <a:p>
            <a:pPr>
              <a:lnSpc>
                <a:spcPct val="125000"/>
              </a:lnSpc>
            </a:pPr>
            <a:r>
              <a:rPr lang="zh-CN" altLang="en-US" dirty="0"/>
              <a:t>随着闪存颗粒访问延时降低，接口带宽增加，固态硬盘上的交换不再被视为最后的内存溢出机制，而是有效回收内存和提高系统效率的关键系统组件。</a:t>
            </a:r>
            <a:br>
              <a:rPr lang="en-US" altLang="zh-CN" dirty="0"/>
            </a:br>
            <a:endParaRPr lang="en-US" altLang="zh-CN" dirty="0"/>
          </a:p>
          <a:p>
            <a:pPr>
              <a:lnSpc>
                <a:spcPct val="125000"/>
              </a:lnSpc>
            </a:pPr>
            <a:r>
              <a:rPr lang="zh-CN" altLang="en-US" dirty="0"/>
              <a:t>但固态硬盘未被作为交换设备广泛应用，其中一个关键限制是</a:t>
            </a:r>
            <a:r>
              <a:rPr lang="en-US" altLang="zh-CN" dirty="0"/>
              <a:t>——</a:t>
            </a:r>
            <a:r>
              <a:rPr lang="zh-CN" altLang="en-US" dirty="0"/>
              <a:t>随着固态硬盘使用率的增加，系统性能会下降，如图</a:t>
            </a:r>
            <a:r>
              <a:rPr lang="en-US" altLang="zh-CN" dirty="0"/>
              <a:t>:</a:t>
            </a:r>
            <a:endParaRPr lang="zh-CN" altLang="en-US" dirty="0"/>
          </a:p>
          <a:p>
            <a:pPr>
              <a:lnSpc>
                <a:spcPct val="125000"/>
              </a:lnSpc>
            </a:pPr>
            <a:endParaRPr lang="zh-CN" altLang="en-US" dirty="0"/>
          </a:p>
        </p:txBody>
      </p:sp>
      <p:sp>
        <p:nvSpPr>
          <p:cNvPr id="18" name="文本框 17">
            <a:extLst>
              <a:ext uri="{FF2B5EF4-FFF2-40B4-BE49-F238E27FC236}">
                <a16:creationId xmlns:a16="http://schemas.microsoft.com/office/drawing/2014/main" id="{0D45FCD7-2DC3-AA24-E806-AA72CA64B1CC}"/>
              </a:ext>
            </a:extLst>
          </p:cNvPr>
          <p:cNvSpPr txBox="1"/>
          <p:nvPr/>
        </p:nvSpPr>
        <p:spPr>
          <a:xfrm>
            <a:off x="581752" y="5375732"/>
            <a:ext cx="9438385" cy="646331"/>
          </a:xfrm>
          <a:prstGeom prst="rect">
            <a:avLst/>
          </a:prstGeom>
          <a:noFill/>
        </p:spPr>
        <p:txBody>
          <a:bodyPr wrap="square">
            <a:spAutoFit/>
          </a:bodyPr>
          <a:lstStyle/>
          <a:p>
            <a:r>
              <a:rPr lang="zh-CN" altLang="en-US" dirty="0"/>
              <a:t>这些性能异常现象没有简单直接的解决方案</a:t>
            </a:r>
            <a:r>
              <a:rPr lang="en-US" altLang="zh-CN" dirty="0"/>
              <a:t>——</a:t>
            </a:r>
            <a:r>
              <a:rPr lang="zh-CN" altLang="en-US" dirty="0"/>
              <a:t>源于块接口抽象与闪存介质的内在不匹配。</a:t>
            </a:r>
          </a:p>
          <a:p>
            <a:endParaRPr lang="zh-CN" altLang="en-US" dirty="0"/>
          </a:p>
        </p:txBody>
      </p:sp>
      <p:pic>
        <p:nvPicPr>
          <p:cNvPr id="21" name="图片 20">
            <a:extLst>
              <a:ext uri="{FF2B5EF4-FFF2-40B4-BE49-F238E27FC236}">
                <a16:creationId xmlns:a16="http://schemas.microsoft.com/office/drawing/2014/main" id="{34640FF6-F24D-CEA8-DB2B-18A49A9D0F0C}"/>
              </a:ext>
            </a:extLst>
          </p:cNvPr>
          <p:cNvPicPr>
            <a:picLocks noChangeAspect="1"/>
          </p:cNvPicPr>
          <p:nvPr/>
        </p:nvPicPr>
        <p:blipFill>
          <a:blip r:embed="rId5"/>
          <a:stretch>
            <a:fillRect/>
          </a:stretch>
        </p:blipFill>
        <p:spPr>
          <a:xfrm>
            <a:off x="2263967" y="3305823"/>
            <a:ext cx="6352380" cy="1968464"/>
          </a:xfrm>
          <a:prstGeom prst="rect">
            <a:avLst/>
          </a:prstGeom>
        </p:spPr>
      </p:pic>
      <p:sp>
        <p:nvSpPr>
          <p:cNvPr id="22" name="文本框 21">
            <a:extLst>
              <a:ext uri="{FF2B5EF4-FFF2-40B4-BE49-F238E27FC236}">
                <a16:creationId xmlns:a16="http://schemas.microsoft.com/office/drawing/2014/main" id="{66C34D40-38F9-62F5-8F85-7EF932FD8234}"/>
              </a:ext>
            </a:extLst>
          </p:cNvPr>
          <p:cNvSpPr txBox="1"/>
          <p:nvPr/>
        </p:nvSpPr>
        <p:spPr>
          <a:xfrm>
            <a:off x="292191" y="867985"/>
            <a:ext cx="2438400" cy="461665"/>
          </a:xfrm>
          <a:prstGeom prst="rect">
            <a:avLst/>
          </a:prstGeom>
          <a:noFill/>
        </p:spPr>
        <p:txBody>
          <a:bodyPr wrap="square">
            <a:spAutoFit/>
          </a:bodyPr>
          <a:lstStyle/>
          <a:p>
            <a:r>
              <a:rPr lang="en-US" altLang="zh-CN" sz="2400" b="1" dirty="0"/>
              <a:t>Introduction</a:t>
            </a:r>
            <a:endParaRPr lang="zh-CN" altLang="en-US" sz="2400" b="1" dirty="0"/>
          </a:p>
        </p:txBody>
      </p:sp>
    </p:spTree>
    <p:extLst>
      <p:ext uri="{BB962C8B-B14F-4D97-AF65-F5344CB8AC3E}">
        <p14:creationId xmlns:p14="http://schemas.microsoft.com/office/powerpoint/2010/main" val="1644128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a:extLst>
              <a:ext uri="{FF2B5EF4-FFF2-40B4-BE49-F238E27FC236}">
                <a16:creationId xmlns:a16="http://schemas.microsoft.com/office/drawing/2014/main" id="{E0EEA3C2-925B-9B27-6BDD-60BF81BC9877}"/>
              </a:ext>
            </a:extLst>
          </p:cNvPr>
          <p:cNvSpPr txBox="1"/>
          <p:nvPr/>
        </p:nvSpPr>
        <p:spPr>
          <a:xfrm>
            <a:off x="292191" y="867985"/>
            <a:ext cx="2438400" cy="461665"/>
          </a:xfrm>
          <a:prstGeom prst="rect">
            <a:avLst/>
          </a:prstGeom>
          <a:noFill/>
        </p:spPr>
        <p:txBody>
          <a:bodyPr wrap="square">
            <a:spAutoFit/>
          </a:bodyPr>
          <a:lstStyle/>
          <a:p>
            <a:r>
              <a:rPr lang="zh-CN" altLang="en-US" sz="2400" b="1" dirty="0"/>
              <a:t>动机</a:t>
            </a:r>
          </a:p>
        </p:txBody>
      </p:sp>
      <p:sp>
        <p:nvSpPr>
          <p:cNvPr id="4" name="文本框 3">
            <a:extLst>
              <a:ext uri="{FF2B5EF4-FFF2-40B4-BE49-F238E27FC236}">
                <a16:creationId xmlns:a16="http://schemas.microsoft.com/office/drawing/2014/main" id="{0CFD5093-C730-F8F8-96B9-243315274DC8}"/>
              </a:ext>
            </a:extLst>
          </p:cNvPr>
          <p:cNvSpPr txBox="1"/>
          <p:nvPr/>
        </p:nvSpPr>
        <p:spPr>
          <a:xfrm>
            <a:off x="705809" y="1910493"/>
            <a:ext cx="10780381" cy="1106008"/>
          </a:xfrm>
          <a:prstGeom prst="rect">
            <a:avLst/>
          </a:prstGeom>
          <a:noFill/>
        </p:spPr>
        <p:txBody>
          <a:bodyPr wrap="square">
            <a:spAutoFit/>
          </a:bodyPr>
          <a:lstStyle/>
          <a:p>
            <a:pPr>
              <a:lnSpc>
                <a:spcPct val="125000"/>
              </a:lnSpc>
            </a:pPr>
            <a:r>
              <a:rPr lang="en-US" altLang="zh-CN" dirty="0">
                <a:latin typeface="NimbusRomNo9L-Medi"/>
              </a:rPr>
              <a:t>Swap</a:t>
            </a:r>
            <a:r>
              <a:rPr lang="zh-CN" altLang="en-US" dirty="0">
                <a:latin typeface="NimbusRomNo9L-Medi"/>
              </a:rPr>
              <a:t>不再仅仅是应对内存压力的手段，</a:t>
            </a:r>
            <a:r>
              <a:rPr lang="en-US" altLang="zh-CN" dirty="0">
                <a:latin typeface="NimbusRomNo9L-Medi"/>
              </a:rPr>
              <a:t>Swap</a:t>
            </a:r>
            <a:r>
              <a:rPr lang="zh-CN" altLang="en-US" dirty="0">
                <a:latin typeface="NimbusRomNo9L-Medi"/>
              </a:rPr>
              <a:t>在适度负载时可以充当内存扩展。（例如，优化文件支持和匿名内存页面之间的内存平衡。）但现有的工作更关注</a:t>
            </a:r>
            <a:r>
              <a:rPr lang="en-US" altLang="zh-CN" dirty="0">
                <a:latin typeface="NimbusRomNo9L-Medi"/>
              </a:rPr>
              <a:t>OS</a:t>
            </a:r>
            <a:r>
              <a:rPr lang="zh-CN" altLang="en-US" dirty="0">
                <a:latin typeface="NimbusRomNo9L-Medi"/>
              </a:rPr>
              <a:t>内的逻辑，本文将结合交换逻辑与</a:t>
            </a:r>
            <a:r>
              <a:rPr lang="en-US" altLang="zh-CN" dirty="0">
                <a:latin typeface="NimbusRomNo9L-Medi"/>
              </a:rPr>
              <a:t>SSD</a:t>
            </a:r>
            <a:r>
              <a:rPr lang="zh-CN" altLang="en-US" dirty="0">
                <a:latin typeface="NimbusRomNo9L-Medi"/>
              </a:rPr>
              <a:t>的行为对</a:t>
            </a:r>
            <a:r>
              <a:rPr lang="en-US" altLang="zh-CN" dirty="0">
                <a:latin typeface="NimbusRomNo9L-Medi"/>
              </a:rPr>
              <a:t>Linux Swap</a:t>
            </a:r>
            <a:r>
              <a:rPr lang="zh-CN" altLang="en-US" dirty="0">
                <a:latin typeface="NimbusRomNo9L-Medi"/>
              </a:rPr>
              <a:t>的性能进行深入分析。</a:t>
            </a:r>
          </a:p>
        </p:txBody>
      </p:sp>
      <p:sp>
        <p:nvSpPr>
          <p:cNvPr id="6" name="文本框 5">
            <a:extLst>
              <a:ext uri="{FF2B5EF4-FFF2-40B4-BE49-F238E27FC236}">
                <a16:creationId xmlns:a16="http://schemas.microsoft.com/office/drawing/2014/main" id="{28CEC38A-52F1-8B8C-BD83-66236C3C2E98}"/>
              </a:ext>
            </a:extLst>
          </p:cNvPr>
          <p:cNvSpPr txBox="1"/>
          <p:nvPr/>
        </p:nvSpPr>
        <p:spPr>
          <a:xfrm>
            <a:off x="705809" y="3429000"/>
            <a:ext cx="3561391" cy="1442126"/>
          </a:xfrm>
          <a:prstGeom prst="rect">
            <a:avLst/>
          </a:prstGeom>
          <a:noFill/>
        </p:spPr>
        <p:txBody>
          <a:bodyPr wrap="square">
            <a:spAutoFit/>
          </a:bodyPr>
          <a:lstStyle/>
          <a:p>
            <a:pPr marL="285750" indent="-285750">
              <a:lnSpc>
                <a:spcPct val="124000"/>
              </a:lnSpc>
              <a:buFont typeface="Arial" panose="020B0604020202020204" pitchFamily="34" charset="0"/>
              <a:buChar char="•"/>
            </a:pPr>
            <a:r>
              <a:rPr lang="zh-CN" altLang="en-US" dirty="0"/>
              <a:t>GC不能感知已释放的交换槽</a:t>
            </a:r>
          </a:p>
          <a:p>
            <a:pPr marL="285750" indent="-285750">
              <a:lnSpc>
                <a:spcPct val="124000"/>
              </a:lnSpc>
              <a:buFont typeface="Arial" panose="020B0604020202020204" pitchFamily="34" charset="0"/>
              <a:buChar char="•"/>
            </a:pPr>
            <a:r>
              <a:rPr lang="zh-CN" altLang="en-US" dirty="0"/>
              <a:t>交换缓存不能感知GC</a:t>
            </a:r>
          </a:p>
          <a:p>
            <a:pPr marL="285750" indent="-285750">
              <a:lnSpc>
                <a:spcPct val="124000"/>
              </a:lnSpc>
              <a:buFont typeface="Arial" panose="020B0604020202020204" pitchFamily="34" charset="0"/>
              <a:buChar char="•"/>
            </a:pPr>
            <a:r>
              <a:rPr lang="zh-CN" altLang="en-US" dirty="0"/>
              <a:t>GC不了解页面访问模式</a:t>
            </a:r>
          </a:p>
          <a:p>
            <a:pPr marL="285750" indent="-285750">
              <a:lnSpc>
                <a:spcPct val="124000"/>
              </a:lnSpc>
              <a:buFont typeface="Arial" panose="020B0604020202020204" pitchFamily="34" charset="0"/>
              <a:buChar char="•"/>
            </a:pPr>
            <a:r>
              <a:rPr lang="zh-CN" altLang="en-US" dirty="0"/>
              <a:t>GC不了解OS的性能隔离</a:t>
            </a:r>
          </a:p>
        </p:txBody>
      </p:sp>
      <p:pic>
        <p:nvPicPr>
          <p:cNvPr id="17" name="图片 16">
            <a:extLst>
              <a:ext uri="{FF2B5EF4-FFF2-40B4-BE49-F238E27FC236}">
                <a16:creationId xmlns:a16="http://schemas.microsoft.com/office/drawing/2014/main" id="{782CBF03-0099-4FE2-AAB6-A6D778BE61CC}"/>
              </a:ext>
            </a:extLst>
          </p:cNvPr>
          <p:cNvPicPr>
            <a:picLocks noChangeAspect="1"/>
          </p:cNvPicPr>
          <p:nvPr/>
        </p:nvPicPr>
        <p:blipFill>
          <a:blip r:embed="rId5"/>
          <a:stretch>
            <a:fillRect/>
          </a:stretch>
        </p:blipFill>
        <p:spPr>
          <a:xfrm>
            <a:off x="4748612" y="3134186"/>
            <a:ext cx="6352380" cy="1968464"/>
          </a:xfrm>
          <a:prstGeom prst="rect">
            <a:avLst/>
          </a:prstGeom>
        </p:spPr>
      </p:pic>
      <p:sp>
        <p:nvSpPr>
          <p:cNvPr id="8" name="矩形 7">
            <a:extLst>
              <a:ext uri="{FF2B5EF4-FFF2-40B4-BE49-F238E27FC236}">
                <a16:creationId xmlns:a16="http://schemas.microsoft.com/office/drawing/2014/main" id="{C58F2DDE-D78A-43EA-AAB7-AF971029A23B}"/>
              </a:ext>
            </a:extLst>
          </p:cNvPr>
          <p:cNvSpPr/>
          <p:nvPr/>
        </p:nvSpPr>
        <p:spPr>
          <a:xfrm>
            <a:off x="705809" y="1522544"/>
            <a:ext cx="4355680" cy="369332"/>
          </a:xfrm>
          <a:prstGeom prst="rect">
            <a:avLst/>
          </a:prstGeom>
        </p:spPr>
        <p:txBody>
          <a:bodyPr wrap="none">
            <a:spAutoFit/>
          </a:bodyPr>
          <a:lstStyle/>
          <a:p>
            <a:r>
              <a:rPr lang="zh-CN" altLang="en-US" dirty="0"/>
              <a:t>“Flash设备的激增《复活》了swap的使用"</a:t>
            </a:r>
          </a:p>
        </p:txBody>
      </p:sp>
      <p:sp>
        <p:nvSpPr>
          <p:cNvPr id="9" name="矩形 8">
            <a:extLst>
              <a:ext uri="{FF2B5EF4-FFF2-40B4-BE49-F238E27FC236}">
                <a16:creationId xmlns:a16="http://schemas.microsoft.com/office/drawing/2014/main" id="{B60050DA-AD71-403F-A2A9-4EA3034F0C86}"/>
              </a:ext>
            </a:extLst>
          </p:cNvPr>
          <p:cNvSpPr/>
          <p:nvPr/>
        </p:nvSpPr>
        <p:spPr>
          <a:xfrm>
            <a:off x="705809" y="5359884"/>
            <a:ext cx="10844507" cy="646331"/>
          </a:xfrm>
          <a:prstGeom prst="rect">
            <a:avLst/>
          </a:prstGeom>
        </p:spPr>
        <p:txBody>
          <a:bodyPr wrap="square">
            <a:spAutoFit/>
          </a:bodyPr>
          <a:lstStyle/>
          <a:p>
            <a:r>
              <a:rPr lang="zh-CN" altLang="en-US" dirty="0"/>
              <a:t>再次观察图1，这种下降是意料之中的，因为GC开销与主动更新的数据量成比例增长。然而，当设备几乎为空（仅占其容量的10%）时，不应出现严重下降。</a:t>
            </a:r>
          </a:p>
        </p:txBody>
      </p:sp>
    </p:spTree>
    <p:extLst>
      <p:ext uri="{BB962C8B-B14F-4D97-AF65-F5344CB8AC3E}">
        <p14:creationId xmlns:p14="http://schemas.microsoft.com/office/powerpoint/2010/main" val="206291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7" name="文本框 6">
            <a:extLst>
              <a:ext uri="{FF2B5EF4-FFF2-40B4-BE49-F238E27FC236}">
                <a16:creationId xmlns:a16="http://schemas.microsoft.com/office/drawing/2014/main" id="{7AAEFC34-888F-FBBD-F238-0B74A9B39909}"/>
              </a:ext>
            </a:extLst>
          </p:cNvPr>
          <p:cNvSpPr txBox="1"/>
          <p:nvPr/>
        </p:nvSpPr>
        <p:spPr>
          <a:xfrm>
            <a:off x="445433" y="4951146"/>
            <a:ext cx="10780381" cy="759182"/>
          </a:xfrm>
          <a:prstGeom prst="rect">
            <a:avLst/>
          </a:prstGeom>
          <a:noFill/>
        </p:spPr>
        <p:txBody>
          <a:bodyPr wrap="square">
            <a:spAutoFit/>
          </a:bodyPr>
          <a:lstStyle/>
          <a:p>
            <a:pPr>
              <a:lnSpc>
                <a:spcPct val="125000"/>
              </a:lnSpc>
            </a:pPr>
            <a:r>
              <a:rPr lang="zh-CN" altLang="en-US" b="1" dirty="0">
                <a:latin typeface="NimbusRomNo9L-Medi"/>
              </a:rPr>
              <a:t>利用</a:t>
            </a:r>
            <a:r>
              <a:rPr lang="en-US" altLang="zh-CN" b="1" dirty="0">
                <a:latin typeface="NimbusRomNo9L-Medi"/>
              </a:rPr>
              <a:t>ZNS</a:t>
            </a:r>
            <a:r>
              <a:rPr lang="zh-CN" altLang="en-US" b="1" dirty="0">
                <a:latin typeface="NimbusRomNo9L-Medi"/>
              </a:rPr>
              <a:t>上做</a:t>
            </a:r>
            <a:r>
              <a:rPr lang="en-US" altLang="zh-CN" b="1" dirty="0">
                <a:latin typeface="NimbusRomNo9L-Medi"/>
              </a:rPr>
              <a:t>Swap</a:t>
            </a:r>
            <a:r>
              <a:rPr lang="zh-CN" altLang="en-US" b="1" dirty="0">
                <a:latin typeface="NimbusRomNo9L-Medi"/>
              </a:rPr>
              <a:t>的可能：</a:t>
            </a:r>
            <a:endParaRPr lang="en-US" altLang="zh-CN" b="1" dirty="0">
              <a:latin typeface="NimbusRomNo9L-Medi"/>
            </a:endParaRPr>
          </a:p>
          <a:p>
            <a:pPr>
              <a:lnSpc>
                <a:spcPct val="125000"/>
              </a:lnSpc>
            </a:pPr>
            <a:r>
              <a:rPr lang="en-US" altLang="zh-CN" dirty="0">
                <a:latin typeface="NimbusRomNo9L-Medi"/>
              </a:rPr>
              <a:t>ZNS SSD</a:t>
            </a:r>
            <a:r>
              <a:rPr lang="zh-CN" altLang="en-US" dirty="0">
                <a:latin typeface="NimbusRomNo9L-Medi"/>
              </a:rPr>
              <a:t>提供了对物理数据位置的更好控制，从而支持应用程序逻辑和设备管理之间更紧密的耦合</a:t>
            </a:r>
          </a:p>
        </p:txBody>
      </p:sp>
      <p:sp>
        <p:nvSpPr>
          <p:cNvPr id="3" name="矩形 2">
            <a:extLst>
              <a:ext uri="{FF2B5EF4-FFF2-40B4-BE49-F238E27FC236}">
                <a16:creationId xmlns:a16="http://schemas.microsoft.com/office/drawing/2014/main" id="{3C138A9F-F4F3-4EE2-A300-7CEA66182B26}"/>
              </a:ext>
            </a:extLst>
          </p:cNvPr>
          <p:cNvSpPr/>
          <p:nvPr/>
        </p:nvSpPr>
        <p:spPr>
          <a:xfrm>
            <a:off x="445433" y="961583"/>
            <a:ext cx="10960503" cy="3693319"/>
          </a:xfrm>
          <a:prstGeom prst="rect">
            <a:avLst/>
          </a:prstGeom>
        </p:spPr>
        <p:txBody>
          <a:bodyPr wrap="square">
            <a:spAutoFit/>
          </a:bodyPr>
          <a:lstStyle/>
          <a:p>
            <a:r>
              <a:rPr lang="zh-CN" altLang="en-US" b="1" dirty="0"/>
              <a:t>为什么低占用时</a:t>
            </a:r>
            <a:r>
              <a:rPr lang="en-US" altLang="zh-CN" b="1" dirty="0"/>
              <a:t>Swap</a:t>
            </a:r>
            <a:r>
              <a:rPr lang="zh-CN" altLang="en-US" b="1" dirty="0"/>
              <a:t>性能也很差？</a:t>
            </a:r>
            <a:endParaRPr lang="en-US" altLang="zh-CN" b="1" dirty="0"/>
          </a:p>
          <a:p>
            <a:endParaRPr lang="en-US" altLang="zh-CN" b="1" dirty="0"/>
          </a:p>
          <a:p>
            <a:r>
              <a:rPr lang="zh-CN" altLang="en-US" dirty="0"/>
              <a:t>根本原因是设备侧GC没有感知到操作系统丢弃了一些交换出的页面，并没有使其对应的交换插槽无效，操作系统默认情况下不会通知SSD。因此，交换设备的实际占用率远高于操作系统可见的占用率，从而导致更高的GC开销。</a:t>
            </a:r>
          </a:p>
          <a:p>
            <a:endParaRPr lang="zh-CN" altLang="en-US" dirty="0"/>
          </a:p>
          <a:p>
            <a:r>
              <a:rPr lang="zh-CN" altLang="en-US" dirty="0"/>
              <a:t>为了解决上述问题，大多数SSD都支持了 TRIM 命令。</a:t>
            </a:r>
          </a:p>
          <a:p>
            <a:endParaRPr lang="zh-CN" altLang="en-US" dirty="0"/>
          </a:p>
          <a:p>
            <a:r>
              <a:rPr lang="zh-CN" altLang="en-US" dirty="0"/>
              <a:t>然而在实践中，流行的Linux发行版（例如Debian、Ubuntu）禁止使用TRIM命令进行交换。原因包括TRIM调度开销、TRIM命令的长延迟以及支持异步TRIM的复杂性。作者简单测试了当显式启用交换的TRIM时的情况（略），Linux优化后的TRIM命令与不启用TRIM效果一致</a:t>
            </a:r>
          </a:p>
          <a:p>
            <a:endParaRPr lang="zh-CN" altLang="en-US" dirty="0"/>
          </a:p>
          <a:p>
            <a:r>
              <a:rPr lang="zh-CN" altLang="en-US" dirty="0"/>
              <a:t>总之：TRIM开了不如不开。（swapon手册中也是这样注释的）</a:t>
            </a:r>
          </a:p>
        </p:txBody>
      </p:sp>
    </p:spTree>
    <p:extLst>
      <p:ext uri="{BB962C8B-B14F-4D97-AF65-F5344CB8AC3E}">
        <p14:creationId xmlns:p14="http://schemas.microsoft.com/office/powerpoint/2010/main" val="8833331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4" name="文本框 3">
            <a:extLst>
              <a:ext uri="{FF2B5EF4-FFF2-40B4-BE49-F238E27FC236}">
                <a16:creationId xmlns:a16="http://schemas.microsoft.com/office/drawing/2014/main" id="{F5DF1963-7012-401A-8644-CD346DCC0EFB}"/>
              </a:ext>
            </a:extLst>
          </p:cNvPr>
          <p:cNvSpPr txBox="1"/>
          <p:nvPr/>
        </p:nvSpPr>
        <p:spPr>
          <a:xfrm>
            <a:off x="445433" y="1067025"/>
            <a:ext cx="11395717" cy="413703"/>
          </a:xfrm>
          <a:prstGeom prst="rect">
            <a:avLst/>
          </a:prstGeom>
          <a:noFill/>
        </p:spPr>
        <p:txBody>
          <a:bodyPr wrap="square">
            <a:spAutoFit/>
          </a:bodyPr>
          <a:lstStyle/>
          <a:p>
            <a:pPr>
              <a:lnSpc>
                <a:spcPct val="125000"/>
              </a:lnSpc>
            </a:pPr>
            <a:r>
              <a:rPr lang="zh-CN" altLang="en-US" b="1" dirty="0"/>
              <a:t>ZNSwap</a:t>
            </a:r>
            <a:r>
              <a:rPr lang="zh-CN" altLang="en-US" dirty="0"/>
              <a:t>为SSD空间回收提供了一种新颖的、空间高效的主机端机制，我们称之为ZNS Garbage Collector(ZNGC).</a:t>
            </a:r>
          </a:p>
        </p:txBody>
      </p:sp>
      <p:sp>
        <p:nvSpPr>
          <p:cNvPr id="6" name="文本框 5">
            <a:extLst>
              <a:ext uri="{FF2B5EF4-FFF2-40B4-BE49-F238E27FC236}">
                <a16:creationId xmlns:a16="http://schemas.microsoft.com/office/drawing/2014/main" id="{740C9BC5-35F4-BCF7-604F-72A5BBA0E6AF}"/>
              </a:ext>
            </a:extLst>
          </p:cNvPr>
          <p:cNvSpPr txBox="1"/>
          <p:nvPr/>
        </p:nvSpPr>
        <p:spPr>
          <a:xfrm>
            <a:off x="464600" y="1596084"/>
            <a:ext cx="11541012" cy="1798698"/>
          </a:xfrm>
          <a:prstGeom prst="rect">
            <a:avLst/>
          </a:prstGeom>
          <a:noFill/>
        </p:spPr>
        <p:txBody>
          <a:bodyPr wrap="square">
            <a:spAutoFit/>
          </a:bodyPr>
          <a:lstStyle/>
          <a:p>
            <a:pPr>
              <a:lnSpc>
                <a:spcPct val="125000"/>
              </a:lnSpc>
            </a:pPr>
            <a:r>
              <a:rPr lang="zh-CN" altLang="en-US" dirty="0"/>
              <a:t>具体，带来了如下好处：</a:t>
            </a:r>
          </a:p>
          <a:p>
            <a:pPr indent="-285750">
              <a:lnSpc>
                <a:spcPct val="125000"/>
              </a:lnSpc>
              <a:buFont typeface="Arial" panose="020B0604020202020204" pitchFamily="34" charset="0"/>
              <a:buChar char="•"/>
            </a:pPr>
            <a:r>
              <a:rPr lang="zh-CN" altLang="en-US" dirty="0"/>
              <a:t>细粒度的空间管理 ：</a:t>
            </a:r>
            <a:r>
              <a:rPr lang="en-US" altLang="zh-CN" dirty="0" err="1"/>
              <a:t>ZNSwap</a:t>
            </a:r>
            <a:r>
              <a:rPr lang="en-US" altLang="zh-CN" dirty="0"/>
              <a:t> </a:t>
            </a:r>
            <a:r>
              <a:rPr lang="zh-CN" altLang="en-US" dirty="0"/>
              <a:t>可省去 </a:t>
            </a:r>
            <a:r>
              <a:rPr lang="en-US" altLang="zh-CN" dirty="0"/>
              <a:t>TRIM </a:t>
            </a:r>
            <a:r>
              <a:rPr lang="zh-CN" altLang="en-US" dirty="0"/>
              <a:t>命令，实现更高的性能和更好的空间利用率。</a:t>
            </a:r>
            <a:endParaRPr lang="en-US" altLang="zh-CN" dirty="0"/>
          </a:p>
          <a:p>
            <a:pPr indent="-285750">
              <a:lnSpc>
                <a:spcPct val="125000"/>
              </a:lnSpc>
              <a:buFont typeface="Arial" panose="020B0604020202020204" pitchFamily="34" charset="0"/>
              <a:buChar char="•"/>
            </a:pPr>
            <a:r>
              <a:rPr lang="zh-CN" altLang="en-US" dirty="0"/>
              <a:t>动态的</a:t>
            </a:r>
            <a:r>
              <a:rPr lang="en-US" altLang="zh-CN" dirty="0"/>
              <a:t>ZNGC</a:t>
            </a:r>
            <a:r>
              <a:rPr lang="zh-CN" altLang="en-US" dirty="0"/>
              <a:t>优化 ：</a:t>
            </a:r>
            <a:r>
              <a:rPr lang="en-US" altLang="zh-CN" dirty="0" err="1"/>
              <a:t>ZNSwap</a:t>
            </a:r>
            <a:r>
              <a:rPr lang="en-US" altLang="zh-CN" dirty="0"/>
              <a:t> </a:t>
            </a:r>
            <a:r>
              <a:rPr lang="zh-CN" altLang="en-US" dirty="0"/>
              <a:t>可动态调整同时存储在交换设备中的交换页的数量</a:t>
            </a:r>
            <a:endParaRPr lang="en-US" altLang="zh-CN" dirty="0"/>
          </a:p>
          <a:p>
            <a:pPr indent="-285750">
              <a:lnSpc>
                <a:spcPct val="125000"/>
              </a:lnSpc>
              <a:buFont typeface="Arial" panose="020B0604020202020204" pitchFamily="34" charset="0"/>
              <a:buChar char="•"/>
            </a:pPr>
            <a:r>
              <a:rPr lang="zh-CN" altLang="en-US" dirty="0"/>
              <a:t>灵活的数据放置和空间回收策略 ：自定义策略</a:t>
            </a:r>
            <a:endParaRPr lang="en-US" altLang="zh-CN" dirty="0"/>
          </a:p>
          <a:p>
            <a:pPr indent="-285750">
              <a:lnSpc>
                <a:spcPct val="125000"/>
              </a:lnSpc>
              <a:buFont typeface="Arial" panose="020B0604020202020204" pitchFamily="34" charset="0"/>
              <a:buChar char="•"/>
            </a:pPr>
            <a:r>
              <a:rPr lang="zh-CN" altLang="en-US" dirty="0"/>
              <a:t>准确的多租户计费 ：显式地将</a:t>
            </a:r>
            <a:r>
              <a:rPr lang="en-US" altLang="zh-CN" dirty="0"/>
              <a:t>GC</a:t>
            </a:r>
            <a:r>
              <a:rPr lang="zh-CN" altLang="en-US" dirty="0"/>
              <a:t>开销归因于不同的租户</a:t>
            </a:r>
          </a:p>
        </p:txBody>
      </p:sp>
      <p:sp>
        <p:nvSpPr>
          <p:cNvPr id="8" name="文本框 7">
            <a:extLst>
              <a:ext uri="{FF2B5EF4-FFF2-40B4-BE49-F238E27FC236}">
                <a16:creationId xmlns:a16="http://schemas.microsoft.com/office/drawing/2014/main" id="{78F28BD3-AFC8-CB3B-6018-5C7460D49086}"/>
              </a:ext>
            </a:extLst>
          </p:cNvPr>
          <p:cNvSpPr txBox="1"/>
          <p:nvPr/>
        </p:nvSpPr>
        <p:spPr>
          <a:xfrm>
            <a:off x="464600" y="3595469"/>
            <a:ext cx="10902905" cy="2491195"/>
          </a:xfrm>
          <a:prstGeom prst="rect">
            <a:avLst/>
          </a:prstGeom>
          <a:noFill/>
        </p:spPr>
        <p:txBody>
          <a:bodyPr wrap="square">
            <a:spAutoFit/>
          </a:bodyPr>
          <a:lstStyle/>
          <a:p>
            <a:pPr>
              <a:lnSpc>
                <a:spcPct val="125000"/>
              </a:lnSpc>
            </a:pPr>
            <a:r>
              <a:rPr lang="zh-CN" altLang="en-US" dirty="0"/>
              <a:t>主要贡献如下:</a:t>
            </a:r>
          </a:p>
          <a:p>
            <a:pPr marL="285750" indent="-285750">
              <a:lnSpc>
                <a:spcPct val="125000"/>
              </a:lnSpc>
              <a:buFontTx/>
              <a:buChar char="-"/>
            </a:pPr>
            <a:r>
              <a:rPr lang="zh-CN" altLang="en-US" dirty="0"/>
              <a:t>自定义交换感知SSD存储管</a:t>
            </a:r>
            <a:endParaRPr lang="en-US" altLang="zh-CN" dirty="0"/>
          </a:p>
          <a:p>
            <a:pPr marL="285750" indent="-285750">
              <a:lnSpc>
                <a:spcPct val="125000"/>
              </a:lnSpc>
              <a:buFontTx/>
              <a:buChar char="-"/>
            </a:pPr>
            <a:r>
              <a:rPr lang="zh-CN" altLang="en-US" dirty="0"/>
              <a:t>一种新机制，通过利用逻辑块元数据进行有效的反向映射，使</a:t>
            </a:r>
            <a:r>
              <a:rPr lang="en-US" altLang="zh-CN" dirty="0"/>
              <a:t>ZNS </a:t>
            </a:r>
            <a:r>
              <a:rPr lang="en-US" altLang="zh-CN" dirty="0" err="1"/>
              <a:t>ssd</a:t>
            </a:r>
            <a:r>
              <a:rPr lang="zh-CN" altLang="en-US" dirty="0"/>
              <a:t>能够用于交换，而无需在主机中使用资源昂贵的重定向机制。</a:t>
            </a:r>
            <a:endParaRPr lang="en-US" altLang="zh-CN" dirty="0"/>
          </a:p>
          <a:p>
            <a:pPr marL="285750" indent="-285750">
              <a:lnSpc>
                <a:spcPct val="125000"/>
              </a:lnSpc>
              <a:buFontTx/>
              <a:buChar char="-"/>
            </a:pPr>
            <a:r>
              <a:rPr lang="zh-CN" altLang="en-US" dirty="0"/>
              <a:t>自定义交换感知</a:t>
            </a:r>
            <a:r>
              <a:rPr lang="en-US" altLang="zh-CN" dirty="0"/>
              <a:t>SSD</a:t>
            </a:r>
            <a:r>
              <a:rPr lang="zh-CN" altLang="en-US" dirty="0"/>
              <a:t>存储管理策略，减少</a:t>
            </a:r>
            <a:r>
              <a:rPr lang="en-US" altLang="zh-CN" dirty="0"/>
              <a:t>WA</a:t>
            </a:r>
            <a:r>
              <a:rPr lang="zh-CN" altLang="en-US" dirty="0"/>
              <a:t>，提高性能，并在多租户环境中实现更好的隔离。</a:t>
            </a:r>
            <a:endParaRPr lang="en-US" altLang="zh-CN" dirty="0"/>
          </a:p>
          <a:p>
            <a:pPr marL="285750" indent="-285750">
              <a:lnSpc>
                <a:spcPct val="125000"/>
              </a:lnSpc>
              <a:buFontTx/>
              <a:buChar char="-"/>
            </a:pPr>
            <a:r>
              <a:rPr lang="zh-CN" altLang="en-US" dirty="0"/>
              <a:t>评估：与传统的块SSD交换相比，zsswap的99百分位延迟降低了10倍，memcached的吞吐量提高了5倍，WAF降低了2.5倍。</a:t>
            </a:r>
          </a:p>
        </p:txBody>
      </p:sp>
    </p:spTree>
    <p:extLst>
      <p:ext uri="{BB962C8B-B14F-4D97-AF65-F5344CB8AC3E}">
        <p14:creationId xmlns:p14="http://schemas.microsoft.com/office/powerpoint/2010/main" val="34420195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2" name="文本框 1">
            <a:extLst>
              <a:ext uri="{FF2B5EF4-FFF2-40B4-BE49-F238E27FC236}">
                <a16:creationId xmlns:a16="http://schemas.microsoft.com/office/drawing/2014/main" id="{578E2C26-45E7-F8D0-8674-092844E3E853}"/>
              </a:ext>
            </a:extLst>
          </p:cNvPr>
          <p:cNvSpPr txBox="1"/>
          <p:nvPr/>
        </p:nvSpPr>
        <p:spPr>
          <a:xfrm>
            <a:off x="292191" y="867985"/>
            <a:ext cx="2438400" cy="461665"/>
          </a:xfrm>
          <a:prstGeom prst="rect">
            <a:avLst/>
          </a:prstGeom>
          <a:noFill/>
        </p:spPr>
        <p:txBody>
          <a:bodyPr wrap="square">
            <a:spAutoFit/>
          </a:bodyPr>
          <a:lstStyle/>
          <a:p>
            <a:r>
              <a:rPr lang="en-US" altLang="zh-CN" sz="2400" b="1" dirty="0"/>
              <a:t>4. Design</a:t>
            </a:r>
            <a:endParaRPr lang="zh-CN" altLang="en-US" sz="2400" b="1" dirty="0"/>
          </a:p>
        </p:txBody>
      </p:sp>
      <p:sp>
        <p:nvSpPr>
          <p:cNvPr id="6" name="文本框 5">
            <a:extLst>
              <a:ext uri="{FF2B5EF4-FFF2-40B4-BE49-F238E27FC236}">
                <a16:creationId xmlns:a16="http://schemas.microsoft.com/office/drawing/2014/main" id="{4CA067F3-1BC4-EF7C-101B-1AFC80DD6F09}"/>
              </a:ext>
            </a:extLst>
          </p:cNvPr>
          <p:cNvSpPr txBox="1"/>
          <p:nvPr/>
        </p:nvSpPr>
        <p:spPr>
          <a:xfrm>
            <a:off x="445434" y="1626346"/>
            <a:ext cx="6094902" cy="369332"/>
          </a:xfrm>
          <a:prstGeom prst="rect">
            <a:avLst/>
          </a:prstGeom>
          <a:noFill/>
        </p:spPr>
        <p:txBody>
          <a:bodyPr wrap="square">
            <a:spAutoFit/>
          </a:bodyPr>
          <a:lstStyle/>
          <a:p>
            <a:r>
              <a:rPr lang="zh-CN" altLang="en-US" dirty="0"/>
              <a:t>ZNS</a:t>
            </a:r>
            <a:r>
              <a:rPr lang="en-US" altLang="zh-CN" dirty="0" err="1"/>
              <a:t>wap</a:t>
            </a:r>
            <a:r>
              <a:rPr lang="zh-CN" altLang="en-US" dirty="0"/>
              <a:t>有3个核心设计目标</a:t>
            </a:r>
          </a:p>
        </p:txBody>
      </p:sp>
      <p:sp>
        <p:nvSpPr>
          <p:cNvPr id="17" name="文本框 16">
            <a:extLst>
              <a:ext uri="{FF2B5EF4-FFF2-40B4-BE49-F238E27FC236}">
                <a16:creationId xmlns:a16="http://schemas.microsoft.com/office/drawing/2014/main" id="{486ED0CB-C8D0-68C8-C363-6AB30C079BEA}"/>
              </a:ext>
            </a:extLst>
          </p:cNvPr>
          <p:cNvSpPr txBox="1"/>
          <p:nvPr/>
        </p:nvSpPr>
        <p:spPr>
          <a:xfrm>
            <a:off x="445434" y="2430753"/>
            <a:ext cx="9949850" cy="2840201"/>
          </a:xfrm>
          <a:prstGeom prst="rect">
            <a:avLst/>
          </a:prstGeom>
          <a:noFill/>
        </p:spPr>
        <p:txBody>
          <a:bodyPr wrap="square">
            <a:spAutoFit/>
          </a:bodyPr>
          <a:lstStyle/>
          <a:p>
            <a:pPr marL="342900" indent="-342900">
              <a:lnSpc>
                <a:spcPct val="125000"/>
              </a:lnSpc>
              <a:buAutoNum type="arabicParenBoth"/>
            </a:pPr>
            <a:r>
              <a:rPr lang="zh-CN" altLang="en-US" sz="1600" b="1" dirty="0"/>
              <a:t>主机端垃圾回收：</a:t>
            </a:r>
            <a:r>
              <a:rPr lang="en-US" altLang="zh-CN" sz="1600" b="1" dirty="0"/>
              <a:t> </a:t>
            </a:r>
            <a:r>
              <a:rPr lang="zh-CN" altLang="en-US" sz="1600" dirty="0"/>
              <a:t>需要一个主机端进程把碎片化的有效内容合并成一个新区，擦除被释放的旧区域。 主要挑战是如何最小化开销，因为与设备端GC不同，主机端GC直接与常规应用程序争用主机资源。从本质上讲，我们需要以最小的成本将GC从设备上加载到CPU上，因此，直接移植已有的GC实现不可行。（例如FTL中GC的实现需要维护映射表）</a:t>
            </a:r>
            <a:endParaRPr lang="en-US" altLang="zh-CN" sz="1600" dirty="0"/>
          </a:p>
          <a:p>
            <a:pPr marL="342900" indent="-342900">
              <a:lnSpc>
                <a:spcPct val="125000"/>
              </a:lnSpc>
              <a:buAutoNum type="arabicParenBoth"/>
            </a:pPr>
            <a:endParaRPr lang="en-US" altLang="zh-CN" sz="1600" dirty="0"/>
          </a:p>
          <a:p>
            <a:pPr>
              <a:lnSpc>
                <a:spcPct val="125000"/>
              </a:lnSpc>
            </a:pPr>
            <a:r>
              <a:rPr lang="en-US" altLang="zh-CN" sz="1600" b="1" dirty="0"/>
              <a:t>(2) ZNGC-OS</a:t>
            </a:r>
            <a:r>
              <a:rPr lang="zh-CN" altLang="en-US" sz="1600" b="1" dirty="0"/>
              <a:t>集成：</a:t>
            </a:r>
            <a:r>
              <a:rPr lang="zh-CN" altLang="en-US" sz="1600" dirty="0"/>
              <a:t>相对于设备端垃圾回收，集成到</a:t>
            </a:r>
            <a:r>
              <a:rPr lang="en-US" altLang="zh-CN" sz="1600" dirty="0"/>
              <a:t>OS</a:t>
            </a:r>
            <a:r>
              <a:rPr lang="zh-CN" altLang="en-US" sz="1600" dirty="0"/>
              <a:t>可以通过</a:t>
            </a:r>
            <a:r>
              <a:rPr lang="en-US" altLang="zh-CN" sz="1600" dirty="0"/>
              <a:t>OS</a:t>
            </a:r>
            <a:r>
              <a:rPr lang="zh-CN" altLang="en-US" sz="1600" dirty="0"/>
              <a:t>暴露的信息可以优化</a:t>
            </a:r>
            <a:r>
              <a:rPr lang="en-US" altLang="zh-CN" sz="1600" dirty="0"/>
              <a:t>Swap</a:t>
            </a:r>
            <a:r>
              <a:rPr lang="zh-CN" altLang="en-US" sz="1600" dirty="0"/>
              <a:t>的性能。</a:t>
            </a:r>
            <a:endParaRPr lang="en-US" altLang="zh-CN" sz="1600" dirty="0"/>
          </a:p>
          <a:p>
            <a:pPr>
              <a:lnSpc>
                <a:spcPct val="125000"/>
              </a:lnSpc>
            </a:pPr>
            <a:endParaRPr lang="en-US" altLang="zh-CN" sz="1600" dirty="0"/>
          </a:p>
          <a:p>
            <a:pPr>
              <a:lnSpc>
                <a:spcPct val="125000"/>
              </a:lnSpc>
            </a:pPr>
            <a:r>
              <a:rPr lang="en-US" altLang="zh-CN" sz="1600" b="1" dirty="0"/>
              <a:t>(3) </a:t>
            </a:r>
            <a:r>
              <a:rPr lang="zh-CN" altLang="en-US" sz="1600" b="1" dirty="0"/>
              <a:t>数据放置策略：</a:t>
            </a:r>
            <a:r>
              <a:rPr lang="zh-CN" altLang="en-US" sz="1600" dirty="0"/>
              <a:t>对于不同于执行环境适用不同的放置策略，并提供了几种预设策略</a:t>
            </a:r>
            <a:endParaRPr lang="en-US" altLang="zh-CN" sz="1600" dirty="0"/>
          </a:p>
          <a:p>
            <a:pPr>
              <a:lnSpc>
                <a:spcPct val="125000"/>
              </a:lnSpc>
            </a:pPr>
            <a:r>
              <a:rPr lang="zh-CN" altLang="en-US" sz="1600" dirty="0"/>
              <a:t>（作者有意偏向于按照数据的生命周期的存放策略。）</a:t>
            </a:r>
          </a:p>
        </p:txBody>
      </p:sp>
    </p:spTree>
    <p:extLst>
      <p:ext uri="{BB962C8B-B14F-4D97-AF65-F5344CB8AC3E}">
        <p14:creationId xmlns:p14="http://schemas.microsoft.com/office/powerpoint/2010/main" val="27438072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pic>
        <p:nvPicPr>
          <p:cNvPr id="7" name="图片 6">
            <a:extLst>
              <a:ext uri="{FF2B5EF4-FFF2-40B4-BE49-F238E27FC236}">
                <a16:creationId xmlns:a16="http://schemas.microsoft.com/office/drawing/2014/main" id="{2961F768-7B6A-B293-8185-2BA268AD86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9398" y="1389809"/>
            <a:ext cx="7888471" cy="2175857"/>
          </a:xfrm>
          <a:prstGeom prst="rect">
            <a:avLst/>
          </a:prstGeom>
        </p:spPr>
      </p:pic>
      <p:sp>
        <p:nvSpPr>
          <p:cNvPr id="18" name="文本框 17">
            <a:extLst>
              <a:ext uri="{FF2B5EF4-FFF2-40B4-BE49-F238E27FC236}">
                <a16:creationId xmlns:a16="http://schemas.microsoft.com/office/drawing/2014/main" id="{94FCAEE0-CDB2-FD72-767E-4CA90C9DBC66}"/>
              </a:ext>
            </a:extLst>
          </p:cNvPr>
          <p:cNvSpPr txBox="1"/>
          <p:nvPr/>
        </p:nvSpPr>
        <p:spPr>
          <a:xfrm>
            <a:off x="608408" y="3596385"/>
            <a:ext cx="11305891" cy="2644827"/>
          </a:xfrm>
          <a:prstGeom prst="rect">
            <a:avLst/>
          </a:prstGeom>
          <a:noFill/>
        </p:spPr>
        <p:txBody>
          <a:bodyPr wrap="square">
            <a:spAutoFit/>
          </a:bodyPr>
          <a:lstStyle/>
          <a:p>
            <a:pPr>
              <a:lnSpc>
                <a:spcPct val="150000"/>
              </a:lnSpc>
            </a:pPr>
            <a:r>
              <a:rPr lang="en-US" altLang="zh-CN" sz="1400" dirty="0"/>
              <a:t>1. </a:t>
            </a:r>
            <a:r>
              <a:rPr lang="zh-CN" altLang="en-US" sz="1400" dirty="0"/>
              <a:t>当操作系统选择要进行页面置换的页面后，它会传递给ZNS页面回收模块。</a:t>
            </a:r>
          </a:p>
          <a:p>
            <a:pPr>
              <a:lnSpc>
                <a:spcPct val="150000"/>
              </a:lnSpc>
            </a:pPr>
            <a:r>
              <a:rPr lang="en-US" altLang="zh-CN" sz="1400" dirty="0"/>
              <a:t>2. </a:t>
            </a:r>
            <a:r>
              <a:rPr lang="zh-CN" altLang="en-US" sz="1400" dirty="0"/>
              <a:t>ZNS页面回收模块负责处理页表和交换缓存的操作。（不同于传统的置换逻辑，ZNS页面回收模块在页面被写入后更新目标位置，这是由ZNS的zone</a:t>
            </a:r>
            <a:r>
              <a:rPr lang="en-US" altLang="zh-CN" sz="1400" dirty="0"/>
              <a:t>-</a:t>
            </a:r>
            <a:r>
              <a:rPr lang="zh-CN" altLang="en-US" sz="1400" dirty="0"/>
              <a:t>append接口所要求的。）</a:t>
            </a:r>
          </a:p>
          <a:p>
            <a:pPr>
              <a:lnSpc>
                <a:spcPct val="150000"/>
              </a:lnSpc>
            </a:pPr>
            <a:r>
              <a:rPr lang="en-US" altLang="zh-CN" sz="1400" dirty="0"/>
              <a:t>3&amp;4.</a:t>
            </a:r>
            <a:r>
              <a:rPr lang="zh-CN" altLang="en-US" sz="1400" dirty="0"/>
              <a:t> 在写入页面之前，页面回收模块会咨询策略管理器（自定义策略），确定目标区域，并可以指导ZNS进行设备上某些区域的释放（？）。区域分配器会处理满区域，并在需要时分配新的区域。</a:t>
            </a:r>
          </a:p>
          <a:p>
            <a:pPr>
              <a:lnSpc>
                <a:spcPct val="150000"/>
              </a:lnSpc>
            </a:pPr>
            <a:r>
              <a:rPr lang="zh-CN" altLang="en-US" sz="1400" dirty="0"/>
              <a:t>页面随后被提交给</a:t>
            </a:r>
            <a:r>
              <a:rPr lang="en-US" altLang="zh-CN" sz="1400" dirty="0"/>
              <a:t>Block</a:t>
            </a:r>
            <a:r>
              <a:rPr lang="zh-CN" altLang="en-US" sz="1400" dirty="0"/>
              <a:t>层，然后由ZNSwap的I/O管理器处理。</a:t>
            </a:r>
          </a:p>
          <a:p>
            <a:pPr>
              <a:lnSpc>
                <a:spcPct val="150000"/>
              </a:lnSpc>
            </a:pPr>
            <a:r>
              <a:rPr lang="en-US" altLang="zh-CN" sz="1400" dirty="0"/>
              <a:t>5-8. </a:t>
            </a:r>
            <a:r>
              <a:rPr lang="zh-CN" altLang="en-US" sz="1400" dirty="0"/>
              <a:t>I/O管理器尽可能合并区域追加（zone-append）操作，并生成包含页面数据和ZNGC所使用的反向映射信息的I/O请求。</a:t>
            </a:r>
          </a:p>
          <a:p>
            <a:pPr>
              <a:lnSpc>
                <a:spcPct val="150000"/>
              </a:lnSpc>
            </a:pPr>
            <a:r>
              <a:rPr lang="zh-CN" altLang="en-US" sz="1400" dirty="0"/>
              <a:t>最后，I/O管理器将I/O请求交给NVMe驱动程序，该驱动程序将数据写入ZNS SSD，并更新回收模块中页面在SSD上的位置。</a:t>
            </a:r>
          </a:p>
        </p:txBody>
      </p:sp>
      <p:sp>
        <p:nvSpPr>
          <p:cNvPr id="22" name="文本框 21">
            <a:extLst>
              <a:ext uri="{FF2B5EF4-FFF2-40B4-BE49-F238E27FC236}">
                <a16:creationId xmlns:a16="http://schemas.microsoft.com/office/drawing/2014/main" id="{6EAD4B74-2301-412A-2A30-7D7DA634BF36}"/>
              </a:ext>
            </a:extLst>
          </p:cNvPr>
          <p:cNvSpPr txBox="1"/>
          <p:nvPr/>
        </p:nvSpPr>
        <p:spPr>
          <a:xfrm>
            <a:off x="292191" y="867985"/>
            <a:ext cx="2438400" cy="369332"/>
          </a:xfrm>
          <a:prstGeom prst="rect">
            <a:avLst/>
          </a:prstGeom>
          <a:noFill/>
        </p:spPr>
        <p:txBody>
          <a:bodyPr wrap="square">
            <a:spAutoFit/>
          </a:bodyPr>
          <a:lstStyle/>
          <a:p>
            <a:r>
              <a:rPr lang="en-US" altLang="zh-CN" sz="1800" b="0" i="0" u="none" strike="noStrike" baseline="0" dirty="0">
                <a:latin typeface="NimbusRomNo9L-Medi"/>
              </a:rPr>
              <a:t>Overview</a:t>
            </a:r>
            <a:endParaRPr lang="zh-CN" altLang="en-US" sz="2400" b="1" dirty="0"/>
          </a:p>
        </p:txBody>
      </p:sp>
    </p:spTree>
    <p:extLst>
      <p:ext uri="{BB962C8B-B14F-4D97-AF65-F5344CB8AC3E}">
        <p14:creationId xmlns:p14="http://schemas.microsoft.com/office/powerpoint/2010/main" val="11308091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3" name="Rectangle 2">
            <a:extLst>
              <a:ext uri="{FF2B5EF4-FFF2-40B4-BE49-F238E27FC236}">
                <a16:creationId xmlns:a16="http://schemas.microsoft.com/office/drawing/2014/main" id="{98D8A555-8591-4A48-4955-D2C6FA8BEE24}"/>
              </a:ext>
            </a:extLst>
          </p:cNvPr>
          <p:cNvSpPr>
            <a:spLocks noChangeArrowheads="1"/>
          </p:cNvSpPr>
          <p:nvPr/>
        </p:nvSpPr>
        <p:spPr bwMode="auto">
          <a:xfrm>
            <a:off x="292191" y="1590896"/>
            <a:ext cx="11430004" cy="377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125000"/>
              </a:lnSpc>
              <a:spcBef>
                <a:spcPct val="0"/>
              </a:spcBef>
              <a:spcAft>
                <a:spcPct val="0"/>
              </a:spcAft>
              <a:buClrTx/>
              <a:buSzTx/>
              <a:tabLst/>
            </a:pPr>
            <a:r>
              <a:rPr lang="zh-CN" altLang="zh-CN" sz="1600" dirty="0"/>
              <a:t>znGC集成在kernel virtual memory (VM)中。作为守护进程，当空zone数较低时触发。（或通过</a:t>
            </a:r>
            <a:r>
              <a:rPr lang="en-US" altLang="zh-CN" sz="1600" dirty="0"/>
              <a:t>ZN</a:t>
            </a:r>
            <a:r>
              <a:rPr lang="zh-CN" altLang="zh-CN" sz="1600" dirty="0"/>
              <a:t>swap策略的明确请求） </a:t>
            </a:r>
          </a:p>
        </p:txBody>
      </p:sp>
      <p:sp>
        <p:nvSpPr>
          <p:cNvPr id="4" name="文本框 3">
            <a:extLst>
              <a:ext uri="{FF2B5EF4-FFF2-40B4-BE49-F238E27FC236}">
                <a16:creationId xmlns:a16="http://schemas.microsoft.com/office/drawing/2014/main" id="{AA1EAE38-08B9-2EAC-154A-932D4051DCC3}"/>
              </a:ext>
            </a:extLst>
          </p:cNvPr>
          <p:cNvSpPr txBox="1"/>
          <p:nvPr/>
        </p:nvSpPr>
        <p:spPr>
          <a:xfrm>
            <a:off x="289395" y="965130"/>
            <a:ext cx="2438400" cy="523220"/>
          </a:xfrm>
          <a:prstGeom prst="rect">
            <a:avLst/>
          </a:prstGeom>
          <a:noFill/>
        </p:spPr>
        <p:txBody>
          <a:bodyPr wrap="square">
            <a:spAutoFit/>
          </a:bodyPr>
          <a:lstStyle/>
          <a:p>
            <a:r>
              <a:rPr lang="en-US" altLang="zh-CN" sz="2800" b="1" dirty="0" err="1">
                <a:latin typeface="NimbusRomNo9L-Medi"/>
              </a:rPr>
              <a:t>znGC</a:t>
            </a:r>
            <a:endParaRPr lang="en-US" altLang="zh-CN" sz="2800" b="1" dirty="0">
              <a:latin typeface="NimbusRomNo9L-Medi"/>
            </a:endParaRPr>
          </a:p>
        </p:txBody>
      </p:sp>
      <p:pic>
        <p:nvPicPr>
          <p:cNvPr id="9" name="图片 8">
            <a:extLst>
              <a:ext uri="{FF2B5EF4-FFF2-40B4-BE49-F238E27FC236}">
                <a16:creationId xmlns:a16="http://schemas.microsoft.com/office/drawing/2014/main" id="{D5DC9196-B02B-AD7E-3B63-47C73F36C94F}"/>
              </a:ext>
            </a:extLst>
          </p:cNvPr>
          <p:cNvPicPr>
            <a:picLocks noChangeAspect="1"/>
          </p:cNvPicPr>
          <p:nvPr/>
        </p:nvPicPr>
        <p:blipFill>
          <a:blip r:embed="rId5"/>
          <a:stretch>
            <a:fillRect/>
          </a:stretch>
        </p:blipFill>
        <p:spPr>
          <a:xfrm>
            <a:off x="3878445" y="3934751"/>
            <a:ext cx="7432912" cy="2170410"/>
          </a:xfrm>
          <a:prstGeom prst="rect">
            <a:avLst/>
          </a:prstGeom>
        </p:spPr>
      </p:pic>
      <p:sp>
        <p:nvSpPr>
          <p:cNvPr id="17" name="Rectangle 3">
            <a:extLst>
              <a:ext uri="{FF2B5EF4-FFF2-40B4-BE49-F238E27FC236}">
                <a16:creationId xmlns:a16="http://schemas.microsoft.com/office/drawing/2014/main" id="{DFD3A489-4B94-E489-17F4-4940B80A661E}"/>
              </a:ext>
            </a:extLst>
          </p:cNvPr>
          <p:cNvSpPr>
            <a:spLocks noChangeArrowheads="1"/>
          </p:cNvSpPr>
          <p:nvPr/>
        </p:nvSpPr>
        <p:spPr bwMode="auto">
          <a:xfrm>
            <a:off x="289395" y="2158475"/>
            <a:ext cx="10966669" cy="993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125000"/>
              </a:lnSpc>
              <a:spcBef>
                <a:spcPct val="0"/>
              </a:spcBef>
              <a:spcAft>
                <a:spcPct val="0"/>
              </a:spcAft>
              <a:buClrTx/>
              <a:buSzTx/>
              <a:tabLst/>
            </a:pPr>
            <a:r>
              <a:rPr lang="zh-CN" altLang="en-US" sz="1600" dirty="0">
                <a:latin typeface="+mn-lt"/>
              </a:rPr>
              <a:t>不同</a:t>
            </a:r>
            <a:r>
              <a:rPr lang="zh-CN" altLang="zh-CN" sz="1600" dirty="0">
                <a:latin typeface="+mn-lt"/>
              </a:rPr>
              <a:t>于块ssd，被ZNGC移动的页面</a:t>
            </a:r>
            <a:r>
              <a:rPr lang="zh-CN" altLang="en-US" sz="1600" dirty="0">
                <a:latin typeface="+mn-lt"/>
              </a:rPr>
              <a:t>讲</a:t>
            </a:r>
            <a:r>
              <a:rPr lang="zh-CN" altLang="zh-CN" sz="1600" dirty="0">
                <a:latin typeface="+mn-lt"/>
              </a:rPr>
              <a:t>被分配一个新的主机可见地址。如果没有额外的转换层，ZNGC必须更新保存原始页面交换槽的页表，以反映新的位置。</a:t>
            </a:r>
          </a:p>
          <a:p>
            <a:pPr marR="0" lvl="0" eaLnBrk="1" fontAlgn="base" hangingPunct="1">
              <a:lnSpc>
                <a:spcPct val="125000"/>
              </a:lnSpc>
              <a:spcBef>
                <a:spcPct val="0"/>
              </a:spcBef>
              <a:spcAft>
                <a:spcPct val="0"/>
              </a:spcAft>
              <a:buClrTx/>
              <a:buSzTx/>
              <a:tabLst/>
            </a:pPr>
            <a:r>
              <a:rPr lang="zh-CN" altLang="zh-CN" sz="1600" dirty="0">
                <a:latin typeface="+mn-lt"/>
              </a:rPr>
              <a:t>为此，ZNGC将相关的反向映射元数据与数据一起存储在ZNS SSD中，以帮助以后更新页表。</a:t>
            </a:r>
          </a:p>
        </p:txBody>
      </p:sp>
      <p:sp>
        <p:nvSpPr>
          <p:cNvPr id="20" name="文本框 19">
            <a:extLst>
              <a:ext uri="{FF2B5EF4-FFF2-40B4-BE49-F238E27FC236}">
                <a16:creationId xmlns:a16="http://schemas.microsoft.com/office/drawing/2014/main" id="{7309EF5D-5B6B-052C-008E-40041FDD4FAB}"/>
              </a:ext>
            </a:extLst>
          </p:cNvPr>
          <p:cNvSpPr txBox="1"/>
          <p:nvPr/>
        </p:nvSpPr>
        <p:spPr>
          <a:xfrm>
            <a:off x="292191" y="3609486"/>
            <a:ext cx="9555678" cy="646331"/>
          </a:xfrm>
          <a:prstGeom prst="rect">
            <a:avLst/>
          </a:prstGeom>
          <a:noFill/>
        </p:spPr>
        <p:txBody>
          <a:bodyPr wrap="square">
            <a:spAutoFit/>
          </a:bodyPr>
          <a:lstStyle/>
          <a:p>
            <a:r>
              <a:rPr lang="zh-CN" altLang="en-US" dirty="0"/>
              <a:t>哪些信息需要保留在页面元数据中以保证反向映射在其生命周期内保持正确 ?</a:t>
            </a:r>
          </a:p>
          <a:p>
            <a:r>
              <a:rPr lang="zh-CN" altLang="en-US" dirty="0"/>
              <a:t>——Linux中的反向映射</a:t>
            </a:r>
          </a:p>
        </p:txBody>
      </p:sp>
    </p:spTree>
    <p:extLst>
      <p:ext uri="{BB962C8B-B14F-4D97-AF65-F5344CB8AC3E}">
        <p14:creationId xmlns:p14="http://schemas.microsoft.com/office/powerpoint/2010/main" val="21041241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pic>
        <p:nvPicPr>
          <p:cNvPr id="2" name="图片 1">
            <a:extLst>
              <a:ext uri="{FF2B5EF4-FFF2-40B4-BE49-F238E27FC236}">
                <a16:creationId xmlns:a16="http://schemas.microsoft.com/office/drawing/2014/main" id="{B6C3FFDF-047A-8DCC-3350-B957DE348543}"/>
              </a:ext>
            </a:extLst>
          </p:cNvPr>
          <p:cNvPicPr>
            <a:picLocks noChangeAspect="1"/>
          </p:cNvPicPr>
          <p:nvPr/>
        </p:nvPicPr>
        <p:blipFill>
          <a:blip r:embed="rId5"/>
          <a:stretch>
            <a:fillRect/>
          </a:stretch>
        </p:blipFill>
        <p:spPr>
          <a:xfrm>
            <a:off x="2037482" y="942566"/>
            <a:ext cx="7432912" cy="2170410"/>
          </a:xfrm>
          <a:prstGeom prst="rect">
            <a:avLst/>
          </a:prstGeom>
        </p:spPr>
      </p:pic>
      <p:sp>
        <p:nvSpPr>
          <p:cNvPr id="3" name="文本框 2">
            <a:extLst>
              <a:ext uri="{FF2B5EF4-FFF2-40B4-BE49-F238E27FC236}">
                <a16:creationId xmlns:a16="http://schemas.microsoft.com/office/drawing/2014/main" id="{55EC31F9-7A8B-41F0-3582-938EA2700E06}"/>
              </a:ext>
            </a:extLst>
          </p:cNvPr>
          <p:cNvSpPr txBox="1"/>
          <p:nvPr/>
        </p:nvSpPr>
        <p:spPr>
          <a:xfrm>
            <a:off x="574033" y="3481306"/>
            <a:ext cx="9892294" cy="2496709"/>
          </a:xfrm>
          <a:prstGeom prst="rect">
            <a:avLst/>
          </a:prstGeom>
          <a:noFill/>
        </p:spPr>
        <p:txBody>
          <a:bodyPr wrap="square">
            <a:spAutoFit/>
          </a:bodyPr>
          <a:lstStyle/>
          <a:p>
            <a:pPr>
              <a:lnSpc>
                <a:spcPct val="125000"/>
              </a:lnSpc>
            </a:pPr>
            <a:r>
              <a:rPr lang="zh-CN" altLang="en-US" sz="1400" dirty="0"/>
              <a:t>首先，</a:t>
            </a:r>
            <a:r>
              <a:rPr lang="en-US" altLang="zh-CN" sz="1400" dirty="0"/>
              <a:t>page</a:t>
            </a:r>
            <a:r>
              <a:rPr lang="zh-CN" altLang="en-US" sz="1400" dirty="0"/>
              <a:t>并不直接记录虚拟映射变化，而是在其映射字段中保存一个指向 </a:t>
            </a:r>
            <a:r>
              <a:rPr lang="en-US" altLang="zh-CN" sz="1400" dirty="0" err="1"/>
              <a:t>anon_vma</a:t>
            </a:r>
            <a:r>
              <a:rPr lang="en-US" altLang="zh-CN" sz="1400" dirty="0"/>
              <a:t> </a:t>
            </a:r>
            <a:r>
              <a:rPr lang="zh-CN" altLang="en-US" sz="1400" dirty="0"/>
              <a:t>的指针。 </a:t>
            </a:r>
            <a:endParaRPr lang="en-US" altLang="zh-CN" sz="1400" dirty="0"/>
          </a:p>
          <a:p>
            <a:pPr>
              <a:lnSpc>
                <a:spcPct val="125000"/>
              </a:lnSpc>
            </a:pPr>
            <a:endParaRPr lang="en-US" altLang="zh-CN" sz="1400" dirty="0"/>
          </a:p>
          <a:p>
            <a:pPr>
              <a:lnSpc>
                <a:spcPct val="125000"/>
              </a:lnSpc>
            </a:pPr>
            <a:r>
              <a:rPr lang="en-US" altLang="zh-CN" sz="1400" dirty="0" err="1"/>
              <a:t>anon_vma</a:t>
            </a:r>
            <a:r>
              <a:rPr lang="zh-CN" altLang="en-US" sz="1400" dirty="0"/>
              <a:t>为物理页维护了一个映射到它的虚拟区域（</a:t>
            </a:r>
            <a:r>
              <a:rPr lang="en-US" altLang="zh-CN" sz="1400" dirty="0" err="1"/>
              <a:t>vma</a:t>
            </a:r>
            <a:r>
              <a:rPr lang="zh-CN" altLang="en-US" sz="1400" dirty="0"/>
              <a:t>）的</a:t>
            </a:r>
            <a:r>
              <a:rPr lang="en-US" altLang="zh-CN" sz="1400" dirty="0"/>
              <a:t>list</a:t>
            </a:r>
          </a:p>
          <a:p>
            <a:pPr>
              <a:lnSpc>
                <a:spcPct val="125000"/>
              </a:lnSpc>
            </a:pPr>
            <a:endParaRPr lang="en-US" altLang="zh-CN" sz="1400" dirty="0"/>
          </a:p>
          <a:p>
            <a:pPr>
              <a:lnSpc>
                <a:spcPct val="125000"/>
              </a:lnSpc>
            </a:pPr>
            <a:r>
              <a:rPr lang="zh-CN" altLang="en-US" sz="1400" dirty="0"/>
              <a:t>再利用</a:t>
            </a:r>
            <a:r>
              <a:rPr lang="en-US" altLang="zh-CN" sz="1400" dirty="0" err="1"/>
              <a:t>vma</a:t>
            </a:r>
            <a:r>
              <a:rPr lang="en-US" altLang="zh-CN" sz="1400" dirty="0"/>
              <a:t> + Index </a:t>
            </a:r>
            <a:r>
              <a:rPr lang="zh-CN" altLang="en-US" sz="1400" dirty="0"/>
              <a:t>查表确定</a:t>
            </a:r>
            <a:r>
              <a:rPr lang="en-US" altLang="zh-CN" sz="1400" dirty="0"/>
              <a:t>PTE</a:t>
            </a:r>
          </a:p>
          <a:p>
            <a:pPr>
              <a:lnSpc>
                <a:spcPct val="125000"/>
              </a:lnSpc>
            </a:pPr>
            <a:endParaRPr lang="en-US" altLang="zh-CN" sz="1400" dirty="0"/>
          </a:p>
          <a:p>
            <a:pPr>
              <a:lnSpc>
                <a:spcPct val="125000"/>
              </a:lnSpc>
            </a:pPr>
            <a:r>
              <a:rPr lang="zh-CN" altLang="en-US" sz="1400" dirty="0"/>
              <a:t>由于交换出的页面在其页表项中没有有效的物理地址，</a:t>
            </a:r>
            <a:r>
              <a:rPr lang="en-US" altLang="zh-CN" sz="1400" dirty="0" err="1"/>
              <a:t>znGC</a:t>
            </a:r>
            <a:r>
              <a:rPr lang="zh-CN" altLang="en-US" sz="1400" dirty="0"/>
              <a:t>返回的</a:t>
            </a:r>
            <a:r>
              <a:rPr lang="en-US" altLang="zh-CN" sz="1400" dirty="0"/>
              <a:t>entry</a:t>
            </a:r>
            <a:r>
              <a:rPr lang="zh-CN" altLang="en-US" sz="1400" dirty="0"/>
              <a:t>存的是 </a:t>
            </a:r>
            <a:r>
              <a:rPr lang="en-US" altLang="zh-CN" sz="1400" dirty="0"/>
              <a:t>swap</a:t>
            </a:r>
            <a:r>
              <a:rPr lang="zh-CN" altLang="en-US" sz="1400" dirty="0"/>
              <a:t>槽的地址。</a:t>
            </a:r>
            <a:endParaRPr lang="en-US" altLang="zh-CN" sz="1400" dirty="0"/>
          </a:p>
          <a:p>
            <a:pPr>
              <a:lnSpc>
                <a:spcPct val="125000"/>
              </a:lnSpc>
            </a:pPr>
            <a:endParaRPr lang="en-US" altLang="zh-CN" sz="1400" dirty="0"/>
          </a:p>
          <a:p>
            <a:pPr>
              <a:lnSpc>
                <a:spcPct val="125000"/>
              </a:lnSpc>
            </a:pPr>
            <a:r>
              <a:rPr lang="zh-CN" altLang="en-US" sz="1400" dirty="0"/>
              <a:t>因此在固态硬盘的逻辑块元数据中存储 </a:t>
            </a:r>
            <a:r>
              <a:rPr lang="en-US" altLang="zh-CN" sz="1400" dirty="0" err="1"/>
              <a:t>anon_vma</a:t>
            </a:r>
            <a:r>
              <a:rPr lang="en-US" altLang="zh-CN" sz="1400" dirty="0"/>
              <a:t> </a:t>
            </a:r>
            <a:r>
              <a:rPr lang="zh-CN" altLang="en-US" sz="1400" dirty="0"/>
              <a:t>指针和映射偏移量（索引），可实现与反向映射相同的功能。</a:t>
            </a:r>
          </a:p>
        </p:txBody>
      </p:sp>
    </p:spTree>
    <p:extLst>
      <p:ext uri="{BB962C8B-B14F-4D97-AF65-F5344CB8AC3E}">
        <p14:creationId xmlns:p14="http://schemas.microsoft.com/office/powerpoint/2010/main" val="968096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3" name="文本框 2">
            <a:extLst>
              <a:ext uri="{FF2B5EF4-FFF2-40B4-BE49-F238E27FC236}">
                <a16:creationId xmlns:a16="http://schemas.microsoft.com/office/drawing/2014/main" id="{18BAEC90-4C67-AB46-8851-4587499930C2}"/>
              </a:ext>
            </a:extLst>
          </p:cNvPr>
          <p:cNvSpPr txBox="1"/>
          <p:nvPr/>
        </p:nvSpPr>
        <p:spPr>
          <a:xfrm>
            <a:off x="445434" y="1761358"/>
            <a:ext cx="11377472" cy="646331"/>
          </a:xfrm>
          <a:prstGeom prst="rect">
            <a:avLst/>
          </a:prstGeom>
          <a:noFill/>
        </p:spPr>
        <p:txBody>
          <a:bodyPr wrap="square">
            <a:spAutoFit/>
          </a:bodyPr>
          <a:lstStyle/>
          <a:p>
            <a:r>
              <a:rPr lang="zh-CN" altLang="en-US" dirty="0"/>
              <a:t>物理</a:t>
            </a:r>
            <a:r>
              <a:rPr lang="en-US" altLang="zh-CN" dirty="0"/>
              <a:t>Zone</a:t>
            </a:r>
            <a:r>
              <a:rPr lang="zh-CN" altLang="en-US" dirty="0"/>
              <a:t>信息：每个</a:t>
            </a:r>
            <a:r>
              <a:rPr lang="en-US" altLang="zh-CN" dirty="0"/>
              <a:t>Zone</a:t>
            </a:r>
            <a:r>
              <a:rPr lang="zh-CN" altLang="en-US" dirty="0"/>
              <a:t>有一个交换槽映射。该映射表保存了每个交换槽的使用信息，以及它是否有效或有交换缓存（类似于 Linux 的 swap_map）。</a:t>
            </a:r>
            <a:r>
              <a:rPr lang="en-US" altLang="zh-CN" dirty="0" err="1"/>
              <a:t>zn</a:t>
            </a:r>
            <a:r>
              <a:rPr lang="zh-CN" altLang="en-US" dirty="0"/>
              <a:t>GC 会在空间回收过程中使用这些信息。</a:t>
            </a:r>
          </a:p>
        </p:txBody>
      </p:sp>
      <p:sp>
        <p:nvSpPr>
          <p:cNvPr id="4" name="文本框 3">
            <a:extLst>
              <a:ext uri="{FF2B5EF4-FFF2-40B4-BE49-F238E27FC236}">
                <a16:creationId xmlns:a16="http://schemas.microsoft.com/office/drawing/2014/main" id="{B4468A1C-A084-E562-1324-DDF4001514C3}"/>
              </a:ext>
            </a:extLst>
          </p:cNvPr>
          <p:cNvSpPr txBox="1"/>
          <p:nvPr/>
        </p:nvSpPr>
        <p:spPr>
          <a:xfrm>
            <a:off x="445434" y="1010285"/>
            <a:ext cx="3326466" cy="523220"/>
          </a:xfrm>
          <a:prstGeom prst="rect">
            <a:avLst/>
          </a:prstGeom>
          <a:noFill/>
        </p:spPr>
        <p:txBody>
          <a:bodyPr wrap="square">
            <a:spAutoFit/>
          </a:bodyPr>
          <a:lstStyle/>
          <a:p>
            <a:r>
              <a:rPr lang="en-US" altLang="zh-CN" sz="2800" b="1" dirty="0" err="1">
                <a:latin typeface="NimbusRomNo9L-Medi"/>
              </a:rPr>
              <a:t>znGC</a:t>
            </a:r>
            <a:r>
              <a:rPr lang="en-US" altLang="zh-CN" sz="2800" b="1" dirty="0">
                <a:latin typeface="NimbusRomNo9L-Medi"/>
              </a:rPr>
              <a:t> – swap</a:t>
            </a:r>
            <a:r>
              <a:rPr lang="zh-CN" altLang="en-US" sz="2800" b="1" dirty="0">
                <a:latin typeface="NimbusRomNo9L-Medi"/>
              </a:rPr>
              <a:t>集成</a:t>
            </a:r>
            <a:r>
              <a:rPr lang="en-US" altLang="zh-CN" sz="2800" b="1" dirty="0">
                <a:latin typeface="NimbusRomNo9L-Medi"/>
              </a:rPr>
              <a:t> </a:t>
            </a:r>
          </a:p>
        </p:txBody>
      </p:sp>
      <p:sp>
        <p:nvSpPr>
          <p:cNvPr id="6" name="文本框 5">
            <a:extLst>
              <a:ext uri="{FF2B5EF4-FFF2-40B4-BE49-F238E27FC236}">
                <a16:creationId xmlns:a16="http://schemas.microsoft.com/office/drawing/2014/main" id="{E6224295-7BC6-F6DE-86E3-640D004DE9FF}"/>
              </a:ext>
            </a:extLst>
          </p:cNvPr>
          <p:cNvSpPr txBox="1"/>
          <p:nvPr/>
        </p:nvSpPr>
        <p:spPr>
          <a:xfrm>
            <a:off x="445434" y="2689973"/>
            <a:ext cx="11127441" cy="923330"/>
          </a:xfrm>
          <a:prstGeom prst="rect">
            <a:avLst/>
          </a:prstGeom>
          <a:noFill/>
        </p:spPr>
        <p:txBody>
          <a:bodyPr wrap="square">
            <a:spAutoFit/>
          </a:bodyPr>
          <a:lstStyle/>
          <a:p>
            <a:r>
              <a:rPr lang="zh-CN" altLang="en-US" dirty="0"/>
              <a:t>值得注意的是，</a:t>
            </a:r>
            <a:r>
              <a:rPr lang="en-US" altLang="zh-CN" dirty="0"/>
              <a:t>OS</a:t>
            </a:r>
            <a:r>
              <a:rPr lang="zh-CN" altLang="en-US" dirty="0"/>
              <a:t>可以丢弃交换槽，</a:t>
            </a:r>
            <a:r>
              <a:rPr lang="en-US" altLang="zh-CN" dirty="0" err="1"/>
              <a:t>zn</a:t>
            </a:r>
            <a:r>
              <a:rPr lang="zh-CN" altLang="en-US" dirty="0"/>
              <a:t>GC 会立即意识到这一变化，而不会像块固态硬盘那样使用 TRIM；</a:t>
            </a:r>
            <a:endParaRPr lang="en-US" altLang="zh-CN" dirty="0"/>
          </a:p>
          <a:p>
            <a:r>
              <a:rPr lang="zh-CN" altLang="en-US" dirty="0"/>
              <a:t>如果</a:t>
            </a:r>
            <a:r>
              <a:rPr lang="en-US" altLang="zh-CN" dirty="0"/>
              <a:t>Zone</a:t>
            </a:r>
            <a:r>
              <a:rPr lang="zh-CN" altLang="en-US" dirty="0"/>
              <a:t>不足，ZNGC 可能会决定回收一些大部分空闲但仍有一部分交换页的区域。这就使得 Linux 中的交换回收截止参数（</a:t>
            </a:r>
            <a:r>
              <a:rPr lang="en-US" altLang="zh-CN" dirty="0"/>
              <a:t>50%</a:t>
            </a:r>
            <a:r>
              <a:rPr lang="zh-CN" altLang="en-US" dirty="0"/>
              <a:t>）变得无效。</a:t>
            </a:r>
          </a:p>
        </p:txBody>
      </p:sp>
      <p:sp>
        <p:nvSpPr>
          <p:cNvPr id="8" name="文本框 7">
            <a:extLst>
              <a:ext uri="{FF2B5EF4-FFF2-40B4-BE49-F238E27FC236}">
                <a16:creationId xmlns:a16="http://schemas.microsoft.com/office/drawing/2014/main" id="{7E9176F4-F2D8-E12F-41EF-F665AFF26F84}"/>
              </a:ext>
            </a:extLst>
          </p:cNvPr>
          <p:cNvSpPr txBox="1"/>
          <p:nvPr/>
        </p:nvSpPr>
        <p:spPr>
          <a:xfrm>
            <a:off x="445434" y="3971433"/>
            <a:ext cx="11320322" cy="646331"/>
          </a:xfrm>
          <a:prstGeom prst="rect">
            <a:avLst/>
          </a:prstGeom>
          <a:noFill/>
        </p:spPr>
        <p:txBody>
          <a:bodyPr wrap="square">
            <a:spAutoFit/>
          </a:bodyPr>
          <a:lstStyle/>
          <a:p>
            <a:r>
              <a:rPr lang="zh-CN" altLang="en-US" dirty="0"/>
              <a:t>交换空间抽象：可以被用来swap-slot分配的活跃空间通过交换空间抽象进行暴露，从而避免管理物理空间的复杂性。</a:t>
            </a:r>
          </a:p>
        </p:txBody>
      </p:sp>
    </p:spTree>
    <p:extLst>
      <p:ext uri="{BB962C8B-B14F-4D97-AF65-F5344CB8AC3E}">
        <p14:creationId xmlns:p14="http://schemas.microsoft.com/office/powerpoint/2010/main" val="2183330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March 25,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7" name="文本框 16">
            <a:extLst>
              <a:ext uri="{FF2B5EF4-FFF2-40B4-BE49-F238E27FC236}">
                <a16:creationId xmlns:a16="http://schemas.microsoft.com/office/drawing/2014/main" id="{F3C21C59-95B7-4E1A-816B-14AA33654AE5}"/>
              </a:ext>
            </a:extLst>
          </p:cNvPr>
          <p:cNvSpPr txBox="1"/>
          <p:nvPr/>
        </p:nvSpPr>
        <p:spPr>
          <a:xfrm>
            <a:off x="289395" y="965130"/>
            <a:ext cx="2438400" cy="523220"/>
          </a:xfrm>
          <a:prstGeom prst="rect">
            <a:avLst/>
          </a:prstGeom>
          <a:noFill/>
        </p:spPr>
        <p:txBody>
          <a:bodyPr wrap="square">
            <a:spAutoFit/>
          </a:bodyPr>
          <a:lstStyle/>
          <a:p>
            <a:r>
              <a:rPr lang="zh-CN" altLang="en-US" sz="2800" b="1" dirty="0">
                <a:latin typeface="NimbusRomNo9L-Medi"/>
              </a:rPr>
              <a:t>评估</a:t>
            </a:r>
            <a:endParaRPr lang="en-US" altLang="zh-CN" sz="2800" b="1" dirty="0">
              <a:latin typeface="NimbusRomNo9L-Medi"/>
            </a:endParaRPr>
          </a:p>
        </p:txBody>
      </p:sp>
      <p:sp>
        <p:nvSpPr>
          <p:cNvPr id="2" name="Rectangle 1">
            <a:extLst>
              <a:ext uri="{FF2B5EF4-FFF2-40B4-BE49-F238E27FC236}">
                <a16:creationId xmlns:a16="http://schemas.microsoft.com/office/drawing/2014/main" id="{9133F508-F4C7-4F5C-B8C3-CDFB6BD8E83E}"/>
              </a:ext>
            </a:extLst>
          </p:cNvPr>
          <p:cNvSpPr>
            <a:spLocks noChangeArrowheads="1"/>
          </p:cNvSpPr>
          <p:nvPr/>
        </p:nvSpPr>
        <p:spPr bwMode="auto">
          <a:xfrm>
            <a:off x="289395" y="1694103"/>
            <a:ext cx="62969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eaLnBrk="1" fontAlgn="base" hangingPunct="1">
              <a:lnSpc>
                <a:spcPct val="100000"/>
              </a:lnSpc>
              <a:spcBef>
                <a:spcPct val="0"/>
              </a:spcBef>
              <a:spcAft>
                <a:spcPct val="0"/>
              </a:spcAft>
              <a:buClrTx/>
              <a:buSzTx/>
              <a:buFontTx/>
              <a:buNone/>
              <a:tabLst/>
            </a:pPr>
            <a:r>
              <a:rPr lang="zh-CN" altLang="zh-CN" dirty="0">
                <a:latin typeface="+mn-lt"/>
              </a:rPr>
              <a:t>Ubuntu 20.04 Linux Kernel 5.12 </a:t>
            </a:r>
          </a:p>
          <a:p>
            <a:pPr marR="0" lvl="0" indent="0" eaLnBrk="1" fontAlgn="base" hangingPunct="1">
              <a:lnSpc>
                <a:spcPct val="100000"/>
              </a:lnSpc>
              <a:spcBef>
                <a:spcPct val="0"/>
              </a:spcBef>
              <a:spcAft>
                <a:spcPct val="0"/>
              </a:spcAft>
              <a:buClrTx/>
              <a:buSzTx/>
              <a:buFontTx/>
              <a:buNone/>
              <a:tabLst/>
            </a:pPr>
            <a:r>
              <a:rPr lang="zh-CN" altLang="zh-CN" dirty="0">
                <a:latin typeface="+mn-lt"/>
              </a:rPr>
              <a:t>512G DDR4 </a:t>
            </a:r>
          </a:p>
          <a:p>
            <a:pPr marR="0" lvl="0" indent="0" eaLnBrk="1" fontAlgn="base" hangingPunct="1">
              <a:lnSpc>
                <a:spcPct val="100000"/>
              </a:lnSpc>
              <a:spcBef>
                <a:spcPct val="0"/>
              </a:spcBef>
              <a:spcAft>
                <a:spcPct val="0"/>
              </a:spcAft>
              <a:buClrTx/>
              <a:buSzTx/>
              <a:buFontTx/>
              <a:buNone/>
              <a:tabLst/>
            </a:pPr>
            <a:r>
              <a:rPr lang="zh-CN" altLang="zh-CN" dirty="0">
                <a:latin typeface="+mn-lt"/>
              </a:rPr>
              <a:t>1T 西数ZN540 + 1T SSD</a:t>
            </a:r>
          </a:p>
          <a:p>
            <a:pPr marR="0" lvl="0" indent="0" eaLnBrk="1" fontAlgn="base" hangingPunct="1">
              <a:lnSpc>
                <a:spcPct val="100000"/>
              </a:lnSpc>
              <a:spcBef>
                <a:spcPct val="0"/>
              </a:spcBef>
              <a:spcAft>
                <a:spcPct val="0"/>
              </a:spcAft>
              <a:buClrTx/>
              <a:buSzTx/>
              <a:buFontTx/>
              <a:buNone/>
              <a:tabLst/>
            </a:pPr>
            <a:r>
              <a:rPr lang="zh-CN" altLang="zh-CN" dirty="0">
                <a:latin typeface="+mn-lt"/>
              </a:rPr>
              <a:t>交换空间大小 = 系统内存大小 ，其他剩余的空间填充数据。</a:t>
            </a:r>
          </a:p>
        </p:txBody>
      </p:sp>
      <p:sp>
        <p:nvSpPr>
          <p:cNvPr id="3" name="矩形 2">
            <a:extLst>
              <a:ext uri="{FF2B5EF4-FFF2-40B4-BE49-F238E27FC236}">
                <a16:creationId xmlns:a16="http://schemas.microsoft.com/office/drawing/2014/main" id="{78DA29F0-84CA-4AD3-97E4-D5C3E3DF243C}"/>
              </a:ext>
            </a:extLst>
          </p:cNvPr>
          <p:cNvSpPr/>
          <p:nvPr/>
        </p:nvSpPr>
        <p:spPr>
          <a:xfrm>
            <a:off x="304800" y="3276888"/>
            <a:ext cx="6096000" cy="923330"/>
          </a:xfrm>
          <a:prstGeom prst="rect">
            <a:avLst/>
          </a:prstGeom>
        </p:spPr>
        <p:txBody>
          <a:bodyPr>
            <a:spAutoFit/>
          </a:bodyPr>
          <a:lstStyle/>
          <a:p>
            <a:r>
              <a:rPr lang="zh-CN" altLang="en-US" b="1" dirty="0"/>
              <a:t>Facebook memcached-ETC</a:t>
            </a:r>
            <a:endParaRPr lang="en-US" altLang="zh-CN" b="1" dirty="0"/>
          </a:p>
          <a:p>
            <a:endParaRPr lang="en-US" altLang="zh-CN" dirty="0"/>
          </a:p>
          <a:p>
            <a:r>
              <a:rPr lang="zh-CN" altLang="en-US" dirty="0"/>
              <a:t>其中，90% 的请求在 10% 的key上。</a:t>
            </a:r>
          </a:p>
        </p:txBody>
      </p:sp>
      <p:pic>
        <p:nvPicPr>
          <p:cNvPr id="5" name="图片 4">
            <a:extLst>
              <a:ext uri="{FF2B5EF4-FFF2-40B4-BE49-F238E27FC236}">
                <a16:creationId xmlns:a16="http://schemas.microsoft.com/office/drawing/2014/main" id="{4266809F-8AE9-41DE-BBE3-E94BE4B896CF}"/>
              </a:ext>
            </a:extLst>
          </p:cNvPr>
          <p:cNvPicPr>
            <a:picLocks noChangeAspect="1"/>
          </p:cNvPicPr>
          <p:nvPr/>
        </p:nvPicPr>
        <p:blipFill>
          <a:blip r:embed="rId5"/>
          <a:stretch>
            <a:fillRect/>
          </a:stretch>
        </p:blipFill>
        <p:spPr>
          <a:xfrm>
            <a:off x="2289598" y="4470015"/>
            <a:ext cx="6430272" cy="161948"/>
          </a:xfrm>
          <a:prstGeom prst="rect">
            <a:avLst/>
          </a:prstGeom>
        </p:spPr>
      </p:pic>
      <p:pic>
        <p:nvPicPr>
          <p:cNvPr id="7" name="图片 6">
            <a:extLst>
              <a:ext uri="{FF2B5EF4-FFF2-40B4-BE49-F238E27FC236}">
                <a16:creationId xmlns:a16="http://schemas.microsoft.com/office/drawing/2014/main" id="{BC3E48FF-2D09-4AAE-9237-54BA4F6D219D}"/>
              </a:ext>
            </a:extLst>
          </p:cNvPr>
          <p:cNvPicPr>
            <a:picLocks noChangeAspect="1"/>
          </p:cNvPicPr>
          <p:nvPr/>
        </p:nvPicPr>
        <p:blipFill>
          <a:blip r:embed="rId6"/>
          <a:stretch>
            <a:fillRect/>
          </a:stretch>
        </p:blipFill>
        <p:spPr>
          <a:xfrm>
            <a:off x="1918097" y="4813532"/>
            <a:ext cx="2676899" cy="1352739"/>
          </a:xfrm>
          <a:prstGeom prst="rect">
            <a:avLst/>
          </a:prstGeom>
        </p:spPr>
      </p:pic>
      <p:pic>
        <p:nvPicPr>
          <p:cNvPr id="8" name="图片 7">
            <a:extLst>
              <a:ext uri="{FF2B5EF4-FFF2-40B4-BE49-F238E27FC236}">
                <a16:creationId xmlns:a16="http://schemas.microsoft.com/office/drawing/2014/main" id="{FE773B82-3E7E-4290-8566-EFBEAEABBB2D}"/>
              </a:ext>
            </a:extLst>
          </p:cNvPr>
          <p:cNvPicPr>
            <a:picLocks noChangeAspect="1"/>
          </p:cNvPicPr>
          <p:nvPr/>
        </p:nvPicPr>
        <p:blipFill>
          <a:blip r:embed="rId7"/>
          <a:stretch>
            <a:fillRect/>
          </a:stretch>
        </p:blipFill>
        <p:spPr>
          <a:xfrm>
            <a:off x="5224047" y="4854395"/>
            <a:ext cx="2724530" cy="1324160"/>
          </a:xfrm>
          <a:prstGeom prst="rect">
            <a:avLst/>
          </a:prstGeom>
        </p:spPr>
      </p:pic>
    </p:spTree>
    <p:extLst>
      <p:ext uri="{BB962C8B-B14F-4D97-AF65-F5344CB8AC3E}">
        <p14:creationId xmlns:p14="http://schemas.microsoft.com/office/powerpoint/2010/main" val="5612360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d68cb81-96cb-4b63-9d56-4d2877e4c057"/>
  <p:tag name="COMMONDATA" val="eyJoZGlkIjoiNmY4NTU2ZDI3ZjJkNmQ4YmU4NTU2YmM5ZmVhMWRlO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7437</TotalTime>
  <Words>5198</Words>
  <Application>Microsoft Office PowerPoint</Application>
  <PresentationFormat>宽屏</PresentationFormat>
  <Paragraphs>325</Paragraphs>
  <Slides>27</Slides>
  <Notes>27</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_5b8b_4f53</vt:lpstr>
      <vt:lpstr>-apple-system</vt:lpstr>
      <vt:lpstr>NimbusRomNo9L-Medi</vt:lpstr>
      <vt:lpstr>Söhne</vt:lpstr>
      <vt:lpstr>等线</vt:lpstr>
      <vt:lpstr>等线 Light</vt:lpstr>
      <vt:lpstr>微软雅黑</vt:lpstr>
      <vt:lpstr>Arial</vt:lpstr>
      <vt:lpstr>Cambria Math</vt:lpstr>
      <vt:lpstr>Constantia</vt:lpstr>
      <vt:lpstr>Roboto</vt:lpstr>
      <vt:lpstr>Times New Roman</vt:lpstr>
      <vt:lpstr>Ubuntu</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zhouke</dc:creator>
  <cp:lastModifiedBy>子淇 柳</cp:lastModifiedBy>
  <cp:revision>2704</cp:revision>
  <dcterms:created xsi:type="dcterms:W3CDTF">2019-02-21T08:55:00Z</dcterms:created>
  <dcterms:modified xsi:type="dcterms:W3CDTF">2024-03-25T09:22:28Z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65A6CB78243D48A083A0131B29BE5B9E_12</vt:lpwstr>
  </property>
  <property fmtid="{D5CDD505-2E9C-101B-9397-08002B2CF9AE}" pid="3" name="KSOProductBuildVer">
    <vt:lpwstr>2052-11.1.0.14309</vt:lpwstr>
  </property>
</Properties>
</file>