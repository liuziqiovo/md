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51" r:id="rId2"/>
    <p:sldId id="5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847" autoAdjust="0"/>
  </p:normalViewPr>
  <p:slideViewPr>
    <p:cSldViewPr snapToGrid="0">
      <p:cViewPr>
        <p:scale>
          <a:sx n="100" d="100"/>
          <a:sy n="100" d="100"/>
        </p:scale>
        <p:origin x="954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03B35-3CCA-4E00-9C00-5A848D20FD36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9F179-00FA-45E7-87E4-75F23849A8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19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客户端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RBD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客户端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/</a:t>
            </a:r>
            <a:r>
              <a:rPr lang="en-US" altLang="zh-CN" b="1" i="0" dirty="0" err="1">
                <a:solidFill>
                  <a:srgbClr val="0D0D0D"/>
                </a:solidFill>
                <a:effectLst/>
                <a:latin typeface="ui-sans-serif"/>
              </a:rPr>
              <a:t>LibRados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：这些是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的原生客户端接口。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RBD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RADOS Block Device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）用于块存储，允许虚拟机和应用程序以块设备的形式访问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存储。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LibRados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是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的底层库，提供对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对象存储的直接访问。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NFS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客户端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：通过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NFS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Network File System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）协议访问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存储，适用于文件级访问。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iSCSI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连接器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：通过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iSCSI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协议连接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块存储，支持多路径冗余，适用于块级存储访问。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对象存储接口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：支持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S3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Swift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接口，用于对象存储服务，提供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RESTful API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访问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对象存储。</a:t>
            </a:r>
          </a:p>
          <a:p>
            <a:pPr algn="l">
              <a:buFont typeface="+mj-lt"/>
              <a:buAutoNum type="arabicPeriod"/>
            </a:pPr>
            <a:br>
              <a:rPr lang="zh-CN" altLang="en-US" dirty="0"/>
            </a:br>
            <a:r>
              <a:rPr lang="en-US" altLang="zh-CN" b="1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集群组件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监视器（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MON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/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管理器（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MGR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：监视器管理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集群的健康状态，维护集群的拓扑结构和元数据。管理器提供额外的监控和管理功能，如性能数据收集和集群状态报告。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元数据服务器（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MDS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：管理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文件系统（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CephFS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）的元数据，允许客户端高效地访问文件系统中的文件和目录。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iSCSI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网关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：将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iSCSI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协议请求转换为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存储操作，使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iSCSI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客户端可以访问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块存储。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RADOS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网关（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RGW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：提供对象存储服务接口，支持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S3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Swift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协议，使得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可以作为对象存储系统来使用。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OSD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节点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对象存储设备（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OSD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：实际存储数据的节点。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节点管理数据存储、复制和恢复等操作。每个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节点可以包含多种类型的存储介质，如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ZNS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Zoned Namespace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）设备、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SSD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（固态硬盘）、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HDD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（机械硬盘）。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节点负责将数据对象存储在物理存储设备上，并执行数据的复制和恢复操作，以确保数据的高可用性和持久性。</a:t>
            </a:r>
          </a:p>
          <a:p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Constantia" panose="02030602050306030303" pitchFamily="18" charset="0"/>
              </a:rPr>
              <a:t>更具体地：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数据写入流程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客户端写入请求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RBD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NFS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iSCSI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或对象存储接口（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S3/Swift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）发出写入请求。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监视器（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MON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）交互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：客户端向 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监视器（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MON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）请求对象的位置。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MON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节点管理集群的元数据，并提供对象的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Placement Group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，放置组）映射。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映射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：监视器返回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映射信息。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是对象在集群中的逻辑分区，每个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由一个或多个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节点管理。通过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CRUSH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算法，确定数据对象要写入到哪个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，并进一步确定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中的具体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数据分发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：客户端将数据对象按照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映射信息分发到对应的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节点。例如，数据对象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obj1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被映射到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pg1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，而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pg1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被分配到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osd1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osd2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和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osd3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上。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写入确认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节点将数据写入到本地存储设备（如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SSD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HDD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）。数据写入成功后，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节点会向客户端返回写入成功的确认信息。多个副本的写入也会同步进行，以确保数据冗余和可靠性。</a:t>
            </a:r>
          </a:p>
          <a:p>
            <a:pPr algn="l"/>
            <a:endParaRPr lang="en-US" altLang="zh-CN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数据读取流程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客户端读取请求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：客户端通过相应的接口发出读取请求。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监视器（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MON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）交互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：客户端向监视器请求对象的位置。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MON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返回对象的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映射信息。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映射和数据定位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：根据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映射信息，客户端确定数据对象存储在哪些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节点上。例如，客户端需要读取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obj1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，通过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映射得知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obj1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在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pg1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上，而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pg1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被分配在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osd2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和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osd3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上。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数据读取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：客户端向其中一个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节点（通常是主副本所在的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节点）发出读取请求。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节点从本地存储设备中读取数据，并将数据返回给客户端。</a:t>
            </a:r>
          </a:p>
          <a:p>
            <a:pPr algn="l"/>
            <a:endParaRPr lang="en-US" altLang="zh-CN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数据恢复流程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故障检测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：监视器（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MON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）节点定期接收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节点的心跳信息。如果某个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节点未能按时发送心跳，监视器会将该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节点标记为故障。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数据重平衡和恢复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：监视器通过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CRUSH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算法重新计算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映射，将原本分配给故障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重新分配给其他健康的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数据复制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：健康的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节点会从其他副本节点获取数据，并将数据复制到新的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节点上。完成数据恢复后，新的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节点会成为该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PG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的一部分，继续提供数据存储和访问服务。</a:t>
            </a:r>
          </a:p>
          <a:p>
            <a:pPr algn="l"/>
            <a:endParaRPr lang="en-US" altLang="zh-CN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多路径冗余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iSCSI 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多路径冗余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：当通过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iSCSI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连接 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块存储时，可以配置多路径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I/O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，以实现网络链路和存储路径的冗余，提高访问的可靠性和性能。多路径冗余确保如果一条路径发生故障，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I/O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请求可以通过另一条路径继续进行。</a:t>
            </a:r>
          </a:p>
          <a:p>
            <a:pPr algn="l"/>
            <a:r>
              <a:rPr lang="en-US" altLang="zh-CN" b="1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文件系统（</a:t>
            </a:r>
            <a:r>
              <a:rPr lang="en-US" altLang="zh-CN" b="1" i="0" dirty="0" err="1">
                <a:solidFill>
                  <a:srgbClr val="0D0D0D"/>
                </a:solidFill>
                <a:effectLst/>
                <a:latin typeface="ui-sans-serif"/>
              </a:rPr>
              <a:t>CephFS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元数据管理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文件系统（</a:t>
            </a:r>
            <a:r>
              <a:rPr lang="en-US" altLang="zh-CN" b="0" i="0" dirty="0" err="1">
                <a:solidFill>
                  <a:srgbClr val="0D0D0D"/>
                </a:solidFill>
                <a:effectLst/>
                <a:latin typeface="ui-sans-serif"/>
              </a:rPr>
              <a:t>CephFS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）通过元数据服务器（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MDS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）管理文件系统的目录和文件元数据。客户端请求文件元数据时，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MDS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提供所需信息。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D0D0D"/>
                </a:solidFill>
                <a:effectLst/>
                <a:latin typeface="ui-sans-serif"/>
              </a:rPr>
              <a:t>数据读写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：客户端通过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MDS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获取元数据后，直接与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节点交互进行数据的读写操作。文件数据被分割成对象，存储在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ui-sans-serif"/>
              </a:rPr>
              <a:t>OSD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ui-sans-serif"/>
              </a:rPr>
              <a:t>节点上。</a:t>
            </a: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352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33C0B-BA49-2F3E-8EAA-764B32BD4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7BA738-3549-3ECF-F948-B6E5EBA6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374DF-5659-FDF6-2070-AE11434F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6DF7F-F591-CD56-F9B6-A92969B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F4A84-D278-9FB9-379D-DC875FC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97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FC6BB-EE9A-4B8C-8C32-41E0B3CF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7910A-15A4-F601-A7D2-EF174DE50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E3AB4-EF6D-0B4A-46CD-E28DCFE9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68886-863F-7C45-DD64-6B77F0FD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A872F-D3E6-62F1-B045-B580E0AD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0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D5794-6334-E64F-9564-0A468AC7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B4B9A-9E8F-2EF6-FE2B-2F30C28AB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C17EA-1660-B44E-7D52-00545442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99A6D-5F13-3A32-FBE6-2105858D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08342-3959-041C-A0E5-79D5F474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55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FAFF4-63AE-F396-5D8F-9220E2E4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86221-E3AA-689A-ACE2-F3C02C3C4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DB6AF-64CE-9CA9-237A-7B36AD49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37C703-E512-1AFF-ECF2-8041945F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DCE5D-9781-3FBC-DB4E-B9DBFC1B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0F3D3-6ACE-0343-C0D6-E036884B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83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D7806-8492-1BE4-6471-E3A23654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F816E-A998-2031-71CD-12499507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62E14C-E43D-5C0D-8E81-AAC4A6D01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601416-613D-EBC7-E662-3A1EE307D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6CC91D-2433-FEEE-AA2A-34249F749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DC815A-4784-8DDA-0820-CB8782A4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8276C3-4B74-23C6-D2F2-4563A926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C6C627-A1CD-FB85-6A73-3C56F870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4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DD24-30C0-8AE1-9C8B-4A5EECE8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B7692E-DEBA-84C6-7B66-5434EF84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174D78-39CA-9A83-4E4D-F9DB11F2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EFED9-BE67-3424-9F45-E335C033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F364E9-81EF-5B7E-D79C-2E2126A4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4C7443-8D17-C402-4C46-D80E593A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920F61-7442-527A-3B08-001C0ACB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8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648A7-5003-7033-125C-F1E2C0AD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17948-0403-952F-6E9A-369DDD42A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2A87FE-97B0-299A-4104-C323CD60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634DC1-6B35-03E4-6083-275FA51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D6B4C-E678-510B-5AE8-C1BA7363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EB999-C509-EE41-7914-F449E7C1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85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2E269-61DD-F352-24A8-A599706B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3D7290-88B2-5633-B5AD-455C041A4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C496F8-9DE7-CF16-DB1E-439C68BD7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3D5C4-5B52-4E40-FC2E-371AA32E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ADED3B-E4BA-C225-17CC-873620A6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14772-52E8-F466-6D5C-FA49C1B0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64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74BBC-196A-0E9B-F373-E16CEA1A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374340-E7D9-2157-E994-FACA4CAA3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096F4-B47B-25CB-6CF8-DF6AADEF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3EDDA-384F-51C8-8582-47891C2D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E7E70-7517-B9C3-4C0A-F0B686D2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02090C-FBE5-D326-71F3-916EE2312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2128B6-90CA-B3F8-E92F-7A4A0D8F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60ABAF-ED0A-980F-605B-63E77F68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731AF-EC01-4BF2-4B8B-2B27A54F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D63F4-5927-3A17-136C-9ADBC04D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03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031824-657A-0B0C-ABF6-11F0E5D1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9584B-4F4F-3CE1-922A-88B4D93CE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14D41-7120-4B52-6B2F-6E7897BF4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0790-74FE-4212-A615-F89461BB8B94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8AE9F-ADD7-1CC6-BDD2-07E1D501B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4E46C-8E1A-6909-4D55-05C635F63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0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架构概览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2F6E15-9077-45B9-8C6D-AE51696C45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1" y="962620"/>
            <a:ext cx="10292036" cy="5442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31E83A4D-207B-4465-BAE9-7338A4DAD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1352"/>
            <a:ext cx="7184572" cy="362910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数据通路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4C479E-B95D-4CB5-A64D-2A107B1FC378}"/>
              </a:ext>
            </a:extLst>
          </p:cNvPr>
          <p:cNvSpPr txBox="1"/>
          <p:nvPr/>
        </p:nvSpPr>
        <p:spPr>
          <a:xfrm>
            <a:off x="7024800" y="1537546"/>
            <a:ext cx="4889500" cy="462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>
                <a:solidFill>
                  <a:srgbClr val="374151"/>
                </a:solidFill>
                <a:latin typeface="Söhne"/>
              </a:rPr>
              <a:t>块存储访问：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客户端通过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RBD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接口或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iSCSI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连接器访问块存储。请求首先经过监视器获取元数据，然后通过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iSCSI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网关或直接与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OSD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节点通信进行数据读写。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>
                <a:solidFill>
                  <a:srgbClr val="374151"/>
                </a:solidFill>
                <a:latin typeface="Söhne"/>
              </a:rPr>
              <a:t>文件存储访问：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客户端通过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NFS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或</a:t>
            </a:r>
            <a:r>
              <a:rPr lang="en-US" altLang="zh-CN" dirty="0" err="1">
                <a:solidFill>
                  <a:srgbClr val="374151"/>
                </a:solidFill>
                <a:latin typeface="Söhne"/>
              </a:rPr>
              <a:t>CephFS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访问文件存储。请求由元数据服务器（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MDS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）处理元数据操作，然后与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OSD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节点进行实际的数据读写。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>
                <a:solidFill>
                  <a:srgbClr val="374151"/>
                </a:solidFill>
                <a:latin typeface="Söhne"/>
              </a:rPr>
              <a:t>对象存储访问：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客户端通过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S3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或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Swift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接口访问对象存储。请求由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RADOS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网关处理，并将对象存储在</a:t>
            </a:r>
            <a:r>
              <a:rPr lang="en-US" altLang="zh-CN" dirty="0">
                <a:solidFill>
                  <a:srgbClr val="374151"/>
                </a:solidFill>
                <a:latin typeface="Söhne"/>
              </a:rPr>
              <a:t>OSD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节点上。</a:t>
            </a:r>
          </a:p>
        </p:txBody>
      </p:sp>
    </p:spTree>
    <p:extLst>
      <p:ext uri="{BB962C8B-B14F-4D97-AF65-F5344CB8AC3E}">
        <p14:creationId xmlns:p14="http://schemas.microsoft.com/office/powerpoint/2010/main" val="215242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1052</Words>
  <Application>Microsoft Office PowerPoint</Application>
  <PresentationFormat>宽屏</PresentationFormat>
  <Paragraphs>50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Söhne</vt:lpstr>
      <vt:lpstr>ui-sans-serif</vt:lpstr>
      <vt:lpstr>等线</vt:lpstr>
      <vt:lpstr>等线 Light</vt:lpstr>
      <vt:lpstr>Arial</vt:lpstr>
      <vt:lpstr>Constantia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子淇 柳</dc:creator>
  <cp:lastModifiedBy>子淇</cp:lastModifiedBy>
  <cp:revision>69</cp:revision>
  <dcterms:created xsi:type="dcterms:W3CDTF">2024-03-28T05:36:01Z</dcterms:created>
  <dcterms:modified xsi:type="dcterms:W3CDTF">2024-05-27T15:31:59Z</dcterms:modified>
</cp:coreProperties>
</file>