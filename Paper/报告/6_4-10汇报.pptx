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266" r:id="rId3"/>
    <p:sldId id="563" r:id="rId4"/>
    <p:sldId id="564" r:id="rId5"/>
    <p:sldId id="581" r:id="rId6"/>
    <p:sldId id="594" r:id="rId7"/>
    <p:sldId id="597" r:id="rId8"/>
    <p:sldId id="603" r:id="rId9"/>
    <p:sldId id="600" r:id="rId10"/>
    <p:sldId id="606" r:id="rId11"/>
    <p:sldId id="602" r:id="rId12"/>
    <p:sldId id="605" r:id="rId13"/>
    <p:sldId id="604" r:id="rId14"/>
    <p:sldId id="559" r:id="rId15"/>
    <p:sldId id="560" r:id="rId16"/>
    <p:sldId id="601" r:id="rId17"/>
    <p:sldId id="261"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44" autoAdjust="0"/>
    <p:restoredTop sz="75782" autoAdjust="0"/>
  </p:normalViewPr>
  <p:slideViewPr>
    <p:cSldViewPr snapToGrid="0">
      <p:cViewPr varScale="1">
        <p:scale>
          <a:sx n="75" d="100"/>
          <a:sy n="75" d="100"/>
        </p:scale>
        <p:origin x="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03B35-3CCA-4E00-9C00-5A848D20FD36}" type="datetimeFigureOut">
              <a:rPr lang="zh-CN" altLang="en-US" smtClean="0"/>
              <a:t>2024/4/10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79F179-00FA-45E7-87E4-75F23849A846}" type="slidenum">
              <a:rPr lang="zh-CN" altLang="en-US" smtClean="0"/>
              <a:t>‹#›</a:t>
            </a:fld>
            <a:endParaRPr lang="zh-CN" altLang="en-US"/>
          </a:p>
        </p:txBody>
      </p:sp>
    </p:spTree>
    <p:extLst>
      <p:ext uri="{BB962C8B-B14F-4D97-AF65-F5344CB8AC3E}">
        <p14:creationId xmlns:p14="http://schemas.microsoft.com/office/powerpoint/2010/main" val="3818197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usenix.org/system/files/osdi21-han.pdf"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www.usenix.org/system/files/atc22-bergman.pdf" TargetMode="External"/><Relationship Id="rId4" Type="http://schemas.openxmlformats.org/officeDocument/2006/relationships/hyperlink" Target="https://www.usenix.org/system/files/osdi23-min.pdf"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gn="just">
              <a:buFont typeface="Arial" panose="020B0604020202020204" pitchFamily="34" charset="0"/>
              <a:buChar char="•"/>
            </a:pPr>
            <a:endParaRPr lang="en-GB"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4FF5570-FE69-4FDF-99DA-8CDE436443CD}"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等线"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200" dirty="0">
                <a:latin typeface="Constantia" panose="02030602050306030303" pitchFamily="18" charset="0"/>
              </a:rPr>
              <a:t>其中比较有意义，简单高效的就是 端到端应用，为特定存储引擎做适配</a:t>
            </a: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en-US" altLang="zh-CN" b="1" i="0" u="none" strike="noStrike" dirty="0">
                <a:solidFill>
                  <a:srgbClr val="42B983"/>
                </a:solidFill>
                <a:effectLst/>
                <a:latin typeface="Ubuntu" panose="020B0504030602030204" pitchFamily="34" charset="0"/>
                <a:hlinkClick r:id="rId3"/>
              </a:rPr>
              <a:t>https://www.usenix.org/system/files/osdi21-han.pdf</a:t>
            </a: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en-US" altLang="zh-CN" b="1" i="0" u="none" strike="noStrike" dirty="0">
                <a:solidFill>
                  <a:srgbClr val="42B983"/>
                </a:solidFill>
                <a:effectLst/>
                <a:latin typeface="Ubuntu" panose="020B0504030602030204" pitchFamily="34" charset="0"/>
                <a:hlinkClick r:id="rId4"/>
              </a:rPr>
              <a:t>https://www.usenix.org/system/files/osdi23-min.pdf</a:t>
            </a:r>
            <a:endParaRPr lang="en-US" altLang="zh-CN" b="1" i="0" u="none" strike="noStrike" dirty="0">
              <a:solidFill>
                <a:srgbClr val="42B983"/>
              </a:solidFill>
              <a:effectLst/>
              <a:latin typeface="Ubuntu" panose="020B0504030602030204" pitchFamily="34" charset="0"/>
            </a:endParaRPr>
          </a:p>
          <a:p>
            <a:pPr indent="0" algn="just">
              <a:spcAft>
                <a:spcPts val="1200"/>
              </a:spcAft>
              <a:buFont typeface="Arial" panose="020B0604020202020204" pitchFamily="34" charset="0"/>
              <a:buNone/>
            </a:pPr>
            <a:endParaRPr lang="en-US" altLang="zh-CN" sz="1200" b="1" i="0" u="none" strike="noStrike" dirty="0">
              <a:solidFill>
                <a:srgbClr val="42B983"/>
              </a:solidFill>
              <a:effectLst/>
              <a:latin typeface="Ubuntu" panose="020B0504030602030204" pitchFamily="34" charset="0"/>
            </a:endParaRPr>
          </a:p>
          <a:p>
            <a:pPr indent="0" algn="just">
              <a:spcAft>
                <a:spcPts val="1200"/>
              </a:spcAft>
              <a:buFont typeface="Arial" panose="020B0604020202020204" pitchFamily="34" charset="0"/>
              <a:buNone/>
            </a:pPr>
            <a:r>
              <a:rPr lang="en-US" altLang="zh-CN" b="1" i="0" u="none" strike="noStrike" dirty="0">
                <a:solidFill>
                  <a:srgbClr val="42B983"/>
                </a:solidFill>
                <a:effectLst/>
                <a:latin typeface="Ubuntu" panose="020B0504030602030204" pitchFamily="34" charset="0"/>
                <a:hlinkClick r:id="rId5"/>
              </a:rPr>
              <a:t>https://www.usenix.org/system/files/atc22-bergman.pdf</a:t>
            </a: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2</a:t>
            </a:fld>
            <a:endParaRPr lang="en-US" dirty="0"/>
          </a:p>
        </p:txBody>
      </p:sp>
    </p:spTree>
    <p:extLst>
      <p:ext uri="{BB962C8B-B14F-4D97-AF65-F5344CB8AC3E}">
        <p14:creationId xmlns:p14="http://schemas.microsoft.com/office/powerpoint/2010/main" val="2413430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en-US" altLang="zh-CN" sz="1200" dirty="0" err="1">
                <a:latin typeface="Constantia" panose="02030602050306030303" pitchFamily="18" charset="0"/>
              </a:rPr>
              <a:t>ZoneKV</a:t>
            </a:r>
            <a:r>
              <a:rPr lang="zh-CN" altLang="en-US" sz="1200" dirty="0">
                <a:latin typeface="Constantia" panose="02030602050306030303" pitchFamily="18" charset="0"/>
              </a:rPr>
              <a:t>是字节跳动</a:t>
            </a:r>
            <a:r>
              <a:rPr lang="en-US" altLang="zh-CN" sz="1200" dirty="0">
                <a:latin typeface="Constantia" panose="02030602050306030303" pitchFamily="18" charset="0"/>
              </a:rPr>
              <a:t>ZNS</a:t>
            </a:r>
            <a:r>
              <a:rPr lang="zh-CN" altLang="en-US" sz="1200" dirty="0">
                <a:latin typeface="Constantia" panose="02030602050306030303" pitchFamily="18" charset="0"/>
              </a:rPr>
              <a:t>的实现</a:t>
            </a:r>
          </a:p>
        </p:txBody>
      </p:sp>
      <p:sp>
        <p:nvSpPr>
          <p:cNvPr id="4" name="灯片编号占位符 3"/>
          <p:cNvSpPr>
            <a:spLocks noGrp="1"/>
          </p:cNvSpPr>
          <p:nvPr>
            <p:ph type="sldNum" sz="quarter" idx="10"/>
          </p:nvPr>
        </p:nvSpPr>
        <p:spPr/>
        <p:txBody>
          <a:bodyPr/>
          <a:lstStyle/>
          <a:p>
            <a:fld id="{E4FF5570-FE69-4FDF-99DA-8CDE436443CD}" type="slidenum">
              <a:rPr lang="en-US" smtClean="0"/>
              <a:t>3</a:t>
            </a:fld>
            <a:endParaRPr lang="en-US" dirty="0"/>
          </a:p>
        </p:txBody>
      </p:sp>
    </p:spTree>
    <p:extLst>
      <p:ext uri="{BB962C8B-B14F-4D97-AF65-F5344CB8AC3E}">
        <p14:creationId xmlns:p14="http://schemas.microsoft.com/office/powerpoint/2010/main" val="2930277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实际上还有一篇文章叫</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ZenFS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，可能是当时还没见刊，完全没有提到</a:t>
            </a: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这样做还有一个好处</a:t>
            </a:r>
            <a:r>
              <a:rPr lang="en-US" altLang="zh-CN" sz="1200" dirty="0">
                <a:latin typeface="Constantia" panose="02030602050306030303" pitchFamily="18" charset="0"/>
              </a:rPr>
              <a:t> , </a:t>
            </a:r>
            <a:r>
              <a:rPr lang="zh-CN" altLang="en-US" sz="1200" dirty="0">
                <a:latin typeface="Constantia" panose="02030602050306030303" pitchFamily="18" charset="0"/>
              </a:rPr>
              <a:t>就是</a:t>
            </a:r>
            <a:r>
              <a:rPr lang="en-US" altLang="zh-CN" sz="1200" dirty="0">
                <a:latin typeface="Constantia" panose="02030602050306030303" pitchFamily="18" charset="0"/>
              </a:rPr>
              <a:t>SST</a:t>
            </a:r>
            <a:r>
              <a:rPr lang="zh-CN" altLang="en-US" sz="1200" dirty="0">
                <a:latin typeface="Constantia" panose="02030602050306030303" pitchFamily="18" charset="0"/>
              </a:rPr>
              <a:t>合并的时候也是从低向高合并</a:t>
            </a:r>
            <a:r>
              <a:rPr lang="en-US" altLang="zh-CN" sz="1200" dirty="0">
                <a:latin typeface="Constantia" panose="02030602050306030303" pitchFamily="18" charset="0"/>
              </a:rPr>
              <a:t>,  key</a:t>
            </a:r>
            <a:r>
              <a:rPr lang="zh-CN" altLang="en-US" sz="1200" dirty="0">
                <a:latin typeface="Constantia" panose="02030602050306030303" pitchFamily="18" charset="0"/>
              </a:rPr>
              <a:t>小的先合并</a:t>
            </a:r>
          </a:p>
        </p:txBody>
      </p:sp>
      <p:sp>
        <p:nvSpPr>
          <p:cNvPr id="4" name="灯片编号占位符 3"/>
          <p:cNvSpPr>
            <a:spLocks noGrp="1"/>
          </p:cNvSpPr>
          <p:nvPr>
            <p:ph type="sldNum" sz="quarter" idx="10"/>
          </p:nvPr>
        </p:nvSpPr>
        <p:spPr/>
        <p:txBody>
          <a:bodyPr/>
          <a:lstStyle/>
          <a:p>
            <a:fld id="{E4FF5570-FE69-4FDF-99DA-8CDE436443CD}" type="slidenum">
              <a:rPr lang="en-US" smtClean="0"/>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sz="1800" kern="100">
                <a:effectLst/>
                <a:latin typeface="Times New Roman" panose="02020603050405020304" pitchFamily="18" charset="0"/>
                <a:ea typeface="宋体" panose="02010600030101010101" pitchFamily="2" charset="-122"/>
                <a:cs typeface="Times New Roman" panose="02020603050405020304" pitchFamily="18" charset="0"/>
              </a:rPr>
              <a:t>这个较大的数字意味着SSTables的生命周期较长，表明这些SSTables不太可能很快被更新或压缩。</a:t>
            </a:r>
          </a:p>
          <a:p>
            <a:pPr indent="0" algn="just">
              <a:spcAft>
                <a:spcPts val="1200"/>
              </a:spcAft>
              <a:buFont typeface="Arial" panose="020B0604020202020204" pitchFamily="34" charset="0"/>
              <a:buNone/>
            </a:pPr>
            <a:endParaRPr sz="1800" kern="10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sz="1800" kern="100">
                <a:effectLst/>
                <a:latin typeface="Times New Roman" panose="02020603050405020304" pitchFamily="18" charset="0"/>
                <a:ea typeface="宋体" panose="02010600030101010101" pitchFamily="2" charset="-122"/>
                <a:cs typeface="Times New Roman" panose="02020603050405020304" pitchFamily="18" charset="0"/>
              </a:rPr>
              <a:t>传统的磁盘I/O堆栈需要内核文件系统、块层、I/O调度层、块设备驱动层等一系列I/O子系统才能到达磁盘。这些长链总是会降低数据存储效率，间接降低磁盘吞吐量并增加请求延迟。 ZoneKV 针对 ZNS 进行了优化通过直接在 ZNS SSD 上执行端到端数据放置并绕过巨大的 I/O 堆栈。</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（这也不算是他的工作，很多存储引擎都是</a:t>
            </a: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直通</a:t>
            </a: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的）</a:t>
            </a:r>
          </a:p>
        </p:txBody>
      </p:sp>
      <p:sp>
        <p:nvSpPr>
          <p:cNvPr id="4" name="灯片编号占位符 3"/>
          <p:cNvSpPr>
            <a:spLocks noGrp="1"/>
          </p:cNvSpPr>
          <p:nvPr>
            <p:ph type="sldNum" sz="quarter" idx="10"/>
          </p:nvPr>
        </p:nvSpPr>
        <p:spPr/>
        <p:txBody>
          <a:bodyPr/>
          <a:lstStyle/>
          <a:p>
            <a:fld id="{E4FF5570-FE69-4FDF-99DA-8CDE436443CD}" type="slidenum">
              <a:rPr lang="en-US" smtClean="0"/>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字节的</a:t>
            </a:r>
            <a:r>
              <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Abase</a:t>
            </a:r>
            <a:r>
              <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产品</a:t>
            </a:r>
            <a:endPar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1800" b="1" i="0" dirty="0">
              <a:solidFill>
                <a:srgbClr val="4747BA"/>
              </a:solidFill>
              <a:effectLst/>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altLang="zh-CN" sz="1800" b="0" i="0" dirty="0" err="1">
                <a:solidFill>
                  <a:srgbClr val="222222"/>
                </a:solidFill>
                <a:effectLst/>
                <a:latin typeface="PingFangSC-Regular"/>
              </a:rPr>
              <a:t>Terarkdb</a:t>
            </a:r>
            <a:r>
              <a:rPr lang="en-US" altLang="zh-CN" sz="1800" b="0" i="0" dirty="0">
                <a:solidFill>
                  <a:srgbClr val="222222"/>
                </a:solidFill>
                <a:effectLst/>
                <a:latin typeface="PingFangSC-Regular"/>
              </a:rPr>
              <a:t> </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indent="0" algn="just">
              <a:spcAft>
                <a:spcPts val="1200"/>
              </a:spcAft>
              <a:buFont typeface="Arial" panose="020B0604020202020204" pitchFamily="34" charset="0"/>
              <a:buNone/>
            </a:pPr>
            <a:endPar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2800" b="1" i="0" dirty="0">
                <a:solidFill>
                  <a:srgbClr val="333333"/>
                </a:solidFill>
                <a:effectLst/>
                <a:latin typeface="-apple-system"/>
              </a:rPr>
              <a:t>Abase2</a:t>
            </a:r>
            <a:r>
              <a:rPr lang="zh-CN" altLang="en-US" sz="2800" b="1" i="0" dirty="0">
                <a:solidFill>
                  <a:srgbClr val="333333"/>
                </a:solidFill>
                <a:effectLst/>
                <a:latin typeface="-apple-system"/>
              </a:rPr>
              <a:t>：字节跳动新一代高可用 </a:t>
            </a:r>
            <a:r>
              <a:rPr lang="en-US" altLang="zh-CN" sz="2800" b="1" i="0" dirty="0">
                <a:solidFill>
                  <a:srgbClr val="333333"/>
                </a:solidFill>
                <a:effectLst/>
                <a:latin typeface="-apple-system"/>
              </a:rPr>
              <a:t>NoSQL </a:t>
            </a:r>
            <a:r>
              <a:rPr lang="zh-CN" altLang="en-US" sz="2800" b="1" i="0" dirty="0">
                <a:solidFill>
                  <a:srgbClr val="333333"/>
                </a:solidFill>
                <a:effectLst/>
                <a:latin typeface="-apple-system"/>
              </a:rPr>
              <a:t>数据库 </a:t>
            </a:r>
            <a:endParaRPr lang="en-US" altLang="zh-CN" sz="2800" b="1" i="0" dirty="0">
              <a:solidFill>
                <a:srgbClr val="333333"/>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i="0" dirty="0">
                <a:solidFill>
                  <a:srgbClr val="333333"/>
                </a:solidFill>
                <a:effectLst/>
                <a:latin typeface="-apple-system"/>
              </a:rPr>
              <a:t>https://www.51cto.com/article/709845.html</a:t>
            </a:r>
            <a:endParaRPr lang="zh-CN" altLang="en-US" sz="1800" b="1" i="0" dirty="0">
              <a:solidFill>
                <a:srgbClr val="333333"/>
              </a:solidFill>
              <a:effectLst/>
              <a:latin typeface="-apple-system"/>
            </a:endParaRPr>
          </a:p>
          <a:p>
            <a:pPr algn="l"/>
            <a:endParaRPr lang="en-US" altLang="zh-CN" sz="1800" b="0" i="0" dirty="0">
              <a:solidFill>
                <a:srgbClr val="222222"/>
              </a:solidFill>
              <a:effectLst/>
              <a:latin typeface="PingFangSC-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b="0" i="0" dirty="0">
                <a:solidFill>
                  <a:srgbClr val="222222"/>
                </a:solidFill>
                <a:effectLst/>
                <a:latin typeface="PingFangSC-Regular"/>
              </a:rPr>
              <a:t>单体数据库，</a:t>
            </a:r>
            <a:r>
              <a:rPr lang="en-US" altLang="zh-CN" sz="1800" b="0" i="0" dirty="0" err="1">
                <a:solidFill>
                  <a:srgbClr val="222222"/>
                </a:solidFill>
                <a:effectLst/>
                <a:latin typeface="PingFangSC-Regular"/>
              </a:rPr>
              <a:t>Terarkdb</a:t>
            </a:r>
            <a:r>
              <a:rPr lang="en-US" altLang="zh-CN" sz="1800" b="0" i="0" dirty="0">
                <a:solidFill>
                  <a:srgbClr val="222222"/>
                </a:solidFill>
                <a:effectLst/>
                <a:latin typeface="PingFangSC-Regular"/>
              </a:rPr>
              <a:t> </a:t>
            </a:r>
            <a:r>
              <a:rPr lang="zh-CN" altLang="en-US" sz="1800" b="0" i="0" dirty="0">
                <a:solidFill>
                  <a:srgbClr val="222222"/>
                </a:solidFill>
                <a:effectLst/>
                <a:latin typeface="PingFangSC-Regular"/>
              </a:rPr>
              <a:t>，</a:t>
            </a:r>
            <a:r>
              <a:rPr lang="zh-CN" altLang="en-US" sz="2800" b="0" i="0" dirty="0">
                <a:solidFill>
                  <a:srgbClr val="333333"/>
                </a:solidFill>
                <a:effectLst/>
                <a:latin typeface="PingFangSC-Regular"/>
              </a:rPr>
              <a:t>向上承接分布式团队业务，</a:t>
            </a:r>
            <a:r>
              <a:rPr lang="zh-CN" altLang="en-US" sz="1800" b="0" i="0" dirty="0">
                <a:solidFill>
                  <a:srgbClr val="222222"/>
                </a:solidFill>
                <a:effectLst/>
                <a:latin typeface="PingFangSC-Regular"/>
              </a:rPr>
              <a:t>向下使用 </a:t>
            </a:r>
            <a:r>
              <a:rPr lang="en-US" altLang="zh-CN" sz="1800" b="0" i="0" dirty="0">
                <a:solidFill>
                  <a:srgbClr val="222222"/>
                </a:solidFill>
                <a:effectLst/>
                <a:latin typeface="PingFangSC-Regular"/>
              </a:rPr>
              <a:t>SSD+ZNS+DPU</a:t>
            </a:r>
            <a:r>
              <a:rPr lang="zh-CN" altLang="en-US" sz="1800" b="0" i="0" dirty="0">
                <a:solidFill>
                  <a:srgbClr val="222222"/>
                </a:solidFill>
                <a:effectLst/>
                <a:latin typeface="PingFangSC-Regular"/>
              </a:rPr>
              <a:t>，</a:t>
            </a:r>
            <a:r>
              <a:rPr lang="en-US" altLang="zh-CN" sz="1800" b="0" i="0" dirty="0">
                <a:solidFill>
                  <a:srgbClr val="222222"/>
                </a:solidFill>
                <a:effectLst/>
                <a:latin typeface="PingFangSC-Regular"/>
              </a:rPr>
              <a:t>22</a:t>
            </a:r>
            <a:r>
              <a:rPr lang="zh-CN" altLang="en-US" sz="1800" b="0" i="0" dirty="0">
                <a:solidFill>
                  <a:srgbClr val="222222"/>
                </a:solidFill>
                <a:effectLst/>
                <a:latin typeface="PingFangSC-Regular"/>
              </a:rPr>
              <a:t>年中旬提交的关于</a:t>
            </a:r>
            <a:r>
              <a:rPr lang="en-US" altLang="zh-CN" sz="1800" b="0" i="0" dirty="0">
                <a:solidFill>
                  <a:srgbClr val="222222"/>
                </a:solidFill>
                <a:effectLst/>
                <a:latin typeface="PingFangSC-Regular"/>
              </a:rPr>
              <a:t>ZNS</a:t>
            </a:r>
            <a:r>
              <a:rPr lang="zh-CN" altLang="en-US" sz="1800" b="0" i="0" dirty="0">
                <a:solidFill>
                  <a:srgbClr val="222222"/>
                </a:solidFill>
                <a:effectLst/>
                <a:latin typeface="PingFangSC-Regular"/>
              </a:rPr>
              <a:t>的代码</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indent="0" algn="just">
              <a:spcAft>
                <a:spcPts val="1200"/>
              </a:spcAft>
              <a:buFont typeface="Arial" panose="020B0604020202020204" pitchFamily="34" charset="0"/>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https://www.nowcoder.com/discuss/375095020267872256</a:t>
            </a: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2800" b="1" i="0" dirty="0">
                <a:solidFill>
                  <a:srgbClr val="0052FF"/>
                </a:solidFill>
                <a:effectLst/>
                <a:latin typeface="system-ui"/>
              </a:rPr>
              <a:t>做了一个很奇怪的硬件改进</a:t>
            </a:r>
            <a:r>
              <a:rPr lang="en-US" altLang="zh-CN" sz="2800" b="1" i="0" dirty="0">
                <a:solidFill>
                  <a:srgbClr val="0052FF"/>
                </a:solidFill>
                <a:effectLst/>
                <a:latin typeface="system-ui"/>
              </a:rPr>
              <a:t>,</a:t>
            </a:r>
            <a:r>
              <a:rPr lang="zh-CN" altLang="en-US" sz="2800" b="1" i="0" dirty="0">
                <a:solidFill>
                  <a:srgbClr val="0052FF"/>
                </a:solidFill>
                <a:effectLst/>
                <a:latin typeface="system-ui"/>
              </a:rPr>
              <a:t>要支持写入数据最后一个</a:t>
            </a:r>
            <a:r>
              <a:rPr lang="en-US" altLang="zh-CN" sz="2800" b="1" i="0" dirty="0">
                <a:solidFill>
                  <a:srgbClr val="0052FF"/>
                </a:solidFill>
                <a:effectLst/>
                <a:latin typeface="system-ui"/>
              </a:rPr>
              <a:t>LBA overwrite</a:t>
            </a:r>
            <a:r>
              <a:rPr lang="zh-CN" altLang="en-US" sz="2800" b="1" i="0" dirty="0">
                <a:solidFill>
                  <a:srgbClr val="0052FF"/>
                </a:solidFill>
                <a:effectLst/>
                <a:latin typeface="system-ui"/>
              </a:rPr>
              <a:t>覆盖写，优化</a:t>
            </a:r>
            <a:r>
              <a:rPr lang="en-US" altLang="zh-CN" sz="2800" b="1" i="0" dirty="0">
                <a:solidFill>
                  <a:srgbClr val="0052FF"/>
                </a:solidFill>
                <a:effectLst/>
                <a:latin typeface="system-ui"/>
              </a:rPr>
              <a:t>NAND</a:t>
            </a:r>
            <a:r>
              <a:rPr lang="zh-CN" altLang="en-US" sz="2800" b="1" i="0" dirty="0">
                <a:solidFill>
                  <a:srgbClr val="0052FF"/>
                </a:solidFill>
                <a:effectLst/>
                <a:latin typeface="system-ui"/>
              </a:rPr>
              <a:t>存储空间，最终降低写放大</a:t>
            </a:r>
            <a:endParaRPr lang="en-US" altLang="zh-CN" sz="1800" b="1" i="0" kern="100" dirty="0">
              <a:solidFill>
                <a:srgbClr val="0052FF"/>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字节郭宽？认为他做的很成功</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4000" b="0" i="0" dirty="0">
                <a:solidFill>
                  <a:srgbClr val="191B1F"/>
                </a:solidFill>
                <a:effectLst/>
                <a:latin typeface="-apple-system"/>
              </a:rPr>
              <a:t>各类存储系统，尤其是 </a:t>
            </a:r>
            <a:r>
              <a:rPr lang="en-US" altLang="zh-CN" sz="4000" b="0" i="0" dirty="0">
                <a:solidFill>
                  <a:srgbClr val="191B1F"/>
                </a:solidFill>
                <a:effectLst/>
                <a:latin typeface="-apple-system"/>
              </a:rPr>
              <a:t>LSM </a:t>
            </a:r>
            <a:r>
              <a:rPr lang="zh-CN" altLang="en-US" sz="4000" b="0" i="0" dirty="0">
                <a:solidFill>
                  <a:srgbClr val="191B1F"/>
                </a:solidFill>
                <a:effectLst/>
                <a:latin typeface="-apple-system"/>
              </a:rPr>
              <a:t>花费了大量的精力进行写放大的优化，但即便是 </a:t>
            </a:r>
            <a:r>
              <a:rPr lang="en-US" altLang="zh-CN" sz="4000" b="0" i="0" dirty="0">
                <a:solidFill>
                  <a:srgbClr val="191B1F"/>
                </a:solidFill>
                <a:effectLst/>
                <a:latin typeface="-apple-system"/>
              </a:rPr>
              <a:t>LSM </a:t>
            </a:r>
            <a:r>
              <a:rPr lang="zh-CN" altLang="en-US" sz="4000" b="0" i="0" dirty="0">
                <a:solidFill>
                  <a:srgbClr val="191B1F"/>
                </a:solidFill>
                <a:effectLst/>
                <a:latin typeface="-apple-system"/>
              </a:rPr>
              <a:t>写放大降低到 </a:t>
            </a:r>
            <a:r>
              <a:rPr lang="en-US" altLang="zh-CN" sz="4000" b="0" i="0" dirty="0">
                <a:solidFill>
                  <a:srgbClr val="191B1F"/>
                </a:solidFill>
                <a:effectLst/>
                <a:latin typeface="-apple-system"/>
              </a:rPr>
              <a:t>5</a:t>
            </a:r>
            <a:r>
              <a:rPr lang="zh-CN" altLang="en-US" sz="4000" b="0" i="0" dirty="0">
                <a:solidFill>
                  <a:srgbClr val="191B1F"/>
                </a:solidFill>
                <a:effectLst/>
                <a:latin typeface="-apple-system"/>
              </a:rPr>
              <a:t>，</a:t>
            </a:r>
            <a:r>
              <a:rPr lang="en-US" altLang="zh-CN" sz="4000" b="0" i="0" dirty="0">
                <a:solidFill>
                  <a:srgbClr val="191B1F"/>
                </a:solidFill>
                <a:effectLst/>
                <a:latin typeface="-apple-system"/>
              </a:rPr>
              <a:t>SSD </a:t>
            </a:r>
            <a:r>
              <a:rPr lang="zh-CN" altLang="en-US" sz="4000" b="0" i="0" dirty="0">
                <a:solidFill>
                  <a:srgbClr val="191B1F"/>
                </a:solidFill>
                <a:effectLst/>
                <a:latin typeface="-apple-system"/>
              </a:rPr>
              <a:t>自身的写放大通常也有 </a:t>
            </a:r>
            <a:r>
              <a:rPr lang="en-US" altLang="zh-CN" sz="4000" b="0" i="0" dirty="0">
                <a:solidFill>
                  <a:srgbClr val="191B1F"/>
                </a:solidFill>
                <a:effectLst/>
                <a:latin typeface="-apple-system"/>
              </a:rPr>
              <a:t>3 </a:t>
            </a:r>
            <a:r>
              <a:rPr lang="zh-CN" altLang="en-US" sz="4000" b="0" i="0" dirty="0">
                <a:solidFill>
                  <a:srgbClr val="191B1F"/>
                </a:solidFill>
                <a:effectLst/>
                <a:latin typeface="-apple-system"/>
              </a:rPr>
              <a:t>倍，综合写放大还是 </a:t>
            </a:r>
            <a:r>
              <a:rPr lang="en-US" altLang="zh-CN" sz="4000" b="0" i="0" dirty="0">
                <a:solidFill>
                  <a:srgbClr val="191B1F"/>
                </a:solidFill>
                <a:effectLst/>
                <a:latin typeface="-apple-system"/>
              </a:rPr>
              <a:t>15 </a:t>
            </a:r>
            <a:r>
              <a:rPr lang="zh-CN" altLang="en-US" sz="4000" b="0" i="0" dirty="0">
                <a:solidFill>
                  <a:srgbClr val="191B1F"/>
                </a:solidFill>
                <a:effectLst/>
                <a:latin typeface="-apple-system"/>
              </a:rPr>
              <a:t>倍之多。</a:t>
            </a: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4000" b="0" i="0" dirty="0">
              <a:solidFill>
                <a:srgbClr val="191B1F"/>
              </a:solidFill>
              <a:effectLst/>
              <a:latin typeface="-apple-system"/>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4000" b="0" i="0" dirty="0">
                <a:solidFill>
                  <a:srgbClr val="191B1F"/>
                </a:solidFill>
                <a:effectLst/>
                <a:latin typeface="-apple-system"/>
              </a:rPr>
              <a:t>预测未来硬件的发展趋势是非常，</a:t>
            </a: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已有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CACHE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研究</a:t>
            </a:r>
            <a:r>
              <a:rPr lang="en-US" altLang="zh-CN" sz="2800" b="1" i="0" dirty="0" err="1">
                <a:solidFill>
                  <a:srgbClr val="333333"/>
                </a:solidFill>
                <a:effectLst/>
                <a:latin typeface="HelveticaNeue Regular"/>
              </a:rPr>
              <a:t>ZonedStore</a:t>
            </a:r>
            <a:r>
              <a:rPr lang="en-US" altLang="zh-CN" sz="2800" b="1" i="0" dirty="0">
                <a:solidFill>
                  <a:srgbClr val="333333"/>
                </a:solidFill>
                <a:effectLst/>
                <a:latin typeface="HelveticaNeue Regular"/>
              </a:rPr>
              <a:t>: A Concurrent ZNS-Aware Cache System for Cloud Data Storage</a:t>
            </a:r>
          </a:p>
        </p:txBody>
      </p:sp>
      <p:sp>
        <p:nvSpPr>
          <p:cNvPr id="4" name="灯片编号占位符 3"/>
          <p:cNvSpPr>
            <a:spLocks noGrp="1"/>
          </p:cNvSpPr>
          <p:nvPr>
            <p:ph type="sldNum" sz="quarter" idx="10"/>
          </p:nvPr>
        </p:nvSpPr>
        <p:spPr/>
        <p:txBody>
          <a:bodyPr/>
          <a:lstStyle/>
          <a:p>
            <a:fld id="{E4FF5570-FE69-4FDF-99DA-8CDE436443CD}" type="slidenum">
              <a:rPr lang="en-US" smtClean="0"/>
              <a:t>7</a:t>
            </a:fld>
            <a:endParaRPr lang="en-US" dirty="0"/>
          </a:p>
        </p:txBody>
      </p:sp>
    </p:spTree>
    <p:extLst>
      <p:ext uri="{BB962C8B-B14F-4D97-AF65-F5344CB8AC3E}">
        <p14:creationId xmlns:p14="http://schemas.microsoft.com/office/powerpoint/2010/main" val="3055313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r>
              <a:rPr lang="zh-CN" altLang="en-US" sz="1200" dirty="0"/>
              <a:t>尽管</a:t>
            </a:r>
            <a:r>
              <a:rPr lang="en-US" altLang="zh-CN" sz="1200" dirty="0"/>
              <a:t>HFTL</a:t>
            </a:r>
            <a:r>
              <a:rPr lang="zh-CN" altLang="en-US" sz="1200" dirty="0"/>
              <a:t>的职责较</a:t>
            </a:r>
            <a:r>
              <a:rPr lang="en-US" altLang="zh-CN" sz="1200" dirty="0"/>
              <a:t>SSD FTL</a:t>
            </a:r>
            <a:r>
              <a:rPr lang="zh-CN" altLang="en-US" sz="1200" dirty="0"/>
              <a:t>小，但它必须管理其对</a:t>
            </a:r>
            <a:r>
              <a:rPr lang="en-US" altLang="zh-CN" sz="1200" dirty="0"/>
              <a:t>CPU</a:t>
            </a:r>
            <a:r>
              <a:rPr lang="zh-CN" altLang="en-US" sz="1200" dirty="0"/>
              <a:t>和</a:t>
            </a:r>
            <a:r>
              <a:rPr lang="en-US" altLang="zh-CN" sz="1200" dirty="0"/>
              <a:t>DRAM</a:t>
            </a:r>
            <a:r>
              <a:rPr lang="zh-CN" altLang="en-US" sz="1200" dirty="0"/>
              <a:t>资源的使用，因为这些资源与主机应用共享。</a:t>
            </a:r>
            <a:r>
              <a:rPr lang="en-US" altLang="zh-CN" sz="1200" dirty="0"/>
              <a:t>HFTL</a:t>
            </a:r>
            <a:r>
              <a:rPr lang="zh-CN" altLang="en-US" sz="1200" dirty="0"/>
              <a:t>简化了与主机端信息的整合，增强了数据放置和垃圾回收的控制，并向应用程序提供传统块接口。目前，例如</a:t>
            </a:r>
            <a:r>
              <a:rPr lang="en-US" altLang="zh-CN" sz="1200" dirty="0"/>
              <a:t>dm-zoned</a:t>
            </a:r>
            <a:r>
              <a:rPr lang="zh-CN" altLang="en-US" sz="1200" dirty="0"/>
              <a:t>、</a:t>
            </a:r>
            <a:r>
              <a:rPr lang="en-US" altLang="zh-CN" sz="1200" dirty="0"/>
              <a:t>dm-zap</a:t>
            </a:r>
            <a:r>
              <a:rPr lang="zh-CN" altLang="en-US" sz="1200" dirty="0"/>
              <a:t>、</a:t>
            </a:r>
            <a:r>
              <a:rPr lang="en-US" altLang="zh-CN" sz="1200" dirty="0" err="1"/>
              <a:t>pblk</a:t>
            </a:r>
            <a:r>
              <a:rPr lang="zh-CN" altLang="en-US" sz="1200" dirty="0"/>
              <a:t>和</a:t>
            </a:r>
            <a:r>
              <a:rPr lang="en-US" altLang="zh-CN" sz="1200" dirty="0"/>
              <a:t>SPDK</a:t>
            </a:r>
            <a:r>
              <a:rPr lang="zh-CN" altLang="en-US" sz="1200" dirty="0"/>
              <a:t>的</a:t>
            </a:r>
            <a:r>
              <a:rPr lang="en-US" altLang="zh-CN" sz="1200" dirty="0"/>
              <a:t>FTL</a:t>
            </a:r>
            <a:r>
              <a:rPr lang="zh-CN" altLang="en-US" sz="1200" dirty="0"/>
              <a:t>等工作显示了</a:t>
            </a:r>
            <a:r>
              <a:rPr lang="en-US" altLang="zh-CN" sz="1200" dirty="0"/>
              <a:t>HFTL</a:t>
            </a:r>
            <a:r>
              <a:rPr lang="zh-CN" altLang="en-US" sz="1200" dirty="0"/>
              <a:t>的可行性和应用性，但目前只有</a:t>
            </a:r>
            <a:r>
              <a:rPr lang="en-US" altLang="zh-CN" sz="1200" dirty="0"/>
              <a:t>dm-zap</a:t>
            </a:r>
            <a:r>
              <a:rPr lang="zh-CN" altLang="en-US" sz="1200" dirty="0"/>
              <a:t>支持</a:t>
            </a:r>
            <a:r>
              <a:rPr lang="en-US" altLang="zh-CN" sz="1200" dirty="0"/>
              <a:t>ZNS SSD</a:t>
            </a:r>
            <a:r>
              <a:rPr lang="zh-CN" altLang="en-US" sz="1200" dirty="0"/>
              <a:t>。</a:t>
            </a:r>
            <a:endParaRPr lang="en-US" altLang="zh-CN" sz="1200" dirty="0"/>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8</a:t>
            </a:fld>
            <a:endParaRPr lang="en-US" dirty="0"/>
          </a:p>
        </p:txBody>
      </p:sp>
    </p:spTree>
    <p:extLst>
      <p:ext uri="{BB962C8B-B14F-4D97-AF65-F5344CB8AC3E}">
        <p14:creationId xmlns:p14="http://schemas.microsoft.com/office/powerpoint/2010/main" val="3312157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en-US" altLang="zh-CN" sz="1200" dirty="0">
                <a:latin typeface="Constantia" panose="02030602050306030303" pitchFamily="18" charset="0"/>
              </a:rPr>
              <a:t>https://www.usenix.org/conference/fast24/presentation/joshi</a:t>
            </a: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9</a:t>
            </a:fld>
            <a:endParaRPr lang="en-US" dirty="0"/>
          </a:p>
        </p:txBody>
      </p:sp>
    </p:spTree>
    <p:extLst>
      <p:ext uri="{BB962C8B-B14F-4D97-AF65-F5344CB8AC3E}">
        <p14:creationId xmlns:p14="http://schemas.microsoft.com/office/powerpoint/2010/main" val="3396682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10</a:t>
            </a:fld>
            <a:endParaRPr lang="en-US" dirty="0"/>
          </a:p>
        </p:txBody>
      </p:sp>
    </p:spTree>
    <p:extLst>
      <p:ext uri="{BB962C8B-B14F-4D97-AF65-F5344CB8AC3E}">
        <p14:creationId xmlns:p14="http://schemas.microsoft.com/office/powerpoint/2010/main" val="3154048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11</a:t>
            </a:fld>
            <a:endParaRPr lang="en-US" dirty="0"/>
          </a:p>
        </p:txBody>
      </p:sp>
    </p:spTree>
    <p:extLst>
      <p:ext uri="{BB962C8B-B14F-4D97-AF65-F5344CB8AC3E}">
        <p14:creationId xmlns:p14="http://schemas.microsoft.com/office/powerpoint/2010/main" val="1088593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对未来发展方向的一些不太成熟的设想</a:t>
            </a:r>
            <a:endParaRPr lang="en-US" altLang="zh-CN" sz="2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algn="l"/>
            <a:endParaRPr lang="en-US" altLang="zh-CN" sz="2800" b="1" i="0" dirty="0">
              <a:solidFill>
                <a:srgbClr val="333333"/>
              </a:solidFill>
              <a:effectLst/>
              <a:latin typeface="-apple-system"/>
            </a:endParaRPr>
          </a:p>
          <a:p>
            <a:pPr algn="l"/>
            <a:r>
              <a:rPr lang="en-US" altLang="zh-CN" sz="2800" b="1" i="0" dirty="0">
                <a:solidFill>
                  <a:srgbClr val="333333"/>
                </a:solidFill>
                <a:effectLst/>
                <a:latin typeface="-apple-system"/>
              </a:rPr>
              <a:t>Abase2</a:t>
            </a:r>
            <a:r>
              <a:rPr lang="zh-CN" altLang="en-US" sz="2800" b="1" i="0" dirty="0">
                <a:solidFill>
                  <a:srgbClr val="333333"/>
                </a:solidFill>
                <a:effectLst/>
                <a:latin typeface="-apple-system"/>
              </a:rPr>
              <a:t>：字节跳动新一代高可用 </a:t>
            </a:r>
            <a:r>
              <a:rPr lang="en-US" altLang="zh-CN" sz="2800" b="1" i="0" dirty="0">
                <a:solidFill>
                  <a:srgbClr val="333333"/>
                </a:solidFill>
                <a:effectLst/>
                <a:latin typeface="-apple-system"/>
              </a:rPr>
              <a:t>NoSQL </a:t>
            </a:r>
            <a:r>
              <a:rPr lang="zh-CN" altLang="en-US" sz="2800" b="1" i="0" dirty="0">
                <a:solidFill>
                  <a:srgbClr val="333333"/>
                </a:solidFill>
                <a:effectLst/>
                <a:latin typeface="-apple-system"/>
              </a:rPr>
              <a:t>数据库 </a:t>
            </a:r>
            <a:endParaRPr lang="en-US" altLang="zh-CN" sz="2800" b="1" i="0" dirty="0">
              <a:solidFill>
                <a:srgbClr val="333333"/>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i="0" dirty="0">
                <a:solidFill>
                  <a:srgbClr val="333333"/>
                </a:solidFill>
                <a:effectLst/>
                <a:latin typeface="-apple-system"/>
              </a:rPr>
              <a:t>https://www.51cto.com/article/709845.html</a:t>
            </a:r>
            <a:endParaRPr lang="zh-CN" altLang="en-US" sz="1800" b="1" i="0" dirty="0">
              <a:solidFill>
                <a:srgbClr val="333333"/>
              </a:solidFill>
              <a:effectLst/>
              <a:latin typeface="-apple-system"/>
            </a:endParaRPr>
          </a:p>
          <a:p>
            <a:pPr algn="l"/>
            <a:endParaRPr lang="en-US" altLang="zh-CN" sz="1800" b="0" i="0" dirty="0">
              <a:solidFill>
                <a:srgbClr val="222222"/>
              </a:solidFill>
              <a:effectLst/>
              <a:latin typeface="PingFangSC-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b="0" i="0" dirty="0">
                <a:solidFill>
                  <a:srgbClr val="222222"/>
                </a:solidFill>
                <a:effectLst/>
                <a:latin typeface="PingFangSC-Regular"/>
              </a:rPr>
              <a:t>单体数据库，</a:t>
            </a:r>
            <a:r>
              <a:rPr lang="en-US" altLang="zh-CN" sz="1800" b="0" i="0" dirty="0" err="1">
                <a:solidFill>
                  <a:srgbClr val="222222"/>
                </a:solidFill>
                <a:effectLst/>
                <a:latin typeface="PingFangSC-Regular"/>
              </a:rPr>
              <a:t>Terarkdb</a:t>
            </a:r>
            <a:r>
              <a:rPr lang="en-US" altLang="zh-CN" sz="1800" b="0" i="0" dirty="0">
                <a:solidFill>
                  <a:srgbClr val="222222"/>
                </a:solidFill>
                <a:effectLst/>
                <a:latin typeface="PingFangSC-Regular"/>
              </a:rPr>
              <a:t> </a:t>
            </a:r>
            <a:r>
              <a:rPr lang="zh-CN" altLang="en-US" sz="1800" b="0" i="0" dirty="0">
                <a:solidFill>
                  <a:srgbClr val="222222"/>
                </a:solidFill>
                <a:effectLst/>
                <a:latin typeface="PingFangSC-Regular"/>
              </a:rPr>
              <a:t>，</a:t>
            </a:r>
            <a:r>
              <a:rPr lang="zh-CN" altLang="en-US" sz="2800" b="0" i="0" dirty="0">
                <a:solidFill>
                  <a:srgbClr val="333333"/>
                </a:solidFill>
                <a:effectLst/>
                <a:latin typeface="PingFangSC-Regular"/>
              </a:rPr>
              <a:t>向上承接分布式团队业务，</a:t>
            </a:r>
            <a:r>
              <a:rPr lang="zh-CN" altLang="en-US" sz="1800" b="0" i="0" dirty="0">
                <a:solidFill>
                  <a:srgbClr val="222222"/>
                </a:solidFill>
                <a:effectLst/>
                <a:latin typeface="PingFangSC-Regular"/>
              </a:rPr>
              <a:t>向下使用 </a:t>
            </a:r>
            <a:r>
              <a:rPr lang="en-US" altLang="zh-CN" sz="1800" b="0" i="0" dirty="0">
                <a:solidFill>
                  <a:srgbClr val="222222"/>
                </a:solidFill>
                <a:effectLst/>
                <a:latin typeface="PingFangSC-Regular"/>
              </a:rPr>
              <a:t>SSD+ZNS+DPU</a:t>
            </a:r>
            <a:r>
              <a:rPr lang="zh-CN" altLang="en-US" sz="1800" b="0" i="0" dirty="0">
                <a:solidFill>
                  <a:srgbClr val="222222"/>
                </a:solidFill>
                <a:effectLst/>
                <a:latin typeface="PingFangSC-Regular"/>
              </a:rPr>
              <a:t>，</a:t>
            </a:r>
            <a:r>
              <a:rPr lang="en-US" altLang="zh-CN" sz="1800" b="0" i="0" dirty="0">
                <a:solidFill>
                  <a:srgbClr val="222222"/>
                </a:solidFill>
                <a:effectLst/>
                <a:latin typeface="PingFangSC-Regular"/>
              </a:rPr>
              <a:t>22</a:t>
            </a:r>
            <a:r>
              <a:rPr lang="zh-CN" altLang="en-US" sz="1800" b="0" i="0" dirty="0">
                <a:solidFill>
                  <a:srgbClr val="222222"/>
                </a:solidFill>
                <a:effectLst/>
                <a:latin typeface="PingFangSC-Regular"/>
              </a:rPr>
              <a:t>年中旬提交的关于</a:t>
            </a:r>
            <a:r>
              <a:rPr lang="en-US" altLang="zh-CN" sz="1800" b="0" i="0" dirty="0">
                <a:solidFill>
                  <a:srgbClr val="222222"/>
                </a:solidFill>
                <a:effectLst/>
                <a:latin typeface="PingFangSC-Regular"/>
              </a:rPr>
              <a:t>ZNS</a:t>
            </a:r>
            <a:r>
              <a:rPr lang="zh-CN" altLang="en-US" sz="1800" b="0" i="0" dirty="0">
                <a:solidFill>
                  <a:srgbClr val="222222"/>
                </a:solidFill>
                <a:effectLst/>
                <a:latin typeface="PingFangSC-Regular"/>
              </a:rPr>
              <a:t>的代码</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indent="0" algn="just">
              <a:spcAft>
                <a:spcPts val="1200"/>
              </a:spcAft>
              <a:buFont typeface="Arial" panose="020B0604020202020204" pitchFamily="34" charset="0"/>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https://www.nowcoder.com/discuss/375095020267872256</a:t>
            </a: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2800" b="0" i="0" dirty="0">
                <a:solidFill>
                  <a:srgbClr val="0052FF"/>
                </a:solidFill>
                <a:effectLst/>
                <a:latin typeface="system-ui"/>
              </a:rPr>
              <a:t>做了一个很奇怪的硬件改进</a:t>
            </a:r>
            <a:r>
              <a:rPr lang="en-US" altLang="zh-CN" sz="2800" b="0" i="0" dirty="0">
                <a:solidFill>
                  <a:srgbClr val="0052FF"/>
                </a:solidFill>
                <a:effectLst/>
                <a:latin typeface="system-ui"/>
              </a:rPr>
              <a:t>,</a:t>
            </a:r>
            <a:r>
              <a:rPr lang="zh-CN" altLang="en-US" sz="2800" b="0" i="0" dirty="0">
                <a:solidFill>
                  <a:srgbClr val="0052FF"/>
                </a:solidFill>
                <a:effectLst/>
                <a:latin typeface="system-ui"/>
              </a:rPr>
              <a:t>要支持写入数据最后一个</a:t>
            </a:r>
            <a:r>
              <a:rPr lang="en-US" altLang="zh-CN" sz="2800" b="0" i="0" dirty="0">
                <a:solidFill>
                  <a:srgbClr val="0052FF"/>
                </a:solidFill>
                <a:effectLst/>
                <a:latin typeface="system-ui"/>
              </a:rPr>
              <a:t>LBA overwrite</a:t>
            </a:r>
            <a:r>
              <a:rPr lang="zh-CN" altLang="en-US" sz="2800" b="0" i="0" dirty="0">
                <a:solidFill>
                  <a:srgbClr val="0052FF"/>
                </a:solidFill>
                <a:effectLst/>
                <a:latin typeface="system-ui"/>
              </a:rPr>
              <a:t>覆盖写，优化</a:t>
            </a:r>
            <a:r>
              <a:rPr lang="en-US" altLang="zh-CN" sz="2800" b="0" i="0" dirty="0">
                <a:solidFill>
                  <a:srgbClr val="0052FF"/>
                </a:solidFill>
                <a:effectLst/>
                <a:latin typeface="system-ui"/>
              </a:rPr>
              <a:t>NAND</a:t>
            </a:r>
            <a:r>
              <a:rPr lang="zh-CN" altLang="en-US" sz="2800" b="0" i="0" dirty="0">
                <a:solidFill>
                  <a:srgbClr val="0052FF"/>
                </a:solidFill>
                <a:effectLst/>
                <a:latin typeface="system-ui"/>
              </a:rPr>
              <a:t>存储空间，最终降低写放大</a:t>
            </a:r>
            <a:r>
              <a:rPr lang="en-US" altLang="zh-CN" sz="1800" b="0" i="0" kern="100" dirty="0">
                <a:solidFill>
                  <a:srgbClr val="0052FF"/>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郭宽？</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4000" b="0" i="0" dirty="0">
                <a:solidFill>
                  <a:srgbClr val="191B1F"/>
                </a:solidFill>
                <a:effectLst/>
                <a:latin typeface="-apple-system"/>
              </a:rPr>
              <a:t>各类存储系统，尤其是 </a:t>
            </a:r>
            <a:r>
              <a:rPr lang="en-US" altLang="zh-CN" sz="4000" b="0" i="0" dirty="0">
                <a:solidFill>
                  <a:srgbClr val="191B1F"/>
                </a:solidFill>
                <a:effectLst/>
                <a:latin typeface="-apple-system"/>
              </a:rPr>
              <a:t>LSM </a:t>
            </a:r>
            <a:r>
              <a:rPr lang="zh-CN" altLang="en-US" sz="4000" b="0" i="0" dirty="0">
                <a:solidFill>
                  <a:srgbClr val="191B1F"/>
                </a:solidFill>
                <a:effectLst/>
                <a:latin typeface="-apple-system"/>
              </a:rPr>
              <a:t>花费了大量的精力进行写放大的优化，但即便是 </a:t>
            </a:r>
            <a:r>
              <a:rPr lang="en-US" altLang="zh-CN" sz="4000" b="0" i="0" dirty="0">
                <a:solidFill>
                  <a:srgbClr val="191B1F"/>
                </a:solidFill>
                <a:effectLst/>
                <a:latin typeface="-apple-system"/>
              </a:rPr>
              <a:t>LSM </a:t>
            </a:r>
            <a:r>
              <a:rPr lang="zh-CN" altLang="en-US" sz="4000" b="0" i="0" dirty="0">
                <a:solidFill>
                  <a:srgbClr val="191B1F"/>
                </a:solidFill>
                <a:effectLst/>
                <a:latin typeface="-apple-system"/>
              </a:rPr>
              <a:t>写放大降低到 </a:t>
            </a:r>
            <a:r>
              <a:rPr lang="en-US" altLang="zh-CN" sz="4000" b="0" i="0" dirty="0">
                <a:solidFill>
                  <a:srgbClr val="191B1F"/>
                </a:solidFill>
                <a:effectLst/>
                <a:latin typeface="-apple-system"/>
              </a:rPr>
              <a:t>5</a:t>
            </a:r>
            <a:r>
              <a:rPr lang="zh-CN" altLang="en-US" sz="4000" b="0" i="0" dirty="0">
                <a:solidFill>
                  <a:srgbClr val="191B1F"/>
                </a:solidFill>
                <a:effectLst/>
                <a:latin typeface="-apple-system"/>
              </a:rPr>
              <a:t>，</a:t>
            </a:r>
            <a:r>
              <a:rPr lang="en-US" altLang="zh-CN" sz="4000" b="0" i="0" dirty="0">
                <a:solidFill>
                  <a:srgbClr val="191B1F"/>
                </a:solidFill>
                <a:effectLst/>
                <a:latin typeface="-apple-system"/>
              </a:rPr>
              <a:t>SSD </a:t>
            </a:r>
            <a:r>
              <a:rPr lang="zh-CN" altLang="en-US" sz="4000" b="0" i="0" dirty="0">
                <a:solidFill>
                  <a:srgbClr val="191B1F"/>
                </a:solidFill>
                <a:effectLst/>
                <a:latin typeface="-apple-system"/>
              </a:rPr>
              <a:t>自身的写放大通常也有 </a:t>
            </a:r>
            <a:r>
              <a:rPr lang="en-US" altLang="zh-CN" sz="4000" b="0" i="0" dirty="0">
                <a:solidFill>
                  <a:srgbClr val="191B1F"/>
                </a:solidFill>
                <a:effectLst/>
                <a:latin typeface="-apple-system"/>
              </a:rPr>
              <a:t>3 </a:t>
            </a:r>
            <a:r>
              <a:rPr lang="zh-CN" altLang="en-US" sz="4000" b="0" i="0" dirty="0">
                <a:solidFill>
                  <a:srgbClr val="191B1F"/>
                </a:solidFill>
                <a:effectLst/>
                <a:latin typeface="-apple-system"/>
              </a:rPr>
              <a:t>倍，综合写放大还是 </a:t>
            </a:r>
            <a:r>
              <a:rPr lang="en-US" altLang="zh-CN" sz="4000" b="0" i="0" dirty="0">
                <a:solidFill>
                  <a:srgbClr val="191B1F"/>
                </a:solidFill>
                <a:effectLst/>
                <a:latin typeface="-apple-system"/>
              </a:rPr>
              <a:t>15 </a:t>
            </a:r>
            <a:r>
              <a:rPr lang="zh-CN" altLang="en-US" sz="4000" b="0" i="0" dirty="0">
                <a:solidFill>
                  <a:srgbClr val="191B1F"/>
                </a:solidFill>
                <a:effectLst/>
                <a:latin typeface="-apple-system"/>
              </a:rPr>
              <a:t>倍之多。</a:t>
            </a: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4000" b="0" i="0" dirty="0">
              <a:solidFill>
                <a:srgbClr val="191B1F"/>
              </a:solidFill>
              <a:effectLst/>
              <a:latin typeface="-apple-system"/>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4000" b="0" i="0" dirty="0">
                <a:solidFill>
                  <a:srgbClr val="191B1F"/>
                </a:solidFill>
                <a:effectLst/>
                <a:latin typeface="-apple-system"/>
              </a:rPr>
              <a:t>预测未来硬件的发展趋势是非常，</a:t>
            </a: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已有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CACHE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研究</a:t>
            </a:r>
            <a:r>
              <a:rPr lang="en-US" altLang="zh-CN" sz="2800" b="1" i="0" dirty="0" err="1">
                <a:solidFill>
                  <a:srgbClr val="333333"/>
                </a:solidFill>
                <a:effectLst/>
                <a:latin typeface="HelveticaNeue Regular"/>
              </a:rPr>
              <a:t>ZonedStore</a:t>
            </a:r>
            <a:r>
              <a:rPr lang="en-US" altLang="zh-CN" sz="2800" b="1" i="0" dirty="0">
                <a:solidFill>
                  <a:srgbClr val="333333"/>
                </a:solidFill>
                <a:effectLst/>
                <a:latin typeface="HelveticaNeue Regular"/>
              </a:rPr>
              <a:t>: A Concurrent ZNS-Aware Cache System for Cloud Data Storage</a:t>
            </a:r>
          </a:p>
        </p:txBody>
      </p:sp>
      <p:sp>
        <p:nvSpPr>
          <p:cNvPr id="4" name="灯片编号占位符 3"/>
          <p:cNvSpPr>
            <a:spLocks noGrp="1"/>
          </p:cNvSpPr>
          <p:nvPr>
            <p:ph type="sldNum" sz="quarter" idx="10"/>
          </p:nvPr>
        </p:nvSpPr>
        <p:spPr/>
        <p:txBody>
          <a:bodyPr/>
          <a:lstStyle/>
          <a:p>
            <a:fld id="{E4FF5570-FE69-4FDF-99DA-8CDE436443CD}" type="slidenum">
              <a:rPr lang="en-US" smtClean="0"/>
              <a:t>12</a:t>
            </a:fld>
            <a:endParaRPr lang="en-US" dirty="0"/>
          </a:p>
        </p:txBody>
      </p:sp>
    </p:spTree>
    <p:extLst>
      <p:ext uri="{BB962C8B-B14F-4D97-AF65-F5344CB8AC3E}">
        <p14:creationId xmlns:p14="http://schemas.microsoft.com/office/powerpoint/2010/main" val="3240529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r>
              <a:rPr lang="zh-CN" altLang="en-US" sz="1200" dirty="0"/>
              <a:t>尽管</a:t>
            </a:r>
            <a:r>
              <a:rPr lang="en-US" altLang="zh-CN" sz="1200" dirty="0"/>
              <a:t>HFTL</a:t>
            </a:r>
            <a:r>
              <a:rPr lang="zh-CN" altLang="en-US" sz="1200" dirty="0"/>
              <a:t>的职责较</a:t>
            </a:r>
            <a:r>
              <a:rPr lang="en-US" altLang="zh-CN" sz="1200" dirty="0"/>
              <a:t>SSD FTL</a:t>
            </a:r>
            <a:r>
              <a:rPr lang="zh-CN" altLang="en-US" sz="1200" dirty="0"/>
              <a:t>小，但它必须管理其对</a:t>
            </a:r>
            <a:r>
              <a:rPr lang="en-US" altLang="zh-CN" sz="1200" dirty="0"/>
              <a:t>CPU</a:t>
            </a:r>
            <a:r>
              <a:rPr lang="zh-CN" altLang="en-US" sz="1200" dirty="0"/>
              <a:t>和</a:t>
            </a:r>
            <a:r>
              <a:rPr lang="en-US" altLang="zh-CN" sz="1200" dirty="0"/>
              <a:t>DRAM</a:t>
            </a:r>
            <a:r>
              <a:rPr lang="zh-CN" altLang="en-US" sz="1200" dirty="0"/>
              <a:t>资源的使用，因为这些资源与主机应用共享。</a:t>
            </a:r>
            <a:r>
              <a:rPr lang="en-US" altLang="zh-CN" sz="1200" dirty="0"/>
              <a:t>HFTL</a:t>
            </a:r>
            <a:r>
              <a:rPr lang="zh-CN" altLang="en-US" sz="1200" dirty="0"/>
              <a:t>简化了与主机端信息的整合，增强了数据放置和垃圾回收的控制，并向应用程序提供传统块接口。目前，例如</a:t>
            </a:r>
            <a:r>
              <a:rPr lang="en-US" altLang="zh-CN" sz="1200" dirty="0"/>
              <a:t>dm-zoned</a:t>
            </a:r>
            <a:r>
              <a:rPr lang="zh-CN" altLang="en-US" sz="1200" dirty="0"/>
              <a:t>、</a:t>
            </a:r>
            <a:r>
              <a:rPr lang="en-US" altLang="zh-CN" sz="1200" dirty="0"/>
              <a:t>dm-zap</a:t>
            </a:r>
            <a:r>
              <a:rPr lang="zh-CN" altLang="en-US" sz="1200" dirty="0"/>
              <a:t>、</a:t>
            </a:r>
            <a:r>
              <a:rPr lang="en-US" altLang="zh-CN" sz="1200" dirty="0" err="1"/>
              <a:t>pblk</a:t>
            </a:r>
            <a:r>
              <a:rPr lang="zh-CN" altLang="en-US" sz="1200" dirty="0"/>
              <a:t>和</a:t>
            </a:r>
            <a:r>
              <a:rPr lang="en-US" altLang="zh-CN" sz="1200" dirty="0"/>
              <a:t>SPDK</a:t>
            </a:r>
            <a:r>
              <a:rPr lang="zh-CN" altLang="en-US" sz="1200" dirty="0"/>
              <a:t>的</a:t>
            </a:r>
            <a:r>
              <a:rPr lang="en-US" altLang="zh-CN" sz="1200" dirty="0"/>
              <a:t>FTL</a:t>
            </a:r>
            <a:r>
              <a:rPr lang="zh-CN" altLang="en-US" sz="1200" dirty="0"/>
              <a:t>等工作显示了</a:t>
            </a:r>
            <a:r>
              <a:rPr lang="en-US" altLang="zh-CN" sz="1200" dirty="0"/>
              <a:t>HFTL</a:t>
            </a:r>
            <a:r>
              <a:rPr lang="zh-CN" altLang="en-US" sz="1200" dirty="0"/>
              <a:t>的可行性和应用性，但目前只有</a:t>
            </a:r>
            <a:r>
              <a:rPr lang="en-US" altLang="zh-CN" sz="1200" dirty="0"/>
              <a:t>dm-zap</a:t>
            </a:r>
            <a:r>
              <a:rPr lang="zh-CN" altLang="en-US" sz="1200" dirty="0"/>
              <a:t>支持</a:t>
            </a:r>
            <a:r>
              <a:rPr lang="en-US" altLang="zh-CN" sz="1200" dirty="0"/>
              <a:t>ZNS SSD</a:t>
            </a:r>
            <a:r>
              <a:rPr lang="zh-CN" altLang="en-US" sz="1200" dirty="0"/>
              <a:t>。</a:t>
            </a:r>
            <a:endParaRPr lang="en-US" altLang="zh-CN" sz="1200" dirty="0"/>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13</a:t>
            </a:fld>
            <a:endParaRPr lang="en-US" dirty="0"/>
          </a:p>
        </p:txBody>
      </p:sp>
    </p:spTree>
    <p:extLst>
      <p:ext uri="{BB962C8B-B14F-4D97-AF65-F5344CB8AC3E}">
        <p14:creationId xmlns:p14="http://schemas.microsoft.com/office/powerpoint/2010/main" val="3818044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en-US" altLang="zh-CN" sz="1200" dirty="0">
                <a:latin typeface="Constantia" panose="02030602050306030303" pitchFamily="18" charset="0"/>
              </a:rPr>
              <a:t>https://www.baidu.com/s?wd=%22Navy%22%E6%98%AFCacheLib%E6%9C%80%E6%96%B0%E7%9A%84%E7%BB%84%E4%BB%B6%E6%88%96%E5%8A%9F%E8%83%BD%E4%B9%8B%E4%B8%80&amp;rsv_spt=1&amp;rsv_iqid=0xbee64fc1002f3e4b&amp;issp=1&amp;f=8&amp;rsv_bp=1&amp;rsv_idx=2&amp;ie=utf-8&amp;rqlang=cn&amp;tn=baiduhome_pg&amp;rsv_dl=tb&amp;rsv_enter=1&amp;oq=give%2520password%2520for%2520maintance&amp;rsv_btype=t&amp;inputT=522184&amp;rsv_t=f7d73OedvQKPi8khPGTPFRWOj6S5N2296YTnTzi1jSvTUceL05sHuTXO7snRVeaGmWDa&amp;rsv_sug3=3&amp;rsv_n=2&amp;rsv_pq=931944c8002a9288&amp;rsv_sug1=1&amp;rsv_sug7=100&amp;rsv_sug2=0&amp;rsv_sug4=522184</a:t>
            </a: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933C0B-BA49-2F3E-8EAA-764B32BD410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C7BA738-3549-3ECF-F948-B6E5EBA633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01374DF-5659-FDF6-2070-AE11434F8064}"/>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5" name="页脚占位符 4">
            <a:extLst>
              <a:ext uri="{FF2B5EF4-FFF2-40B4-BE49-F238E27FC236}">
                <a16:creationId xmlns:a16="http://schemas.microsoft.com/office/drawing/2014/main" id="{7506DF7F-F591-CD56-F9B6-A92969B17FF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EF4A84-D278-9FB9-379D-DC875FC65B77}"/>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925979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0FC6BB-EE9A-4B8C-8C32-41E0B3CF0FD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567910A-15A4-F601-A7D2-EF174DE50F4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EE3AB4-EF6D-0B4A-46CD-E28DCFE9044A}"/>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5" name="页脚占位符 4">
            <a:extLst>
              <a:ext uri="{FF2B5EF4-FFF2-40B4-BE49-F238E27FC236}">
                <a16:creationId xmlns:a16="http://schemas.microsoft.com/office/drawing/2014/main" id="{9FF68886-863F-7C45-DD64-6B77F0FD06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AA872F-D3E6-62F1-B045-B580E0ADE3C8}"/>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466906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5D5794-6334-E64F-9564-0A468AC785A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36B4B9A-9E8F-2EF6-FE2B-2F30C28AB7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C5C17EA-1660-B44E-7D52-005454423062}"/>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5" name="页脚占位符 4">
            <a:extLst>
              <a:ext uri="{FF2B5EF4-FFF2-40B4-BE49-F238E27FC236}">
                <a16:creationId xmlns:a16="http://schemas.microsoft.com/office/drawing/2014/main" id="{FF699A6D-5F13-3A32-FBE6-2105858D4A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D08342-3959-041C-A0E5-79D5F4742F29}"/>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803556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DFAFF4-63AE-F396-5D8F-9220E2E40E9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4386221-E3AA-689A-ACE2-F3C02C3C4E4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BBDB6AF-64CE-9CA9-237A-7B36AD49A7B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337C703-E512-1AFF-ECF2-8041945FE618}"/>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6" name="页脚占位符 5">
            <a:extLst>
              <a:ext uri="{FF2B5EF4-FFF2-40B4-BE49-F238E27FC236}">
                <a16:creationId xmlns:a16="http://schemas.microsoft.com/office/drawing/2014/main" id="{9ADDCE5D-9781-3FBC-DB4E-B9DBFC1B87E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7A0F3D3-6ACE-0343-C0D6-E036884B14EE}"/>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622836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5D7806-8492-1BE4-6471-E3A23654EFA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C3F816E-A998-2031-71CD-1249950773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B62E14C-E43D-5C0D-8E81-AAC4A6D010D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1601416-613D-EBC7-E662-3A1EE307D4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CC91D-2433-FEEE-AA2A-34249F749A6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7DC815A-4784-8DDA-0820-CB8782A49F86}"/>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8" name="页脚占位符 7">
            <a:extLst>
              <a:ext uri="{FF2B5EF4-FFF2-40B4-BE49-F238E27FC236}">
                <a16:creationId xmlns:a16="http://schemas.microsoft.com/office/drawing/2014/main" id="{FD8276C3-4B74-23C6-D2F2-4563A9265B9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DC6C627-A1CD-FB85-6A73-3C56F870B875}"/>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695241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45DD24-30C0-8AE1-9C8B-4A5EECE84A3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9B7692E-DEBA-84C6-7B66-5434EF84406B}"/>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4" name="页脚占位符 3">
            <a:extLst>
              <a:ext uri="{FF2B5EF4-FFF2-40B4-BE49-F238E27FC236}">
                <a16:creationId xmlns:a16="http://schemas.microsoft.com/office/drawing/2014/main" id="{FB174D78-39CA-9A83-4E4D-F9DB11F28F6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43EFED9-BE67-3424-9F45-E335C0336FB2}"/>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450414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1F364E9-81EF-5B7E-D79C-2E2126A4FA3E}"/>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3" name="页脚占位符 2">
            <a:extLst>
              <a:ext uri="{FF2B5EF4-FFF2-40B4-BE49-F238E27FC236}">
                <a16:creationId xmlns:a16="http://schemas.microsoft.com/office/drawing/2014/main" id="{BA4C7443-8D17-C402-4C46-D80E593A96F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7920F61-7442-527A-3B08-001C0ACBAD83}"/>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669785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1648A7-5003-7033-125C-F1E2C0ADEFE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2D17948-0403-952F-6E9A-369DDD42A5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62A87FE-97B0-299A-4104-C323CD609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9634DC1-6B35-03E4-6083-275FA510D363}"/>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6" name="页脚占位符 5">
            <a:extLst>
              <a:ext uri="{FF2B5EF4-FFF2-40B4-BE49-F238E27FC236}">
                <a16:creationId xmlns:a16="http://schemas.microsoft.com/office/drawing/2014/main" id="{4DFD6B4C-E678-510B-5AE8-C1BA7363D1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FCEB999-C509-EE41-7914-F449E7C15DD7}"/>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1607851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52E269-61DD-F352-24A8-A599706B39C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F3D7290-88B2-5633-B5AD-455C041A42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BC496F8-9DE7-CF16-DB1E-439C68BD7A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053D5C4-5B52-4E40-FC2E-371AA32E635B}"/>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6" name="页脚占位符 5">
            <a:extLst>
              <a:ext uri="{FF2B5EF4-FFF2-40B4-BE49-F238E27FC236}">
                <a16:creationId xmlns:a16="http://schemas.microsoft.com/office/drawing/2014/main" id="{1FADED3B-E4BA-C225-17CC-873620A6405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614772-52E8-F466-6D5C-FA49C1B0346F}"/>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580645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E74BBC-196A-0E9B-F373-E16CEA1A5F2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2374340-E7D9-2157-E994-FACA4CAA3D8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0096F4-B47B-25CB-6CF8-DF6AADEF42BC}"/>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5" name="页脚占位符 4">
            <a:extLst>
              <a:ext uri="{FF2B5EF4-FFF2-40B4-BE49-F238E27FC236}">
                <a16:creationId xmlns:a16="http://schemas.microsoft.com/office/drawing/2014/main" id="{FC23EDDA-384F-51C8-8582-47891C2D8A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1AE7E70-7517-B9C3-4C0A-F0B686D24F81}"/>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621152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902090C-FBE5-D326-71F3-916EE231216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52128B6-90CA-B3F8-E92F-7A4A0D8F3C6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60ABAF-ED0A-980F-605B-63E77F68396E}"/>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5" name="页脚占位符 4">
            <a:extLst>
              <a:ext uri="{FF2B5EF4-FFF2-40B4-BE49-F238E27FC236}">
                <a16:creationId xmlns:a16="http://schemas.microsoft.com/office/drawing/2014/main" id="{808731AF-EC01-4BF2-4B8B-2B27A54F90F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45D63F4-5927-3A17-136C-9ADBC04DB5BC}"/>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1452036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411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1F364E9-81EF-5B7E-D79C-2E2126A4FA3E}"/>
              </a:ext>
            </a:extLst>
          </p:cNvPr>
          <p:cNvSpPr>
            <a:spLocks noGrp="1"/>
          </p:cNvSpPr>
          <p:nvPr>
            <p:ph type="dt" sz="half" idx="10"/>
          </p:nvPr>
        </p:nvSpPr>
        <p:spPr/>
        <p:txBody>
          <a:bodyPr/>
          <a:lstStyle/>
          <a:p>
            <a:fld id="{A0040790-74FE-4212-A615-F89461BB8B94}" type="datetimeFigureOut">
              <a:rPr lang="zh-CN" altLang="en-US" smtClean="0"/>
              <a:t>2024/4/10</a:t>
            </a:fld>
            <a:endParaRPr lang="zh-CN" altLang="en-US"/>
          </a:p>
        </p:txBody>
      </p:sp>
      <p:sp>
        <p:nvSpPr>
          <p:cNvPr id="3" name="页脚占位符 2">
            <a:extLst>
              <a:ext uri="{FF2B5EF4-FFF2-40B4-BE49-F238E27FC236}">
                <a16:creationId xmlns:a16="http://schemas.microsoft.com/office/drawing/2014/main" id="{BA4C7443-8D17-C402-4C46-D80E593A96F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7920F61-7442-527A-3B08-001C0ACBAD83}"/>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815042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9031824-657A-0B0C-ABF6-11F0E5D190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3C9584B-4F4F-3CE1-922A-88B4D93CEC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114D41-7120-4B52-6B2F-6E7897BF45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040790-74FE-4212-A615-F89461BB8B94}" type="datetimeFigureOut">
              <a:rPr lang="zh-CN" altLang="en-US" smtClean="0"/>
              <a:t>2024/4/10</a:t>
            </a:fld>
            <a:endParaRPr lang="zh-CN" altLang="en-US"/>
          </a:p>
        </p:txBody>
      </p:sp>
      <p:sp>
        <p:nvSpPr>
          <p:cNvPr id="5" name="页脚占位符 4">
            <a:extLst>
              <a:ext uri="{FF2B5EF4-FFF2-40B4-BE49-F238E27FC236}">
                <a16:creationId xmlns:a16="http://schemas.microsoft.com/office/drawing/2014/main" id="{A828AE9F-ADD7-1CC6-BDD2-07E1D501BA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B84E46C-8E1A-6909-4D55-05C635F63A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533076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1683180"/>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mn-cs"/>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 name="日期占位符 7"/>
          <p:cNvSpPr>
            <a:spLocks noGrp="1"/>
          </p:cNvSpPr>
          <p:nvPr>
            <p:ph type="dt" sz="half" idx="10"/>
          </p:nvPr>
        </p:nvSpPr>
        <p:spPr>
          <a:xfrm>
            <a:off x="1209907" y="6494974"/>
            <a:ext cx="1847385"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1CCC338-FFC3-4940-99DD-6195BEF39901}" type="datetime4">
              <a:rPr kumimoji="0" lang="en-US" altLang="zh-CN" sz="1400" b="1" i="0" u="none" strike="noStrike" kern="1200" cap="none" spc="0" normalizeH="0" baseline="0" noProof="0" smtClean="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April 10, 2024</a:t>
            </a:fld>
            <a:endParaRPr kumimoji="0" lang="zh-CN" altLang="en-US"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endParaRPr>
          </a:p>
        </p:txBody>
      </p:sp>
      <p:sp>
        <p:nvSpPr>
          <p:cNvPr id="17" name="矩形 16"/>
          <p:cNvSpPr/>
          <p:nvPr/>
        </p:nvSpPr>
        <p:spPr>
          <a:xfrm>
            <a:off x="825693" y="2379146"/>
            <a:ext cx="10540612" cy="76944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400" b="1" i="0" u="none" strike="noStrike" kern="1200" cap="none" spc="0" normalizeH="0" baseline="0" noProof="0" dirty="0">
                <a:ln>
                  <a:noFill/>
                </a:ln>
                <a:solidFill>
                  <a:srgbClr val="4747BA"/>
                </a:solidFill>
                <a:effectLst/>
                <a:uLnTx/>
                <a:uFillTx/>
                <a:latin typeface="Constantia" panose="02030602050306030303" pitchFamily="18" charset="0"/>
                <a:ea typeface="微软雅黑" panose="020B0503020204020204" charset="-122"/>
                <a:cs typeface="Calibri" panose="020F0502020204030204" charset="0"/>
              </a:rPr>
              <a:t>ZNS </a:t>
            </a:r>
            <a:r>
              <a:rPr kumimoji="0" lang="zh-CN" altLang="en-US" sz="4400" b="1" i="0" u="none" strike="noStrike" kern="1200" cap="none" spc="0" normalizeH="0" baseline="0" noProof="0" dirty="0">
                <a:ln>
                  <a:noFill/>
                </a:ln>
                <a:solidFill>
                  <a:srgbClr val="4747BA"/>
                </a:solidFill>
                <a:effectLst/>
                <a:uLnTx/>
                <a:uFillTx/>
                <a:latin typeface="Constantia" panose="02030602050306030303" pitchFamily="18" charset="0"/>
                <a:ea typeface="微软雅黑" panose="020B0503020204020204" charset="-122"/>
                <a:cs typeface="Calibri" panose="020F0502020204030204" charset="0"/>
              </a:rPr>
              <a:t>技术报告</a:t>
            </a:r>
            <a:r>
              <a:rPr kumimoji="0" lang="en-US" altLang="zh-CN" sz="4400" b="1" i="0" u="none" strike="noStrike" kern="1200" cap="none" spc="0" normalizeH="0" baseline="0" noProof="0" dirty="0">
                <a:ln>
                  <a:noFill/>
                </a:ln>
                <a:solidFill>
                  <a:srgbClr val="4747BA"/>
                </a:solidFill>
                <a:effectLst/>
                <a:uLnTx/>
                <a:uFillTx/>
                <a:latin typeface="Constantia" panose="02030602050306030303" pitchFamily="18" charset="0"/>
                <a:ea typeface="微软雅黑" panose="020B0503020204020204" charset="-122"/>
                <a:cs typeface="Calibri" panose="020F0502020204030204" charset="0"/>
              </a:rPr>
              <a:t>: </a:t>
            </a:r>
          </a:p>
        </p:txBody>
      </p:sp>
      <p:sp>
        <p:nvSpPr>
          <p:cNvPr id="20" name="矩形 19"/>
          <p:cNvSpPr/>
          <p:nvPr/>
        </p:nvSpPr>
        <p:spPr>
          <a:xfrm>
            <a:off x="4926449" y="5350064"/>
            <a:ext cx="2339102"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4747BA"/>
                </a:solidFill>
                <a:latin typeface="Constantia" panose="02030602050306030303" pitchFamily="18" charset="0"/>
              </a:rPr>
              <a:t>汇报人：柳子淇</a:t>
            </a:r>
            <a:endParaRPr lang="en-US" altLang="zh-CN" sz="2400" b="1" dirty="0">
              <a:solidFill>
                <a:srgbClr val="4747BA"/>
              </a:solidFill>
              <a:latin typeface="Constantia" panose="02030602050306030303" pitchFamily="18" charset="0"/>
            </a:endParaRPr>
          </a:p>
        </p:txBody>
      </p:sp>
      <p:sp>
        <p:nvSpPr>
          <p:cNvPr id="16" name="Fußzeilenplatzhalter 4"/>
          <p:cNvSpPr>
            <a:spLocks noGrp="1"/>
          </p:cNvSpPr>
          <p:nvPr>
            <p:ph type="ftr" sz="quarter" idx="11"/>
          </p:nvPr>
        </p:nvSpPr>
        <p:spPr>
          <a:xfrm>
            <a:off x="4095916" y="6553437"/>
            <a:ext cx="4520431" cy="273844"/>
          </a:xfrm>
        </p:spPr>
        <p:txBody>
          <a:bodyPr>
            <a:normAutofit fontScale="87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mn-cs"/>
              </a:rPr>
              <a:t>HUST </a:t>
            </a:r>
            <a:endParaRPr kumimoji="0" lang="zh-CN" altLang="en-US"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mn-cs"/>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52851E7-9224-42D2-A4FF-119762E40804}" type="slidenum">
              <a:rPr kumimoji="0" lang="zh-CN" altLang="en-US" sz="1400" b="1" i="0" u="none" strike="noStrike" kern="1200" cap="none" spc="0" normalizeH="0" baseline="0" noProof="0" smtClean="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zh-CN" altLang="en-US"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1" name="文本框 20">
            <a:extLst>
              <a:ext uri="{FF2B5EF4-FFF2-40B4-BE49-F238E27FC236}">
                <a16:creationId xmlns:a16="http://schemas.microsoft.com/office/drawing/2014/main" id="{4F59C03F-4529-480B-BB38-48398DE9C760}"/>
              </a:ext>
            </a:extLst>
          </p:cNvPr>
          <p:cNvSpPr txBox="1"/>
          <p:nvPr/>
        </p:nvSpPr>
        <p:spPr>
          <a:xfrm>
            <a:off x="3049002" y="5947252"/>
            <a:ext cx="6093994" cy="461665"/>
          </a:xfrm>
          <a:prstGeom prst="rect">
            <a:avLst/>
          </a:prstGeom>
          <a:noFill/>
        </p:spPr>
        <p:txBody>
          <a:bodyPr wrap="square">
            <a:spAutoFit/>
          </a:bodyPr>
          <a:lstStyle/>
          <a:p>
            <a:pPr algn="ctr">
              <a:defRPr/>
            </a:pPr>
            <a:r>
              <a:rPr lang="en-US" altLang="zh-CN" sz="2400" b="1" dirty="0">
                <a:solidFill>
                  <a:srgbClr val="4747BA"/>
                </a:solidFill>
                <a:latin typeface="Constantia" panose="02030602050306030303" pitchFamily="18" charset="0"/>
              </a:rPr>
              <a:t>4 . 10</a:t>
            </a:r>
            <a:endParaRPr lang="zh-CN" altLang="en-US" sz="2400" b="1" dirty="0">
              <a:solidFill>
                <a:srgbClr val="4747BA"/>
              </a:solidFill>
              <a:latin typeface="Constantia" panose="02030602050306030303"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226263"/>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发展现状</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3" name="文本框 12">
            <a:extLst>
              <a:ext uri="{FF2B5EF4-FFF2-40B4-BE49-F238E27FC236}">
                <a16:creationId xmlns:a16="http://schemas.microsoft.com/office/drawing/2014/main" id="{4C70ABF3-7FA3-450B-99F0-0E146EBC2B1B}"/>
              </a:ext>
            </a:extLst>
          </p:cNvPr>
          <p:cNvSpPr txBox="1"/>
          <p:nvPr/>
        </p:nvSpPr>
        <p:spPr>
          <a:xfrm>
            <a:off x="366706" y="1147932"/>
            <a:ext cx="8999042" cy="5066002"/>
          </a:xfrm>
          <a:prstGeom prst="rect">
            <a:avLst/>
          </a:prstGeom>
          <a:noFill/>
        </p:spPr>
        <p:txBody>
          <a:bodyPr wrap="square" rtlCol="0">
            <a:spAutoFit/>
          </a:bodyPr>
          <a:lstStyle/>
          <a:p>
            <a:pPr>
              <a:lnSpc>
                <a:spcPct val="90000"/>
              </a:lnSpc>
              <a:spcBef>
                <a:spcPts val="1000"/>
              </a:spcBef>
              <a:defRPr/>
            </a:pPr>
            <a:r>
              <a:rPr lang="zh-CN" altLang="en-US"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硬件底层优化</a:t>
            </a:r>
            <a:endParaRPr lang="en-US" altLang="zh-CN"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342900" indent="-342900">
              <a:lnSpc>
                <a:spcPct val="90000"/>
              </a:lnSpc>
              <a:spcBef>
                <a:spcPts val="1000"/>
              </a:spcBef>
              <a:buFont typeface="Arial" panose="020B0604020202020204" pitchFamily="34" charset="0"/>
              <a:buChar char="•"/>
              <a:defRPr/>
            </a:pPr>
            <a:r>
              <a:rPr lang="en-US" altLang="zh-CN" sz="2000" dirty="0">
                <a:solidFill>
                  <a:srgbClr val="374151"/>
                </a:solidFill>
                <a:latin typeface="_5b8b_4f53"/>
              </a:rPr>
              <a:t>ZNS+</a:t>
            </a:r>
          </a:p>
          <a:p>
            <a:pPr marL="342900" indent="-342900">
              <a:lnSpc>
                <a:spcPct val="90000"/>
              </a:lnSpc>
              <a:spcBef>
                <a:spcPts val="1000"/>
              </a:spcBef>
              <a:buFont typeface="Arial" panose="020B0604020202020204" pitchFamily="34" charset="0"/>
              <a:buChar char="•"/>
              <a:defRPr/>
            </a:pPr>
            <a:r>
              <a:rPr lang="en-US" altLang="zh-CN" sz="2000" dirty="0" err="1">
                <a:solidFill>
                  <a:srgbClr val="374151"/>
                </a:solidFill>
                <a:latin typeface="_5b8b_4f53"/>
              </a:rPr>
              <a:t>eZNS</a:t>
            </a:r>
            <a:endParaRPr lang="en-US" altLang="zh-CN"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a:lnSpc>
                <a:spcPct val="90000"/>
              </a:lnSpc>
              <a:spcBef>
                <a:spcPts val="1000"/>
              </a:spcBef>
              <a:defRPr/>
            </a:pPr>
            <a:r>
              <a:rPr lang="zh-CN" altLang="en-US"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端到端应用</a:t>
            </a:r>
            <a:endParaRPr lang="en-US" altLang="zh-CN"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342900" indent="-342900">
              <a:lnSpc>
                <a:spcPct val="90000"/>
              </a:lnSpc>
              <a:spcBef>
                <a:spcPts val="1000"/>
              </a:spcBef>
              <a:buFont typeface="Arial" panose="020B0604020202020204" pitchFamily="34" charset="0"/>
              <a:buChar char="•"/>
              <a:defRPr/>
            </a:pPr>
            <a:r>
              <a:rPr lang="en-US" altLang="zh-CN" sz="2000" dirty="0" err="1">
                <a:solidFill>
                  <a:srgbClr val="374151"/>
                </a:solidFill>
                <a:latin typeface="_5b8b_4f53"/>
              </a:rPr>
              <a:t>ZenFS</a:t>
            </a:r>
            <a:r>
              <a:rPr lang="zh-CN" altLang="en-US" sz="2000" dirty="0">
                <a:solidFill>
                  <a:srgbClr val="374151"/>
                </a:solidFill>
                <a:latin typeface="_5b8b_4f53"/>
              </a:rPr>
              <a:t>，</a:t>
            </a:r>
            <a:r>
              <a:rPr lang="en-US" altLang="zh-CN" sz="1600" dirty="0" err="1"/>
              <a:t>RocksDB</a:t>
            </a:r>
            <a:r>
              <a:rPr lang="en-US" altLang="zh-CN" sz="1600" dirty="0"/>
              <a:t> on ZNS</a:t>
            </a:r>
          </a:p>
          <a:p>
            <a:pPr marL="342900" indent="-342900">
              <a:lnSpc>
                <a:spcPct val="90000"/>
              </a:lnSpc>
              <a:spcBef>
                <a:spcPts val="1000"/>
              </a:spcBef>
              <a:buFont typeface="Arial" panose="020B0604020202020204" pitchFamily="34" charset="0"/>
              <a:buChar char="•"/>
              <a:defRPr/>
            </a:pPr>
            <a:r>
              <a:rPr lang="en-US" altLang="zh-CN" sz="2000" dirty="0" err="1">
                <a:solidFill>
                  <a:srgbClr val="374151"/>
                </a:solidFill>
                <a:latin typeface="_5b8b_4f53"/>
              </a:rPr>
              <a:t>ZoneKV</a:t>
            </a:r>
            <a:r>
              <a:rPr lang="zh-CN" altLang="en-US" sz="2000" dirty="0">
                <a:solidFill>
                  <a:srgbClr val="374151"/>
                </a:solidFill>
                <a:latin typeface="_5b8b_4f53"/>
              </a:rPr>
              <a:t>，</a:t>
            </a:r>
            <a:r>
              <a:rPr lang="zh-CN" altLang="en-US" sz="1600" dirty="0"/>
              <a:t>基于生命周期的放置策略</a:t>
            </a:r>
            <a:endParaRPr lang="en-US" altLang="zh-CN" sz="1600" dirty="0"/>
          </a:p>
          <a:p>
            <a:pPr marL="342900" indent="-342900">
              <a:lnSpc>
                <a:spcPct val="90000"/>
              </a:lnSpc>
              <a:spcBef>
                <a:spcPts val="1000"/>
              </a:spcBef>
              <a:buFont typeface="Arial" panose="020B0604020202020204" pitchFamily="34" charset="0"/>
              <a:buChar char="•"/>
              <a:defRPr/>
            </a:pPr>
            <a:r>
              <a:rPr lang="en-US" altLang="zh-CN" sz="2000" dirty="0" err="1">
                <a:solidFill>
                  <a:srgbClr val="374151"/>
                </a:solidFill>
                <a:latin typeface="_5b8b_4f53"/>
              </a:rPr>
              <a:t>TerakeDB</a:t>
            </a:r>
            <a:r>
              <a:rPr lang="zh-CN" altLang="en-US" sz="2000" dirty="0">
                <a:solidFill>
                  <a:srgbClr val="374151"/>
                </a:solidFill>
                <a:latin typeface="_5b8b_4f53"/>
              </a:rPr>
              <a:t>，</a:t>
            </a:r>
            <a:r>
              <a:rPr lang="zh-CN" altLang="en-US" sz="1600" dirty="0"/>
              <a:t>字节的应用部署情况</a:t>
            </a:r>
            <a:endParaRPr lang="en-US" altLang="zh-CN" sz="1600" dirty="0"/>
          </a:p>
          <a:p>
            <a:pPr>
              <a:lnSpc>
                <a:spcPct val="90000"/>
              </a:lnSpc>
              <a:spcBef>
                <a:spcPts val="1000"/>
              </a:spcBef>
              <a:defRPr/>
            </a:pPr>
            <a:r>
              <a:rPr lang="zh-CN" altLang="en-US"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其他方面工作</a:t>
            </a:r>
            <a:endParaRPr lang="en-US" altLang="zh-CN" sz="2000" dirty="0">
              <a:solidFill>
                <a:srgbClr val="374151"/>
              </a:solidFill>
              <a:latin typeface="_5b8b_4f53"/>
            </a:endParaRPr>
          </a:p>
          <a:p>
            <a:pPr marL="342900" indent="-342900">
              <a:lnSpc>
                <a:spcPct val="90000"/>
              </a:lnSpc>
              <a:spcBef>
                <a:spcPts val="1000"/>
              </a:spcBef>
              <a:buFont typeface="Arial" panose="020B0604020202020204" pitchFamily="34" charset="0"/>
              <a:buChar char="•"/>
              <a:defRPr/>
            </a:pPr>
            <a:r>
              <a:rPr lang="en-US" altLang="zh-CN" sz="2000" dirty="0" err="1">
                <a:solidFill>
                  <a:srgbClr val="374151"/>
                </a:solidFill>
                <a:latin typeface="_5b8b_4f53"/>
              </a:rPr>
              <a:t>ZNSwap</a:t>
            </a:r>
            <a:r>
              <a:rPr lang="zh-CN" altLang="en-US" sz="2000" dirty="0">
                <a:solidFill>
                  <a:srgbClr val="374151"/>
                </a:solidFill>
                <a:latin typeface="_5b8b_4f53"/>
              </a:rPr>
              <a:t>，</a:t>
            </a:r>
            <a:r>
              <a:rPr lang="zh-CN" altLang="en-US" sz="1600" dirty="0"/>
              <a:t>利用</a:t>
            </a:r>
            <a:r>
              <a:rPr lang="en-US" altLang="zh-CN" sz="1600" dirty="0"/>
              <a:t>ZNS</a:t>
            </a:r>
            <a:r>
              <a:rPr lang="zh-CN" altLang="en-US" sz="1600" dirty="0"/>
              <a:t>作为交换分区</a:t>
            </a:r>
            <a:endParaRPr lang="en-US" altLang="zh-CN" sz="1600" dirty="0"/>
          </a:p>
          <a:p>
            <a:pPr marL="342900" indent="-342900">
              <a:lnSpc>
                <a:spcPct val="90000"/>
              </a:lnSpc>
              <a:spcBef>
                <a:spcPts val="1000"/>
              </a:spcBef>
              <a:buFont typeface="Arial" panose="020B0604020202020204" pitchFamily="34" charset="0"/>
              <a:buChar char="•"/>
              <a:defRPr/>
            </a:pPr>
            <a:r>
              <a:rPr lang="zh-CN" altLang="en-US" sz="1600" dirty="0"/>
              <a:t>利用</a:t>
            </a:r>
            <a:r>
              <a:rPr lang="en-US" altLang="zh-CN" sz="1600" dirty="0"/>
              <a:t>ZNS</a:t>
            </a:r>
            <a:r>
              <a:rPr lang="zh-CN" altLang="en-US" sz="1600" dirty="0"/>
              <a:t>组</a:t>
            </a:r>
            <a:r>
              <a:rPr lang="en-US" altLang="zh-CN" sz="1600" dirty="0"/>
              <a:t>RAID</a:t>
            </a:r>
          </a:p>
          <a:p>
            <a:pPr marL="342900" indent="-342900">
              <a:lnSpc>
                <a:spcPct val="90000"/>
              </a:lnSpc>
              <a:spcBef>
                <a:spcPts val="1000"/>
              </a:spcBef>
              <a:buFont typeface="Arial" panose="020B0604020202020204" pitchFamily="34" charset="0"/>
              <a:buChar char="•"/>
              <a:defRPr/>
            </a:pPr>
            <a:r>
              <a:rPr lang="en-US" altLang="zh-CN" sz="1600" dirty="0"/>
              <a:t>…</a:t>
            </a:r>
          </a:p>
          <a:p>
            <a:pPr marL="342900" indent="-342900">
              <a:lnSpc>
                <a:spcPct val="90000"/>
              </a:lnSpc>
              <a:spcBef>
                <a:spcPts val="1000"/>
              </a:spcBef>
              <a:buFont typeface="Arial" panose="020B0604020202020204" pitchFamily="34" charset="0"/>
              <a:buChar char="•"/>
              <a:defRPr/>
            </a:pPr>
            <a:endParaRPr lang="en-US" altLang="zh-CN" dirty="0"/>
          </a:p>
          <a:p>
            <a:pPr marL="342900" indent="-342900">
              <a:lnSpc>
                <a:spcPct val="90000"/>
              </a:lnSpc>
              <a:spcBef>
                <a:spcPts val="1000"/>
              </a:spcBef>
              <a:buFont typeface="Arial" panose="020B0604020202020204" pitchFamily="34" charset="0"/>
              <a:buChar char="•"/>
              <a:defRPr/>
            </a:pPr>
            <a:endParaRPr lang="en-US" altLang="zh-CN" dirty="0"/>
          </a:p>
        </p:txBody>
      </p:sp>
    </p:spTree>
    <p:extLst>
      <p:ext uri="{BB962C8B-B14F-4D97-AF65-F5344CB8AC3E}">
        <p14:creationId xmlns:p14="http://schemas.microsoft.com/office/powerpoint/2010/main" val="12224543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321901"/>
            <a:ext cx="6798981" cy="535531"/>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a:extLst>
              <a:ext uri="{FF2B5EF4-FFF2-40B4-BE49-F238E27FC236}">
                <a16:creationId xmlns:a16="http://schemas.microsoft.com/office/drawing/2014/main" id="{3229DC73-7142-65CE-68D9-36FB6F58DB37}"/>
              </a:ext>
            </a:extLst>
          </p:cNvPr>
          <p:cNvSpPr txBox="1"/>
          <p:nvPr/>
        </p:nvSpPr>
        <p:spPr>
          <a:xfrm>
            <a:off x="385590" y="1868388"/>
            <a:ext cx="11266832" cy="2815258"/>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2000" b="0" i="0" dirty="0">
                <a:solidFill>
                  <a:srgbClr val="374151"/>
                </a:solidFill>
                <a:effectLst/>
                <a:latin typeface="_5b8b_4f53"/>
              </a:rPr>
              <a:t>观察到现有的</a:t>
            </a:r>
            <a:r>
              <a:rPr lang="en-US" altLang="zh-CN" sz="2000" b="0" i="0" dirty="0" err="1">
                <a:solidFill>
                  <a:srgbClr val="374151"/>
                </a:solidFill>
                <a:effectLst/>
                <a:latin typeface="_5b8b_4f53"/>
              </a:rPr>
              <a:t>RocksDB</a:t>
            </a:r>
            <a:r>
              <a:rPr lang="zh-CN" altLang="en-US" sz="2000" b="0" i="0" dirty="0">
                <a:solidFill>
                  <a:srgbClr val="374151"/>
                </a:solidFill>
                <a:effectLst/>
                <a:latin typeface="_5b8b_4f53"/>
              </a:rPr>
              <a:t>适配到</a:t>
            </a:r>
            <a:r>
              <a:rPr lang="en-US" altLang="zh-CN" sz="2000" b="0" i="0" dirty="0">
                <a:solidFill>
                  <a:srgbClr val="374151"/>
                </a:solidFill>
                <a:effectLst/>
                <a:latin typeface="_5b8b_4f53"/>
              </a:rPr>
              <a:t>ZNS SSDs</a:t>
            </a:r>
            <a:r>
              <a:rPr lang="zh-CN" altLang="en-US" sz="2000" b="0" i="0" dirty="0">
                <a:solidFill>
                  <a:srgbClr val="374151"/>
                </a:solidFill>
                <a:effectLst/>
                <a:latin typeface="_5b8b_4f53"/>
              </a:rPr>
              <a:t>会出现区域碎片化和空间放大问题。</a:t>
            </a:r>
            <a:endParaRPr lang="en-US" altLang="zh-CN" sz="2000" b="0" i="0" dirty="0">
              <a:solidFill>
                <a:srgbClr val="374151"/>
              </a:solidFill>
              <a:effectLst/>
              <a:latin typeface="_5b8b_4f53"/>
            </a:endParaRPr>
          </a:p>
          <a:p>
            <a:pPr marL="285750" indent="-285750">
              <a:lnSpc>
                <a:spcPct val="150000"/>
              </a:lnSpc>
              <a:buFont typeface="Wingdings" panose="05000000000000000000" charset="0"/>
              <a:buChar char="q"/>
            </a:pPr>
            <a:r>
              <a:rPr lang="zh-CN" altLang="en-US" sz="2000" b="0" i="0" dirty="0">
                <a:solidFill>
                  <a:srgbClr val="374151"/>
                </a:solidFill>
                <a:effectLst/>
                <a:latin typeface="_5b8b_4f53"/>
              </a:rPr>
              <a:t>提出了</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，一种针对</a:t>
            </a:r>
            <a:r>
              <a:rPr lang="en-US" altLang="zh-CN" sz="2000" b="0" i="0" dirty="0">
                <a:solidFill>
                  <a:srgbClr val="374151"/>
                </a:solidFill>
                <a:effectLst/>
                <a:latin typeface="_5b8b_4f53"/>
              </a:rPr>
              <a:t>ZNS SSDs</a:t>
            </a:r>
            <a:r>
              <a:rPr lang="zh-CN" altLang="en-US" sz="2000" b="0" i="0" dirty="0">
                <a:solidFill>
                  <a:srgbClr val="374151"/>
                </a:solidFill>
                <a:effectLst/>
                <a:latin typeface="_5b8b_4f53"/>
              </a:rPr>
              <a:t>的空间高效键值存储系统。</a:t>
            </a:r>
          </a:p>
          <a:p>
            <a:pPr marL="285750" indent="-285750">
              <a:lnSpc>
                <a:spcPct val="150000"/>
              </a:lnSpc>
              <a:buFont typeface="Wingdings" panose="05000000000000000000" charset="0"/>
              <a:buChar char="q"/>
            </a:pPr>
            <a:r>
              <a:rPr lang="zh-CN" altLang="en-US" sz="2000" b="0" i="0" dirty="0">
                <a:solidFill>
                  <a:srgbClr val="374151"/>
                </a:solidFill>
                <a:effectLst/>
                <a:latin typeface="_5b8b_4f53"/>
              </a:rPr>
              <a:t>提出了一个基于生命周期的区域存储模型和特定级别的区域分配算法，将生命周期相似的</a:t>
            </a:r>
            <a:r>
              <a:rPr lang="en-US" altLang="zh-CN" sz="2000" b="0" i="0" dirty="0" err="1">
                <a:solidFill>
                  <a:srgbClr val="374151"/>
                </a:solidFill>
                <a:effectLst/>
                <a:latin typeface="_5b8b_4f53"/>
              </a:rPr>
              <a:t>SSTables</a:t>
            </a:r>
            <a:r>
              <a:rPr lang="zh-CN" altLang="en-US" sz="2000" b="0" i="0" dirty="0">
                <a:solidFill>
                  <a:srgbClr val="374151"/>
                </a:solidFill>
                <a:effectLst/>
                <a:latin typeface="_5b8b_4f53"/>
              </a:rPr>
              <a:t>存储在同一区域。</a:t>
            </a:r>
          </a:p>
          <a:p>
            <a:pPr marL="285750" indent="-285750">
              <a:lnSpc>
                <a:spcPct val="150000"/>
              </a:lnSpc>
              <a:buFont typeface="Wingdings" panose="05000000000000000000" charset="0"/>
              <a:buChar char="q"/>
            </a:pPr>
            <a:r>
              <a:rPr lang="zh-CN" altLang="en-US" sz="2000" b="0" i="0" dirty="0">
                <a:solidFill>
                  <a:srgbClr val="374151"/>
                </a:solidFill>
                <a:effectLst/>
                <a:latin typeface="_5b8b_4f53"/>
              </a:rPr>
              <a:t>在真实的</a:t>
            </a:r>
            <a:r>
              <a:rPr lang="en-US" altLang="zh-CN" sz="2000" b="0" i="0" dirty="0">
                <a:solidFill>
                  <a:srgbClr val="374151"/>
                </a:solidFill>
                <a:effectLst/>
                <a:latin typeface="_5b8b_4f53"/>
              </a:rPr>
              <a:t>ZNS SSD</a:t>
            </a:r>
            <a:r>
              <a:rPr lang="zh-CN" altLang="en-US" sz="2000" b="0" i="0" dirty="0">
                <a:solidFill>
                  <a:srgbClr val="374151"/>
                </a:solidFill>
                <a:effectLst/>
                <a:latin typeface="_5b8b_4f53"/>
              </a:rPr>
              <a:t>上评估了</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，结果显示</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能够减少</a:t>
            </a:r>
            <a:r>
              <a:rPr lang="en-US" altLang="zh-CN" sz="2000" b="0" i="0" dirty="0">
                <a:solidFill>
                  <a:srgbClr val="374151"/>
                </a:solidFill>
                <a:effectLst/>
                <a:latin typeface="_5b8b_4f53"/>
              </a:rPr>
              <a:t>60%</a:t>
            </a:r>
            <a:r>
              <a:rPr lang="zh-CN" altLang="en-US" sz="2000" b="0" i="0" dirty="0">
                <a:solidFill>
                  <a:srgbClr val="374151"/>
                </a:solidFill>
                <a:effectLst/>
                <a:latin typeface="_5b8b_4f53"/>
              </a:rPr>
              <a:t>的空间放大，并保持比</a:t>
            </a:r>
            <a:r>
              <a:rPr lang="en-US" altLang="zh-CN" sz="2000" b="0" i="0" dirty="0" err="1">
                <a:solidFill>
                  <a:srgbClr val="374151"/>
                </a:solidFill>
                <a:effectLst/>
                <a:latin typeface="_5b8b_4f53"/>
              </a:rPr>
              <a:t>RocksDB</a:t>
            </a:r>
            <a:r>
              <a:rPr lang="en-US" altLang="zh-CN" sz="2000" b="0" i="0" dirty="0">
                <a:solidFill>
                  <a:srgbClr val="374151"/>
                </a:solidFill>
                <a:effectLst/>
                <a:latin typeface="_5b8b_4f53"/>
              </a:rPr>
              <a:t> with </a:t>
            </a:r>
            <a:r>
              <a:rPr lang="en-US" altLang="zh-CN" sz="2000" b="0" i="0" dirty="0" err="1">
                <a:solidFill>
                  <a:srgbClr val="374151"/>
                </a:solidFill>
                <a:effectLst/>
                <a:latin typeface="_5b8b_4f53"/>
              </a:rPr>
              <a:t>ZenFS</a:t>
            </a:r>
            <a:r>
              <a:rPr lang="zh-CN" altLang="en-US" sz="2000" b="0" i="0" dirty="0">
                <a:solidFill>
                  <a:srgbClr val="374151"/>
                </a:solidFill>
                <a:effectLst/>
                <a:latin typeface="_5b8b_4f53"/>
              </a:rPr>
              <a:t>更高的吞吐量。</a:t>
            </a:r>
            <a:endParaRPr lang="en-US" altLang="zh-CN" sz="2000" dirty="0">
              <a:solidFill>
                <a:srgbClr val="374151"/>
              </a:solidFill>
              <a:latin typeface="_5b8b_4f53"/>
            </a:endParaRPr>
          </a:p>
        </p:txBody>
      </p:sp>
    </p:spTree>
    <p:extLst>
      <p:ext uri="{BB962C8B-B14F-4D97-AF65-F5344CB8AC3E}">
        <p14:creationId xmlns:p14="http://schemas.microsoft.com/office/powerpoint/2010/main" val="42950258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2" name="文本框 1"/>
          <p:cNvSpPr txBox="1"/>
          <p:nvPr/>
        </p:nvSpPr>
        <p:spPr>
          <a:xfrm>
            <a:off x="492125" y="4519930"/>
            <a:ext cx="5814060" cy="1200329"/>
          </a:xfrm>
          <a:prstGeom prst="rect">
            <a:avLst/>
          </a:prstGeom>
          <a:noFill/>
        </p:spPr>
        <p:txBody>
          <a:bodyPr wrap="square">
            <a:spAutoFit/>
          </a:bodyPr>
          <a:lstStyle/>
          <a:p>
            <a:pPr marR="0" lvl="0" indent="0" eaLnBrk="0" fontAlgn="base" hangingPunct="0">
              <a:lnSpc>
                <a:spcPct val="100000"/>
              </a:lnSpc>
              <a:spcBef>
                <a:spcPct val="0"/>
              </a:spcBef>
              <a:spcAft>
                <a:spcPct val="0"/>
              </a:spcAft>
              <a:buClrTx/>
              <a:buSzTx/>
            </a:pPr>
            <a:r>
              <a:rPr lang="zh-CN" altLang="zh-CN" dirty="0">
                <a:solidFill>
                  <a:srgbClr val="34495E"/>
                </a:solidFill>
                <a:latin typeface="Ubuntu" panose="020B0504030602030204" pitchFamily="34" charset="0"/>
              </a:rPr>
              <a:t>总之，如图所示：L0、L1一组；</a:t>
            </a:r>
          </a:p>
          <a:p>
            <a:pPr marR="0" lvl="0" indent="0" eaLnBrk="0" fontAlgn="base" hangingPunct="0">
              <a:lnSpc>
                <a:spcPct val="100000"/>
              </a:lnSpc>
              <a:spcBef>
                <a:spcPct val="0"/>
              </a:spcBef>
              <a:spcAft>
                <a:spcPct val="0"/>
              </a:spcAft>
              <a:buClrTx/>
              <a:buSzTx/>
            </a:pPr>
            <a:endParaRPr lang="zh-CN" altLang="zh-CN" dirty="0">
              <a:solidFill>
                <a:srgbClr val="34495E"/>
              </a:solidFill>
              <a:latin typeface="Ubuntu" panose="020B0504030602030204" pitchFamily="34" charset="0"/>
            </a:endParaRPr>
          </a:p>
          <a:p>
            <a:pPr marR="0" lvl="0" indent="0" eaLnBrk="0" fontAlgn="base" hangingPunct="0">
              <a:lnSpc>
                <a:spcPct val="100000"/>
              </a:lnSpc>
              <a:spcBef>
                <a:spcPct val="0"/>
              </a:spcBef>
              <a:spcAft>
                <a:spcPct val="0"/>
              </a:spcAft>
              <a:buClrTx/>
              <a:buSzTx/>
            </a:pPr>
            <a:r>
              <a:rPr lang="zh-CN" altLang="zh-CN" dirty="0">
                <a:solidFill>
                  <a:srgbClr val="34495E"/>
                </a:solidFill>
                <a:latin typeface="Ubuntu" panose="020B0504030602030204" pitchFamily="34" charset="0"/>
              </a:rPr>
              <a:t>L</a:t>
            </a:r>
            <a:r>
              <a:rPr lang="en-US" altLang="zh-CN" dirty="0">
                <a:solidFill>
                  <a:srgbClr val="34495E"/>
                </a:solidFill>
                <a:latin typeface="Ubuntu" panose="020B0504030602030204" pitchFamily="34" charset="0"/>
              </a:rPr>
              <a:t>i</a:t>
            </a:r>
            <a:r>
              <a:rPr lang="zh-CN" altLang="zh-CN" dirty="0">
                <a:solidFill>
                  <a:srgbClr val="34495E"/>
                </a:solidFill>
                <a:latin typeface="Ubuntu" panose="020B0504030602030204" pitchFamily="34" charset="0"/>
              </a:rPr>
              <a:t>&gt;=2切片</a:t>
            </a:r>
            <a:r>
              <a:rPr lang="en-US" altLang="zh-CN" dirty="0">
                <a:solidFill>
                  <a:srgbClr val="34495E"/>
                </a:solidFill>
                <a:latin typeface="Ubuntu" panose="020B0504030602030204" pitchFamily="34" charset="0"/>
              </a:rPr>
              <a:t>(</a:t>
            </a:r>
            <a:r>
              <a:rPr lang="zh-CN" altLang="zh-CN" dirty="0">
                <a:solidFill>
                  <a:srgbClr val="34495E"/>
                </a:solidFill>
                <a:latin typeface="Ubuntu" panose="020B0504030602030204" pitchFamily="34" charset="0"/>
              </a:rPr>
              <a:t>按</a:t>
            </a:r>
            <a:r>
              <a:rPr lang="en-US" altLang="zh-CN" dirty="0">
                <a:solidFill>
                  <a:srgbClr val="34495E"/>
                </a:solidFill>
                <a:latin typeface="Ubuntu" panose="020B0504030602030204" pitchFamily="34" charset="0"/>
              </a:rPr>
              <a:t>key</a:t>
            </a:r>
            <a:r>
              <a:rPr lang="zh-CN" altLang="en-US" dirty="0">
                <a:solidFill>
                  <a:srgbClr val="34495E"/>
                </a:solidFill>
                <a:latin typeface="Ubuntu" panose="020B0504030602030204" pitchFamily="34" charset="0"/>
              </a:rPr>
              <a:t>范围分组</a:t>
            </a:r>
            <a:r>
              <a:rPr lang="en-US" altLang="zh-CN" dirty="0">
                <a:solidFill>
                  <a:srgbClr val="34495E"/>
                </a:solidFill>
                <a:latin typeface="Ubuntu" panose="020B0504030602030204" pitchFamily="34" charset="0"/>
              </a:rPr>
              <a:t>)</a:t>
            </a:r>
            <a:r>
              <a:rPr lang="zh-CN" altLang="zh-CN" dirty="0">
                <a:solidFill>
                  <a:srgbClr val="34495E"/>
                </a:solidFill>
                <a:latin typeface="Ubuntu" panose="020B0504030602030204" pitchFamily="34" charset="0"/>
              </a:rPr>
              <a:t>后放入不同</a:t>
            </a:r>
            <a:r>
              <a:rPr lang="en-US" altLang="zh-CN" dirty="0">
                <a:solidFill>
                  <a:srgbClr val="34495E"/>
                </a:solidFill>
                <a:latin typeface="Ubuntu" panose="020B0504030602030204" pitchFamily="34" charset="0"/>
              </a:rPr>
              <a:t>Zone</a:t>
            </a:r>
            <a:r>
              <a:rPr lang="zh-CN" altLang="en-US" dirty="0">
                <a:solidFill>
                  <a:srgbClr val="34495E"/>
                </a:solidFill>
                <a:latin typeface="Ubuntu" panose="020B0504030602030204" pitchFamily="34" charset="0"/>
              </a:rPr>
              <a:t>（不同层不能放入同一个</a:t>
            </a:r>
            <a:r>
              <a:rPr lang="en-US" altLang="zh-CN" dirty="0">
                <a:solidFill>
                  <a:srgbClr val="34495E"/>
                </a:solidFill>
                <a:latin typeface="Ubuntu" panose="020B0504030602030204" pitchFamily="34" charset="0"/>
              </a:rPr>
              <a:t>Zone</a:t>
            </a:r>
            <a:r>
              <a:rPr lang="zh-CN" altLang="en-US" dirty="0">
                <a:solidFill>
                  <a:srgbClr val="34495E"/>
                </a:solidFill>
                <a:latin typeface="Ubuntu" panose="020B0504030602030204" pitchFamily="34" charset="0"/>
              </a:rPr>
              <a:t>）</a:t>
            </a:r>
          </a:p>
        </p:txBody>
      </p:sp>
      <p:pic>
        <p:nvPicPr>
          <p:cNvPr id="4" name="图片 3"/>
          <p:cNvPicPr>
            <a:picLocks noChangeAspect="1"/>
          </p:cNvPicPr>
          <p:nvPr/>
        </p:nvPicPr>
        <p:blipFill>
          <a:blip r:embed="rId5"/>
          <a:stretch>
            <a:fillRect/>
          </a:stretch>
        </p:blipFill>
        <p:spPr>
          <a:xfrm>
            <a:off x="6588124" y="1127724"/>
            <a:ext cx="5603875" cy="4739673"/>
          </a:xfrm>
          <a:prstGeom prst="rect">
            <a:avLst/>
          </a:prstGeom>
        </p:spPr>
      </p:pic>
      <p:sp>
        <p:nvSpPr>
          <p:cNvPr id="3" name="文本框 2"/>
          <p:cNvSpPr txBox="1"/>
          <p:nvPr/>
        </p:nvSpPr>
        <p:spPr>
          <a:xfrm>
            <a:off x="492125" y="1395730"/>
            <a:ext cx="6096000" cy="2943922"/>
          </a:xfrm>
          <a:prstGeom prst="rect">
            <a:avLst/>
          </a:prstGeom>
          <a:noFill/>
        </p:spPr>
        <p:txBody>
          <a:bodyPr wrap="square" rtlCol="0" anchor="t">
            <a:noAutofit/>
          </a:bodyPr>
          <a:lstStyle/>
          <a:p>
            <a:pPr eaLnBrk="0" fontAlgn="base" hangingPunct="0">
              <a:spcBef>
                <a:spcPct val="0"/>
              </a:spcBef>
              <a:spcAft>
                <a:spcPct val="0"/>
              </a:spcAft>
            </a:pPr>
            <a:r>
              <a:rPr lang="en-US" altLang="zh-CN" dirty="0" err="1">
                <a:solidFill>
                  <a:srgbClr val="34495E"/>
                </a:solidFill>
                <a:latin typeface="Ubuntu" panose="020B0504030602030204" pitchFamily="34" charset="0"/>
              </a:rPr>
              <a:t>RocksDB</a:t>
            </a:r>
            <a:r>
              <a:rPr lang="zh-CN" altLang="en-US" dirty="0">
                <a:solidFill>
                  <a:srgbClr val="34495E"/>
                </a:solidFill>
                <a:latin typeface="Ubuntu" panose="020B0504030602030204" pitchFamily="34" charset="0"/>
              </a:rPr>
              <a:t>分为内存、持久化两部分。内存组件与RocksDB一致；ZoneKV的设计侧重于持久化组件，总体来看，它由两个方面组成：</a:t>
            </a:r>
          </a:p>
          <a:p>
            <a:pPr eaLnBrk="0" fontAlgn="base" hangingPunct="0">
              <a:spcBef>
                <a:spcPct val="0"/>
              </a:spcBef>
              <a:spcAft>
                <a:spcPct val="0"/>
              </a:spcAft>
            </a:pPr>
            <a:endParaRPr lang="zh-CN" altLang="en-US" dirty="0">
              <a:solidFill>
                <a:srgbClr val="34495E"/>
              </a:solidFill>
              <a:latin typeface="Ubuntu" panose="020B0504030602030204" pitchFamily="34" charset="0"/>
            </a:endParaRPr>
          </a:p>
          <a:p>
            <a:pPr eaLnBrk="0" fontAlgn="base" hangingPunct="0">
              <a:spcBef>
                <a:spcPct val="0"/>
              </a:spcBef>
              <a:spcAft>
                <a:spcPct val="0"/>
              </a:spcAft>
            </a:pPr>
            <a:r>
              <a:rPr lang="zh-CN" altLang="en-US" dirty="0">
                <a:solidFill>
                  <a:srgbClr val="34495E"/>
                </a:solidFill>
                <a:latin typeface="Ubuntu" panose="020B0504030602030204" pitchFamily="34" charset="0"/>
              </a:rPr>
              <a:t>- 当SSTables写入特定级别时(无论是刷新操作或压缩操作)，ZoneKV根据生命周期信息将SSTables写入特定区域</a:t>
            </a:r>
          </a:p>
          <a:p>
            <a:pPr eaLnBrk="0" fontAlgn="base" hangingPunct="0">
              <a:spcBef>
                <a:spcPct val="0"/>
              </a:spcBef>
              <a:spcAft>
                <a:spcPct val="0"/>
              </a:spcAft>
            </a:pPr>
            <a:endParaRPr lang="zh-CN" altLang="en-US" dirty="0">
              <a:solidFill>
                <a:srgbClr val="34495E"/>
              </a:solidFill>
              <a:latin typeface="Ubuntu" panose="020B0504030602030204" pitchFamily="34" charset="0"/>
            </a:endParaRPr>
          </a:p>
          <a:p>
            <a:pPr eaLnBrk="0" fontAlgn="base" hangingPunct="0">
              <a:spcBef>
                <a:spcPct val="0"/>
              </a:spcBef>
              <a:spcAft>
                <a:spcPct val="0"/>
              </a:spcAft>
            </a:pPr>
            <a:r>
              <a:rPr lang="zh-CN" altLang="en-US" dirty="0">
                <a:solidFill>
                  <a:srgbClr val="34495E"/>
                </a:solidFill>
                <a:latin typeface="Ubuntu" panose="020B0504030602030204" pitchFamily="34" charset="0"/>
              </a:rPr>
              <a:t>- LSM树中的每个级别都存储在不同的区域中，以使每个区域包含具有相似生命周期的SSTable。</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5</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4" name="图片 3"/>
          <p:cNvPicPr>
            <a:picLocks noChangeAspect="1"/>
          </p:cNvPicPr>
          <p:nvPr/>
        </p:nvPicPr>
        <p:blipFill>
          <a:blip r:embed="rId5"/>
          <a:stretch>
            <a:fillRect/>
          </a:stretch>
        </p:blipFill>
        <p:spPr>
          <a:xfrm>
            <a:off x="7350951" y="1735007"/>
            <a:ext cx="4514215" cy="3479165"/>
          </a:xfrm>
          <a:prstGeom prst="rect">
            <a:avLst/>
          </a:prstGeom>
        </p:spPr>
      </p:pic>
      <p:sp>
        <p:nvSpPr>
          <p:cNvPr id="5" name="文本框 4"/>
          <p:cNvSpPr txBox="1"/>
          <p:nvPr/>
        </p:nvSpPr>
        <p:spPr>
          <a:xfrm>
            <a:off x="261584" y="4231318"/>
            <a:ext cx="6841355" cy="1409980"/>
          </a:xfrm>
          <a:prstGeom prst="rect">
            <a:avLst/>
          </a:prstGeom>
          <a:noFill/>
        </p:spPr>
        <p:txBody>
          <a:bodyPr wrap="square" rtlCol="0" anchor="t">
            <a:noAutofit/>
          </a:bodyPr>
          <a:lstStyle/>
          <a:p>
            <a:pPr eaLnBrk="0" fontAlgn="base" hangingPunct="0">
              <a:spcBef>
                <a:spcPct val="0"/>
              </a:spcBef>
              <a:spcAft>
                <a:spcPct val="0"/>
              </a:spcAft>
            </a:pPr>
            <a:r>
              <a:rPr lang="zh-CN" altLang="en-US" dirty="0">
                <a:solidFill>
                  <a:srgbClr val="34495E"/>
                </a:solidFill>
                <a:latin typeface="Ubuntu" panose="020B0504030602030204" pitchFamily="34" charset="0"/>
              </a:rPr>
              <a:t>ZoneKV的实现是基于RocksDB的。与ZenFS一样，ZoneKV修改了RocksDB中FileSystemWrapper类的接口，并通过libzbd直接与区域交互。</a:t>
            </a:r>
          </a:p>
        </p:txBody>
      </p:sp>
      <p:sp>
        <p:nvSpPr>
          <p:cNvPr id="7" name="文本框 6"/>
          <p:cNvSpPr txBox="1"/>
          <p:nvPr/>
        </p:nvSpPr>
        <p:spPr>
          <a:xfrm>
            <a:off x="261584" y="1483360"/>
            <a:ext cx="6759611" cy="2414083"/>
          </a:xfrm>
          <a:prstGeom prst="rect">
            <a:avLst/>
          </a:prstGeom>
          <a:noFill/>
        </p:spPr>
        <p:txBody>
          <a:bodyPr wrap="square" rtlCol="0" anchor="t">
            <a:noAutofit/>
          </a:bodyPr>
          <a:lstStyle/>
          <a:p>
            <a:pPr eaLnBrk="0" fontAlgn="base" hangingPunct="0">
              <a:spcBef>
                <a:spcPct val="0"/>
              </a:spcBef>
              <a:spcAft>
                <a:spcPct val="0"/>
              </a:spcAft>
            </a:pPr>
            <a:r>
              <a:rPr lang="zh-CN" altLang="en-US" dirty="0">
                <a:solidFill>
                  <a:srgbClr val="34495E"/>
                </a:solidFill>
                <a:latin typeface="Ubuntu" panose="020B0504030602030204" pitchFamily="34" charset="0"/>
              </a:rPr>
              <a:t>ZoneKV并没有显式地维护每个SSTable的生命周期信息，而是使用SSTable的级别相关的值作为生命周期的隐式表示。</a:t>
            </a:r>
            <a:endParaRPr lang="en-US" altLang="zh-CN" dirty="0">
              <a:solidFill>
                <a:srgbClr val="34495E"/>
              </a:solidFill>
              <a:latin typeface="Ubuntu" panose="020B0504030602030204" pitchFamily="34" charset="0"/>
            </a:endParaRPr>
          </a:p>
          <a:p>
            <a:pPr eaLnBrk="0" fontAlgn="base" hangingPunct="0">
              <a:spcBef>
                <a:spcPct val="0"/>
              </a:spcBef>
              <a:spcAft>
                <a:spcPct val="0"/>
              </a:spcAft>
            </a:pPr>
            <a:endParaRPr lang="zh-CN" altLang="en-US" dirty="0">
              <a:solidFill>
                <a:srgbClr val="34495E"/>
              </a:solidFill>
              <a:latin typeface="Ubuntu" panose="020B0504030602030204" pitchFamily="34" charset="0"/>
            </a:endParaRPr>
          </a:p>
          <a:p>
            <a:pPr eaLnBrk="0" fontAlgn="base" hangingPunct="0">
              <a:spcBef>
                <a:spcPct val="0"/>
              </a:spcBef>
              <a:spcAft>
                <a:spcPct val="0"/>
              </a:spcAft>
            </a:pPr>
            <a:r>
              <a:rPr lang="zh-CN" altLang="en-US" dirty="0">
                <a:solidFill>
                  <a:srgbClr val="34495E"/>
                </a:solidFill>
                <a:latin typeface="Ubuntu" panose="020B0504030602030204" pitchFamily="34" charset="0"/>
              </a:rPr>
              <a:t>具体来说，ZoneKV将日志文件的生命周期标记为-1，意味日志文件具有无限的生命周期；</a:t>
            </a:r>
          </a:p>
          <a:p>
            <a:pPr eaLnBrk="0" fontAlgn="base" hangingPunct="0">
              <a:spcBef>
                <a:spcPct val="0"/>
              </a:spcBef>
              <a:spcAft>
                <a:spcPct val="0"/>
              </a:spcAft>
            </a:pPr>
            <a:r>
              <a:rPr lang="zh-CN" altLang="en-US" dirty="0">
                <a:solidFill>
                  <a:srgbClr val="34495E"/>
                </a:solidFill>
                <a:latin typeface="Ubuntu" panose="020B0504030602030204" pitchFamily="34" charset="0"/>
              </a:rPr>
              <a:t>L0和L1：将L0和L1级别的SSTables的生命周期设置为1；</a:t>
            </a:r>
          </a:p>
          <a:p>
            <a:pPr eaLnBrk="0" fontAlgn="base" hangingPunct="0">
              <a:spcBef>
                <a:spcPct val="0"/>
              </a:spcBef>
              <a:spcAft>
                <a:spcPct val="0"/>
              </a:spcAft>
            </a:pPr>
            <a:r>
              <a:rPr lang="zh-CN" altLang="en-US" dirty="0">
                <a:solidFill>
                  <a:srgbClr val="34495E"/>
                </a:solidFill>
                <a:latin typeface="Ubuntu" panose="020B0504030602030204" pitchFamily="34" charset="0"/>
              </a:rPr>
              <a:t>Li（i ≥ 2）：，对于Li（i ≥ 2）级别的SSTables，它们的生命周期被设置为i。</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6</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6" name="图片 5"/>
          <p:cNvPicPr>
            <a:picLocks noChangeAspect="1"/>
          </p:cNvPicPr>
          <p:nvPr/>
        </p:nvPicPr>
        <p:blipFill>
          <a:blip r:embed="rId5"/>
          <a:stretch>
            <a:fillRect/>
          </a:stretch>
        </p:blipFill>
        <p:spPr>
          <a:xfrm>
            <a:off x="3444240" y="7169150"/>
            <a:ext cx="5172075" cy="1619250"/>
          </a:xfrm>
          <a:prstGeom prst="rect">
            <a:avLst/>
          </a:prstGeom>
        </p:spPr>
      </p:pic>
      <p:sp>
        <p:nvSpPr>
          <p:cNvPr id="5" name="文本框 4">
            <a:extLst>
              <a:ext uri="{FF2B5EF4-FFF2-40B4-BE49-F238E27FC236}">
                <a16:creationId xmlns:a16="http://schemas.microsoft.com/office/drawing/2014/main" id="{2C211CB8-90D7-701D-CC51-B5D075C3A21D}"/>
              </a:ext>
            </a:extLst>
          </p:cNvPr>
          <p:cNvSpPr txBox="1"/>
          <p:nvPr/>
        </p:nvSpPr>
        <p:spPr>
          <a:xfrm>
            <a:off x="8379431" y="2568245"/>
            <a:ext cx="2936875" cy="2560393"/>
          </a:xfrm>
          <a:prstGeom prst="rect">
            <a:avLst/>
          </a:prstGeom>
          <a:noFill/>
        </p:spPr>
        <p:txBody>
          <a:bodyPr wrap="square" rtlCol="0" anchor="t">
            <a:noAutofit/>
          </a:bodyPr>
          <a:lstStyle/>
          <a:p>
            <a:pPr indent="0" eaLnBrk="0" fontAlgn="base" hangingPunct="0">
              <a:lnSpc>
                <a:spcPct val="150000"/>
              </a:lnSpc>
              <a:spcBef>
                <a:spcPct val="0"/>
              </a:spcBef>
              <a:spcAft>
                <a:spcPct val="0"/>
              </a:spcAft>
              <a:buFont typeface="Arial" panose="020B0604020202020204" pitchFamily="34" charset="0"/>
              <a:buNone/>
            </a:pPr>
            <a:r>
              <a:rPr lang="zh-CN" altLang="en-US" b="1" dirty="0">
                <a:solidFill>
                  <a:srgbClr val="34495E"/>
                </a:solidFill>
                <a:latin typeface="Ubuntu" panose="020B0504030602030204" pitchFamily="34" charset="0"/>
                <a:sym typeface="+mn-ea"/>
              </a:rPr>
              <a:t>在空间占用上优化效果明显</a:t>
            </a:r>
            <a:r>
              <a:rPr lang="zh-CN" altLang="en-US" dirty="0">
                <a:solidFill>
                  <a:srgbClr val="34495E"/>
                </a:solidFill>
                <a:latin typeface="Ubuntu" panose="020B0504030602030204" pitchFamily="34" charset="0"/>
                <a:sym typeface="+mn-ea"/>
              </a:rPr>
              <a:t>：在吞吐量小幅度提升情况下，同时有效降低了空间使用</a:t>
            </a: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pic>
        <p:nvPicPr>
          <p:cNvPr id="4" name="图片 3">
            <a:extLst>
              <a:ext uri="{FF2B5EF4-FFF2-40B4-BE49-F238E27FC236}">
                <a16:creationId xmlns:a16="http://schemas.microsoft.com/office/drawing/2014/main" id="{F9347F70-58EB-B973-2C53-A42DA483A520}"/>
              </a:ext>
            </a:extLst>
          </p:cNvPr>
          <p:cNvPicPr>
            <a:picLocks noChangeAspect="1"/>
          </p:cNvPicPr>
          <p:nvPr/>
        </p:nvPicPr>
        <p:blipFill>
          <a:blip r:embed="rId6"/>
          <a:stretch>
            <a:fillRect/>
          </a:stretch>
        </p:blipFill>
        <p:spPr>
          <a:xfrm>
            <a:off x="693710" y="1138324"/>
            <a:ext cx="7177750" cy="475951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73407" y="6522720"/>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7</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ZNS</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应用</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6" name="图片 5"/>
          <p:cNvPicPr>
            <a:picLocks noChangeAspect="1"/>
          </p:cNvPicPr>
          <p:nvPr/>
        </p:nvPicPr>
        <p:blipFill>
          <a:blip r:embed="rId5"/>
          <a:stretch>
            <a:fillRect/>
          </a:stretch>
        </p:blipFill>
        <p:spPr>
          <a:xfrm>
            <a:off x="3444240" y="7169150"/>
            <a:ext cx="5172075" cy="1619250"/>
          </a:xfrm>
          <a:prstGeom prst="rect">
            <a:avLst/>
          </a:prstGeom>
        </p:spPr>
      </p:pic>
      <p:sp>
        <p:nvSpPr>
          <p:cNvPr id="3" name="文本框 2">
            <a:extLst>
              <a:ext uri="{FF2B5EF4-FFF2-40B4-BE49-F238E27FC236}">
                <a16:creationId xmlns:a16="http://schemas.microsoft.com/office/drawing/2014/main" id="{781DC31C-97BF-06D2-A921-0457D8DF99C0}"/>
              </a:ext>
            </a:extLst>
          </p:cNvPr>
          <p:cNvSpPr txBox="1"/>
          <p:nvPr/>
        </p:nvSpPr>
        <p:spPr>
          <a:xfrm>
            <a:off x="385590" y="1170682"/>
            <a:ext cx="6096000"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altLang="zh-CN"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LSM</a:t>
            </a: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类引擎对</a:t>
            </a:r>
            <a:r>
              <a:rPr lang="en-US" altLang="zh-CN"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ZNS</a:t>
            </a: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利用</a:t>
            </a:r>
            <a:endPar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9" name="文本框 8">
            <a:extLst>
              <a:ext uri="{FF2B5EF4-FFF2-40B4-BE49-F238E27FC236}">
                <a16:creationId xmlns:a16="http://schemas.microsoft.com/office/drawing/2014/main" id="{60CFB4C2-EFDD-1BA2-6ACD-796E2E6D30C7}"/>
              </a:ext>
            </a:extLst>
          </p:cNvPr>
          <p:cNvSpPr txBox="1"/>
          <p:nvPr/>
        </p:nvSpPr>
        <p:spPr>
          <a:xfrm>
            <a:off x="385590" y="1623391"/>
            <a:ext cx="9462279" cy="4063922"/>
          </a:xfrm>
          <a:prstGeom prst="rect">
            <a:avLst/>
          </a:prstGeom>
          <a:noFill/>
        </p:spPr>
        <p:txBody>
          <a:bodyPr wrap="square" rtlCol="0" anchor="t">
            <a:noAutofit/>
          </a:bodyPr>
          <a:lstStyle/>
          <a:p>
            <a:pPr eaLnBrk="0" fontAlgn="base" hangingPunct="0">
              <a:lnSpc>
                <a:spcPct val="150000"/>
              </a:lnSpc>
              <a:spcBef>
                <a:spcPct val="0"/>
              </a:spcBef>
              <a:spcAft>
                <a:spcPct val="0"/>
              </a:spcAft>
            </a:pPr>
            <a:r>
              <a:rPr lang="en-US" altLang="zh-CN" dirty="0" err="1">
                <a:solidFill>
                  <a:srgbClr val="34495E"/>
                </a:solidFill>
                <a:latin typeface="Ubuntu" panose="020B0504030602030204" pitchFamily="34" charset="0"/>
              </a:rPr>
              <a:t>RocksDB</a:t>
            </a:r>
            <a:r>
              <a:rPr lang="en-US" altLang="zh-CN" dirty="0">
                <a:solidFill>
                  <a:srgbClr val="34495E"/>
                </a:solidFill>
                <a:latin typeface="Ubuntu" panose="020B0504030602030204" pitchFamily="34" charset="0"/>
              </a:rPr>
              <a:t> with </a:t>
            </a:r>
            <a:r>
              <a:rPr lang="en-US" altLang="zh-CN" dirty="0" err="1">
                <a:solidFill>
                  <a:srgbClr val="34495E"/>
                </a:solidFill>
                <a:latin typeface="Ubuntu" panose="020B0504030602030204" pitchFamily="34" charset="0"/>
              </a:rPr>
              <a:t>ZenFS</a:t>
            </a:r>
            <a:r>
              <a:rPr lang="en-US" altLang="zh-CN" dirty="0">
                <a:solidFill>
                  <a:srgbClr val="34495E"/>
                </a:solidFill>
                <a:latin typeface="Ubuntu" panose="020B0504030602030204" pitchFamily="34" charset="0"/>
              </a:rPr>
              <a:t> on ZNS </a:t>
            </a:r>
            <a:r>
              <a:rPr lang="zh-CN" altLang="en-US" dirty="0">
                <a:solidFill>
                  <a:srgbClr val="34495E"/>
                </a:solidFill>
                <a:latin typeface="Ubuntu" panose="020B0504030602030204" pitchFamily="34" charset="0"/>
              </a:rPr>
              <a:t>是一个行之有效的</a:t>
            </a:r>
            <a:r>
              <a:rPr lang="en-US" altLang="zh-CN" dirty="0">
                <a:solidFill>
                  <a:srgbClr val="34495E"/>
                </a:solidFill>
                <a:latin typeface="Ubuntu" panose="020B0504030602030204" pitchFamily="34" charset="0"/>
              </a:rPr>
              <a:t>ZNS</a:t>
            </a:r>
            <a:r>
              <a:rPr lang="zh-CN" altLang="en-US" dirty="0">
                <a:solidFill>
                  <a:srgbClr val="34495E"/>
                </a:solidFill>
                <a:latin typeface="Ubuntu" panose="020B0504030602030204" pitchFamily="34" charset="0"/>
              </a:rPr>
              <a:t>部署案例。暂时，也是唯一已知的企业级应用案例 。</a:t>
            </a:r>
            <a:endParaRPr lang="en-US" altLang="zh-CN" dirty="0">
              <a:solidFill>
                <a:srgbClr val="34495E"/>
              </a:solidFill>
              <a:latin typeface="Ubuntu" panose="020B0504030602030204" pitchFamily="34" charset="0"/>
            </a:endParaRPr>
          </a:p>
          <a:p>
            <a:pPr eaLnBrk="0" fontAlgn="base" hangingPunct="0">
              <a:lnSpc>
                <a:spcPct val="150000"/>
              </a:lnSpc>
              <a:spcBef>
                <a:spcPct val="0"/>
              </a:spcBef>
              <a:spcAft>
                <a:spcPct val="0"/>
              </a:spcAft>
            </a:pPr>
            <a:endParaRPr lang="en-US" altLang="zh-CN" dirty="0">
              <a:solidFill>
                <a:srgbClr val="34495E"/>
              </a:solidFill>
              <a:latin typeface="Ubuntu" panose="020B0504030602030204" pitchFamily="34" charset="0"/>
              <a:sym typeface="+mn-ea"/>
            </a:endParaRPr>
          </a:p>
          <a:p>
            <a:pPr eaLnBrk="0" fontAlgn="base" hangingPunct="0">
              <a:lnSpc>
                <a:spcPct val="150000"/>
              </a:lnSpc>
              <a:spcBef>
                <a:spcPct val="0"/>
              </a:spcBef>
              <a:spcAft>
                <a:spcPct val="0"/>
              </a:spcAft>
            </a:pPr>
            <a:r>
              <a:rPr lang="zh-CN" altLang="en-US" dirty="0">
                <a:solidFill>
                  <a:srgbClr val="34495E"/>
                </a:solidFill>
                <a:latin typeface="Ubuntu" panose="020B0504030602030204" pitchFamily="34" charset="0"/>
                <a:sym typeface="+mn-ea"/>
              </a:rPr>
              <a:t>字节跳动的</a:t>
            </a:r>
            <a:r>
              <a:rPr lang="zh-CN" altLang="en-US" dirty="0">
                <a:solidFill>
                  <a:srgbClr val="34495E"/>
                </a:solidFill>
                <a:latin typeface="Ubuntu" panose="020B0504030602030204" pitchFamily="34" charset="0"/>
              </a:rPr>
              <a:t>单体存储引擎</a:t>
            </a:r>
            <a:r>
              <a:rPr lang="en-US" altLang="zh-CN" dirty="0">
                <a:solidFill>
                  <a:srgbClr val="34495E"/>
                </a:solidFill>
                <a:latin typeface="Ubuntu" panose="020B0504030602030204" pitchFamily="34" charset="0"/>
              </a:rPr>
              <a:t>——</a:t>
            </a:r>
            <a:r>
              <a:rPr lang="en-US" altLang="zh-CN" dirty="0" err="1">
                <a:solidFill>
                  <a:srgbClr val="34495E"/>
                </a:solidFill>
                <a:latin typeface="Ubuntu" panose="020B0504030602030204" pitchFamily="34" charset="0"/>
              </a:rPr>
              <a:t>Terarkdb</a:t>
            </a:r>
            <a:r>
              <a:rPr lang="en-US" altLang="zh-CN" dirty="0">
                <a:solidFill>
                  <a:srgbClr val="34495E"/>
                </a:solidFill>
                <a:latin typeface="Ubuntu" panose="020B0504030602030204" pitchFamily="34" charset="0"/>
              </a:rPr>
              <a:t> </a:t>
            </a:r>
            <a:r>
              <a:rPr lang="zh-CN" altLang="en-US" dirty="0">
                <a:solidFill>
                  <a:srgbClr val="34495E"/>
                </a:solidFill>
                <a:latin typeface="Ubuntu" panose="020B0504030602030204" pitchFamily="34" charset="0"/>
              </a:rPr>
              <a:t>。完成了对</a:t>
            </a:r>
            <a:r>
              <a:rPr lang="en-US" altLang="zh-CN" dirty="0">
                <a:solidFill>
                  <a:srgbClr val="34495E"/>
                </a:solidFill>
                <a:latin typeface="Ubuntu" panose="020B0504030602030204" pitchFamily="34" charset="0"/>
              </a:rPr>
              <a:t>ZNS</a:t>
            </a:r>
            <a:r>
              <a:rPr lang="zh-CN" altLang="en-US" dirty="0">
                <a:solidFill>
                  <a:srgbClr val="34495E"/>
                </a:solidFill>
                <a:latin typeface="Ubuntu" panose="020B0504030602030204" pitchFamily="34" charset="0"/>
              </a:rPr>
              <a:t>的支持并</a:t>
            </a:r>
            <a:r>
              <a:rPr lang="zh-CN" altLang="en-US" dirty="0">
                <a:solidFill>
                  <a:srgbClr val="34495E"/>
                </a:solidFill>
                <a:latin typeface="Ubuntu" panose="020B0504030602030204" pitchFamily="34" charset="0"/>
                <a:sym typeface="+mn-ea"/>
              </a:rPr>
              <a:t>已投入应用，</a:t>
            </a:r>
            <a:r>
              <a:rPr lang="zh-CN" altLang="en-US" dirty="0">
                <a:solidFill>
                  <a:srgbClr val="34495E"/>
                </a:solidFill>
                <a:latin typeface="Ubuntu" panose="020B0504030602030204" pitchFamily="34" charset="0"/>
              </a:rPr>
              <a:t>向上支撑分布式</a:t>
            </a:r>
            <a:r>
              <a:rPr lang="en-US" altLang="zh-CN" dirty="0">
                <a:solidFill>
                  <a:srgbClr val="34495E"/>
                </a:solidFill>
                <a:latin typeface="Ubuntu" panose="020B0504030602030204" pitchFamily="34" charset="0"/>
              </a:rPr>
              <a:t>KV</a:t>
            </a:r>
            <a:r>
              <a:rPr lang="zh-CN" altLang="en-US" dirty="0">
                <a:solidFill>
                  <a:srgbClr val="34495E"/>
                </a:solidFill>
                <a:latin typeface="Ubuntu" panose="020B0504030602030204" pitchFamily="34" charset="0"/>
              </a:rPr>
              <a:t>存储系统</a:t>
            </a:r>
            <a:r>
              <a:rPr lang="en-US" altLang="zh-CN" b="0" i="0" dirty="0">
                <a:solidFill>
                  <a:srgbClr val="222222"/>
                </a:solidFill>
                <a:effectLst/>
                <a:latin typeface="PingFangSC-Regular"/>
              </a:rPr>
              <a:t>Abase</a:t>
            </a:r>
            <a:r>
              <a:rPr lang="zh-CN" altLang="en-US" dirty="0">
                <a:solidFill>
                  <a:srgbClr val="34495E"/>
                </a:solidFill>
                <a:latin typeface="Ubuntu" panose="020B0504030602030204" pitchFamily="34" charset="0"/>
              </a:rPr>
              <a:t>，</a:t>
            </a:r>
            <a:r>
              <a:rPr lang="zh-CN" altLang="en-US" dirty="0">
                <a:solidFill>
                  <a:srgbClr val="34495E"/>
                </a:solidFill>
                <a:latin typeface="Ubuntu" panose="020B0504030602030204" pitchFamily="34" charset="0"/>
                <a:sym typeface="+mn-ea"/>
              </a:rPr>
              <a:t>其</a:t>
            </a:r>
            <a:r>
              <a:rPr lang="zh-CN" altLang="en-US" dirty="0">
                <a:solidFill>
                  <a:srgbClr val="34495E"/>
                </a:solidFill>
                <a:latin typeface="Ubuntu" panose="020B0504030602030204" pitchFamily="34" charset="0"/>
              </a:rPr>
              <a:t>向下结合</a:t>
            </a:r>
            <a:r>
              <a:rPr lang="en-US" altLang="zh-CN" dirty="0">
                <a:solidFill>
                  <a:srgbClr val="34495E"/>
                </a:solidFill>
                <a:latin typeface="Ubuntu" panose="020B0504030602030204" pitchFamily="34" charset="0"/>
              </a:rPr>
              <a:t>SSD+ZNS+DPU</a:t>
            </a:r>
            <a:r>
              <a:rPr lang="zh-CN" altLang="en-US" dirty="0">
                <a:solidFill>
                  <a:srgbClr val="34495E"/>
                </a:solidFill>
                <a:latin typeface="Ubuntu" panose="020B0504030602030204" pitchFamily="34" charset="0"/>
              </a:rPr>
              <a:t>，压榨硬件性能。</a:t>
            </a:r>
            <a:endParaRPr lang="en-US" altLang="zh-CN" dirty="0">
              <a:solidFill>
                <a:srgbClr val="34495E"/>
              </a:solidFill>
              <a:latin typeface="Ubuntu" panose="020B0504030602030204" pitchFamily="34" charset="0"/>
            </a:endParaRPr>
          </a:p>
          <a:p>
            <a:pPr eaLnBrk="0" fontAlgn="base" hangingPunct="0">
              <a:lnSpc>
                <a:spcPct val="150000"/>
              </a:lnSpc>
              <a:spcBef>
                <a:spcPct val="0"/>
              </a:spcBef>
              <a:spcAft>
                <a:spcPct val="0"/>
              </a:spcAft>
            </a:pPr>
            <a:endParaRPr lang="en-US" altLang="zh-CN" dirty="0">
              <a:solidFill>
                <a:srgbClr val="34495E"/>
              </a:solidFill>
              <a:latin typeface="Ubuntu" panose="020B0504030602030204" pitchFamily="34" charset="0"/>
            </a:endParaRPr>
          </a:p>
          <a:p>
            <a:pPr eaLnBrk="0" fontAlgn="base" hangingPunct="0">
              <a:lnSpc>
                <a:spcPct val="150000"/>
              </a:lnSpc>
              <a:spcBef>
                <a:spcPct val="0"/>
              </a:spcBef>
              <a:spcAft>
                <a:spcPct val="0"/>
              </a:spcAft>
            </a:pPr>
            <a:r>
              <a:rPr lang="zh-CN" altLang="en-US" dirty="0">
                <a:solidFill>
                  <a:srgbClr val="34495E"/>
                </a:solidFill>
                <a:latin typeface="Ubuntu" panose="020B0504030602030204" pitchFamily="34" charset="0"/>
              </a:rPr>
              <a:t>（非官方说法，来源于工程师博客分享）</a:t>
            </a:r>
            <a:endParaRPr lang="en-US" altLang="zh-CN" dirty="0">
              <a:solidFill>
                <a:srgbClr val="34495E"/>
              </a:solidFill>
              <a:latin typeface="Ubuntu" panose="020B0504030602030204" pitchFamily="34" charset="0"/>
            </a:endParaRPr>
          </a:p>
        </p:txBody>
      </p:sp>
    </p:spTree>
    <p:extLst>
      <p:ext uri="{BB962C8B-B14F-4D97-AF65-F5344CB8AC3E}">
        <p14:creationId xmlns:p14="http://schemas.microsoft.com/office/powerpoint/2010/main" val="108473195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226263"/>
            <a:ext cx="6798981" cy="5909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最新文献</a:t>
            </a:r>
            <a:r>
              <a:rPr lang="en-US" altLang="zh-CN"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endParaRPr lang="zh-CN" altLang="en-US"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8</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5" name="文本框 14">
            <a:extLst>
              <a:ext uri="{FF2B5EF4-FFF2-40B4-BE49-F238E27FC236}">
                <a16:creationId xmlns:a16="http://schemas.microsoft.com/office/drawing/2014/main" id="{488ABAF1-66EA-4F19-B42F-A2C521EB34A2}"/>
              </a:ext>
            </a:extLst>
          </p:cNvPr>
          <p:cNvSpPr txBox="1"/>
          <p:nvPr/>
        </p:nvSpPr>
        <p:spPr>
          <a:xfrm>
            <a:off x="385590" y="992810"/>
            <a:ext cx="11140663" cy="4005392"/>
          </a:xfrm>
          <a:prstGeom prst="rect">
            <a:avLst/>
          </a:prstGeom>
          <a:noFill/>
        </p:spPr>
        <p:txBody>
          <a:bodyPr wrap="square">
            <a:spAutoFit/>
          </a:bodyPr>
          <a:lstStyle/>
          <a:p>
            <a:pPr>
              <a:lnSpc>
                <a:spcPct val="150000"/>
              </a:lnSpc>
            </a:pPr>
            <a:r>
              <a:rPr lang="en-US" altLang="zh-CN" sz="2800" dirty="0">
                <a:solidFill>
                  <a:srgbClr val="4747BA"/>
                </a:solidFill>
                <a:ea typeface="+mn-lt"/>
                <a:cs typeface="Times New Roman" panose="02020603050405020304" pitchFamily="18" charset="0"/>
              </a:rPr>
              <a:t>FAST‘24 </a:t>
            </a:r>
            <a:r>
              <a:rPr lang="zh-CN" altLang="en-US" sz="2800" dirty="0">
                <a:solidFill>
                  <a:srgbClr val="4747BA"/>
                </a:solidFill>
                <a:ea typeface="+mn-lt"/>
                <a:cs typeface="Times New Roman" panose="02020603050405020304" pitchFamily="18" charset="0"/>
              </a:rPr>
              <a:t>中提及</a:t>
            </a:r>
            <a:r>
              <a:rPr lang="en-US" altLang="zh-CN" sz="2800" dirty="0">
                <a:solidFill>
                  <a:srgbClr val="4747BA"/>
                </a:solidFill>
                <a:ea typeface="+mn-lt"/>
                <a:cs typeface="Times New Roman" panose="02020603050405020304" pitchFamily="18" charset="0"/>
              </a:rPr>
              <a:t> ZNS</a:t>
            </a:r>
            <a:r>
              <a:rPr lang="zh-CN" altLang="en-US" sz="2800" dirty="0">
                <a:solidFill>
                  <a:srgbClr val="4747BA"/>
                </a:solidFill>
                <a:ea typeface="+mn-lt"/>
                <a:cs typeface="Times New Roman" panose="02020603050405020304" pitchFamily="18" charset="0"/>
              </a:rPr>
              <a:t>的文章</a:t>
            </a:r>
            <a:r>
              <a:rPr lang="en-US" altLang="zh-CN" sz="2800" dirty="0">
                <a:solidFill>
                  <a:srgbClr val="4747BA"/>
                </a:solidFill>
                <a:ea typeface="+mn-lt"/>
                <a:cs typeface="Times New Roman" panose="02020603050405020304" pitchFamily="18" charset="0"/>
              </a:rPr>
              <a:t>:</a:t>
            </a:r>
            <a:endParaRPr lang="zh-CN" altLang="en-US" sz="2800" dirty="0">
              <a:solidFill>
                <a:srgbClr val="4747BA"/>
              </a:solidFill>
              <a:ea typeface="+mn-lt"/>
              <a:cs typeface="Times New Roman" panose="02020603050405020304" pitchFamily="18" charset="0"/>
            </a:endParaRPr>
          </a:p>
          <a:p>
            <a:pPr>
              <a:lnSpc>
                <a:spcPct val="150000"/>
              </a:lnSpc>
            </a:pPr>
            <a:r>
              <a:rPr lang="en-US" altLang="zh-CN" sz="2000" dirty="0">
                <a:solidFill>
                  <a:srgbClr val="374151"/>
                </a:solidFill>
                <a:latin typeface="_5b8b_4f53"/>
              </a:rPr>
              <a:t>1. I/O </a:t>
            </a:r>
            <a:r>
              <a:rPr lang="en-US" altLang="zh-CN" sz="2000" dirty="0" err="1">
                <a:solidFill>
                  <a:srgbClr val="374151"/>
                </a:solidFill>
                <a:latin typeface="_5b8b_4f53"/>
              </a:rPr>
              <a:t>Passthru</a:t>
            </a:r>
            <a:r>
              <a:rPr lang="en-US" altLang="zh-CN" sz="2000" dirty="0">
                <a:solidFill>
                  <a:srgbClr val="374151"/>
                </a:solidFill>
                <a:latin typeface="_5b8b_4f53"/>
              </a:rPr>
              <a:t>: Upstreaming a flexible and efficient I/O Path in Linux</a:t>
            </a:r>
            <a:r>
              <a:rPr lang="zh-CN" altLang="en-US" sz="2000" dirty="0">
                <a:solidFill>
                  <a:srgbClr val="374151"/>
                </a:solidFill>
                <a:latin typeface="_5b8b_4f53"/>
              </a:rPr>
              <a:t>（</a:t>
            </a:r>
            <a:r>
              <a:rPr lang="en-US" altLang="zh-CN" sz="2000" dirty="0">
                <a:solidFill>
                  <a:srgbClr val="374151"/>
                </a:solidFill>
                <a:latin typeface="_5b8b_4f53"/>
              </a:rPr>
              <a:t>FDP</a:t>
            </a:r>
            <a:r>
              <a:rPr lang="zh-CN" altLang="en-US" sz="2000" dirty="0">
                <a:solidFill>
                  <a:srgbClr val="374151"/>
                </a:solidFill>
                <a:latin typeface="_5b8b_4f53"/>
              </a:rPr>
              <a:t>）（三星</a:t>
            </a:r>
            <a:r>
              <a:rPr lang="en-US" altLang="zh-CN" sz="2000" dirty="0">
                <a:solidFill>
                  <a:srgbClr val="374151"/>
                </a:solidFill>
                <a:latin typeface="_5b8b_4f53"/>
              </a:rPr>
              <a:t>FDP</a:t>
            </a:r>
            <a:r>
              <a:rPr lang="zh-CN" altLang="en-US" sz="2000" dirty="0">
                <a:solidFill>
                  <a:srgbClr val="374151"/>
                </a:solidFill>
                <a:latin typeface="_5b8b_4f53"/>
              </a:rPr>
              <a:t>盘）</a:t>
            </a:r>
            <a:endParaRPr lang="en-US" altLang="zh-CN" sz="2000" dirty="0">
              <a:solidFill>
                <a:srgbClr val="374151"/>
              </a:solidFill>
              <a:latin typeface="_5b8b_4f53"/>
            </a:endParaRPr>
          </a:p>
          <a:p>
            <a:pPr>
              <a:lnSpc>
                <a:spcPct val="150000"/>
              </a:lnSpc>
            </a:pPr>
            <a:r>
              <a:rPr lang="en-US" altLang="zh-CN" sz="2000" dirty="0">
                <a:solidFill>
                  <a:srgbClr val="374151"/>
                </a:solidFill>
                <a:latin typeface="_5b8b_4f53"/>
              </a:rPr>
              <a:t>2. RFUSE: Modernizing </a:t>
            </a:r>
            <a:r>
              <a:rPr lang="en-US" altLang="zh-CN" sz="2000" dirty="0" err="1">
                <a:solidFill>
                  <a:srgbClr val="374151"/>
                </a:solidFill>
                <a:latin typeface="_5b8b_4f53"/>
              </a:rPr>
              <a:t>Userspace</a:t>
            </a:r>
            <a:r>
              <a:rPr lang="en-US" altLang="zh-CN" sz="2000" dirty="0">
                <a:solidFill>
                  <a:srgbClr val="374151"/>
                </a:solidFill>
                <a:latin typeface="_5b8b_4f53"/>
              </a:rPr>
              <a:t> Filesystem Framework through Scalable Kernel-</a:t>
            </a:r>
            <a:r>
              <a:rPr lang="en-US" altLang="zh-CN" sz="2000" dirty="0" err="1">
                <a:solidFill>
                  <a:srgbClr val="374151"/>
                </a:solidFill>
                <a:latin typeface="_5b8b_4f53"/>
              </a:rPr>
              <a:t>Userspace</a:t>
            </a:r>
            <a:r>
              <a:rPr lang="en-US" altLang="zh-CN" sz="2000" dirty="0">
                <a:solidFill>
                  <a:srgbClr val="374151"/>
                </a:solidFill>
                <a:latin typeface="_5b8b_4f53"/>
              </a:rPr>
              <a:t> Communication</a:t>
            </a:r>
            <a:r>
              <a:rPr lang="zh-CN" altLang="en-US" sz="2000" dirty="0">
                <a:solidFill>
                  <a:srgbClr val="374151"/>
                </a:solidFill>
                <a:latin typeface="_5b8b_4f53"/>
              </a:rPr>
              <a:t>（</a:t>
            </a:r>
            <a:r>
              <a:rPr lang="en-US" altLang="zh-CN" sz="2000" dirty="0">
                <a:solidFill>
                  <a:srgbClr val="374151"/>
                </a:solidFill>
                <a:latin typeface="_5b8b_4f53"/>
              </a:rPr>
              <a:t>OS,FS</a:t>
            </a:r>
            <a:r>
              <a:rPr lang="zh-CN" altLang="en-US" sz="2000" dirty="0">
                <a:solidFill>
                  <a:srgbClr val="374151"/>
                </a:solidFill>
                <a:latin typeface="_5b8b_4f53"/>
              </a:rPr>
              <a:t>）</a:t>
            </a:r>
            <a:endParaRPr lang="en-US" altLang="zh-CN" sz="2000" dirty="0">
              <a:solidFill>
                <a:srgbClr val="374151"/>
              </a:solidFill>
              <a:latin typeface="_5b8b_4f53"/>
            </a:endParaRPr>
          </a:p>
          <a:p>
            <a:pPr>
              <a:lnSpc>
                <a:spcPct val="150000"/>
              </a:lnSpc>
            </a:pPr>
            <a:r>
              <a:rPr lang="en-US" altLang="zh-CN" sz="2000" dirty="0">
                <a:solidFill>
                  <a:srgbClr val="374151"/>
                </a:solidFill>
                <a:latin typeface="_5b8b_4f53"/>
              </a:rPr>
              <a:t>3. MIDAS: Minimizing Write Amplification in Log-Structured Systems through Adaptive Group Number and Size Configuration </a:t>
            </a:r>
            <a:r>
              <a:rPr lang="zh-CN" altLang="en-US" sz="2000" dirty="0">
                <a:solidFill>
                  <a:srgbClr val="374151"/>
                </a:solidFill>
                <a:latin typeface="_5b8b_4f53"/>
              </a:rPr>
              <a:t>（参数配置、自适应）</a:t>
            </a:r>
            <a:endParaRPr lang="en-US" altLang="zh-CN" sz="2000" dirty="0">
              <a:solidFill>
                <a:srgbClr val="374151"/>
              </a:solidFill>
              <a:latin typeface="_5b8b_4f53"/>
            </a:endParaRPr>
          </a:p>
          <a:p>
            <a:pPr>
              <a:lnSpc>
                <a:spcPct val="150000"/>
              </a:lnSpc>
            </a:pPr>
            <a:r>
              <a:rPr lang="en-US" altLang="zh-CN" sz="2000" dirty="0">
                <a:solidFill>
                  <a:srgbClr val="374151"/>
                </a:solidFill>
                <a:latin typeface="_5b8b_4f53"/>
              </a:rPr>
              <a:t>4. The Design and Implementation of a Capacity-Variant Storage System</a:t>
            </a:r>
            <a:r>
              <a:rPr lang="zh-CN" altLang="en-US" sz="2000" dirty="0">
                <a:solidFill>
                  <a:srgbClr val="374151"/>
                </a:solidFill>
                <a:latin typeface="_5b8b_4f53"/>
              </a:rPr>
              <a:t>（解决性能骤降）</a:t>
            </a:r>
            <a:endParaRPr lang="en-US" altLang="zh-CN" sz="2000" dirty="0">
              <a:solidFill>
                <a:srgbClr val="374151"/>
              </a:solidFill>
              <a:latin typeface="_5b8b_4f53"/>
            </a:endParaRPr>
          </a:p>
          <a:p>
            <a:pPr>
              <a:lnSpc>
                <a:spcPct val="150000"/>
              </a:lnSpc>
            </a:pPr>
            <a:endParaRPr lang="en-US" altLang="zh-CN" sz="2400" dirty="0">
              <a:solidFill>
                <a:srgbClr val="374151"/>
              </a:solidFill>
              <a:latin typeface="_5b8b_4f53"/>
            </a:endParaRPr>
          </a:p>
        </p:txBody>
      </p:sp>
    </p:spTree>
    <p:extLst>
      <p:ext uri="{BB962C8B-B14F-4D97-AF65-F5344CB8AC3E}">
        <p14:creationId xmlns:p14="http://schemas.microsoft.com/office/powerpoint/2010/main" val="36280286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9</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8DE1F298-A953-8FC5-1524-0A465CE82634}"/>
              </a:ext>
            </a:extLst>
          </p:cNvPr>
          <p:cNvSpPr txBox="1"/>
          <p:nvPr/>
        </p:nvSpPr>
        <p:spPr>
          <a:xfrm>
            <a:off x="385590" y="1564876"/>
            <a:ext cx="5088110" cy="2957861"/>
          </a:xfrm>
          <a:prstGeom prst="rect">
            <a:avLst/>
          </a:prstGeom>
          <a:noFill/>
        </p:spPr>
        <p:txBody>
          <a:bodyPr wrap="square">
            <a:spAutoFit/>
          </a:bodyPr>
          <a:lstStyle/>
          <a:p>
            <a:pPr>
              <a:lnSpc>
                <a:spcPct val="150000"/>
              </a:lnSpc>
            </a:pPr>
            <a:r>
              <a:rPr lang="en-US" altLang="zh-CN" b="1" dirty="0">
                <a:solidFill>
                  <a:srgbClr val="222226"/>
                </a:solidFill>
                <a:latin typeface="PingFang SC"/>
              </a:rPr>
              <a:t>Linux I/O</a:t>
            </a:r>
            <a:r>
              <a:rPr lang="zh-CN" altLang="en-US" b="1" dirty="0">
                <a:solidFill>
                  <a:srgbClr val="222226"/>
                </a:solidFill>
                <a:latin typeface="PingFang SC"/>
              </a:rPr>
              <a:t>栈冗杂，</a:t>
            </a:r>
            <a:r>
              <a:rPr lang="zh-CN" altLang="en-US" dirty="0">
                <a:solidFill>
                  <a:srgbClr val="222226"/>
                </a:solidFill>
                <a:latin typeface="PingFang SC"/>
              </a:rPr>
              <a:t>总体来看，老方法效率太低，新方法普适性差，需要学习成本。并且经常出现</a:t>
            </a:r>
            <a:r>
              <a:rPr lang="zh-CN" altLang="en-US" b="0" i="0" dirty="0">
                <a:solidFill>
                  <a:srgbClr val="191B1F"/>
                </a:solidFill>
                <a:effectLst/>
                <a:latin typeface="-apple-system"/>
              </a:rPr>
              <a:t>优化了</a:t>
            </a:r>
            <a:r>
              <a:rPr lang="en-US" altLang="zh-CN" b="0" i="0" dirty="0">
                <a:solidFill>
                  <a:srgbClr val="191B1F"/>
                </a:solidFill>
                <a:effectLst/>
                <a:latin typeface="-apple-system"/>
              </a:rPr>
              <a:t>A</a:t>
            </a:r>
            <a:r>
              <a:rPr lang="zh-CN" altLang="en-US" b="0" i="0" dirty="0">
                <a:solidFill>
                  <a:srgbClr val="191B1F"/>
                </a:solidFill>
                <a:effectLst/>
                <a:latin typeface="-apple-system"/>
              </a:rPr>
              <a:t>场景，在</a:t>
            </a:r>
            <a:r>
              <a:rPr lang="en-US" altLang="zh-CN" b="0" i="0" dirty="0">
                <a:solidFill>
                  <a:srgbClr val="191B1F"/>
                </a:solidFill>
                <a:effectLst/>
                <a:latin typeface="-apple-system"/>
              </a:rPr>
              <a:t>B</a:t>
            </a:r>
            <a:r>
              <a:rPr lang="zh-CN" altLang="en-US" b="0" i="0" dirty="0">
                <a:solidFill>
                  <a:srgbClr val="191B1F"/>
                </a:solidFill>
                <a:effectLst/>
                <a:latin typeface="-apple-system"/>
              </a:rPr>
              <a:t>场景下就一塌糊涂的情况。</a:t>
            </a:r>
            <a:endParaRPr lang="en-US" altLang="zh-CN" b="1" dirty="0">
              <a:solidFill>
                <a:srgbClr val="222226"/>
              </a:solidFill>
              <a:latin typeface="PingFang SC"/>
            </a:endParaRPr>
          </a:p>
          <a:p>
            <a:pPr>
              <a:lnSpc>
                <a:spcPct val="150000"/>
              </a:lnSpc>
            </a:pPr>
            <a:endParaRPr lang="en-US" altLang="zh-CN" b="1" dirty="0">
              <a:solidFill>
                <a:srgbClr val="222226"/>
              </a:solidFill>
              <a:latin typeface="PingFang SC"/>
            </a:endParaRPr>
          </a:p>
          <a:p>
            <a:pPr>
              <a:lnSpc>
                <a:spcPct val="150000"/>
              </a:lnSpc>
            </a:pPr>
            <a:r>
              <a:rPr lang="zh-CN" altLang="en-US" dirty="0">
                <a:solidFill>
                  <a:srgbClr val="222226"/>
                </a:solidFill>
                <a:latin typeface="PingFang SC"/>
              </a:rPr>
              <a:t>现有的主要有图示</a:t>
            </a:r>
            <a:r>
              <a:rPr lang="zh-CN" altLang="en-US" i="0" dirty="0">
                <a:solidFill>
                  <a:srgbClr val="222226"/>
                </a:solidFill>
                <a:effectLst/>
                <a:latin typeface="PingFang SC"/>
              </a:rPr>
              <a:t>四种</a:t>
            </a:r>
            <a:r>
              <a:rPr lang="en-US" altLang="zh-CN" i="0" dirty="0">
                <a:solidFill>
                  <a:srgbClr val="222226"/>
                </a:solidFill>
                <a:effectLst/>
                <a:latin typeface="PingFang SC"/>
              </a:rPr>
              <a:t>IO</a:t>
            </a:r>
            <a:r>
              <a:rPr lang="zh-CN" altLang="en-US" i="0" dirty="0">
                <a:solidFill>
                  <a:srgbClr val="222226"/>
                </a:solidFill>
                <a:effectLst/>
                <a:latin typeface="PingFang SC"/>
              </a:rPr>
              <a:t>栈</a:t>
            </a:r>
            <a:r>
              <a:rPr lang="zh-CN" altLang="en-US" dirty="0">
                <a:solidFill>
                  <a:srgbClr val="222226"/>
                </a:solidFill>
                <a:latin typeface="PingFang SC"/>
              </a:rPr>
              <a:t>。现代的用户空间</a:t>
            </a:r>
            <a:r>
              <a:rPr lang="en-US" altLang="zh-CN" dirty="0">
                <a:solidFill>
                  <a:srgbClr val="222226"/>
                </a:solidFill>
                <a:latin typeface="PingFang SC"/>
              </a:rPr>
              <a:t>I/O</a:t>
            </a:r>
            <a:r>
              <a:rPr lang="zh-CN" altLang="en-US" dirty="0">
                <a:solidFill>
                  <a:srgbClr val="222226"/>
                </a:solidFill>
                <a:latin typeface="PingFang SC"/>
              </a:rPr>
              <a:t>接口：</a:t>
            </a:r>
            <a:r>
              <a:rPr lang="en-US" altLang="zh-CN" dirty="0" err="1">
                <a:solidFill>
                  <a:srgbClr val="222226"/>
                </a:solidFill>
                <a:latin typeface="PingFang SC"/>
              </a:rPr>
              <a:t>io_uring</a:t>
            </a:r>
            <a:r>
              <a:rPr lang="zh-CN" altLang="en-US" dirty="0">
                <a:solidFill>
                  <a:srgbClr val="222226"/>
                </a:solidFill>
                <a:latin typeface="PingFang SC"/>
              </a:rPr>
              <a:t>、</a:t>
            </a:r>
            <a:r>
              <a:rPr lang="en-US" altLang="zh-CN" dirty="0" err="1">
                <a:solidFill>
                  <a:srgbClr val="222226"/>
                </a:solidFill>
                <a:latin typeface="PingFang SC"/>
              </a:rPr>
              <a:t>spdk</a:t>
            </a:r>
            <a:r>
              <a:rPr lang="zh-CN" altLang="en-US" dirty="0">
                <a:solidFill>
                  <a:srgbClr val="222226"/>
                </a:solidFill>
                <a:latin typeface="PingFang SC"/>
              </a:rPr>
              <a:t>等</a:t>
            </a:r>
            <a:endParaRPr lang="en-US" altLang="zh-CN" dirty="0">
              <a:solidFill>
                <a:srgbClr val="222226"/>
              </a:solidFill>
              <a:latin typeface="PingFang SC"/>
            </a:endParaRPr>
          </a:p>
          <a:p>
            <a:pPr>
              <a:lnSpc>
                <a:spcPct val="150000"/>
              </a:lnSpc>
            </a:pPr>
            <a:endParaRPr lang="zh-CN" altLang="en-US" i="0" dirty="0">
              <a:solidFill>
                <a:srgbClr val="222226"/>
              </a:solidFill>
              <a:effectLst/>
              <a:latin typeface="PingFang SC"/>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LINUX I/O</a:t>
            </a:r>
          </a:p>
        </p:txBody>
      </p:sp>
      <p:sp>
        <p:nvSpPr>
          <p:cNvPr id="4" name="文本框 3">
            <a:extLst>
              <a:ext uri="{FF2B5EF4-FFF2-40B4-BE49-F238E27FC236}">
                <a16:creationId xmlns:a16="http://schemas.microsoft.com/office/drawing/2014/main" id="{AE7560BC-2982-36AC-43D7-F64EB51EACD3}"/>
              </a:ext>
            </a:extLst>
          </p:cNvPr>
          <p:cNvSpPr txBox="1"/>
          <p:nvPr/>
        </p:nvSpPr>
        <p:spPr>
          <a:xfrm>
            <a:off x="386237" y="4100155"/>
            <a:ext cx="5342110" cy="1711944"/>
          </a:xfrm>
          <a:prstGeom prst="rect">
            <a:avLst/>
          </a:prstGeom>
          <a:noFill/>
        </p:spPr>
        <p:txBody>
          <a:bodyPr wrap="square">
            <a:spAutoFit/>
          </a:bodyPr>
          <a:lstStyle/>
          <a:p>
            <a:pPr>
              <a:lnSpc>
                <a:spcPct val="150000"/>
              </a:lnSpc>
            </a:pPr>
            <a:endParaRPr lang="en-US" altLang="zh-CN" dirty="0">
              <a:solidFill>
                <a:srgbClr val="222226"/>
              </a:solidFill>
              <a:latin typeface="PingFang SC"/>
            </a:endParaRPr>
          </a:p>
          <a:p>
            <a:pPr>
              <a:lnSpc>
                <a:spcPct val="150000"/>
              </a:lnSpc>
            </a:pPr>
            <a:r>
              <a:rPr lang="zh-CN" altLang="en-US" dirty="0">
                <a:solidFill>
                  <a:srgbClr val="222226"/>
                </a:solidFill>
                <a:latin typeface="PingFang SC"/>
              </a:rPr>
              <a:t>刚才提到的</a:t>
            </a:r>
            <a:r>
              <a:rPr lang="en-US" altLang="zh-CN" dirty="0">
                <a:solidFill>
                  <a:srgbClr val="222226"/>
                </a:solidFill>
                <a:latin typeface="PingFang SC"/>
              </a:rPr>
              <a:t>FAST</a:t>
            </a:r>
            <a:r>
              <a:rPr lang="zh-CN" altLang="en-US" dirty="0">
                <a:solidFill>
                  <a:srgbClr val="222226"/>
                </a:solidFill>
                <a:latin typeface="PingFang SC"/>
              </a:rPr>
              <a:t>’</a:t>
            </a:r>
            <a:r>
              <a:rPr lang="en-US" altLang="zh-CN" dirty="0">
                <a:solidFill>
                  <a:srgbClr val="222226"/>
                </a:solidFill>
                <a:latin typeface="PingFang SC"/>
              </a:rPr>
              <a:t>24</a:t>
            </a:r>
            <a:r>
              <a:rPr lang="zh-CN" altLang="en-US" dirty="0">
                <a:solidFill>
                  <a:srgbClr val="222226"/>
                </a:solidFill>
                <a:latin typeface="PingFang SC"/>
              </a:rPr>
              <a:t>中的</a:t>
            </a:r>
            <a:r>
              <a:rPr lang="en-US" altLang="zh-CN" b="0" i="0" dirty="0">
                <a:solidFill>
                  <a:srgbClr val="191B1F"/>
                </a:solidFill>
                <a:effectLst/>
                <a:latin typeface="-apple-system"/>
              </a:rPr>
              <a:t>I/O </a:t>
            </a:r>
            <a:r>
              <a:rPr lang="en-US" altLang="zh-CN" b="0" i="0" dirty="0" err="1">
                <a:solidFill>
                  <a:srgbClr val="191B1F"/>
                </a:solidFill>
                <a:effectLst/>
                <a:latin typeface="-apple-system"/>
              </a:rPr>
              <a:t>Passthru</a:t>
            </a:r>
            <a:r>
              <a:rPr lang="zh-CN" altLang="en-US" b="0" i="0" dirty="0">
                <a:solidFill>
                  <a:srgbClr val="191B1F"/>
                </a:solidFill>
                <a:effectLst/>
                <a:latin typeface="-apple-system"/>
              </a:rPr>
              <a:t>，讨论了现有的</a:t>
            </a:r>
            <a:r>
              <a:rPr lang="en-US" altLang="zh-CN" b="0" i="0" dirty="0">
                <a:solidFill>
                  <a:srgbClr val="191B1F"/>
                </a:solidFill>
                <a:effectLst/>
                <a:latin typeface="-apple-system"/>
              </a:rPr>
              <a:t>IO</a:t>
            </a:r>
            <a:r>
              <a:rPr lang="zh-CN" altLang="en-US" b="0" i="0" dirty="0">
                <a:solidFill>
                  <a:srgbClr val="191B1F"/>
                </a:solidFill>
                <a:effectLst/>
                <a:latin typeface="-apple-system"/>
              </a:rPr>
              <a:t>栈</a:t>
            </a:r>
            <a:r>
              <a:rPr lang="zh-CN" altLang="en-US" dirty="0">
                <a:solidFill>
                  <a:srgbClr val="191B1F"/>
                </a:solidFill>
                <a:latin typeface="-apple-system"/>
              </a:rPr>
              <a:t>，</a:t>
            </a:r>
            <a:r>
              <a:rPr lang="zh-CN" altLang="en-US" b="0" i="0" dirty="0">
                <a:solidFill>
                  <a:srgbClr val="191B1F"/>
                </a:solidFill>
                <a:effectLst/>
                <a:latin typeface="-apple-system"/>
              </a:rPr>
              <a:t>提出一种新的</a:t>
            </a:r>
            <a:r>
              <a:rPr lang="en-US" altLang="zh-CN" b="0" i="0" dirty="0">
                <a:solidFill>
                  <a:srgbClr val="191B1F"/>
                </a:solidFill>
                <a:effectLst/>
                <a:latin typeface="-apple-system"/>
              </a:rPr>
              <a:t>I/O</a:t>
            </a:r>
            <a:r>
              <a:rPr lang="zh-CN" altLang="en-US" dirty="0">
                <a:solidFill>
                  <a:srgbClr val="191B1F"/>
                </a:solidFill>
                <a:latin typeface="-apple-system"/>
              </a:rPr>
              <a:t>旁路</a:t>
            </a:r>
            <a:r>
              <a:rPr lang="zh-CN" altLang="en-US" b="0" i="0" dirty="0">
                <a:solidFill>
                  <a:srgbClr val="191B1F"/>
                </a:solidFill>
                <a:effectLst/>
                <a:latin typeface="-apple-system"/>
              </a:rPr>
              <a:t>，已经并入主流</a:t>
            </a:r>
            <a:r>
              <a:rPr lang="en-US" altLang="zh-CN" b="0" i="0" dirty="0">
                <a:solidFill>
                  <a:srgbClr val="191B1F"/>
                </a:solidFill>
                <a:effectLst/>
                <a:latin typeface="-apple-system"/>
              </a:rPr>
              <a:t>Linux</a:t>
            </a:r>
            <a:r>
              <a:rPr lang="zh-CN" altLang="en-US" b="0" i="0" dirty="0">
                <a:solidFill>
                  <a:srgbClr val="191B1F"/>
                </a:solidFill>
                <a:effectLst/>
                <a:latin typeface="-apple-system"/>
              </a:rPr>
              <a:t>内核，能够更好地利用</a:t>
            </a:r>
            <a:r>
              <a:rPr lang="en-US" altLang="zh-CN" b="0" i="0" dirty="0">
                <a:solidFill>
                  <a:srgbClr val="191B1F"/>
                </a:solidFill>
                <a:effectLst/>
                <a:latin typeface="-apple-system"/>
              </a:rPr>
              <a:t>NVME</a:t>
            </a:r>
            <a:r>
              <a:rPr lang="zh-CN" altLang="en-US" b="0" i="0" dirty="0">
                <a:solidFill>
                  <a:srgbClr val="191B1F"/>
                </a:solidFill>
                <a:effectLst/>
                <a:latin typeface="-apple-system"/>
              </a:rPr>
              <a:t>设备。</a:t>
            </a:r>
            <a:endParaRPr lang="en-US" altLang="zh-CN" b="1" dirty="0">
              <a:solidFill>
                <a:srgbClr val="222226"/>
              </a:solidFill>
              <a:latin typeface="PingFang SC"/>
            </a:endParaRPr>
          </a:p>
        </p:txBody>
      </p:sp>
      <p:pic>
        <p:nvPicPr>
          <p:cNvPr id="1026" name="Picture 2">
            <a:extLst>
              <a:ext uri="{FF2B5EF4-FFF2-40B4-BE49-F238E27FC236}">
                <a16:creationId xmlns:a16="http://schemas.microsoft.com/office/drawing/2014/main" id="{04376A6D-33D6-4AA3-B395-54E10B44FD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6861" y="1005886"/>
            <a:ext cx="5808305" cy="5083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79091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88" y="2719856"/>
            <a:ext cx="11479575" cy="978729"/>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Upstreaming a flexible and efficient I/O Path in Linux</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10</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8DE1F298-A953-8FC5-1524-0A465CE82634}"/>
              </a:ext>
            </a:extLst>
          </p:cNvPr>
          <p:cNvSpPr txBox="1"/>
          <p:nvPr/>
        </p:nvSpPr>
        <p:spPr>
          <a:xfrm>
            <a:off x="3354438" y="4889495"/>
            <a:ext cx="5483124" cy="1338828"/>
          </a:xfrm>
          <a:prstGeom prst="rect">
            <a:avLst/>
          </a:prstGeom>
          <a:noFill/>
        </p:spPr>
        <p:txBody>
          <a:bodyPr wrap="square">
            <a:spAutoFit/>
          </a:bodyPr>
          <a:lstStyle/>
          <a:p>
            <a:pPr algn="ctr" fontAlgn="base">
              <a:lnSpc>
                <a:spcPct val="150000"/>
              </a:lnSpc>
              <a:spcBef>
                <a:spcPct val="0"/>
              </a:spcBef>
              <a:spcAft>
                <a:spcPct val="0"/>
              </a:spcAft>
            </a:pPr>
            <a:r>
              <a:rPr lang="en-US" altLang="zh-CN" dirty="0">
                <a:latin typeface="NimbusRomNo9L-Regu"/>
              </a:rPr>
              <a:t>FAST</a:t>
            </a:r>
            <a:r>
              <a:rPr lang="zh-CN" altLang="en-US" dirty="0">
                <a:latin typeface="NimbusRomNo9L-Regu"/>
              </a:rPr>
              <a:t>’</a:t>
            </a:r>
            <a:r>
              <a:rPr lang="en-US" altLang="zh-CN" dirty="0">
                <a:latin typeface="NimbusRomNo9L-Regu"/>
              </a:rPr>
              <a:t>24</a:t>
            </a:r>
          </a:p>
          <a:p>
            <a:pPr algn="ctr"/>
            <a:r>
              <a:rPr lang="en-US" altLang="zh-CN" sz="1800" b="0" i="0" u="none" strike="noStrike" baseline="0" dirty="0">
                <a:latin typeface="NimbusRomNo9L-Regu"/>
              </a:rPr>
              <a:t>Samsung Semiconductor</a:t>
            </a:r>
          </a:p>
          <a:p>
            <a:pPr algn="ctr"/>
            <a:r>
              <a:rPr lang="en-US" altLang="zh-CN" sz="1800" b="0" i="0" u="none" strike="noStrike" baseline="0" dirty="0">
                <a:latin typeface="NimbusRomNo9L-Regu"/>
              </a:rPr>
              <a:t>Meta Platforms Inc</a:t>
            </a:r>
          </a:p>
          <a:p>
            <a:pPr algn="ctr"/>
            <a:r>
              <a:rPr lang="en-US" altLang="zh-CN" dirty="0">
                <a:solidFill>
                  <a:srgbClr val="34495E"/>
                </a:solidFill>
                <a:latin typeface="Ubuntu" panose="020B0504030602030204" pitchFamily="34" charset="0"/>
              </a:rPr>
              <a:t>https://www.usenix.org/system/files/fast24-joshi.pdf</a:t>
            </a: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简介</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extLst>
      <p:ext uri="{BB962C8B-B14F-4D97-AF65-F5344CB8AC3E}">
        <p14:creationId xmlns:p14="http://schemas.microsoft.com/office/powerpoint/2010/main" val="33532879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11</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8DE1F298-A953-8FC5-1524-0A465CE82634}"/>
              </a:ext>
            </a:extLst>
          </p:cNvPr>
          <p:cNvSpPr txBox="1"/>
          <p:nvPr/>
        </p:nvSpPr>
        <p:spPr>
          <a:xfrm>
            <a:off x="385590" y="1052473"/>
            <a:ext cx="4420998" cy="506934"/>
          </a:xfrm>
          <a:prstGeom prst="rect">
            <a:avLst/>
          </a:prstGeom>
          <a:noFill/>
        </p:spPr>
        <p:txBody>
          <a:bodyPr wrap="square">
            <a:spAutoFit/>
          </a:bodyPr>
          <a:lstStyle/>
          <a:p>
            <a:pPr fontAlgn="base">
              <a:lnSpc>
                <a:spcPct val="150000"/>
              </a:lnSpc>
              <a:spcBef>
                <a:spcPct val="0"/>
              </a:spcBef>
              <a:spcAft>
                <a:spcPct val="0"/>
              </a:spcAft>
            </a:pPr>
            <a:r>
              <a:rPr lang="zh-CN" altLang="en-US" dirty="0">
                <a:latin typeface="NimbusRomNo9L-Regu"/>
              </a:rPr>
              <a:t>新的内核</a:t>
            </a:r>
            <a:r>
              <a:rPr lang="zh-CN" altLang="en-US" sz="2000" dirty="0">
                <a:solidFill>
                  <a:srgbClr val="374151"/>
                </a:solidFill>
                <a:latin typeface="_5b8b_4f53"/>
              </a:rPr>
              <a:t>旁路</a:t>
            </a:r>
            <a:endParaRPr lang="en-US" altLang="zh-CN" sz="2000" dirty="0">
              <a:solidFill>
                <a:srgbClr val="374151"/>
              </a:solidFill>
              <a:latin typeface="_5b8b_4f53"/>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简介</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5" name="文本框 14">
            <a:extLst>
              <a:ext uri="{FF2B5EF4-FFF2-40B4-BE49-F238E27FC236}">
                <a16:creationId xmlns:a16="http://schemas.microsoft.com/office/drawing/2014/main" id="{2B1AC87F-F19D-48CB-96F0-BC98EB18CF4B}"/>
              </a:ext>
            </a:extLst>
          </p:cNvPr>
          <p:cNvSpPr txBox="1"/>
          <p:nvPr/>
        </p:nvSpPr>
        <p:spPr>
          <a:xfrm>
            <a:off x="385590" y="1980837"/>
            <a:ext cx="11209510" cy="3276923"/>
          </a:xfrm>
          <a:prstGeom prst="rect">
            <a:avLst/>
          </a:prstGeom>
          <a:noFill/>
        </p:spPr>
        <p:txBody>
          <a:bodyPr wrap="square">
            <a:spAutoFit/>
          </a:bodyPr>
          <a:lstStyle/>
          <a:p>
            <a:pPr>
              <a:lnSpc>
                <a:spcPct val="150000"/>
              </a:lnSpc>
            </a:pPr>
            <a:r>
              <a:rPr lang="zh-CN" altLang="en-US" sz="2000" dirty="0">
                <a:solidFill>
                  <a:srgbClr val="374151"/>
                </a:solidFill>
                <a:latin typeface="_5b8b_4f53"/>
              </a:rPr>
              <a:t>在此之前只有两种选择：</a:t>
            </a:r>
            <a:endParaRPr lang="en-US" altLang="zh-CN" sz="2000" dirty="0">
              <a:solidFill>
                <a:srgbClr val="374151"/>
              </a:solidFill>
              <a:latin typeface="_5b8b_4f53"/>
            </a:endParaRPr>
          </a:p>
          <a:p>
            <a:pPr>
              <a:lnSpc>
                <a:spcPct val="150000"/>
              </a:lnSpc>
            </a:pPr>
            <a:r>
              <a:rPr lang="zh-CN" altLang="en-US" sz="2000" dirty="0">
                <a:solidFill>
                  <a:srgbClr val="374151"/>
                </a:solidFill>
                <a:latin typeface="_5b8b_4f53"/>
              </a:rPr>
              <a:t>（</a:t>
            </a:r>
            <a:r>
              <a:rPr lang="en-US" altLang="zh-CN" sz="2000" dirty="0">
                <a:solidFill>
                  <a:srgbClr val="374151"/>
                </a:solidFill>
                <a:latin typeface="_5b8b_4f53"/>
              </a:rPr>
              <a:t>1</a:t>
            </a:r>
            <a:r>
              <a:rPr lang="zh-CN" altLang="en-US" sz="2000" dirty="0">
                <a:solidFill>
                  <a:srgbClr val="374151"/>
                </a:solidFill>
                <a:latin typeface="_5b8b_4f53"/>
              </a:rPr>
              <a:t>）在块接口上使用同步</a:t>
            </a:r>
            <a:r>
              <a:rPr lang="en-US" altLang="zh-CN" sz="2000" dirty="0" err="1">
                <a:solidFill>
                  <a:srgbClr val="374151"/>
                </a:solidFill>
                <a:latin typeface="_5b8b_4f53"/>
              </a:rPr>
              <a:t>NVMe</a:t>
            </a:r>
            <a:endParaRPr lang="en-US" altLang="zh-CN" sz="2000" dirty="0">
              <a:solidFill>
                <a:srgbClr val="374151"/>
              </a:solidFill>
              <a:latin typeface="_5b8b_4f53"/>
            </a:endParaRPr>
          </a:p>
          <a:p>
            <a:pPr>
              <a:lnSpc>
                <a:spcPct val="150000"/>
              </a:lnSpc>
            </a:pPr>
            <a:r>
              <a:rPr lang="zh-CN" altLang="en-US" sz="2000" dirty="0">
                <a:solidFill>
                  <a:srgbClr val="374151"/>
                </a:solidFill>
                <a:latin typeface="_5b8b_4f53"/>
              </a:rPr>
              <a:t>（</a:t>
            </a:r>
            <a:r>
              <a:rPr lang="en-US" altLang="zh-CN" sz="2000" dirty="0">
                <a:solidFill>
                  <a:srgbClr val="374151"/>
                </a:solidFill>
                <a:latin typeface="_5b8b_4f53"/>
              </a:rPr>
              <a:t>2</a:t>
            </a:r>
            <a:r>
              <a:rPr lang="zh-CN" altLang="en-US" sz="2000" dirty="0">
                <a:solidFill>
                  <a:srgbClr val="374151"/>
                </a:solidFill>
                <a:latin typeface="_5b8b_4f53"/>
              </a:rPr>
              <a:t>）切换到内核旁路解决方案</a:t>
            </a:r>
            <a:endParaRPr lang="en-US" altLang="zh-CN" sz="2000" dirty="0">
              <a:solidFill>
                <a:srgbClr val="374151"/>
              </a:solidFill>
              <a:latin typeface="_5b8b_4f53"/>
            </a:endParaRPr>
          </a:p>
          <a:p>
            <a:pPr>
              <a:lnSpc>
                <a:spcPct val="150000"/>
              </a:lnSpc>
            </a:pPr>
            <a:r>
              <a:rPr lang="zh-CN" altLang="en-US" sz="2000" dirty="0">
                <a:solidFill>
                  <a:srgbClr val="374151"/>
                </a:solidFill>
                <a:latin typeface="_5b8b_4f53"/>
              </a:rPr>
              <a:t>本文在内核中添加新的直通路径来创建一个新的替代方案。此路径将</a:t>
            </a:r>
            <a:r>
              <a:rPr lang="en-US" altLang="zh-CN" sz="2000" dirty="0" err="1">
                <a:solidFill>
                  <a:srgbClr val="374151"/>
                </a:solidFill>
                <a:latin typeface="_5b8b_4f53"/>
              </a:rPr>
              <a:t>NVMe</a:t>
            </a:r>
            <a:r>
              <a:rPr lang="zh-CN" altLang="en-US" sz="2000" dirty="0">
                <a:solidFill>
                  <a:srgbClr val="374151"/>
                </a:solidFill>
                <a:latin typeface="_5b8b_4f53"/>
              </a:rPr>
              <a:t>字符接口与</a:t>
            </a:r>
            <a:r>
              <a:rPr lang="en-US" altLang="zh-CN" sz="2000" dirty="0" err="1">
                <a:solidFill>
                  <a:srgbClr val="374151"/>
                </a:solidFill>
                <a:latin typeface="_5b8b_4f53"/>
              </a:rPr>
              <a:t>io_uring</a:t>
            </a:r>
            <a:r>
              <a:rPr lang="zh-CN" altLang="en-US" sz="2000" dirty="0">
                <a:solidFill>
                  <a:srgbClr val="374151"/>
                </a:solidFill>
                <a:latin typeface="_5b8b_4f53"/>
              </a:rPr>
              <a:t>相结合。并将此路径集成到各种用户空间库</a:t>
            </a:r>
            <a:r>
              <a:rPr lang="en-US" altLang="zh-CN" sz="2000" dirty="0">
                <a:solidFill>
                  <a:srgbClr val="374151"/>
                </a:solidFill>
                <a:latin typeface="_5b8b_4f53"/>
              </a:rPr>
              <a:t>/</a:t>
            </a:r>
            <a:r>
              <a:rPr lang="zh-CN" altLang="en-US" sz="2000" dirty="0">
                <a:solidFill>
                  <a:srgbClr val="374151"/>
                </a:solidFill>
                <a:latin typeface="_5b8b_4f53"/>
              </a:rPr>
              <a:t>工具，说明如何简化</a:t>
            </a:r>
            <a:r>
              <a:rPr lang="en-US" altLang="zh-CN" sz="2000" dirty="0">
                <a:solidFill>
                  <a:srgbClr val="374151"/>
                </a:solidFill>
                <a:latin typeface="_5b8b_4f53"/>
              </a:rPr>
              <a:t>FDP SSD</a:t>
            </a:r>
            <a:r>
              <a:rPr lang="zh-CN" altLang="en-US" sz="2000" dirty="0">
                <a:solidFill>
                  <a:srgbClr val="374151"/>
                </a:solidFill>
                <a:latin typeface="_5b8b_4f53"/>
              </a:rPr>
              <a:t>、端到端数据保护和计算存储的启用。还在</a:t>
            </a:r>
            <a:r>
              <a:rPr lang="en-US" altLang="zh-CN" sz="2000" dirty="0" err="1">
                <a:solidFill>
                  <a:srgbClr val="374151"/>
                </a:solidFill>
                <a:latin typeface="_5b8b_4f53"/>
              </a:rPr>
              <a:t>io_uring</a:t>
            </a:r>
            <a:r>
              <a:rPr lang="zh-CN" altLang="en-US" sz="2000" dirty="0">
                <a:solidFill>
                  <a:srgbClr val="374151"/>
                </a:solidFill>
                <a:latin typeface="_5b8b_4f53"/>
              </a:rPr>
              <a:t>中引入了</a:t>
            </a:r>
            <a:r>
              <a:rPr lang="en-US" altLang="zh-CN" sz="2000" dirty="0" err="1">
                <a:solidFill>
                  <a:srgbClr val="374151"/>
                </a:solidFill>
                <a:latin typeface="_5b8b_4f53"/>
              </a:rPr>
              <a:t>ioctl</a:t>
            </a:r>
            <a:r>
              <a:rPr lang="zh-CN" altLang="en-US" sz="2000" dirty="0">
                <a:solidFill>
                  <a:srgbClr val="374151"/>
                </a:solidFill>
                <a:latin typeface="_5b8b_4f53"/>
              </a:rPr>
              <a:t>的替代方案。</a:t>
            </a:r>
            <a:r>
              <a:rPr lang="en-US" altLang="zh-CN" sz="2000" dirty="0" err="1">
                <a:solidFill>
                  <a:srgbClr val="374151"/>
                </a:solidFill>
                <a:latin typeface="_5b8b_4f53"/>
              </a:rPr>
              <a:t>io_uring_command</a:t>
            </a:r>
            <a:r>
              <a:rPr lang="zh-CN" altLang="en-US" sz="2000" dirty="0">
                <a:solidFill>
                  <a:srgbClr val="374151"/>
                </a:solidFill>
                <a:latin typeface="_5b8b_4f53"/>
              </a:rPr>
              <a:t>基础设施确保</a:t>
            </a:r>
            <a:r>
              <a:rPr lang="en-US" altLang="zh-CN" sz="2000" dirty="0" err="1">
                <a:solidFill>
                  <a:srgbClr val="374151"/>
                </a:solidFill>
                <a:latin typeface="_5b8b_4f53"/>
              </a:rPr>
              <a:t>io_uring</a:t>
            </a:r>
            <a:r>
              <a:rPr lang="zh-CN" altLang="en-US" sz="2000" dirty="0">
                <a:solidFill>
                  <a:srgbClr val="374151"/>
                </a:solidFill>
                <a:latin typeface="_5b8b_4f53"/>
              </a:rPr>
              <a:t>功能不仅限于现有机制（即经典的读</a:t>
            </a:r>
            <a:r>
              <a:rPr lang="en-US" altLang="zh-CN" sz="2000" dirty="0">
                <a:solidFill>
                  <a:srgbClr val="374151"/>
                </a:solidFill>
                <a:latin typeface="_5b8b_4f53"/>
              </a:rPr>
              <a:t>/</a:t>
            </a:r>
            <a:r>
              <a:rPr lang="zh-CN" altLang="en-US" sz="2000" dirty="0">
                <a:solidFill>
                  <a:srgbClr val="374151"/>
                </a:solidFill>
                <a:latin typeface="_5b8b_4f53"/>
              </a:rPr>
              <a:t>写或其他已建立的系统调用），而且还可以应用于新的原语。</a:t>
            </a:r>
          </a:p>
        </p:txBody>
      </p:sp>
    </p:spTree>
    <p:extLst>
      <p:ext uri="{BB962C8B-B14F-4D97-AF65-F5344CB8AC3E}">
        <p14:creationId xmlns:p14="http://schemas.microsoft.com/office/powerpoint/2010/main" val="174524511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未来发展</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6" name="图片 5"/>
          <p:cNvPicPr>
            <a:picLocks noChangeAspect="1"/>
          </p:cNvPicPr>
          <p:nvPr/>
        </p:nvPicPr>
        <p:blipFill>
          <a:blip r:embed="rId5"/>
          <a:stretch>
            <a:fillRect/>
          </a:stretch>
        </p:blipFill>
        <p:spPr>
          <a:xfrm>
            <a:off x="3444240" y="7169150"/>
            <a:ext cx="5172075" cy="1619250"/>
          </a:xfrm>
          <a:prstGeom prst="rect">
            <a:avLst/>
          </a:prstGeom>
        </p:spPr>
      </p:pic>
      <p:sp>
        <p:nvSpPr>
          <p:cNvPr id="15" name="文本框 14">
            <a:extLst>
              <a:ext uri="{FF2B5EF4-FFF2-40B4-BE49-F238E27FC236}">
                <a16:creationId xmlns:a16="http://schemas.microsoft.com/office/drawing/2014/main" id="{A42DD39C-9468-4C42-1F98-C6F771CE0FF2}"/>
              </a:ext>
            </a:extLst>
          </p:cNvPr>
          <p:cNvSpPr txBox="1"/>
          <p:nvPr/>
        </p:nvSpPr>
        <p:spPr>
          <a:xfrm>
            <a:off x="396239" y="1357786"/>
            <a:ext cx="10618505" cy="4989186"/>
          </a:xfrm>
          <a:prstGeom prst="rect">
            <a:avLst/>
          </a:prstGeom>
          <a:noFill/>
        </p:spPr>
        <p:txBody>
          <a:bodyPr wrap="square">
            <a:spAutoFit/>
          </a:bodyPr>
          <a:lstStyle/>
          <a:p>
            <a:pPr indent="-285750" fontAlgn="base">
              <a:lnSpc>
                <a:spcPct val="150000"/>
              </a:lnSpc>
              <a:spcBef>
                <a:spcPct val="0"/>
              </a:spcBef>
              <a:spcAft>
                <a:spcPct val="0"/>
              </a:spcAft>
              <a:buFont typeface="Arial" panose="020B0604020202020204" pitchFamily="34" charset="0"/>
              <a:buChar char="•"/>
            </a:pPr>
            <a:r>
              <a:rPr lang="zh-CN" altLang="en-US" sz="2000" dirty="0">
                <a:solidFill>
                  <a:srgbClr val="374151"/>
                </a:solidFill>
                <a:latin typeface="_5b8b_4f53"/>
              </a:rPr>
              <a:t>在应用级别，在</a:t>
            </a:r>
            <a:r>
              <a:rPr lang="en-US" altLang="zh-CN" sz="2000" dirty="0">
                <a:solidFill>
                  <a:srgbClr val="374151"/>
                </a:solidFill>
                <a:latin typeface="_5b8b_4f53"/>
              </a:rPr>
              <a:t>KV</a:t>
            </a:r>
            <a:r>
              <a:rPr lang="zh-CN" altLang="en-US" sz="2000" dirty="0">
                <a:solidFill>
                  <a:srgbClr val="374151"/>
                </a:solidFill>
                <a:latin typeface="_5b8b_4f53"/>
              </a:rPr>
              <a:t>存储领域（</a:t>
            </a:r>
            <a:r>
              <a:rPr lang="en-US" altLang="zh-CN" sz="2000" dirty="0">
                <a:solidFill>
                  <a:srgbClr val="374151"/>
                </a:solidFill>
                <a:latin typeface="_5b8b_4f53"/>
              </a:rPr>
              <a:t>append</a:t>
            </a:r>
            <a:r>
              <a:rPr lang="zh-CN" altLang="en-US" sz="2000" dirty="0">
                <a:solidFill>
                  <a:srgbClr val="374151"/>
                </a:solidFill>
                <a:latin typeface="_5b8b_4f53"/>
              </a:rPr>
              <a:t>模式的数据存储引擎），在上述路线上的进一步优化，终极目标：</a:t>
            </a:r>
            <a:r>
              <a:rPr lang="en-US" altLang="zh-CN" sz="2000" dirty="0">
                <a:solidFill>
                  <a:srgbClr val="374151"/>
                </a:solidFill>
                <a:latin typeface="_5b8b_4f53"/>
              </a:rPr>
              <a:t>LSM GC = SSD GC</a:t>
            </a:r>
          </a:p>
          <a:p>
            <a:pPr marL="285750" indent="-285750" eaLnBrk="0" fontAlgn="base" hangingPunct="0">
              <a:lnSpc>
                <a:spcPct val="150000"/>
              </a:lnSpc>
              <a:spcBef>
                <a:spcPct val="0"/>
              </a:spcBef>
              <a:spcAft>
                <a:spcPct val="0"/>
              </a:spcAft>
              <a:buFont typeface="Arial" panose="020B0604020202020204" pitchFamily="34" charset="0"/>
              <a:buChar char="•"/>
            </a:pPr>
            <a:endParaRPr lang="en-US" altLang="zh-CN" dirty="0">
              <a:solidFill>
                <a:srgbClr val="34495E"/>
              </a:solidFill>
              <a:latin typeface="Ubuntu" panose="020B0504030602030204" pitchFamily="34" charset="0"/>
            </a:endParaRPr>
          </a:p>
          <a:p>
            <a:pPr indent="-285750" fontAlgn="base">
              <a:lnSpc>
                <a:spcPct val="150000"/>
              </a:lnSpc>
              <a:spcBef>
                <a:spcPct val="0"/>
              </a:spcBef>
              <a:spcAft>
                <a:spcPct val="0"/>
              </a:spcAft>
              <a:buFont typeface="Arial" panose="020B0604020202020204" pitchFamily="34" charset="0"/>
              <a:buChar char="•"/>
            </a:pPr>
            <a:r>
              <a:rPr lang="zh-CN" altLang="en-US" sz="2000" dirty="0">
                <a:solidFill>
                  <a:srgbClr val="374151"/>
                </a:solidFill>
                <a:latin typeface="_5b8b_4f53"/>
              </a:rPr>
              <a:t>在系统级，我们需要一个通用的裸盘</a:t>
            </a:r>
            <a:r>
              <a:rPr lang="en-US" altLang="zh-CN" sz="2000" dirty="0">
                <a:solidFill>
                  <a:srgbClr val="374151"/>
                </a:solidFill>
                <a:latin typeface="_5b8b_4f53"/>
              </a:rPr>
              <a:t>IO</a:t>
            </a:r>
            <a:r>
              <a:rPr lang="zh-CN" altLang="en-US" sz="2000" dirty="0">
                <a:solidFill>
                  <a:srgbClr val="374151"/>
                </a:solidFill>
                <a:latin typeface="_5b8b_4f53"/>
              </a:rPr>
              <a:t>层</a:t>
            </a:r>
            <a:r>
              <a:rPr lang="en-US" altLang="zh-CN" sz="2000" dirty="0">
                <a:solidFill>
                  <a:srgbClr val="374151"/>
                </a:solidFill>
                <a:latin typeface="_5b8b_4f53"/>
              </a:rPr>
              <a:t>( for all non-block I/O )</a:t>
            </a:r>
            <a:r>
              <a:rPr lang="zh-CN" altLang="en-US" sz="2000" dirty="0">
                <a:solidFill>
                  <a:srgbClr val="374151"/>
                </a:solidFill>
                <a:latin typeface="_5b8b_4f53"/>
              </a:rPr>
              <a:t>：</a:t>
            </a:r>
            <a:r>
              <a:rPr lang="en-US" altLang="zh-CN" sz="2000" dirty="0">
                <a:solidFill>
                  <a:srgbClr val="374151"/>
                </a:solidFill>
                <a:latin typeface="_5b8b_4f53"/>
              </a:rPr>
              <a:t> </a:t>
            </a:r>
            <a:r>
              <a:rPr lang="zh-CN" altLang="en-US" sz="2000" dirty="0">
                <a:solidFill>
                  <a:srgbClr val="374151"/>
                </a:solidFill>
                <a:latin typeface="_5b8b_4f53"/>
              </a:rPr>
              <a:t>为存储设备封装出一套统一的抽象接口，并且兼容现有的所有应用。这个接口对下可以支持：</a:t>
            </a:r>
            <a:r>
              <a:rPr lang="en-US" altLang="zh-CN" sz="2000" dirty="0">
                <a:solidFill>
                  <a:srgbClr val="374151"/>
                </a:solidFill>
                <a:latin typeface="_5b8b_4f53"/>
              </a:rPr>
              <a:t>ZNS</a:t>
            </a:r>
            <a:r>
              <a:rPr lang="zh-CN" altLang="en-US" sz="2000" dirty="0">
                <a:solidFill>
                  <a:srgbClr val="374151"/>
                </a:solidFill>
                <a:latin typeface="_5b8b_4f53"/>
              </a:rPr>
              <a:t>，</a:t>
            </a:r>
            <a:r>
              <a:rPr lang="en-US" altLang="zh-CN" sz="2000" dirty="0">
                <a:solidFill>
                  <a:srgbClr val="374151"/>
                </a:solidFill>
                <a:latin typeface="_5b8b_4f53"/>
              </a:rPr>
              <a:t> Optane SSD </a:t>
            </a:r>
            <a:r>
              <a:rPr lang="zh-CN" altLang="en-US" sz="2000" dirty="0">
                <a:solidFill>
                  <a:srgbClr val="374151"/>
                </a:solidFill>
                <a:latin typeface="_5b8b_4f53"/>
              </a:rPr>
              <a:t>，</a:t>
            </a:r>
            <a:r>
              <a:rPr lang="en-US" altLang="zh-CN" sz="2000" dirty="0">
                <a:solidFill>
                  <a:srgbClr val="374151"/>
                </a:solidFill>
                <a:latin typeface="_5b8b_4f53"/>
              </a:rPr>
              <a:t>TLC/QLC SSD …  </a:t>
            </a:r>
          </a:p>
          <a:p>
            <a:pPr fontAlgn="base">
              <a:lnSpc>
                <a:spcPct val="150000"/>
              </a:lnSpc>
              <a:spcBef>
                <a:spcPct val="0"/>
              </a:spcBef>
              <a:spcAft>
                <a:spcPct val="0"/>
              </a:spcAft>
            </a:pPr>
            <a:r>
              <a:rPr lang="en-US" altLang="zh-CN" sz="2000" dirty="0">
                <a:solidFill>
                  <a:srgbClr val="374151"/>
                </a:solidFill>
                <a:latin typeface="_5b8b_4f53"/>
              </a:rPr>
              <a:t>     </a:t>
            </a:r>
            <a:r>
              <a:rPr lang="zh-CN" altLang="en-US" sz="2000" dirty="0">
                <a:solidFill>
                  <a:srgbClr val="374151"/>
                </a:solidFill>
                <a:latin typeface="_5b8b_4f53"/>
              </a:rPr>
              <a:t>到目前为止，无论是</a:t>
            </a:r>
            <a:r>
              <a:rPr lang="en-US" altLang="zh-CN" sz="2000" dirty="0">
                <a:solidFill>
                  <a:srgbClr val="374151"/>
                </a:solidFill>
                <a:latin typeface="_5b8b_4f53"/>
              </a:rPr>
              <a:t>OC-SSD</a:t>
            </a:r>
            <a:r>
              <a:rPr lang="zh-CN" altLang="en-US" sz="2000" dirty="0">
                <a:solidFill>
                  <a:srgbClr val="374151"/>
                </a:solidFill>
                <a:latin typeface="_5b8b_4f53"/>
              </a:rPr>
              <a:t>、</a:t>
            </a:r>
            <a:r>
              <a:rPr lang="en-US" altLang="zh-CN" sz="2000" dirty="0">
                <a:solidFill>
                  <a:srgbClr val="374151"/>
                </a:solidFill>
                <a:latin typeface="_5b8b_4f53"/>
              </a:rPr>
              <a:t>Stream-SSD</a:t>
            </a:r>
            <a:r>
              <a:rPr lang="zh-CN" altLang="en-US" sz="2000" dirty="0">
                <a:solidFill>
                  <a:srgbClr val="374151"/>
                </a:solidFill>
                <a:latin typeface="_5b8b_4f53"/>
              </a:rPr>
              <a:t>、</a:t>
            </a:r>
            <a:r>
              <a:rPr lang="en-US" altLang="zh-CN" sz="2000" dirty="0">
                <a:solidFill>
                  <a:srgbClr val="374151"/>
                </a:solidFill>
                <a:latin typeface="_5b8b_4f53"/>
              </a:rPr>
              <a:t>ZNS</a:t>
            </a:r>
            <a:r>
              <a:rPr lang="zh-CN" altLang="en-US" sz="2000" dirty="0">
                <a:solidFill>
                  <a:srgbClr val="374151"/>
                </a:solidFill>
                <a:latin typeface="_5b8b_4f53"/>
              </a:rPr>
              <a:t>甚至包括近存计算等技术，工程师想要的是尽可能少更改现有应用（甚至不更改）， 就能达到更好的性能。</a:t>
            </a:r>
            <a:endParaRPr lang="en-US" altLang="zh-CN" sz="2000" dirty="0">
              <a:solidFill>
                <a:srgbClr val="374151"/>
              </a:solidFill>
              <a:latin typeface="_5b8b_4f53"/>
            </a:endParaRPr>
          </a:p>
          <a:p>
            <a:pPr marL="285750" indent="-285750" eaLnBrk="0" fontAlgn="base" hangingPunct="0">
              <a:lnSpc>
                <a:spcPct val="150000"/>
              </a:lnSpc>
              <a:spcBef>
                <a:spcPct val="0"/>
              </a:spcBef>
              <a:spcAft>
                <a:spcPct val="0"/>
              </a:spcAft>
              <a:buFont typeface="Arial" panose="020B0604020202020204" pitchFamily="34" charset="0"/>
              <a:buChar char="•"/>
            </a:pPr>
            <a:endParaRPr lang="en-US" altLang="zh-CN" b="0" i="0" dirty="0">
              <a:solidFill>
                <a:srgbClr val="191B1F"/>
              </a:solidFill>
              <a:effectLst/>
              <a:latin typeface="-apple-system"/>
            </a:endParaRPr>
          </a:p>
          <a:p>
            <a:pPr indent="-285750" fontAlgn="base">
              <a:lnSpc>
                <a:spcPct val="150000"/>
              </a:lnSpc>
              <a:spcBef>
                <a:spcPct val="0"/>
              </a:spcBef>
              <a:spcAft>
                <a:spcPct val="0"/>
              </a:spcAft>
              <a:buFont typeface="Arial" panose="020B0604020202020204" pitchFamily="34" charset="0"/>
              <a:buChar char="•"/>
            </a:pPr>
            <a:r>
              <a:rPr lang="zh-CN" altLang="en-US" sz="2000" dirty="0">
                <a:solidFill>
                  <a:srgbClr val="374151"/>
                </a:solidFill>
                <a:latin typeface="_5b8b_4f53"/>
              </a:rPr>
              <a:t>在硬件级，</a:t>
            </a:r>
            <a:r>
              <a:rPr lang="en-US" altLang="zh-CN" sz="2000" dirty="0">
                <a:solidFill>
                  <a:srgbClr val="374151"/>
                </a:solidFill>
                <a:latin typeface="_5b8b_4f53"/>
              </a:rPr>
              <a:t>Zone</a:t>
            </a:r>
            <a:r>
              <a:rPr lang="zh-CN" altLang="en-US" sz="2000" dirty="0">
                <a:solidFill>
                  <a:srgbClr val="374151"/>
                </a:solidFill>
                <a:latin typeface="_5b8b_4f53"/>
              </a:rPr>
              <a:t> </a:t>
            </a:r>
            <a:r>
              <a:rPr lang="en-US" altLang="zh-CN" sz="2000" dirty="0">
                <a:solidFill>
                  <a:srgbClr val="374151"/>
                </a:solidFill>
                <a:latin typeface="_5b8b_4f53"/>
              </a:rPr>
              <a:t>size</a:t>
            </a:r>
            <a:r>
              <a:rPr lang="zh-CN" altLang="en-US" sz="2000" dirty="0">
                <a:solidFill>
                  <a:srgbClr val="374151"/>
                </a:solidFill>
                <a:latin typeface="_5b8b_4f53"/>
              </a:rPr>
              <a:t>的进一步讨论：</a:t>
            </a:r>
            <a:r>
              <a:rPr lang="en-US" altLang="zh-CN" sz="2000" dirty="0">
                <a:solidFill>
                  <a:srgbClr val="374151"/>
                </a:solidFill>
                <a:latin typeface="_5b8b_4f53"/>
              </a:rPr>
              <a:t>Small zone</a:t>
            </a:r>
            <a:r>
              <a:rPr lang="zh-CN" altLang="en-US" sz="2000" dirty="0">
                <a:solidFill>
                  <a:srgbClr val="374151"/>
                </a:solidFill>
                <a:latin typeface="_5b8b_4f53"/>
              </a:rPr>
              <a:t>，例如</a:t>
            </a:r>
            <a:r>
              <a:rPr lang="en-US" altLang="zh-CN" sz="2000" dirty="0">
                <a:solidFill>
                  <a:srgbClr val="374151"/>
                </a:solidFill>
                <a:latin typeface="_5b8b_4f53"/>
              </a:rPr>
              <a:t>96MB</a:t>
            </a:r>
            <a:r>
              <a:rPr lang="zh-CN" altLang="en-US" sz="2000" dirty="0">
                <a:solidFill>
                  <a:srgbClr val="374151"/>
                </a:solidFill>
                <a:latin typeface="_5b8b_4f53"/>
              </a:rPr>
              <a:t>，与擦除单元保持一致。</a:t>
            </a:r>
            <a:endParaRPr lang="en-US" altLang="zh-CN" sz="2000" dirty="0">
              <a:solidFill>
                <a:srgbClr val="374151"/>
              </a:solidFill>
              <a:latin typeface="_5b8b_4f53"/>
            </a:endParaRPr>
          </a:p>
          <a:p>
            <a:pPr marL="285750" indent="-285750" eaLnBrk="0" fontAlgn="base" hangingPunct="0">
              <a:lnSpc>
                <a:spcPct val="150000"/>
              </a:lnSpc>
              <a:spcBef>
                <a:spcPct val="0"/>
              </a:spcBef>
              <a:spcAft>
                <a:spcPct val="0"/>
              </a:spcAft>
              <a:buFont typeface="Arial" panose="020B0604020202020204" pitchFamily="34" charset="0"/>
              <a:buChar char="•"/>
            </a:pPr>
            <a:endParaRPr lang="en-US" altLang="zh-CN" dirty="0">
              <a:solidFill>
                <a:srgbClr val="34495E"/>
              </a:solidFill>
              <a:latin typeface="Ubuntu" panose="020B0504030602030204" pitchFamily="34" charset="0"/>
            </a:endParaRPr>
          </a:p>
        </p:txBody>
      </p:sp>
    </p:spTree>
    <p:extLst>
      <p:ext uri="{BB962C8B-B14F-4D97-AF65-F5344CB8AC3E}">
        <p14:creationId xmlns:p14="http://schemas.microsoft.com/office/powerpoint/2010/main" val="8136069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13</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66" name="文本框 65">
            <a:extLst>
              <a:ext uri="{FF2B5EF4-FFF2-40B4-BE49-F238E27FC236}">
                <a16:creationId xmlns:a16="http://schemas.microsoft.com/office/drawing/2014/main" id="{01575266-097C-404D-81E1-951CFDC21DCB}"/>
              </a:ext>
            </a:extLst>
          </p:cNvPr>
          <p:cNvSpPr txBox="1"/>
          <p:nvPr/>
        </p:nvSpPr>
        <p:spPr>
          <a:xfrm>
            <a:off x="8244849" y="4730406"/>
            <a:ext cx="2099301" cy="1328569"/>
          </a:xfrm>
          <a:prstGeom prst="rect">
            <a:avLst/>
          </a:prstGeom>
          <a:noFill/>
        </p:spPr>
        <p:txBody>
          <a:bodyPr wrap="square" rtlCol="0">
            <a:spAutoFit/>
          </a:bodyPr>
          <a:lstStyle/>
          <a:p>
            <a:pPr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Q&amp;A</a:t>
            </a:r>
          </a:p>
          <a:p>
            <a:pPr lvl="0"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Thanks</a:t>
            </a: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a:t>
            </a:r>
          </a:p>
        </p:txBody>
      </p:sp>
      <p:sp>
        <p:nvSpPr>
          <p:cNvPr id="67" name="矩形: 圆角 66">
            <a:extLst>
              <a:ext uri="{FF2B5EF4-FFF2-40B4-BE49-F238E27FC236}">
                <a16:creationId xmlns:a16="http://schemas.microsoft.com/office/drawing/2014/main" id="{0AAF68C8-9B60-4EE5-BDEE-3DF9819FF162}"/>
              </a:ext>
            </a:extLst>
          </p:cNvPr>
          <p:cNvSpPr/>
          <p:nvPr/>
        </p:nvSpPr>
        <p:spPr>
          <a:xfrm rot="2755966">
            <a:off x="4146517" y="3347706"/>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a16="http://schemas.microsoft.com/office/drawing/2014/main" id="{598D3781-D678-4A44-A66C-8D3B9D7FD8C7}"/>
              </a:ext>
            </a:extLst>
          </p:cNvPr>
          <p:cNvSpPr/>
          <p:nvPr/>
        </p:nvSpPr>
        <p:spPr>
          <a:xfrm rot="2755966">
            <a:off x="2770276" y="966707"/>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a:extLst>
              <a:ext uri="{FF2B5EF4-FFF2-40B4-BE49-F238E27FC236}">
                <a16:creationId xmlns:a16="http://schemas.microsoft.com/office/drawing/2014/main" id="{30DA32EF-D11F-4CF9-860E-C3CFA00C6079}"/>
              </a:ext>
            </a:extLst>
          </p:cNvPr>
          <p:cNvSpPr/>
          <p:nvPr/>
        </p:nvSpPr>
        <p:spPr>
          <a:xfrm rot="2755966">
            <a:off x="4586763" y="2029472"/>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a:extLst>
              <a:ext uri="{FF2B5EF4-FFF2-40B4-BE49-F238E27FC236}">
                <a16:creationId xmlns:a16="http://schemas.microsoft.com/office/drawing/2014/main" id="{99B758B7-B144-4A81-A83D-E963D33E0186}"/>
              </a:ext>
            </a:extLst>
          </p:cNvPr>
          <p:cNvSpPr/>
          <p:nvPr/>
        </p:nvSpPr>
        <p:spPr>
          <a:xfrm rot="2755966">
            <a:off x="1415554" y="2470682"/>
            <a:ext cx="3134556" cy="3134556"/>
          </a:xfrm>
          <a:prstGeom prst="roundRect">
            <a:avLst/>
          </a:prstGeom>
          <a:blipFill dpi="0" rotWithShape="0">
            <a:blip r:embed="rId3"/>
            <a:srcRect/>
            <a:stretch>
              <a:fillRect/>
            </a:stretch>
          </a:blipFill>
          <a:ln>
            <a:noFill/>
          </a:ln>
          <a:effectLst>
            <a:outerShdw blurRad="114300" dist="50800" dir="7800000" sx="101000" sy="101000" algn="tr" rotWithShape="0">
              <a:prstClr val="black">
                <a:alpha val="6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矩形: 圆角 70">
            <a:extLst>
              <a:ext uri="{FF2B5EF4-FFF2-40B4-BE49-F238E27FC236}">
                <a16:creationId xmlns:a16="http://schemas.microsoft.com/office/drawing/2014/main" id="{763B64A6-B166-41EE-849F-23DFA4F17AED}"/>
              </a:ext>
            </a:extLst>
          </p:cNvPr>
          <p:cNvSpPr/>
          <p:nvPr/>
        </p:nvSpPr>
        <p:spPr>
          <a:xfrm rot="2755966">
            <a:off x="5633126" y="2433704"/>
            <a:ext cx="1685894" cy="1685894"/>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矩形: 圆角 71">
            <a:extLst>
              <a:ext uri="{FF2B5EF4-FFF2-40B4-BE49-F238E27FC236}">
                <a16:creationId xmlns:a16="http://schemas.microsoft.com/office/drawing/2014/main" id="{0871A45D-4F61-4E61-89FD-6E11F25891D8}"/>
              </a:ext>
            </a:extLst>
          </p:cNvPr>
          <p:cNvSpPr/>
          <p:nvPr/>
        </p:nvSpPr>
        <p:spPr>
          <a:xfrm rot="2755966">
            <a:off x="3965400" y="5546431"/>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圆角 72">
            <a:extLst>
              <a:ext uri="{FF2B5EF4-FFF2-40B4-BE49-F238E27FC236}">
                <a16:creationId xmlns:a16="http://schemas.microsoft.com/office/drawing/2014/main" id="{856449D6-A1C2-472D-AD13-604147B03699}"/>
              </a:ext>
            </a:extLst>
          </p:cNvPr>
          <p:cNvSpPr/>
          <p:nvPr/>
        </p:nvSpPr>
        <p:spPr>
          <a:xfrm rot="2755966">
            <a:off x="5089423" y="716157"/>
            <a:ext cx="1134056" cy="1134056"/>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圆角 73">
            <a:extLst>
              <a:ext uri="{FF2B5EF4-FFF2-40B4-BE49-F238E27FC236}">
                <a16:creationId xmlns:a16="http://schemas.microsoft.com/office/drawing/2014/main" id="{A57A6FD7-A342-47F4-BE6D-5BA5CD2DE50E}"/>
              </a:ext>
            </a:extLst>
          </p:cNvPr>
          <p:cNvSpPr/>
          <p:nvPr/>
        </p:nvSpPr>
        <p:spPr>
          <a:xfrm rot="2755966">
            <a:off x="7189439" y="1365266"/>
            <a:ext cx="396502" cy="396502"/>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5" name="图片 74">
            <a:extLst>
              <a:ext uri="{FF2B5EF4-FFF2-40B4-BE49-F238E27FC236}">
                <a16:creationId xmlns:a16="http://schemas.microsoft.com/office/drawing/2014/main" id="{988C6ADB-B46C-425F-82BD-ACD9CA6FB7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pic>
        <p:nvPicPr>
          <p:cNvPr id="76" name="图片 75">
            <a:extLst>
              <a:ext uri="{FF2B5EF4-FFF2-40B4-BE49-F238E27FC236}">
                <a16:creationId xmlns:a16="http://schemas.microsoft.com/office/drawing/2014/main" id="{B4608348-6D52-4F84-9094-BEBC71B6EC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Tree>
    <p:extLst>
      <p:ext uri="{BB962C8B-B14F-4D97-AF65-F5344CB8AC3E}">
        <p14:creationId xmlns:p14="http://schemas.microsoft.com/office/powerpoint/2010/main" val="65684549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15183" y="166469"/>
            <a:ext cx="6798981" cy="645160"/>
          </a:xfrm>
          <a:prstGeom prst="rect">
            <a:avLst/>
          </a:prstGeom>
          <a:noFill/>
        </p:spPr>
        <p:txBody>
          <a:bodyPr wrap="square" rtlCol="0">
            <a:spAutoFit/>
          </a:bodyPr>
          <a:lstStyle/>
          <a:p>
            <a:pPr>
              <a:lnSpc>
                <a:spcPct val="90000"/>
              </a:lnSpc>
              <a:spcBef>
                <a:spcPts val="1000"/>
              </a:spcBef>
              <a:defRPr/>
            </a:pP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相关文献</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p:cNvSpPr txBox="1"/>
          <p:nvPr/>
        </p:nvSpPr>
        <p:spPr>
          <a:xfrm>
            <a:off x="440055" y="1088390"/>
            <a:ext cx="6951980" cy="460375"/>
          </a:xfrm>
          <a:prstGeom prst="rect">
            <a:avLst/>
          </a:prstGeom>
          <a:noFill/>
        </p:spPr>
        <p:txBody>
          <a:bodyPr wrap="square" rtlCol="0">
            <a:spAutoFit/>
          </a:bodyPr>
          <a:lstStyle/>
          <a:p>
            <a:r>
              <a:rPr lang="en-US" altLang="zh-CN" sz="2400" dirty="0">
                <a:solidFill>
                  <a:srgbClr val="4747BA"/>
                </a:solidFill>
                <a:ea typeface="+mn-lt"/>
                <a:cs typeface="Times New Roman" panose="02020603050405020304" pitchFamily="18" charset="0"/>
              </a:rPr>
              <a:t>ZNS</a:t>
            </a:r>
            <a:r>
              <a:rPr lang="zh-CN" altLang="en-US" sz="2400" dirty="0">
                <a:solidFill>
                  <a:srgbClr val="4747BA"/>
                </a:solidFill>
                <a:ea typeface="+mn-lt"/>
                <a:cs typeface="Times New Roman" panose="02020603050405020304" pitchFamily="18" charset="0"/>
              </a:rPr>
              <a:t>相关文献：</a:t>
            </a:r>
            <a:endParaRPr lang="en-US" altLang="zh-CN" sz="2400" dirty="0">
              <a:solidFill>
                <a:srgbClr val="4747BA"/>
              </a:solidFill>
              <a:ea typeface="+mn-lt"/>
              <a:cs typeface="Times New Roman" panose="02020603050405020304" pitchFamily="18" charset="0"/>
            </a:endParaRPr>
          </a:p>
        </p:txBody>
      </p:sp>
      <p:sp>
        <p:nvSpPr>
          <p:cNvPr id="11" name="文本框 10"/>
          <p:cNvSpPr txBox="1"/>
          <p:nvPr/>
        </p:nvSpPr>
        <p:spPr>
          <a:xfrm>
            <a:off x="440055" y="1666450"/>
            <a:ext cx="9407814" cy="4662110"/>
          </a:xfrm>
          <a:prstGeom prst="rect">
            <a:avLst/>
          </a:prstGeom>
          <a:noFill/>
        </p:spPr>
        <p:txBody>
          <a:bodyPr wrap="square" rtlCol="0">
            <a:spAutoFit/>
          </a:bodyPr>
          <a:lstStyle/>
          <a:p>
            <a:pPr indent="-285750">
              <a:lnSpc>
                <a:spcPct val="150000"/>
              </a:lnSpc>
              <a:buFont typeface="Wingdings" panose="05000000000000000000" charset="0"/>
              <a:buChar char="q"/>
            </a:pPr>
            <a:r>
              <a:rPr lang="en-US" altLang="zh-CN" sz="2000" dirty="0"/>
              <a:t>ZNS: Avoiding the Block Interface Tax for Flash-based SSDs</a:t>
            </a:r>
          </a:p>
          <a:p>
            <a:pPr indent="-285750">
              <a:lnSpc>
                <a:spcPct val="150000"/>
              </a:lnSpc>
              <a:buFont typeface="Wingdings" panose="05000000000000000000" charset="0"/>
              <a:buChar char="q"/>
            </a:pPr>
            <a:r>
              <a:rPr lang="en-US" altLang="zh-CN" sz="2000" dirty="0"/>
              <a:t>ZNS+: Advanced Zoned Namespace Interface for Supporting In-Storage Zone Compaction</a:t>
            </a:r>
          </a:p>
          <a:p>
            <a:pPr indent="-285750">
              <a:lnSpc>
                <a:spcPct val="150000"/>
              </a:lnSpc>
              <a:buFont typeface="Wingdings" panose="05000000000000000000" charset="0"/>
              <a:buChar char="q"/>
            </a:pPr>
            <a:r>
              <a:rPr lang="en-US" altLang="zh-CN" sz="2000" dirty="0" err="1"/>
              <a:t>eZNS</a:t>
            </a:r>
            <a:r>
              <a:rPr lang="zh-CN" altLang="en-US" sz="2000" dirty="0"/>
              <a:t>：</a:t>
            </a:r>
            <a:r>
              <a:rPr lang="en-US" altLang="zh-CN" sz="2000" dirty="0"/>
              <a:t>An Elastic Zoned Namespace for Commodity ZNS SSDs</a:t>
            </a:r>
          </a:p>
          <a:p>
            <a:pPr indent="-285750">
              <a:lnSpc>
                <a:spcPct val="150000"/>
              </a:lnSpc>
              <a:buFont typeface="Wingdings" panose="05000000000000000000" charset="0"/>
              <a:buChar char="q"/>
            </a:pPr>
            <a:r>
              <a:rPr lang="en-US" altLang="zh-CN" sz="2000" dirty="0" err="1"/>
              <a:t>ZNSwap</a:t>
            </a:r>
            <a:r>
              <a:rPr lang="en-US" altLang="zh-CN" sz="2000" dirty="0"/>
              <a:t>: </a:t>
            </a:r>
            <a:r>
              <a:rPr lang="en-US" altLang="zh-CN" sz="2000" dirty="0" err="1"/>
              <a:t>ZNSwap</a:t>
            </a:r>
            <a:r>
              <a:rPr lang="en-US" altLang="zh-CN" sz="2000" dirty="0"/>
              <a:t>: un-Block your Swap</a:t>
            </a:r>
          </a:p>
          <a:p>
            <a:pPr indent="-285750">
              <a:lnSpc>
                <a:spcPct val="150000"/>
              </a:lnSpc>
              <a:buFont typeface="Wingdings" panose="05000000000000000000" charset="0"/>
              <a:buChar char="q"/>
            </a:pPr>
            <a:r>
              <a:rPr lang="en-US" altLang="zh-CN" sz="2000" dirty="0"/>
              <a:t>WALTZ</a:t>
            </a:r>
            <a:r>
              <a:rPr lang="zh-CN" altLang="en-US" sz="2000" dirty="0"/>
              <a:t>：</a:t>
            </a:r>
            <a:r>
              <a:rPr lang="en-US" altLang="zh-CN" sz="2000" dirty="0"/>
              <a:t>Leveraging Zone Append to Tighten the Tail Latency of LSM Tree on ZNS SSD</a:t>
            </a:r>
          </a:p>
          <a:p>
            <a:pPr indent="-285750">
              <a:lnSpc>
                <a:spcPct val="150000"/>
              </a:lnSpc>
              <a:buFont typeface="Wingdings" panose="05000000000000000000" charset="0"/>
              <a:buChar char="q"/>
            </a:pPr>
            <a:endParaRPr lang="en-US" altLang="zh-CN" sz="2000" dirty="0"/>
          </a:p>
          <a:p>
            <a:pPr indent="-285750">
              <a:lnSpc>
                <a:spcPct val="150000"/>
              </a:lnSpc>
              <a:buFont typeface="Wingdings" panose="05000000000000000000" charset="0"/>
              <a:buChar char="q"/>
            </a:pPr>
            <a:r>
              <a:rPr lang="en-US" altLang="zh-CN" sz="2000" dirty="0"/>
              <a:t>……</a:t>
            </a:r>
          </a:p>
          <a:p>
            <a:pPr indent="-285750">
              <a:lnSpc>
                <a:spcPct val="150000"/>
              </a:lnSpc>
              <a:buFont typeface="Wingdings" panose="05000000000000000000" charset="0"/>
              <a:buChar char="q"/>
            </a:pPr>
            <a:endParaRPr lang="zh-CN" altLang="en-US" sz="2000" dirty="0"/>
          </a:p>
        </p:txBody>
      </p:sp>
      <p:sp>
        <p:nvSpPr>
          <p:cNvPr id="13"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10,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15183" y="166469"/>
            <a:ext cx="6798981" cy="645160"/>
          </a:xfrm>
          <a:prstGeom prst="rect">
            <a:avLst/>
          </a:prstGeom>
          <a:noFill/>
        </p:spPr>
        <p:txBody>
          <a:bodyPr wrap="square" rtlCol="0">
            <a:spAutoFit/>
          </a:bodyPr>
          <a:lstStyle/>
          <a:p>
            <a:pPr>
              <a:lnSpc>
                <a:spcPct val="90000"/>
              </a:lnSpc>
              <a:spcBef>
                <a:spcPts val="1000"/>
              </a:spcBef>
              <a:defRPr/>
            </a:pPr>
            <a:r>
              <a:rPr lang="en-US" altLang="zh-CN" sz="40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CacheLib</a:t>
            </a: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Navy</a:t>
            </a:r>
            <a:endPar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15</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3"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31B23CE1-1ECC-2A85-FC04-A5828C1329D6}"/>
              </a:ext>
            </a:extLst>
          </p:cNvPr>
          <p:cNvSpPr txBox="1"/>
          <p:nvPr/>
        </p:nvSpPr>
        <p:spPr>
          <a:xfrm>
            <a:off x="385590" y="1353000"/>
            <a:ext cx="5687354" cy="4200252"/>
          </a:xfrm>
          <a:prstGeom prst="rect">
            <a:avLst/>
          </a:prstGeom>
          <a:noFill/>
        </p:spPr>
        <p:txBody>
          <a:bodyPr wrap="square" rtlCol="0">
            <a:spAutoFit/>
          </a:bodyPr>
          <a:lstStyle/>
          <a:p>
            <a:pPr>
              <a:lnSpc>
                <a:spcPct val="150000"/>
              </a:lnSpc>
            </a:pPr>
            <a:r>
              <a:rPr lang="en-US" altLang="zh-CN" sz="2000" dirty="0">
                <a:solidFill>
                  <a:srgbClr val="374151"/>
                </a:solidFill>
                <a:latin typeface="_5b8b_4f53"/>
              </a:rPr>
              <a:t>Navy </a:t>
            </a:r>
            <a:r>
              <a:rPr lang="zh-CN" altLang="en-US" sz="2000" dirty="0">
                <a:solidFill>
                  <a:srgbClr val="374151"/>
                </a:solidFill>
                <a:latin typeface="_5b8b_4f53"/>
              </a:rPr>
              <a:t>是 </a:t>
            </a:r>
            <a:r>
              <a:rPr lang="en-US" altLang="zh-CN" sz="2000" dirty="0" err="1">
                <a:solidFill>
                  <a:srgbClr val="374151"/>
                </a:solidFill>
                <a:latin typeface="_5b8b_4f53"/>
              </a:rPr>
              <a:t>CacheLib</a:t>
            </a:r>
            <a:r>
              <a:rPr lang="en-US" altLang="zh-CN" sz="2000" dirty="0">
                <a:solidFill>
                  <a:srgbClr val="374151"/>
                </a:solidFill>
                <a:latin typeface="_5b8b_4f53"/>
              </a:rPr>
              <a:t> </a:t>
            </a:r>
            <a:r>
              <a:rPr lang="zh-CN" altLang="en-US" sz="2000" dirty="0">
                <a:solidFill>
                  <a:srgbClr val="374151"/>
                </a:solidFill>
                <a:latin typeface="_5b8b_4f53"/>
              </a:rPr>
              <a:t>中的一个组件，它是一个为 </a:t>
            </a:r>
            <a:r>
              <a:rPr lang="en-US" altLang="zh-CN" sz="2000" dirty="0">
                <a:solidFill>
                  <a:srgbClr val="374151"/>
                </a:solidFill>
                <a:latin typeface="_5b8b_4f53"/>
              </a:rPr>
              <a:t>SSD </a:t>
            </a:r>
            <a:r>
              <a:rPr lang="zh-CN" altLang="en-US" sz="2000" dirty="0">
                <a:solidFill>
                  <a:srgbClr val="374151"/>
                </a:solidFill>
                <a:latin typeface="_5b8b_4f53"/>
              </a:rPr>
              <a:t>优化的缓存引擎，专门为 </a:t>
            </a:r>
            <a:r>
              <a:rPr lang="en-US" altLang="zh-CN" sz="2000" dirty="0">
                <a:solidFill>
                  <a:srgbClr val="374151"/>
                </a:solidFill>
                <a:latin typeface="_5b8b_4f53"/>
              </a:rPr>
              <a:t>Hybrid Cache </a:t>
            </a:r>
            <a:r>
              <a:rPr lang="zh-CN" altLang="en-US" sz="2000" dirty="0">
                <a:solidFill>
                  <a:srgbClr val="374151"/>
                </a:solidFill>
                <a:latin typeface="_5b8b_4f53"/>
              </a:rPr>
              <a:t>设计。</a:t>
            </a:r>
            <a:r>
              <a:rPr lang="en-US" altLang="zh-CN" sz="2000" dirty="0">
                <a:solidFill>
                  <a:srgbClr val="374151"/>
                </a:solidFill>
                <a:latin typeface="_5b8b_4f53"/>
              </a:rPr>
              <a:t>Navy </a:t>
            </a:r>
            <a:r>
              <a:rPr lang="zh-CN" altLang="en-US" sz="2000" dirty="0">
                <a:solidFill>
                  <a:srgbClr val="374151"/>
                </a:solidFill>
                <a:latin typeface="_5b8b_4f53"/>
              </a:rPr>
              <a:t>通过 </a:t>
            </a:r>
            <a:r>
              <a:rPr lang="en-US" altLang="zh-CN" sz="2000" dirty="0" err="1">
                <a:solidFill>
                  <a:srgbClr val="374151"/>
                </a:solidFill>
                <a:latin typeface="_5b8b_4f53"/>
              </a:rPr>
              <a:t>nvmcache</a:t>
            </a:r>
            <a:r>
              <a:rPr lang="en-US" altLang="zh-CN" sz="2000" dirty="0">
                <a:solidFill>
                  <a:srgbClr val="374151"/>
                </a:solidFill>
                <a:latin typeface="_5b8b_4f53"/>
              </a:rPr>
              <a:t> </a:t>
            </a:r>
            <a:r>
              <a:rPr lang="zh-CN" altLang="en-US" sz="2000" dirty="0">
                <a:solidFill>
                  <a:srgbClr val="374151"/>
                </a:solidFill>
                <a:latin typeface="_5b8b_4f53"/>
              </a:rPr>
              <a:t>接口与 </a:t>
            </a:r>
            <a:r>
              <a:rPr lang="en-US" altLang="zh-CN" sz="2000" dirty="0" err="1">
                <a:solidFill>
                  <a:srgbClr val="374151"/>
                </a:solidFill>
                <a:latin typeface="_5b8b_4f53"/>
              </a:rPr>
              <a:t>cachelib</a:t>
            </a:r>
            <a:r>
              <a:rPr lang="en-US" altLang="zh-CN" sz="2000" dirty="0">
                <a:solidFill>
                  <a:srgbClr val="374151"/>
                </a:solidFill>
                <a:latin typeface="_5b8b_4f53"/>
              </a:rPr>
              <a:t> </a:t>
            </a:r>
            <a:r>
              <a:rPr lang="zh-CN" altLang="en-US" sz="2000" dirty="0">
                <a:solidFill>
                  <a:srgbClr val="374151"/>
                </a:solidFill>
                <a:latin typeface="_5b8b_4f53"/>
              </a:rPr>
              <a:t>集成。它能够高效地管理 </a:t>
            </a:r>
            <a:r>
              <a:rPr lang="en-US" altLang="zh-CN" sz="2000" dirty="0">
                <a:solidFill>
                  <a:srgbClr val="374151"/>
                </a:solidFill>
                <a:latin typeface="_5b8b_4f53"/>
              </a:rPr>
              <a:t>TB </a:t>
            </a:r>
            <a:r>
              <a:rPr lang="zh-CN" altLang="en-US" sz="2000" dirty="0">
                <a:solidFill>
                  <a:srgbClr val="374151"/>
                </a:solidFill>
                <a:latin typeface="_5b8b_4f53"/>
              </a:rPr>
              <a:t>级别的数据，并且同时支持小型（约 </a:t>
            </a:r>
            <a:r>
              <a:rPr lang="en-US" altLang="zh-CN" sz="2000" dirty="0">
                <a:solidFill>
                  <a:srgbClr val="374151"/>
                </a:solidFill>
                <a:latin typeface="_5b8b_4f53"/>
              </a:rPr>
              <a:t>100 </a:t>
            </a:r>
            <a:r>
              <a:rPr lang="zh-CN" altLang="en-US" sz="2000" dirty="0">
                <a:solidFill>
                  <a:srgbClr val="374151"/>
                </a:solidFill>
                <a:latin typeface="_5b8b_4f53"/>
              </a:rPr>
              <a:t>字节）和大型（</a:t>
            </a:r>
            <a:r>
              <a:rPr lang="en-US" altLang="zh-CN" sz="2000" dirty="0">
                <a:solidFill>
                  <a:srgbClr val="374151"/>
                </a:solidFill>
                <a:latin typeface="_5b8b_4f53"/>
              </a:rPr>
              <a:t>10KB </a:t>
            </a:r>
            <a:r>
              <a:rPr lang="zh-CN" altLang="en-US" sz="2000" dirty="0">
                <a:solidFill>
                  <a:srgbClr val="374151"/>
                </a:solidFill>
                <a:latin typeface="_5b8b_4f53"/>
              </a:rPr>
              <a:t>到 </a:t>
            </a:r>
            <a:r>
              <a:rPr lang="en-US" altLang="zh-CN" sz="2000" dirty="0">
                <a:solidFill>
                  <a:srgbClr val="374151"/>
                </a:solidFill>
                <a:latin typeface="_5b8b_4f53"/>
              </a:rPr>
              <a:t>1MB</a:t>
            </a:r>
            <a:r>
              <a:rPr lang="zh-CN" altLang="en-US" sz="2000" dirty="0">
                <a:solidFill>
                  <a:srgbClr val="374151"/>
                </a:solidFill>
                <a:latin typeface="_5b8b_4f53"/>
              </a:rPr>
              <a:t>）对象的缓存</a:t>
            </a:r>
            <a:r>
              <a:rPr lang="en-US" altLang="zh-CN" sz="2000" dirty="0">
                <a:solidFill>
                  <a:srgbClr val="374151"/>
                </a:solidFill>
                <a:latin typeface="_5b8b_4f53"/>
              </a:rPr>
              <a:t>1</a:t>
            </a:r>
            <a:r>
              <a:rPr lang="zh-CN" altLang="en-US" sz="2000" dirty="0">
                <a:solidFill>
                  <a:srgbClr val="374151"/>
                </a:solidFill>
                <a:latin typeface="_5b8b_4f53"/>
              </a:rPr>
              <a:t>。</a:t>
            </a:r>
            <a:r>
              <a:rPr lang="en-US" altLang="zh-CN" sz="2000" dirty="0">
                <a:solidFill>
                  <a:srgbClr val="374151"/>
                </a:solidFill>
                <a:latin typeface="_5b8b_4f53"/>
              </a:rPr>
              <a:t>Navy </a:t>
            </a:r>
            <a:r>
              <a:rPr lang="zh-CN" altLang="en-US" sz="2000" dirty="0">
                <a:solidFill>
                  <a:srgbClr val="374151"/>
                </a:solidFill>
                <a:latin typeface="_5b8b_4f53"/>
              </a:rPr>
              <a:t>提供了同步和异步 </a:t>
            </a:r>
            <a:r>
              <a:rPr lang="en-US" altLang="zh-CN" sz="2000" dirty="0">
                <a:solidFill>
                  <a:srgbClr val="374151"/>
                </a:solidFill>
                <a:latin typeface="_5b8b_4f53"/>
              </a:rPr>
              <a:t>API</a:t>
            </a:r>
            <a:r>
              <a:rPr lang="zh-CN" altLang="en-US" sz="2000" dirty="0">
                <a:solidFill>
                  <a:srgbClr val="374151"/>
                </a:solidFill>
                <a:latin typeface="_5b8b_4f53"/>
              </a:rPr>
              <a:t>（支持自定义执行器进行异步操作），并在安全关闭时提供缓存持久性。此外，</a:t>
            </a:r>
            <a:r>
              <a:rPr lang="en-US" altLang="zh-CN" sz="2000" dirty="0">
                <a:solidFill>
                  <a:srgbClr val="374151"/>
                </a:solidFill>
                <a:latin typeface="_5b8b_4f53"/>
              </a:rPr>
              <a:t>Navy </a:t>
            </a:r>
            <a:r>
              <a:rPr lang="zh-CN" altLang="en-US" sz="2000" dirty="0">
                <a:solidFill>
                  <a:srgbClr val="374151"/>
                </a:solidFill>
                <a:latin typeface="_5b8b_4f53"/>
              </a:rPr>
              <a:t>还支持直接 </a:t>
            </a:r>
            <a:r>
              <a:rPr lang="en-US" altLang="zh-CN" sz="2000" dirty="0">
                <a:solidFill>
                  <a:srgbClr val="374151"/>
                </a:solidFill>
                <a:latin typeface="_5b8b_4f53"/>
              </a:rPr>
              <a:t>I/O </a:t>
            </a:r>
            <a:r>
              <a:rPr lang="zh-CN" altLang="en-US" sz="2000" dirty="0">
                <a:solidFill>
                  <a:srgbClr val="374151"/>
                </a:solidFill>
                <a:latin typeface="_5b8b_4f53"/>
              </a:rPr>
              <a:t>和原始设备，以及使用 </a:t>
            </a:r>
            <a:r>
              <a:rPr lang="en-US" altLang="zh-CN" sz="2000" dirty="0" err="1">
                <a:solidFill>
                  <a:srgbClr val="374151"/>
                </a:solidFill>
                <a:latin typeface="_5b8b_4f53"/>
              </a:rPr>
              <a:t>io_uring</a:t>
            </a:r>
            <a:r>
              <a:rPr lang="en-US" altLang="zh-CN" sz="2000" dirty="0">
                <a:solidFill>
                  <a:srgbClr val="374151"/>
                </a:solidFill>
                <a:latin typeface="_5b8b_4f53"/>
              </a:rPr>
              <a:t> </a:t>
            </a:r>
            <a:r>
              <a:rPr lang="zh-CN" altLang="en-US" sz="2000" dirty="0">
                <a:solidFill>
                  <a:srgbClr val="374151"/>
                </a:solidFill>
                <a:latin typeface="_5b8b_4f53"/>
              </a:rPr>
              <a:t>或 </a:t>
            </a:r>
            <a:r>
              <a:rPr lang="en-US" altLang="zh-CN" sz="2000" dirty="0" err="1">
                <a:solidFill>
                  <a:srgbClr val="374151"/>
                </a:solidFill>
                <a:latin typeface="_5b8b_4f53"/>
              </a:rPr>
              <a:t>libaio</a:t>
            </a:r>
            <a:r>
              <a:rPr lang="en-US" altLang="zh-CN" sz="2000" dirty="0">
                <a:solidFill>
                  <a:srgbClr val="374151"/>
                </a:solidFill>
                <a:latin typeface="_5b8b_4f53"/>
              </a:rPr>
              <a:t> </a:t>
            </a:r>
            <a:r>
              <a:rPr lang="zh-CN" altLang="en-US" sz="2000" dirty="0">
                <a:solidFill>
                  <a:srgbClr val="374151"/>
                </a:solidFill>
                <a:latin typeface="_5b8b_4f53"/>
              </a:rPr>
              <a:t>进行异步 </a:t>
            </a:r>
            <a:r>
              <a:rPr lang="en-US" altLang="zh-CN" sz="2000" dirty="0">
                <a:solidFill>
                  <a:srgbClr val="374151"/>
                </a:solidFill>
                <a:latin typeface="_5b8b_4f53"/>
              </a:rPr>
              <a:t>I/O</a:t>
            </a:r>
            <a:r>
              <a:rPr lang="zh-CN" altLang="en-US" sz="2000" dirty="0">
                <a:solidFill>
                  <a:srgbClr val="374151"/>
                </a:solidFill>
                <a:latin typeface="_5b8b_4f53"/>
              </a:rPr>
              <a:t>。</a:t>
            </a:r>
          </a:p>
        </p:txBody>
      </p:sp>
      <p:pic>
        <p:nvPicPr>
          <p:cNvPr id="4" name="图片 3">
            <a:extLst>
              <a:ext uri="{FF2B5EF4-FFF2-40B4-BE49-F238E27FC236}">
                <a16:creationId xmlns:a16="http://schemas.microsoft.com/office/drawing/2014/main" id="{C1993C3B-731A-4B77-8607-E78909102DC6}"/>
              </a:ext>
            </a:extLst>
          </p:cNvPr>
          <p:cNvPicPr>
            <a:picLocks noChangeAspect="1"/>
          </p:cNvPicPr>
          <p:nvPr/>
        </p:nvPicPr>
        <p:blipFill>
          <a:blip r:embed="rId5"/>
          <a:stretch>
            <a:fillRect/>
          </a:stretch>
        </p:blipFill>
        <p:spPr>
          <a:xfrm>
            <a:off x="6812191" y="1640607"/>
            <a:ext cx="5052975" cy="348850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2583</TotalTime>
  <Words>2266</Words>
  <Application>Microsoft Office PowerPoint</Application>
  <PresentationFormat>宽屏</PresentationFormat>
  <Paragraphs>205</Paragraphs>
  <Slides>16</Slides>
  <Notes>16</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16</vt:i4>
      </vt:variant>
    </vt:vector>
  </HeadingPairs>
  <TitlesOfParts>
    <vt:vector size="33" baseType="lpstr">
      <vt:lpstr>_5b8b_4f53</vt:lpstr>
      <vt:lpstr>-apple-system</vt:lpstr>
      <vt:lpstr>HelveticaNeue Regular</vt:lpstr>
      <vt:lpstr>NimbusRomNo9L-Regu</vt:lpstr>
      <vt:lpstr>PingFang SC</vt:lpstr>
      <vt:lpstr>PingFangSC-Regular</vt:lpstr>
      <vt:lpstr>system-ui</vt:lpstr>
      <vt:lpstr>Ubuntu</vt:lpstr>
      <vt:lpstr>等线</vt:lpstr>
      <vt:lpstr>等线 Light</vt:lpstr>
      <vt:lpstr>Arial</vt:lpstr>
      <vt:lpstr>Calibri</vt:lpstr>
      <vt:lpstr>Constantia</vt:lpstr>
      <vt:lpstr>Times New Roman</vt:lpstr>
      <vt:lpstr>Wingdings</vt:lpstr>
      <vt:lpstr>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子淇 柳</dc:creator>
  <cp:lastModifiedBy>子淇 柳</cp:lastModifiedBy>
  <cp:revision>594</cp:revision>
  <dcterms:created xsi:type="dcterms:W3CDTF">2024-03-28T05:36:01Z</dcterms:created>
  <dcterms:modified xsi:type="dcterms:W3CDTF">2024-04-10T07:23:49Z</dcterms:modified>
</cp:coreProperties>
</file>