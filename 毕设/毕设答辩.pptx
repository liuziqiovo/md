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340" r:id="rId2"/>
    <p:sldId id="549" r:id="rId3"/>
    <p:sldId id="548" r:id="rId4"/>
    <p:sldId id="551" r:id="rId5"/>
    <p:sldId id="554" r:id="rId6"/>
    <p:sldId id="545" r:id="rId7"/>
    <p:sldId id="558" r:id="rId8"/>
    <p:sldId id="555" r:id="rId9"/>
    <p:sldId id="557" r:id="rId10"/>
    <p:sldId id="556" r:id="rId11"/>
    <p:sldId id="261" r:id="rId12"/>
    <p:sldId id="552" r:id="rId13"/>
    <p:sldId id="547" r:id="rId14"/>
  </p:sldIdLst>
  <p:sldSz cx="12192000" cy="6858000"/>
  <p:notesSz cx="6858000" cy="9144000"/>
  <p:custDataLst>
    <p:tags r:id="rId1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5D005FB-1F80-42D3-AAEF-86A4217B13FB}">
          <p14:sldIdLst>
            <p14:sldId id="340"/>
            <p14:sldId id="549"/>
            <p14:sldId id="548"/>
            <p14:sldId id="551"/>
            <p14:sldId id="554"/>
            <p14:sldId id="545"/>
            <p14:sldId id="558"/>
            <p14:sldId id="555"/>
            <p14:sldId id="557"/>
            <p14:sldId id="556"/>
            <p14:sldId id="261"/>
            <p14:sldId id="552"/>
            <p14:sldId id="5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747BA"/>
    <a:srgbClr val="ADADE0"/>
    <a:srgbClr val="8484D1"/>
    <a:srgbClr val="0152D9"/>
    <a:srgbClr val="E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19" autoAdjust="0"/>
    <p:restoredTop sz="81289" autoAdjust="0"/>
  </p:normalViewPr>
  <p:slideViewPr>
    <p:cSldViewPr snapToGrid="0">
      <p:cViewPr varScale="1">
        <p:scale>
          <a:sx n="91" d="100"/>
          <a:sy n="91" d="100"/>
        </p:scale>
        <p:origin x="10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AFB0F-6192-48FE-99AC-AF225DC028A7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1677A-EDDD-4DA4-9464-453B9AC957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开题报告：基于</a:t>
            </a:r>
            <a:r>
              <a:rPr lang="en-US" altLang="zh-CN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12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  <a:p>
            <a:pPr indent="0" algn="just">
              <a:buFont typeface="Arial" panose="020B0604020202020204" pitchFamily="34" charset="0"/>
              <a:buNone/>
            </a:pPr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颗粒），关键参数上也有区别，例如已知的，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，最大带宽也更大。另一方面，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 SSD vs ZNS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977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65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0D0D0D"/>
                </a:solidFill>
                <a:latin typeface="Söhne"/>
              </a:rPr>
              <a:t>我们的设备是有区别的，例如：介质区别、关键参数区别，例如已知的，</a:t>
            </a:r>
            <a:r>
              <a:rPr lang="en-US" altLang="zh-CN" dirty="0">
                <a:solidFill>
                  <a:srgbClr val="0D0D0D"/>
                </a:solidFill>
                <a:latin typeface="Söhne"/>
              </a:rPr>
              <a:t>zone size 2GB-&gt;1.4GB</a:t>
            </a:r>
            <a:r>
              <a:rPr lang="zh-CN" altLang="en-US" dirty="0">
                <a:solidFill>
                  <a:srgbClr val="0D0D0D"/>
                </a:solidFill>
                <a:latin typeface="Söhne"/>
              </a:rPr>
              <a:t>，最大带宽也更大。</a:t>
            </a:r>
            <a:endParaRPr lang="en-US" altLang="zh-CN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ZNS1 vs ZNS2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0515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并不局限于此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这种针对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的优化设计不仅限于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LSM-Tree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型的存储引擎，对于其他使用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语义存储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的数据库，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都能发挥作用。</a:t>
            </a: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观察特性：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设计的出发点是基于对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特性的三点观察：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的写入请求是写入密集型，并主要发出小型写入；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仅在数据库恢复期间读取；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通常很小。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Header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Buffer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 Recovery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恢复过程中，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树会顺序扫描所有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，并将读取的数据应用到其内存表中。然而，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存储在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SSD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上是无序的；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需要恢复其原始顺序。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通过创建从逻辑地址（即偏移量）到物理地址的映射来实现这一点。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如图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3-4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所示，在读取时，首先使用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报头中的信息找到与逻辑地址（单线程顺序写入情况下的正确地址）对应的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条目的物理地址。由于序列号（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seq_number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）是唯一且单调递增的， 所以有更高序列号的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条目都有更高的逻辑地址。具体来说，具有序列号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条目的逻辑地址等于序列号为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x-1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条目的逻辑地址加上其条目大小（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entry_size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）。依次，构建逻辑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-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物理地址映射。然后按照序列号排序，得到一组顺序的物理地址。</a:t>
            </a:r>
          </a:p>
          <a:p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然而，检索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头部并不容易。因为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条目是变长的，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无法预先确定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头部的位置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除了第一个请求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。为了避免每次读取都顺序扫描整个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，逐个条目地查找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头部。一种替代解决方案是一次性读取所有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，但这需要开辟与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等大小的内存。因此，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采用了一种更高效的方案：使用屏障。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625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74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079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3383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470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495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Thanks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listening!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B1677A-EDDD-4DA4-9464-453B9AC95701}" type="slidenum">
              <a:rPr lang="zh-CN" altLang="en-US" smtClean="0"/>
              <a:t>11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44C06-F784-6DAC-1915-581C78B29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3368A4-1A7A-C906-7C38-A1F35E2C2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6F6428-B0C6-CE8A-CAFE-80B3EE0C2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1DAFFE-4908-88CA-8C3E-9E3DEFD08E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569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49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.jpe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3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3.jpe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3.jpe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westerndigitalcorporation/zenfs" TargetMode="Externa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Constantia" panose="02030602050306030303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747870" y="2347912"/>
            <a:ext cx="1042479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基于</a:t>
            </a: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40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90717" y="5150347"/>
            <a:ext cx="23391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汇报人：柳子淇</a:t>
            </a:r>
            <a:endParaRPr lang="en-US" altLang="zh-CN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  <a:p>
            <a:pPr algn="ctr"/>
            <a:r>
              <a:rPr lang="en-US" altLang="zh-CN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5 . 29</a:t>
            </a:r>
            <a:endParaRPr lang="zh-CN" altLang="en-US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34" y="232034"/>
            <a:ext cx="2438400" cy="527343"/>
          </a:xfrm>
          <a:prstGeom prst="rect">
            <a:avLst/>
          </a:prstGeom>
        </p:spPr>
      </p:pic>
      <p:sp>
        <p:nvSpPr>
          <p:cNvPr id="1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2F8C07CB-D5E6-905C-4CA5-A0B50B3F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39986A-8663-B12B-5E7F-8CBB550422EA}"/>
              </a:ext>
            </a:extLst>
          </p:cNvPr>
          <p:cNvSpPr txBox="1"/>
          <p:nvPr/>
        </p:nvSpPr>
        <p:spPr>
          <a:xfrm>
            <a:off x="385590" y="1500227"/>
            <a:ext cx="11266832" cy="40617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随着数据中心对存储性能与效率的需求日益增长，传统的固态硬盘在性能，单盘容量，寿命等方面已经无法满足其存储需求。</a:t>
            </a: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Zoned Namespace (ZNS)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作为一种新兴的固态盘存储技术，通过区域化管理并强制要求区域（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）内顺序写入，消除了硬盘内部管理机制造成的写放大效应，显著提升了存储效率，延长了固态硬盘寿命。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本课题来源于实验室与浪潮等企业的联合项目，旨在利用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等新型硬件重新设计存储系统。本工作作为此项目的先行性研究，基于实际的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盘做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的数据访问特征以及性能优化方面的研究。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A97A7DF-0F62-BD5E-C895-912387E1857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背景</a:t>
            </a:r>
          </a:p>
        </p:txBody>
      </p:sp>
    </p:spTree>
    <p:extLst>
      <p:ext uri="{BB962C8B-B14F-4D97-AF65-F5344CB8AC3E}">
        <p14:creationId xmlns:p14="http://schemas.microsoft.com/office/powerpoint/2010/main" val="1615371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6EE90F-1E38-6A29-27D6-F130558DA2EF}"/>
              </a:ext>
            </a:extLst>
          </p:cNvPr>
          <p:cNvSpPr txBox="1"/>
          <p:nvPr/>
        </p:nvSpPr>
        <p:spPr>
          <a:xfrm>
            <a:off x="440055" y="1478194"/>
            <a:ext cx="11425112" cy="2222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写放大倍数（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Write Amplification Factor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WAF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直接影响了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的寿命和性能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在传统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盘上降低写放大的工作主要有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文件系统优化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（如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F2FS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BetrFS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的数据放置策略优化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，以及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垃圾回收算法优化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zh-CN" dirty="0">
                <a:solidFill>
                  <a:srgbClr val="374151"/>
                </a:solidFill>
                <a:latin typeface="_5b8b_4f53"/>
              </a:rPr>
              <a:t>然而，上述工作只能在应用级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或文件系统级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别一定程度地缓解</a:t>
            </a:r>
            <a:r>
              <a:rPr lang="zh-CN" altLang="zh-CN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主机侧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的工作负载导致的写放大。但在</a:t>
            </a: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设备</a:t>
            </a: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仍存在写放大现象，这一方面是由于闪存转换层（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Flash Translation Layer, FTL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）的管理策略，另一方面是固态硬盘中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NAND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闪存颗粒的擦写粒度不一致的特性导致的。</a:t>
            </a:r>
            <a:endParaRPr lang="en-US" altLang="zh-CN" sz="1600" kern="100" dirty="0">
              <a:solidFill>
                <a:srgbClr val="4747BA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A364727-F676-A371-B1D9-DE6CFE5451C8}"/>
              </a:ext>
            </a:extLst>
          </p:cNvPr>
          <p:cNvSpPr txBox="1"/>
          <p:nvPr/>
        </p:nvSpPr>
        <p:spPr>
          <a:xfrm>
            <a:off x="440054" y="3964615"/>
            <a:ext cx="29317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en-US" altLang="zh-CN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 SSD</a:t>
            </a:r>
            <a:r>
              <a:rPr lang="zh-CN" altLang="en-US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技术：</a:t>
            </a:r>
            <a:endParaRPr lang="en-US" altLang="zh-CN" sz="18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5CE06B-316F-43EC-1525-4789FBC66C78}"/>
              </a:ext>
            </a:extLst>
          </p:cNvPr>
          <p:cNvSpPr txBox="1"/>
          <p:nvPr/>
        </p:nvSpPr>
        <p:spPr>
          <a:xfrm>
            <a:off x="430529" y="1022703"/>
            <a:ext cx="2806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传统</a:t>
            </a:r>
            <a:r>
              <a:rPr lang="en-US" altLang="zh-CN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SSD</a:t>
            </a:r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的写放大问题：</a:t>
            </a:r>
            <a:endParaRPr lang="en-US" altLang="zh-CN" sz="20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77C4F7-936E-CBC4-D6AC-980A1C5A66F9}"/>
              </a:ext>
            </a:extLst>
          </p:cNvPr>
          <p:cNvSpPr txBox="1"/>
          <p:nvPr/>
        </p:nvSpPr>
        <p:spPr>
          <a:xfrm>
            <a:off x="440054" y="4367392"/>
            <a:ext cx="11425112" cy="114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是一种新型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存储技术，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引入了基于区域的存储模型，并且直接取消了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FTL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层的设计，放弃了随机写的支持，进而消除了盘内写放大效应，提高了写入操作的可预测性和效率。此外，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的区域化管理降低了垃圾回收的复杂性和频率，显著提升了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的整体性能和耐用性。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13EA87-1747-CAF7-8163-294D9D2ED9A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2947185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ZAFS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架构概览</a:t>
            </a:r>
          </a:p>
        </p:txBody>
      </p:sp>
      <p:pic>
        <p:nvPicPr>
          <p:cNvPr id="16" name="图形 8">
            <a:extLst>
              <a:ext uri="{FF2B5EF4-FFF2-40B4-BE49-F238E27FC236}">
                <a16:creationId xmlns:a16="http://schemas.microsoft.com/office/drawing/2014/main" id="{0BC2F4B7-D4BE-46CF-A683-CF8911D0E8BD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5590" y="1035208"/>
            <a:ext cx="4472160" cy="5214007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CA445568-DD72-4E30-80F8-764A579485C6}"/>
              </a:ext>
            </a:extLst>
          </p:cNvPr>
          <p:cNvSpPr txBox="1"/>
          <p:nvPr/>
        </p:nvSpPr>
        <p:spPr>
          <a:xfrm>
            <a:off x="5486400" y="1537072"/>
            <a:ext cx="6096000" cy="235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lnSpc>
                <a:spcPct val="150000"/>
              </a:lnSpc>
            </a:pP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ZAFS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引入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SPDK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绕过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Linux kernel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以直接管理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，有效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降低了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操作的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延迟；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indent="266700" algn="just">
              <a:lnSpc>
                <a:spcPct val="150000"/>
              </a:lnSpc>
            </a:pP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并且实现了一种区域友好的追加感知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解决方案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——A2-WAL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，解决了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盘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内单个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只能串行写入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文件而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造成的写入瓶颈问题。</a:t>
            </a:r>
          </a:p>
        </p:txBody>
      </p:sp>
    </p:spTree>
    <p:extLst>
      <p:ext uri="{BB962C8B-B14F-4D97-AF65-F5344CB8AC3E}">
        <p14:creationId xmlns:p14="http://schemas.microsoft.com/office/powerpoint/2010/main" val="2512736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形 4">
            <a:extLst>
              <a:ext uri="{FF2B5EF4-FFF2-40B4-BE49-F238E27FC236}">
                <a16:creationId xmlns:a16="http://schemas.microsoft.com/office/drawing/2014/main" id="{8DFAAC15-8039-4E66-9C49-B6BFDC7BB24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4741" y="929752"/>
            <a:ext cx="7210425" cy="539884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5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A2-WAL</a:t>
            </a:r>
            <a:endParaRPr lang="zh-CN" altLang="en-US" sz="32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CC1707E-979F-4784-82A9-FD4FAB404C52}"/>
              </a:ext>
            </a:extLst>
          </p:cNvPr>
          <p:cNvSpPr txBox="1"/>
          <p:nvPr/>
        </p:nvSpPr>
        <p:spPr>
          <a:xfrm>
            <a:off x="208338" y="1222965"/>
            <a:ext cx="464941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ZAFS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中，设计实现了一种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追加友好的新型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A2-WAL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Append-Aware WAL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r>
              <a:rPr lang="zh-CN" altLang="zh-CN" dirty="0">
                <a:solidFill>
                  <a:srgbClr val="374151"/>
                </a:solidFill>
                <a:latin typeface="_5b8b_4f53"/>
              </a:rPr>
              <a:t>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数据和头部组合成一个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 entry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。这个报头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(header)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由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64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位序列号（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seq_number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 entry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的大小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(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entry_size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)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组成。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r>
              <a:rPr lang="zh-CN" altLang="en-US" dirty="0">
                <a:solidFill>
                  <a:srgbClr val="374151"/>
                </a:solidFill>
                <a:latin typeface="_5b8b_4f53"/>
              </a:rPr>
              <a:t>前者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以原子方式增加，并表示绝对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数据顺序。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后者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用于推断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下一个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WAL 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条目的位置。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</p:spTree>
    <p:extLst>
      <p:ext uri="{BB962C8B-B14F-4D97-AF65-F5344CB8AC3E}">
        <p14:creationId xmlns:p14="http://schemas.microsoft.com/office/powerpoint/2010/main" val="3749543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6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设备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5590" y="1576511"/>
            <a:ext cx="6696883" cy="246150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ZNS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采用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U.2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接口，如右图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</a:t>
            </a: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另外，初步测试了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RocksDB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+ 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ZenFS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的表现，与之前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NVMevirt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模拟结果相比，模拟器的延迟过低。我认为原因在于它是内核模块实现，可能只体现了主机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l/O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栈的延迟。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连接到服务器后，查看块设备，如右下图所示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93457A3-1637-3737-9B53-1CF17294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6F57F7C-C43A-4F29-54A3-9E2A41811F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299" y="1248081"/>
            <a:ext cx="1598233" cy="224301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6DE7B69-1B2D-65EE-4842-C041A206045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977" y="1248799"/>
            <a:ext cx="1693704" cy="225827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777837E1-82E7-66D5-866F-6FEAA4F288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027206"/>
            <a:ext cx="5517358" cy="2270957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A6AB728D-84D2-4469-AF28-191BBA7291C6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实验平台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333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7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74408" y="1049607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模拟</a:t>
            </a:r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vs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物理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74408" y="2902591"/>
            <a:ext cx="50128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写入负载，</a:t>
            </a:r>
            <a:r>
              <a:rPr lang="en-US" altLang="zh-CN" sz="1400" dirty="0" err="1"/>
              <a:t>Blocksize</a:t>
            </a:r>
            <a:r>
              <a:rPr lang="en-US" altLang="zh-CN" sz="1400" dirty="0"/>
              <a:t> = 64k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Num_threads</a:t>
            </a:r>
            <a:r>
              <a:rPr lang="en-US" altLang="zh-CN" sz="1400" dirty="0"/>
              <a:t> = 16</a:t>
            </a:r>
            <a:endParaRPr lang="zh-CN" altLang="en-US" sz="1400" dirty="0"/>
          </a:p>
        </p:txBody>
      </p:sp>
      <p:pic>
        <p:nvPicPr>
          <p:cNvPr id="22" name="图形 49">
            <a:extLst>
              <a:ext uri="{FF2B5EF4-FFF2-40B4-BE49-F238E27FC236}">
                <a16:creationId xmlns:a16="http://schemas.microsoft.com/office/drawing/2014/main" id="{0BF4E7E1-C905-40AF-941A-1D77A1B13FDF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1256" y="1329393"/>
            <a:ext cx="5798024" cy="336442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1F83BFF-98FD-49EC-B37C-8D7FCD2C06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6" y="2037569"/>
            <a:ext cx="4570873" cy="816922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801AC954-86E6-4105-ACEF-EC33F1A1AC57}"/>
              </a:ext>
            </a:extLst>
          </p:cNvPr>
          <p:cNvSpPr txBox="1"/>
          <p:nvPr/>
        </p:nvSpPr>
        <p:spPr>
          <a:xfrm>
            <a:off x="474408" y="1630561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FIO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基准测试中，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模拟器的误差较大：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28D8F15-5FC8-4447-A3BB-6F79F143AAC5}"/>
              </a:ext>
            </a:extLst>
          </p:cNvPr>
          <p:cNvSpPr txBox="1"/>
          <p:nvPr/>
        </p:nvSpPr>
        <p:spPr>
          <a:xfrm>
            <a:off x="474408" y="4693823"/>
            <a:ext cx="10914029" cy="870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lnSpc>
                <a:spcPct val="150000"/>
              </a:lnSpc>
            </a:pP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可以观察到，尽管二者数值上差距较大，但是</a:t>
            </a:r>
            <a:r>
              <a:rPr lang="en-US" altLang="zh-CN" kern="1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NVMeVirt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的吞吐量随时间变化的趋势与真实设备基本一致，</a:t>
            </a:r>
            <a:r>
              <a:rPr lang="zh-CN" altLang="en-US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使用模拟器能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观察设备的性能波动情况，</a:t>
            </a:r>
            <a:r>
              <a:rPr lang="zh-CN" altLang="en-US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能够在一定程度上反应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程序中的性能瓶颈。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93FB669-2C55-460D-9384-8CFF4A90B574}"/>
              </a:ext>
            </a:extLst>
          </p:cNvPr>
          <p:cNvSpPr txBox="1"/>
          <p:nvPr/>
        </p:nvSpPr>
        <p:spPr>
          <a:xfrm>
            <a:off x="474408" y="3466735"/>
            <a:ext cx="51159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2. </a:t>
            </a:r>
            <a:r>
              <a:rPr lang="zh-CN" altLang="en-US" sz="18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RocksDB</a:t>
            </a:r>
            <a:r>
              <a:rPr lang="en-US" altLang="zh-CN" kern="1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+ZenFS</a:t>
            </a:r>
            <a:r>
              <a:rPr lang="zh-CN" altLang="zh-CN" sz="18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分别对模拟和物理环境进行测试，记录吞吐量</a:t>
            </a:r>
            <a:r>
              <a:rPr lang="zh-CN" altLang="zh-CN" dirty="0">
                <a:solidFill>
                  <a:srgbClr val="37415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随时间的变化</a:t>
            </a:r>
            <a:r>
              <a:rPr lang="zh-CN" altLang="en-US" dirty="0">
                <a:solidFill>
                  <a:srgbClr val="37415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如右图所示。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82D8D65-1887-4B91-97ED-5DABC4EEBA49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962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8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269949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单</a:t>
            </a:r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Zone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写入测试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6" name="图形 7">
            <a:extLst>
              <a:ext uri="{FF2B5EF4-FFF2-40B4-BE49-F238E27FC236}">
                <a16:creationId xmlns:a16="http://schemas.microsoft.com/office/drawing/2014/main" id="{799610EE-4E5C-45A6-BD40-2877F4D9D982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5590" y="2907407"/>
            <a:ext cx="4993005" cy="2926080"/>
          </a:xfrm>
          <a:prstGeom prst="rect">
            <a:avLst/>
          </a:prstGeom>
        </p:spPr>
      </p:pic>
      <p:pic>
        <p:nvPicPr>
          <p:cNvPr id="19" name="图形 6">
            <a:extLst>
              <a:ext uri="{FF2B5EF4-FFF2-40B4-BE49-F238E27FC236}">
                <a16:creationId xmlns:a16="http://schemas.microsoft.com/office/drawing/2014/main" id="{F6BAC16D-33AB-4D16-B960-7D50A2D54EE2}"/>
              </a:ext>
            </a:extLst>
          </p:cNvPr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21528" y="2858296"/>
            <a:ext cx="4993005" cy="292608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40055" y="1904249"/>
            <a:ext cx="10543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在实际应用中，会出现某类型的数据仅写入单个指定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的情况（例如上文分析的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RocksDB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中的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文件），因此，测试不同情况下单个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的性能很有意义。分别使用三种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I/O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引擎，在不同的块大小下进行单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写入测试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，结果如下。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2341366-4E61-45FA-B7C4-58EA1BEF8A57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152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9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144352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全盘写入测试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40055" y="1722906"/>
            <a:ext cx="10543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为了评估不同块大小和线程数对写入速度和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IOPS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的影响，我们设计并实施了一系列测试。测试配置包括使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io_uring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作为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I/O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引擎，并在五种不同的块大小（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64k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128k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256k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）和五个不同的线程数（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）下进行测试。</a:t>
            </a:r>
            <a:endParaRPr lang="zh-CN" altLang="en-US" dirty="0"/>
          </a:p>
        </p:txBody>
      </p:sp>
      <p:pic>
        <p:nvPicPr>
          <p:cNvPr id="25" name="图形 11">
            <a:extLst>
              <a:ext uri="{FF2B5EF4-FFF2-40B4-BE49-F238E27FC236}">
                <a16:creationId xmlns:a16="http://schemas.microsoft.com/office/drawing/2014/main" id="{F3724198-0E58-4601-9600-635831736314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45748" y="2764415"/>
            <a:ext cx="4777304" cy="3184678"/>
          </a:xfrm>
          <a:prstGeom prst="rect">
            <a:avLst/>
          </a:prstGeom>
        </p:spPr>
      </p:pic>
      <p:pic>
        <p:nvPicPr>
          <p:cNvPr id="27" name="图形 43">
            <a:extLst>
              <a:ext uri="{FF2B5EF4-FFF2-40B4-BE49-F238E27FC236}">
                <a16:creationId xmlns:a16="http://schemas.microsoft.com/office/drawing/2014/main" id="{AABCD2C3-6D30-435E-9376-7BD37CCBFAEA}"/>
              </a:ext>
            </a:extLst>
          </p:cNvPr>
          <p:cNvPicPr/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92" y="2764415"/>
            <a:ext cx="4993200" cy="3184678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F1042277-73A0-40B1-A307-CA4CF4858066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58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10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ZAFS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评估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6" name="图形 1">
            <a:extLst>
              <a:ext uri="{FF2B5EF4-FFF2-40B4-BE49-F238E27FC236}">
                <a16:creationId xmlns:a16="http://schemas.microsoft.com/office/drawing/2014/main" id="{85C8F1B6-20F2-450A-83C0-254C48F6987A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407" y="2692087"/>
            <a:ext cx="4191000" cy="2913380"/>
          </a:xfrm>
          <a:prstGeom prst="rect">
            <a:avLst/>
          </a:prstGeom>
        </p:spPr>
      </p:pic>
      <p:pic>
        <p:nvPicPr>
          <p:cNvPr id="19" name="图形 45">
            <a:extLst>
              <a:ext uri="{FF2B5EF4-FFF2-40B4-BE49-F238E27FC236}">
                <a16:creationId xmlns:a16="http://schemas.microsoft.com/office/drawing/2014/main" id="{3A8141DC-2B35-4FEA-9F94-EB74B2B3E307}"/>
              </a:ext>
            </a:extLst>
          </p:cNvPr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4360" y="2720455"/>
            <a:ext cx="4196715" cy="2797175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53CB6ECB-9E02-4F97-A743-98E28F60E803}"/>
              </a:ext>
            </a:extLst>
          </p:cNvPr>
          <p:cNvSpPr txBox="1"/>
          <p:nvPr/>
        </p:nvSpPr>
        <p:spPr>
          <a:xfrm>
            <a:off x="7080594" y="1990284"/>
            <a:ext cx="3330171" cy="455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tabLst>
                <a:tab pos="450215" algn="l"/>
              </a:tabLst>
            </a:pPr>
            <a:r>
              <a:rPr lang="en-US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ZAFS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恢复时间测试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41A07DB-644F-4FF7-8E4B-D6AB3482A560}"/>
              </a:ext>
            </a:extLst>
          </p:cNvPr>
          <p:cNvSpPr txBox="1"/>
          <p:nvPr/>
        </p:nvSpPr>
        <p:spPr>
          <a:xfrm>
            <a:off x="1365770" y="1990283"/>
            <a:ext cx="3745637" cy="455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tabLst>
                <a:tab pos="450215" algn="l"/>
              </a:tabLst>
            </a:pPr>
            <a:r>
              <a:rPr lang="en-US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ZAFS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写入测试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B8BFC0A-1446-4D70-A7AD-1DF215C88C83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15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/>
          <p:cNvSpPr txBox="1"/>
          <p:nvPr/>
        </p:nvSpPr>
        <p:spPr>
          <a:xfrm>
            <a:off x="8244849" y="4730406"/>
            <a:ext cx="2099301" cy="13285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Q&amp;A</a:t>
            </a:r>
          </a:p>
          <a:p>
            <a:pPr lvl="0"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Thanks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！</a:t>
            </a:r>
          </a:p>
        </p:txBody>
      </p:sp>
      <p:sp>
        <p:nvSpPr>
          <p:cNvPr id="8" name="矩形: 圆角 7"/>
          <p:cNvSpPr/>
          <p:nvPr/>
        </p:nvSpPr>
        <p:spPr>
          <a:xfrm rot="2755966">
            <a:off x="4146517" y="3347706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/>
          <p:cNvSpPr/>
          <p:nvPr/>
        </p:nvSpPr>
        <p:spPr>
          <a:xfrm rot="2755966">
            <a:off x="2770276" y="966707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/>
          <p:cNvSpPr/>
          <p:nvPr/>
        </p:nvSpPr>
        <p:spPr>
          <a:xfrm rot="2755966">
            <a:off x="4586763" y="2029472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/>
          <p:cNvSpPr/>
          <p:nvPr/>
        </p:nvSpPr>
        <p:spPr>
          <a:xfrm rot="2755966">
            <a:off x="1415554" y="2470682"/>
            <a:ext cx="3134556" cy="3134556"/>
          </a:xfrm>
          <a:prstGeom prst="roundRect">
            <a:avLst/>
          </a:prstGeom>
          <a:blipFill dpi="0" rotWithShape="0">
            <a:blip r:embed="rId3"/>
            <a:srcRect/>
            <a:stretch>
              <a:fillRect/>
            </a:stretch>
          </a:blipFill>
          <a:ln>
            <a:noFill/>
          </a:ln>
          <a:effectLst>
            <a:outerShdw blurRad="114300" dist="50800" dir="7800000" sx="101000" sy="101000" algn="tr" rotWithShape="0">
              <a:prstClr val="black">
                <a:alpha val="6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矩形: 圆角 11"/>
          <p:cNvSpPr/>
          <p:nvPr/>
        </p:nvSpPr>
        <p:spPr>
          <a:xfrm rot="2755966">
            <a:off x="5633126" y="2433704"/>
            <a:ext cx="1685894" cy="1685894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矩形: 圆角 14"/>
          <p:cNvSpPr/>
          <p:nvPr/>
        </p:nvSpPr>
        <p:spPr>
          <a:xfrm rot="2755966">
            <a:off x="3965400" y="5546431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 rot="2755966">
            <a:off x="5089423" y="716157"/>
            <a:ext cx="1134056" cy="1134056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/>
          <p:cNvSpPr/>
          <p:nvPr/>
        </p:nvSpPr>
        <p:spPr>
          <a:xfrm rot="2755966">
            <a:off x="7189439" y="1365266"/>
            <a:ext cx="396502" cy="396502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4C42E-10F4-5ED3-3B5F-98D4CE0C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51A506B-621B-19F1-C0B5-853F3F9955B6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C320792-7830-48E2-B090-5666E8D0E690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13210B2-860D-157F-97C1-BD8694B816DF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04FB94FE-7A75-B338-DF78-EC0146B173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17194FE-5173-1130-5C32-0A2D4672BBC3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66E33C7C-231E-4438-897B-C3ABD8160D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3CFF1627-F6E7-0DD5-39D6-62C425AED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8586C700-5327-41F3-1FDE-1F18A360E6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01D48FFE-4ABA-FC39-7F38-70ECC3997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FC340-C6DF-6141-944C-D4EACBBF7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293" y="2170780"/>
            <a:ext cx="11320635" cy="4238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硬件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方面，已有领先的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制造商，例如三星和西部数据，已经发布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产品并展开研究，例如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ZNS+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846D055-CA89-DE0A-CA6C-E34377174990}"/>
              </a:ext>
            </a:extLst>
          </p:cNvPr>
          <p:cNvSpPr txBox="1"/>
          <p:nvPr/>
        </p:nvSpPr>
        <p:spPr>
          <a:xfrm>
            <a:off x="396807" y="2859011"/>
            <a:ext cx="11553118" cy="12964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软件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方面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的研究主要集中在键值存储领域，尤其是基于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的键值存储优化：考虑到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都遵循严格的顺序写约束，其软硬件特征高度重合， 可以将一些应用移植到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上获得更好的性能。典型案例如基于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。其他基于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应用的优化工作例如，</a:t>
            </a:r>
            <a:r>
              <a:rPr lang="en-US" altLang="zh-CN" sz="1800" dirty="0"/>
              <a:t>WALTZ</a:t>
            </a:r>
            <a:r>
              <a:rPr lang="zh-CN" altLang="en-US" sz="1800" dirty="0"/>
              <a:t>，</a:t>
            </a:r>
            <a:r>
              <a:rPr lang="en-US" altLang="zh-CN" sz="1800" dirty="0"/>
              <a:t>ZNSKV</a:t>
            </a:r>
            <a:r>
              <a:rPr lang="zh-CN" altLang="en-US" sz="1800" dirty="0"/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57EA20-6021-EC1D-1D9E-F90EC37CF9A2}"/>
              </a:ext>
            </a:extLst>
          </p:cNvPr>
          <p:cNvSpPr txBox="1"/>
          <p:nvPr/>
        </p:nvSpPr>
        <p:spPr>
          <a:xfrm>
            <a:off x="358848" y="4651285"/>
            <a:ext cx="9352009" cy="1753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/>
              <a:t>NVMe2.0</a:t>
            </a:r>
            <a:r>
              <a:rPr lang="zh-CN" altLang="en-US" sz="1600" dirty="0"/>
              <a:t>：</a:t>
            </a:r>
            <a:r>
              <a:rPr lang="en-US" altLang="zh-CN" sz="1600" dirty="0"/>
              <a:t>https://nvmexpress.org/wp-content/uploads/NVMe-NVM-Express-2.0a-2021.07.26-Ratified.pdf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ZNS+: Advanced Zoned Namespace Interface for Supporting In-Storage Zone Compaction, OSDI’21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eZNS</a:t>
            </a:r>
            <a:r>
              <a:rPr lang="en-US" altLang="zh-CN" sz="1600" dirty="0"/>
              <a:t>: An Elastic Zoned Namespace for Commodity ZNS SSDs, OSDI’23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ZenFS</a:t>
            </a:r>
            <a:r>
              <a:rPr lang="zh-CN" altLang="en-US" sz="1600" dirty="0"/>
              <a:t>：</a:t>
            </a:r>
            <a:r>
              <a:rPr lang="en-US" altLang="zh-CN" sz="1600" dirty="0">
                <a:hlinkClick r:id="rId5"/>
              </a:rPr>
              <a:t>https://github.com/westerndigitalcorporation/zenfs</a:t>
            </a:r>
            <a:endParaRPr lang="en-US" altLang="zh-CN" sz="1600" dirty="0"/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ZNSKV: Reducing Data Migration in LSMT-Based KV Stores on ZNS SSDs</a:t>
            </a:r>
            <a:r>
              <a:rPr lang="zh-CN" altLang="en-US" sz="1600" dirty="0"/>
              <a:t>，</a:t>
            </a:r>
            <a:r>
              <a:rPr lang="en-US" altLang="zh-CN" sz="1600" dirty="0"/>
              <a:t>ICCD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8DEC19F-AF51-2775-CDFC-F6F0E84AE33C}"/>
              </a:ext>
            </a:extLst>
          </p:cNvPr>
          <p:cNvSpPr txBox="1"/>
          <p:nvPr/>
        </p:nvSpPr>
        <p:spPr>
          <a:xfrm>
            <a:off x="358848" y="1126939"/>
            <a:ext cx="11506318" cy="779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规范化：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如今，经过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制造商、软件开发者和标准化机构之间的合作努力，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技术已有稳定的硬件标准和基础软件库。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例如：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组织已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NVMe2.0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中支持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接口逻辑。</a:t>
            </a:r>
            <a:endParaRPr lang="zh-CN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7DC2E9D-2952-D68D-FFCC-6C038511F9C0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14749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的优势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5590" y="183604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提高性能：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主要通过引入顺序写入方式，减少寻址（映射）、垃圾回收等传统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中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FTL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层带来的开销，提高了性能。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7A7FEA-3323-2A94-436B-618CC919B6BC}"/>
              </a:ext>
            </a:extLst>
          </p:cNvPr>
          <p:cNvSpPr txBox="1"/>
          <p:nvPr/>
        </p:nvSpPr>
        <p:spPr>
          <a:xfrm>
            <a:off x="385590" y="294569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寿命优化： 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通过减少随机写入（其可能带来设备内写放大），延长存储设备的使用寿命，降低维护和更换的成本。使得制作更廉价、更大容量、更可靠的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变得可能。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196CB8-DBDB-EE20-0005-C4DC86ACD3D0}"/>
              </a:ext>
            </a:extLst>
          </p:cNvPr>
          <p:cNvSpPr txBox="1"/>
          <p:nvPr/>
        </p:nvSpPr>
        <p:spPr>
          <a:xfrm>
            <a:off x="410462" y="4117551"/>
            <a:ext cx="10217207" cy="1428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可见性</a:t>
            </a:r>
            <a:r>
              <a:rPr lang="en-US" altLang="zh-CN" sz="2000" b="1" dirty="0">
                <a:latin typeface="Cambria Math" panose="02040503050406030204" charset="0"/>
                <a:cs typeface="Cambria Math" panose="02040503050406030204" charset="0"/>
              </a:rPr>
              <a:t>&amp;</a:t>
            </a: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可预测性：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传统硬盘对于上层应用来说是黑盒。但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允许应用感知数据存入磁盘后的物理位置，支持根据不同的应用场景对存储空间进行灵活划分，以提高存储效率。另一方面，由于消除了设备内的写放大，使得写入的性能开销可预测。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F66B952-2D8B-6C80-4233-3B5CF868A2BD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22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d68cb81-96cb-4b63-9d56-4d2877e4c057"/>
  <p:tag name="COMMONDATA" val="eyJoZGlkIjoiNmY4NTU2ZDI3ZjJkNmQ4YmU4NTU2YmM5ZmVhMWRlO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2990</TotalTime>
  <Words>2193</Words>
  <Application>Microsoft Office PowerPoint</Application>
  <PresentationFormat>宽屏</PresentationFormat>
  <Paragraphs>164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4" baseType="lpstr">
      <vt:lpstr>_5b8b_4f53</vt:lpstr>
      <vt:lpstr>Söhne</vt:lpstr>
      <vt:lpstr>等线</vt:lpstr>
      <vt:lpstr>等线 Light</vt:lpstr>
      <vt:lpstr>宋体</vt:lpstr>
      <vt:lpstr>Arial</vt:lpstr>
      <vt:lpstr>Cambria Math</vt:lpstr>
      <vt:lpstr>Constantia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zhouke</dc:creator>
  <cp:lastModifiedBy>子淇 柳</cp:lastModifiedBy>
  <cp:revision>3584</cp:revision>
  <dcterms:created xsi:type="dcterms:W3CDTF">2019-02-21T08:55:00Z</dcterms:created>
  <dcterms:modified xsi:type="dcterms:W3CDTF">2024-05-28T08:01:37Z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65A6CB78243D48A083A0131B29BE5B9E_12</vt:lpwstr>
  </property>
  <property fmtid="{D5CDD505-2E9C-101B-9397-08002B2CF9AE}" pid="3" name="KSOProductBuildVer">
    <vt:lpwstr>2052-11.1.0.14309</vt:lpwstr>
  </property>
</Properties>
</file>