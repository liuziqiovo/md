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340" r:id="rId2"/>
    <p:sldId id="549" r:id="rId3"/>
    <p:sldId id="548" r:id="rId4"/>
    <p:sldId id="552" r:id="rId5"/>
    <p:sldId id="554" r:id="rId6"/>
    <p:sldId id="551" r:id="rId7"/>
    <p:sldId id="544" r:id="rId8"/>
    <p:sldId id="545" r:id="rId9"/>
    <p:sldId id="261" r:id="rId10"/>
    <p:sldId id="532" r:id="rId11"/>
    <p:sldId id="547" r:id="rId12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2"/>
            <p14:sldId id="554"/>
            <p14:sldId id="551"/>
            <p14:sldId id="544"/>
            <p14:sldId id="545"/>
            <p14:sldId id="261"/>
            <p14:sldId id="532"/>
            <p14:sldId id="5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ADADE0"/>
    <a:srgbClr val="8484D1"/>
    <a:srgbClr val="0152D9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19" autoAdjust="0"/>
    <p:restoredTop sz="81289" autoAdjust="0"/>
  </p:normalViewPr>
  <p:slideViewPr>
    <p:cSldViewPr snapToGrid="0">
      <p:cViewPr>
        <p:scale>
          <a:sx n="66" d="100"/>
          <a:sy n="66" d="100"/>
        </p:scale>
        <p:origin x="2028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nux-nvme/nvme-cli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开题报告：基于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5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u="sng" kern="100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hlinkClick r:id="rId3"/>
              </a:rPr>
              <a:t>https://github.com/linux-nvme/nvme-cli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https://zonedstorage.io/docs/tools/libzbd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309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10</a:t>
            </a:fld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2024/5/27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linux-nvme/nvme-cli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90717" y="5150347"/>
            <a:ext cx="23391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汇报人：柳子淇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5 . 29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2441" y="1187859"/>
            <a:ext cx="11266832" cy="4861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在数据中心存储需求日益增长的背景下，传统存储解决方案的局限性日渐凸显。传统的</a:t>
            </a:r>
            <a:r>
              <a:rPr lang="en-US" altLang="zh-CN" sz="2000" b="0" i="0" dirty="0">
                <a:solidFill>
                  <a:srgbClr val="374151"/>
                </a:solidFill>
                <a:effectLst/>
                <a:latin typeface="_5b8b_4f53"/>
              </a:rPr>
              <a:t>SSD</a:t>
            </a: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存在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部分</a:t>
            </a: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设计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问题限制了性能提升，例如写放大现象等，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直接影响了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，不利于大规模部署。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Zoned Namespace (ZNS)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通过引入分区的概念来优化数据的写入过程，从而减少写入放大效应，提高存储设备的寿命和性能。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本课题来源于实验室与浪潮等企业的联合项目，旨在利用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等新型硬件重新设计存储系统。本工作作为此项目的先行性研究，准备基于实际的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盘做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的数据访问特征以及性能优化方面的研究。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本课题旨在通过大量实验，分析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的数据访问特征，并针对这些特性探究优化策略，寻找提升基于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的存储系统的效率的有效方法。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课题背景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40055" y="1342729"/>
            <a:ext cx="11425112" cy="2222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写放大（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Write Amplification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）是评价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性能的关键指标之一，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它直接影响了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。在传统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盘上的工作主要有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文件系统优化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（如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F2FS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BetrFS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），以及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的数据放置策略优化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垃圾回收算法优化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（局限）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然而，上述这些研究工作只能在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文件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系统、应用级别一定程度地缓解</a:t>
            </a:r>
            <a:r>
              <a:rPr lang="zh-CN" altLang="zh-CN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主机侧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的工作负载导致的写放大。但在硬盘内部仍存在写放大现象，这一方面是由于闪存转换层（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Flash Translation Layer, FTL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）的管理策略，另一方面是固态硬盘中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NAND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闪存颗粒的擦写粒度不一致的特性导致的。</a:t>
            </a:r>
            <a:endParaRPr lang="en-US" altLang="zh-CN" sz="1600" kern="100" dirty="0">
              <a:solidFill>
                <a:srgbClr val="4747BA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A364727-F676-A371-B1D9-DE6CFE5451C8}"/>
              </a:ext>
            </a:extLst>
          </p:cNvPr>
          <p:cNvSpPr txBox="1"/>
          <p:nvPr/>
        </p:nvSpPr>
        <p:spPr>
          <a:xfrm>
            <a:off x="440054" y="3863014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技术：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的写放大问题：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77C4F7-936E-CBC4-D6AC-980A1C5A66F9}"/>
              </a:ext>
            </a:extLst>
          </p:cNvPr>
          <p:cNvSpPr txBox="1"/>
          <p:nvPr/>
        </p:nvSpPr>
        <p:spPr>
          <a:xfrm>
            <a:off x="440054" y="4198059"/>
            <a:ext cx="11425112" cy="114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作为新兴的存储技术，其设计理念在于通过区域化管理数据，定义区域容量、活动区域限制和区域追加命令等新概念，并向主机暴露更多的存储器内部信息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。这些设计直接减少写放大现象，优化了数据管理粒度，提高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性能和寿命。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0B45C5F-08AB-3D40-483D-485B2D13D16F}"/>
              </a:ext>
            </a:extLst>
          </p:cNvPr>
          <p:cNvSpPr txBox="1"/>
          <p:nvPr/>
        </p:nvSpPr>
        <p:spPr>
          <a:xfrm>
            <a:off x="385590" y="5768168"/>
            <a:ext cx="10382942" cy="5581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400" dirty="0"/>
              <a:t>F2FS</a:t>
            </a:r>
            <a:r>
              <a:rPr lang="zh-CN" altLang="en-US" sz="1400" dirty="0"/>
              <a:t>：</a:t>
            </a:r>
            <a:r>
              <a:rPr lang="en-US" altLang="zh-CN" sz="1400" dirty="0"/>
              <a:t>A new file system for flash storage</a:t>
            </a:r>
            <a:r>
              <a:rPr lang="zh-CN" altLang="en-US" sz="1400" dirty="0"/>
              <a:t>，</a:t>
            </a:r>
            <a:r>
              <a:rPr lang="en-US" altLang="zh-CN" sz="1400" dirty="0"/>
              <a:t>FAST ’15</a:t>
            </a: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400" dirty="0" err="1"/>
              <a:t>BetrFS</a:t>
            </a:r>
            <a:r>
              <a:rPr lang="en-US" altLang="zh-CN" sz="1400" dirty="0"/>
              <a:t>: a </a:t>
            </a:r>
            <a:r>
              <a:rPr lang="en-US" altLang="zh-CN" sz="1400" dirty="0" err="1"/>
              <a:t>compleat</a:t>
            </a:r>
            <a:r>
              <a:rPr lang="en-US" altLang="zh-CN" sz="1400" dirty="0"/>
              <a:t> file system for commodity SSDs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EuroSys</a:t>
            </a:r>
            <a:r>
              <a:rPr lang="en-US" altLang="zh-CN" sz="1400" dirty="0"/>
              <a:t> '22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0780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96807" y="2859011"/>
            <a:ext cx="11553118" cy="12964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358848" y="4651285"/>
            <a:ext cx="9352009" cy="1753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862D24-4C70-B858-E53B-DC9360DFCBF6}"/>
              </a:ext>
            </a:extLst>
          </p:cNvPr>
          <p:cNvSpPr txBox="1"/>
          <p:nvPr/>
        </p:nvSpPr>
        <p:spPr>
          <a:xfrm>
            <a:off x="440055" y="4344766"/>
            <a:ext cx="10852786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三、性能优化和数据放置策略：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进一步地，根据所得实验数据，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探索适用于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的数据管理机制，利用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的区块信息可见性的优势，可能有效的优化例如：利用硬件的区域状态信息优化数据放置策略，优化缓存策略或垃圾回收算法等。</a:t>
            </a:r>
          </a:p>
          <a:p>
            <a:pPr algn="l">
              <a:lnSpc>
                <a:spcPct val="150000"/>
              </a:lnSpc>
            </a:pPr>
            <a:endParaRPr lang="zh-CN" altLang="en-US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E6F7F0-A216-1C37-8655-1CFCD95488F1}"/>
              </a:ext>
            </a:extLst>
          </p:cNvPr>
          <p:cNvSpPr txBox="1"/>
          <p:nvPr/>
        </p:nvSpPr>
        <p:spPr>
          <a:xfrm>
            <a:off x="440055" y="1349747"/>
            <a:ext cx="6274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74151"/>
                </a:solidFill>
                <a:latin typeface="_5b8b_4f53"/>
              </a:rPr>
              <a:t>一、实验环境搭建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搭建模拟环境，配置真实测试环境。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8A56D66-FF56-FAF9-9FAB-82C42BB4E738}"/>
              </a:ext>
            </a:extLst>
          </p:cNvPr>
          <p:cNvSpPr txBox="1"/>
          <p:nvPr/>
        </p:nvSpPr>
        <p:spPr>
          <a:xfrm>
            <a:off x="440055" y="2005188"/>
            <a:ext cx="9850120" cy="21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二、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分别基于模拟平台和真实设备进行评估测试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：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  系统级测试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利用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Linux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下系统工具如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fio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-cli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测试，主要关注设备本身硬件性能。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  端到端应用测试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部署应用（如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with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）设计实验，分析性能表现。具体包括但不限于：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写入、更新性能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读性能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简单的并发测试多线程读、多线程写性能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不同比例的读写混合负载下的表现。</a:t>
            </a:r>
            <a:endParaRPr lang="zh-CN" altLang="en-US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A2-WAL</a:t>
            </a:r>
            <a:endParaRPr lang="zh-CN" altLang="en-US" sz="32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954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862D24-4C70-B858-E53B-DC9360DFCBF6}"/>
              </a:ext>
            </a:extLst>
          </p:cNvPr>
          <p:cNvSpPr txBox="1"/>
          <p:nvPr/>
        </p:nvSpPr>
        <p:spPr>
          <a:xfrm>
            <a:off x="440055" y="4344766"/>
            <a:ext cx="10852786" cy="1711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三、性能优化和数据放置策略：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进一步地，根据所得实验数据，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探索适用于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的数据管理机制，利用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的区块信息可见性的优势，可能有效的优化例如：利用硬件的区域状态信息优化数据放置策略，优化缓存策略或垃圾回收算法等。</a:t>
            </a:r>
          </a:p>
          <a:p>
            <a:pPr algn="l">
              <a:lnSpc>
                <a:spcPct val="150000"/>
              </a:lnSpc>
            </a:pPr>
            <a:endParaRPr lang="zh-CN" altLang="en-US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E6F7F0-A216-1C37-8655-1CFCD95488F1}"/>
              </a:ext>
            </a:extLst>
          </p:cNvPr>
          <p:cNvSpPr txBox="1"/>
          <p:nvPr/>
        </p:nvSpPr>
        <p:spPr>
          <a:xfrm>
            <a:off x="440055" y="1349747"/>
            <a:ext cx="6274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374151"/>
                </a:solidFill>
                <a:latin typeface="_5b8b_4f53"/>
              </a:rPr>
              <a:t>一、实验环境搭建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搭建模拟环境，配置真实测试环境。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8A56D66-FF56-FAF9-9FAB-82C42BB4E738}"/>
              </a:ext>
            </a:extLst>
          </p:cNvPr>
          <p:cNvSpPr txBox="1"/>
          <p:nvPr/>
        </p:nvSpPr>
        <p:spPr>
          <a:xfrm>
            <a:off x="440055" y="2005188"/>
            <a:ext cx="9850120" cy="21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二、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分别基于模拟平台和真实设备进行评估测试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：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  系统级测试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利用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Linux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下系统工具如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fio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-cli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测试，主要关注设备本身硬件性能。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  端到端应用测试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: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部署应用（如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with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）设计实验，分析性能表现。具体包括但不限于：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写入、更新性能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读性能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简单的并发测试多线程读、多线程写性能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不同比例的读写混合负载下的表现。</a:t>
            </a:r>
            <a:endParaRPr lang="zh-CN" altLang="en-US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ZAFS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架构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6337FC42-856A-0234-8EB6-48BB83F0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E63EB8-E0A8-4F07-76F1-4E169ED7808E}"/>
              </a:ext>
            </a:extLst>
          </p:cNvPr>
          <p:cNvSpPr txBox="1"/>
          <p:nvPr/>
        </p:nvSpPr>
        <p:spPr>
          <a:xfrm>
            <a:off x="190500" y="5432932"/>
            <a:ext cx="8260080" cy="9289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NVMeVirt</a:t>
            </a:r>
            <a:r>
              <a:rPr lang="en-US" altLang="zh-CN" sz="1600" dirty="0"/>
              <a:t>: A Versatile Software-defined Virtual </a:t>
            </a:r>
            <a:r>
              <a:rPr lang="en-US" altLang="zh-CN" sz="1600" dirty="0" err="1"/>
              <a:t>NVMe</a:t>
            </a:r>
            <a:r>
              <a:rPr lang="en-US" altLang="zh-CN" sz="1600" dirty="0"/>
              <a:t> Device</a:t>
            </a:r>
            <a:r>
              <a:rPr lang="zh-CN" altLang="en-US" sz="1600" dirty="0"/>
              <a:t>，</a:t>
            </a:r>
            <a:r>
              <a:rPr lang="en-US" altLang="zh-CN" sz="1600" dirty="0"/>
              <a:t>FAST 23</a:t>
            </a:r>
            <a:endParaRPr lang="en-US" altLang="zh-CN" sz="1600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 err="1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Nvme</a:t>
            </a:r>
            <a:r>
              <a:rPr lang="en-US" altLang="zh-CN" sz="16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-cli: https://github.com/linux-nvme/nvme-cli</a:t>
            </a:r>
            <a:endParaRPr lang="en-US" altLang="zh-CN" sz="1600" dirty="0"/>
          </a:p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 err="1"/>
              <a:t>Libzbd</a:t>
            </a:r>
            <a:r>
              <a:rPr lang="en-US" altLang="zh-CN" sz="1600" dirty="0"/>
              <a:t>: https://zonedstorage.io/docs/tools/libzbd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DD51D5-AA31-D2A9-D660-373048C76BF5}"/>
              </a:ext>
            </a:extLst>
          </p:cNvPr>
          <p:cNvSpPr txBox="1"/>
          <p:nvPr/>
        </p:nvSpPr>
        <p:spPr>
          <a:xfrm>
            <a:off x="385590" y="1318324"/>
            <a:ext cx="10483318" cy="3276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NVMEvirt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最新的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模拟器，支持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，用于构建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模拟环境，该模拟器通过内核模块模拟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设备，提供类似真实设备的性能表现。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ZenFS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为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RocksDB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提供的文件系统插件，支持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 SSD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，显著减少系统写放大。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Linux</a:t>
            </a:r>
            <a:r>
              <a:rPr lang="zh-CN" altLang="en-US" sz="2000" b="1" dirty="0">
                <a:solidFill>
                  <a:srgbClr val="0D0D0D"/>
                </a:solidFill>
                <a:latin typeface="Söhne"/>
              </a:rPr>
              <a:t>系统工具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经前期测试验证已支持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的工具：包括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fio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、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nvme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-cli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等，用于性能测试和管理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ZNS SSD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。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000" b="1" dirty="0" err="1">
                <a:solidFill>
                  <a:srgbClr val="0D0D0D"/>
                </a:solidFill>
                <a:latin typeface="Söhne"/>
              </a:rPr>
              <a:t>zbd</a:t>
            </a:r>
            <a:r>
              <a:rPr lang="en-US" altLang="zh-CN" sz="2000" b="1" dirty="0">
                <a:solidFill>
                  <a:srgbClr val="0D0D0D"/>
                </a:solidFill>
                <a:latin typeface="Söhne"/>
              </a:rPr>
              <a:t>-tools: 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包括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gzbd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、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libzbd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。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Gzbd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能提供可视化，</a:t>
            </a:r>
            <a:r>
              <a:rPr lang="en-US" altLang="zh-CN" sz="2000" dirty="0" err="1">
                <a:solidFill>
                  <a:srgbClr val="0D0D0D"/>
                </a:solidFill>
                <a:latin typeface="Söhne"/>
              </a:rPr>
              <a:t>libzbd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是最新的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语义用户库，支持</a:t>
            </a:r>
            <a:r>
              <a:rPr lang="en-US" altLang="zh-CN" sz="2000" dirty="0">
                <a:solidFill>
                  <a:srgbClr val="0D0D0D"/>
                </a:solidFill>
                <a:latin typeface="Söhne"/>
              </a:rPr>
              <a:t>Zone</a:t>
            </a:r>
            <a:r>
              <a:rPr lang="zh-CN" altLang="en-US" sz="2000" dirty="0">
                <a:solidFill>
                  <a:srgbClr val="0D0D0D"/>
                </a:solidFill>
                <a:latin typeface="Söhne"/>
              </a:rPr>
              <a:t>逻辑设备的管理和操作。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19372B1-5714-D9A0-9C16-7166C8205F4C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</a:t>
            </a:r>
          </a:p>
        </p:txBody>
      </p:sp>
    </p:spTree>
    <p:extLst>
      <p:ext uri="{BB962C8B-B14F-4D97-AF65-F5344CB8AC3E}">
        <p14:creationId xmlns:p14="http://schemas.microsoft.com/office/powerpoint/2010/main" val="356045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/>
          <p:cNvSpPr txBox="1"/>
          <p:nvPr/>
        </p:nvSpPr>
        <p:spPr>
          <a:xfrm>
            <a:off x="415183" y="166469"/>
            <a:ext cx="6798981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8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ym typeface="+mn-ea"/>
              </a:rPr>
              <a:t>ZNS</a:t>
            </a:r>
            <a:r>
              <a:rPr lang="zh-CN" altLang="en-US" sz="2000" dirty="0">
                <a:sym typeface="+mn-ea"/>
              </a:rPr>
              <a:t>采用</a:t>
            </a:r>
            <a:r>
              <a:rPr lang="en-US" altLang="zh-CN" sz="2000" dirty="0">
                <a:sym typeface="+mn-ea"/>
              </a:rPr>
              <a:t>U.2</a:t>
            </a:r>
            <a:r>
              <a:rPr lang="zh-CN" altLang="en-US" sz="2000" dirty="0">
                <a:sym typeface="+mn-ea"/>
              </a:rPr>
              <a:t>接口，如右图</a:t>
            </a:r>
            <a:r>
              <a:rPr lang="en-US" altLang="zh-CN" sz="2000" dirty="0"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ym typeface="+mn-ea"/>
              </a:rPr>
              <a:t>另外，初步测试了</a:t>
            </a:r>
            <a:r>
              <a:rPr lang="en-US" altLang="zh-CN" sz="2000" dirty="0" err="1">
                <a:sym typeface="+mn-ea"/>
              </a:rPr>
              <a:t>RocksDB</a:t>
            </a:r>
            <a:r>
              <a:rPr lang="en-US" altLang="zh-CN" sz="2000" dirty="0">
                <a:sym typeface="+mn-ea"/>
              </a:rPr>
              <a:t> + </a:t>
            </a:r>
            <a:r>
              <a:rPr lang="en-US" altLang="zh-CN" sz="2000" dirty="0" err="1">
                <a:sym typeface="+mn-ea"/>
              </a:rPr>
              <a:t>ZenFS</a:t>
            </a:r>
            <a:r>
              <a:rPr lang="zh-CN" altLang="en-US" sz="2000" dirty="0">
                <a:sym typeface="+mn-ea"/>
              </a:rPr>
              <a:t>的表现，与之前</a:t>
            </a:r>
            <a:r>
              <a:rPr lang="en-US" altLang="zh-CN" sz="2000" dirty="0" err="1">
                <a:sym typeface="+mn-ea"/>
              </a:rPr>
              <a:t>NVMevirt</a:t>
            </a:r>
            <a:r>
              <a:rPr lang="zh-CN" altLang="en-US" sz="2000" dirty="0"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sym typeface="+mn-ea"/>
              </a:rPr>
              <a:t>l/O</a:t>
            </a:r>
            <a:r>
              <a:rPr lang="zh-CN" altLang="en-US" sz="2000" dirty="0">
                <a:sym typeface="+mn-ea"/>
              </a:rPr>
              <a:t>栈的延迟。</a:t>
            </a:r>
            <a:endParaRPr lang="en-US" altLang="zh-CN" sz="2000" dirty="0"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ym typeface="+mn-ea"/>
              </a:rPr>
              <a:t>连接到服务器后，查看块设备，如右下图所示</a:t>
            </a:r>
            <a:endParaRPr lang="en-US" altLang="zh-CN" sz="2000" dirty="0"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6174" y="4065765"/>
            <a:ext cx="5517358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10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15183" y="1080755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设计及其特性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40055" y="1790929"/>
            <a:ext cx="10217207" cy="2059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i="0" dirty="0">
                <a:solidFill>
                  <a:srgbClr val="374151"/>
                </a:solidFill>
                <a:effectLst/>
                <a:latin typeface="Söhne"/>
              </a:rPr>
              <a:t>ZNS</a:t>
            </a:r>
            <a:r>
              <a:rPr lang="zh-CN" altLang="en-US" sz="2000" i="0" dirty="0">
                <a:solidFill>
                  <a:srgbClr val="374151"/>
                </a:solidFill>
                <a:effectLst/>
                <a:latin typeface="Söhne"/>
              </a:rPr>
              <a:t>（</a:t>
            </a:r>
            <a:r>
              <a:rPr lang="en-US" altLang="zh-CN" sz="2000" i="0" dirty="0">
                <a:solidFill>
                  <a:srgbClr val="374151"/>
                </a:solidFill>
                <a:effectLst/>
                <a:latin typeface="Söhne"/>
              </a:rPr>
              <a:t>Zoned Namespace</a:t>
            </a:r>
            <a:r>
              <a:rPr lang="zh-CN" altLang="en-US" sz="2000" i="0" dirty="0">
                <a:solidFill>
                  <a:srgbClr val="374151"/>
                </a:solidFill>
                <a:effectLst/>
                <a:latin typeface="Söhne"/>
              </a:rPr>
              <a:t>）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是一种面向大规模数据中心设计的新型存储设备，其设计理念是将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SSD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的存储空间按更大的粒度划分为不同的区域，每个区域具有独立的属性。与传统的块设备最大的不同在于，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ZNS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要求在一个区域内顺序写入数据。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ZNS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的设计旨在解决传统固态硬盘</a:t>
            </a:r>
            <a:r>
              <a:rPr lang="en-US" altLang="zh-CN" sz="2000" i="0" dirty="0">
                <a:solidFill>
                  <a:srgbClr val="000000"/>
                </a:solidFill>
                <a:effectLst/>
                <a:latin typeface="_5b8b_4f53"/>
              </a:rPr>
              <a:t>(SSD)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存在的一些问题，例如其中比较典型的写放大问题</a:t>
            </a:r>
            <a:r>
              <a:rPr lang="zh-CN" altLang="en-US" sz="2000" dirty="0">
                <a:solidFill>
                  <a:srgbClr val="000000"/>
                </a:solidFill>
                <a:latin typeface="_5b8b_4f53"/>
              </a:rPr>
              <a:t>，</a:t>
            </a:r>
            <a:r>
              <a:rPr lang="zh-CN" altLang="en-US" sz="2000" i="0" dirty="0">
                <a:solidFill>
                  <a:srgbClr val="000000"/>
                </a:solidFill>
                <a:effectLst/>
                <a:latin typeface="_5b8b_4f53"/>
              </a:rPr>
              <a:t>并提供了更高性能和更低成本的存储解决方案。</a:t>
            </a:r>
            <a:endParaRPr lang="zh-CN" altLang="en-US" sz="2000" dirty="0">
              <a:latin typeface="Cambria Math" panose="02040503050406030204" charset="0"/>
              <a:cs typeface="Cambria Math" panose="02040503050406030204" charset="0"/>
            </a:endParaRPr>
          </a:p>
        </p:txBody>
      </p:sp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5B4F2D2-6F9F-ED72-BE0E-8F42CF1296B1}"/>
              </a:ext>
            </a:extLst>
          </p:cNvPr>
          <p:cNvSpPr txBox="1"/>
          <p:nvPr/>
        </p:nvSpPr>
        <p:spPr>
          <a:xfrm>
            <a:off x="440055" y="4314086"/>
            <a:ext cx="10075545" cy="858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更具体地，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将存储空间划分为多个区域（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zones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），每个区必须按顺序写入，回收复用之前必须被显示的重置。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带来的优势主要有：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6785E3-D6BA-F9AA-42DF-68F57C5C69C9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27,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2709</TotalTime>
  <Words>2053</Words>
  <Application>Microsoft Office PowerPoint</Application>
  <PresentationFormat>宽屏</PresentationFormat>
  <Paragraphs>130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_5b8b_4f53</vt:lpstr>
      <vt:lpstr>Söhne</vt:lpstr>
      <vt:lpstr>等线</vt:lpstr>
      <vt:lpstr>等线 Light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</cp:lastModifiedBy>
  <cp:revision>3338</cp:revision>
  <dcterms:created xsi:type="dcterms:W3CDTF">2019-02-21T08:55:00Z</dcterms:created>
  <dcterms:modified xsi:type="dcterms:W3CDTF">2024-05-27T14:40:06Z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