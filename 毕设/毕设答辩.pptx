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40" r:id="rId2"/>
    <p:sldId id="549" r:id="rId3"/>
    <p:sldId id="548" r:id="rId4"/>
    <p:sldId id="551" r:id="rId5"/>
    <p:sldId id="554" r:id="rId6"/>
    <p:sldId id="558" r:id="rId7"/>
    <p:sldId id="555" r:id="rId8"/>
    <p:sldId id="557" r:id="rId9"/>
    <p:sldId id="556" r:id="rId10"/>
    <p:sldId id="261" r:id="rId11"/>
    <p:sldId id="545" r:id="rId12"/>
    <p:sldId id="552" r:id="rId13"/>
    <p:sldId id="547" r:id="rId14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1"/>
            <p14:sldId id="554"/>
            <p14:sldId id="558"/>
            <p14:sldId id="555"/>
            <p14:sldId id="557"/>
            <p14:sldId id="556"/>
            <p14:sldId id="261"/>
            <p14:sldId id="545"/>
            <p14:sldId id="55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0152D9"/>
    <a:srgbClr val="ADADE0"/>
    <a:srgbClr val="8484D1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69" autoAdjust="0"/>
    <p:restoredTop sz="81289" autoAdjust="0"/>
  </p:normalViewPr>
  <p:slideViewPr>
    <p:cSldViewPr snapToGrid="0">
      <p:cViewPr varScale="1">
        <p:scale>
          <a:sx n="132" d="100"/>
          <a:sy n="132" d="100"/>
        </p:scale>
        <p:origin x="10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各位老师好，我是柳子淇，我的毕设题目是：基于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 SSD vs ZNS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2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Write Amplification Factor</a:t>
            </a:r>
            <a:r>
              <a:rPr lang="zh-CN" altLang="en-US" sz="2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8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2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并不局限于此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这种针对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的优化设计不仅限于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型的存储引擎，对于其他使用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语义存储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的数据库，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都能发挥作用。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观察特性：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设计的出发点是基于对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特性的三点观察：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的写入请求是写入密集型，并主要发出小型写入；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仅在数据库恢复期间读取；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通常很小。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Header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Buffer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 Recovery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恢复过程中，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树会顺序扫描所有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，并将读取的数据应用到其内存表中。然而，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存储在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SSD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上是无序的；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需要恢复其原始顺序。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通过创建从逻辑地址（即偏移量）到物理地址的映射来实现这一点。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如图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3-4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所示，在读取时，首先使用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报头中的信息找到与逻辑地址（单线程顺序写入情况下的正确地址）对应的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条目的物理地址。由于序列号（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seq_number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）是唯一且单调递增的， 所以有更高序列号的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条目都有更高的逻辑地址。具体来说，具有序列号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条目的逻辑地址等于序列号为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x-1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条目的逻辑地址加上其条目大小（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entry_size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）。依次，构建逻辑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物理地址映射。然后按照序列号排序，得到一组顺序的物理地址。</a:t>
            </a:r>
          </a:p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然而，检索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头部并不容易。因为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条目是变长的，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无法预先确定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头部的位置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除了第一个请求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。为了避免每次读取都顺序扫描整个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，逐个条目地查找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头部。一种替代解决方案是一次性读取所有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，但这需要开辟与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等大小的内存。因此，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采用了一种更高效的方案：使用屏障。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079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3383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470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495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3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3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5406269" y="5150347"/>
            <a:ext cx="110799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5590" y="1485168"/>
            <a:ext cx="11266832" cy="3650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数据中心对</a:t>
            </a:r>
            <a:r>
              <a:rPr lang="zh-CN" altLang="en-US" sz="2000" dirty="0">
                <a:ea typeface="宋体" panose="02010600030101010101" pitchFamily="2" charset="-122"/>
              </a:rPr>
              <a:t>存储性能与效率的需求日益增长，但传统的固态硬盘在性能，单盘容量，寿命等方面无法满足其需求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Zoned Namespace (ZNS) SSD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作为一种新兴的固态盘存储技术，以区域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Zone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为管理单元并强制要求每个区域内顺序写入，消除了硬盘内部管理机制造成的写放大效应，显著提升了存储效率，延长了固态硬盘寿命。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本课题来源于实验室与浪潮等企业的联合项目，旨在利用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ZNS SSD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重新设计存储系统。本工作作为此项目的先行性研究，基于实际的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ZNS 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盘做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ZNS SSD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的数据访问特征以及性能优化方面的研究。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30529" y="1382337"/>
            <a:ext cx="11425112" cy="1701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写放大倍数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(WAF)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直接影响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SSD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的寿命和性能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在传统</a:t>
            </a:r>
            <a:r>
              <a:rPr lang="en-US" altLang="zh-CN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SSD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盘上降低写放大的工作主要关注数据放置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冷热</a:t>
            </a:r>
            <a:r>
              <a:rPr lang="zh-CN" altLang="zh-CN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分离，</a:t>
            </a:r>
            <a:r>
              <a:rPr lang="zh-CN" altLang="zh-CN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垃圾回收算法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等等。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这些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工作只能在应用级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或文件系统级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别一定程度地缓解</a:t>
            </a:r>
            <a:r>
              <a:rPr lang="zh-CN" altLang="zh-CN" dirty="0">
                <a:solidFill>
                  <a:srgbClr val="4747BA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主机侧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的工作负载导致的写放大。但在</a:t>
            </a:r>
            <a:r>
              <a:rPr lang="zh-CN" altLang="en-US" dirty="0">
                <a:solidFill>
                  <a:srgbClr val="4747BA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设备侧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仍存在写放大现象，这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是由于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块接口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闪存转换层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(FTL)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的存在和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NAND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闪存颗粒的擦写粒度不一致的特性导致的。</a:t>
            </a:r>
            <a:endParaRPr lang="en-US" altLang="zh-CN" sz="16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B2BD9DB-4FE6-489C-AF75-75A2A2B1DF2E}"/>
              </a:ext>
            </a:extLst>
          </p:cNvPr>
          <p:cNvSpPr txBox="1"/>
          <p:nvPr/>
        </p:nvSpPr>
        <p:spPr>
          <a:xfrm>
            <a:off x="430529" y="3244334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465B86-F20C-4EFF-8393-1230A60967EF}"/>
              </a:ext>
            </a:extLst>
          </p:cNvPr>
          <p:cNvSpPr txBox="1"/>
          <p:nvPr/>
        </p:nvSpPr>
        <p:spPr>
          <a:xfrm>
            <a:off x="430529" y="3537030"/>
            <a:ext cx="11280655" cy="253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ZNS SSD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引入了基于区域的存储模型，取消了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FTL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层的设计，放弃了随机写的支持，进而消除了盘内写放大效应，提高了写入操作的可预测性和效率。此外，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ZNS SSD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的粗粒度管理降低了垃圾回收的复杂性和频率，显著提升了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SSD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的整体性能和耐用性。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目前，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ZNS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的研究主要有硬件优化；文件系统适配；端到端应用几个方面。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通用文件系统：已适配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ZNS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的文件系统如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F2FS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宋体" panose="02010600030101010101" pitchFamily="2" charset="-122"/>
                <a:ea typeface="宋体" panose="02010600030101010101" pitchFamily="2" charset="-122"/>
              </a:rPr>
              <a:t>ZoneFS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等。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端到端应用：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键值存储领域，尤其是基于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存储引擎，如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架构概览</a:t>
            </a:r>
          </a:p>
        </p:txBody>
      </p:sp>
      <p:pic>
        <p:nvPicPr>
          <p:cNvPr id="16" name="图形 8">
            <a:extLst>
              <a:ext uri="{FF2B5EF4-FFF2-40B4-BE49-F238E27FC236}">
                <a16:creationId xmlns:a16="http://schemas.microsoft.com/office/drawing/2014/main" id="{0BC2F4B7-D4BE-46CF-A683-CF8911D0E8BD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6085" y="1209676"/>
            <a:ext cx="3946705" cy="4601389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A445568-DD72-4E30-80F8-764A579485C6}"/>
              </a:ext>
            </a:extLst>
          </p:cNvPr>
          <p:cNvSpPr txBox="1"/>
          <p:nvPr/>
        </p:nvSpPr>
        <p:spPr>
          <a:xfrm>
            <a:off x="5486400" y="1845918"/>
            <a:ext cx="6096000" cy="3363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>
              <a:lnSpc>
                <a:spcPct val="150000"/>
              </a:lnSpc>
            </a:pP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SPDK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实现了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专用文件系统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——ZAFS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 Append File System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266700">
              <a:lnSpc>
                <a:spcPct val="150000"/>
              </a:lnSpc>
            </a:pPr>
            <a:endParaRPr lang="en-US" altLang="zh-CN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266700"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ZAFS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SPDK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绕过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Linux kernel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以直接管理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ZNS SSD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，有效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降低了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Zone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操作的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延迟；并且实现了一种区域友好的追加感知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WAL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解决方案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——A2-WAL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充分利用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Zone Append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命令的优势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解决了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ZNS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盘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中，由于单个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Zone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只能串行写入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WAL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文件而</a:t>
            </a:r>
            <a:r>
              <a:rPr lang="zh-CN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造成的写入瓶颈问题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4">
            <a:extLst>
              <a:ext uri="{FF2B5EF4-FFF2-40B4-BE49-F238E27FC236}">
                <a16:creationId xmlns:a16="http://schemas.microsoft.com/office/drawing/2014/main" id="{8DFAAC15-8039-4E66-9C49-B6BFDC7BB24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9356" y="950472"/>
            <a:ext cx="7005810" cy="535549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CC1707E-979F-4784-82A9-FD4FAB404C52}"/>
              </a:ext>
            </a:extLst>
          </p:cNvPr>
          <p:cNvSpPr txBox="1"/>
          <p:nvPr/>
        </p:nvSpPr>
        <p:spPr>
          <a:xfrm>
            <a:off x="385590" y="1316200"/>
            <a:ext cx="4649412" cy="5050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在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ZAFS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中，设计实现了一种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追加友好的新型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WAL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A2-WAL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Append-Aware WAL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将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WAL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数据和头部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(header)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组合成一个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WAL entry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，保存了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序列号（</a:t>
            </a:r>
            <a:r>
              <a:rPr lang="en-US" altLang="zh-CN" dirty="0" err="1">
                <a:latin typeface="宋体" panose="02010600030101010101" pitchFamily="2" charset="-122"/>
                <a:ea typeface="宋体" panose="02010600030101010101" pitchFamily="2" charset="-122"/>
              </a:rPr>
              <a:t>seq_number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）和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WAL entry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的大小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(</a:t>
            </a:r>
            <a:r>
              <a:rPr lang="en-US" altLang="zh-CN" dirty="0" err="1">
                <a:latin typeface="宋体" panose="02010600030101010101" pitchFamily="2" charset="-122"/>
                <a:ea typeface="宋体" panose="02010600030101010101" pitchFamily="2" charset="-122"/>
              </a:rPr>
              <a:t>entry_size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)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前者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原子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自增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维护条目之间的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顺序。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后者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用于推断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下一个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 WAL </a:t>
            </a:r>
            <a:r>
              <a:rPr lang="zh-CN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条目的位置。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利用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Append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并发写入，增加吞吐量。但是导致了数据乱序，在恢复时，利用新增的两个变量重排序。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74408" y="1049607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模拟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vs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物理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512720" y="3163584"/>
            <a:ext cx="39504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写入负载，</a:t>
            </a:r>
            <a:r>
              <a:rPr lang="en-US" altLang="zh-CN" sz="1400" dirty="0" err="1"/>
              <a:t>Blocksize</a:t>
            </a:r>
            <a:r>
              <a:rPr lang="en-US" altLang="zh-CN" sz="1400" dirty="0"/>
              <a:t> = 64k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Num_threads</a:t>
            </a:r>
            <a:r>
              <a:rPr lang="en-US" altLang="zh-CN" sz="1400" dirty="0"/>
              <a:t> = 16</a:t>
            </a:r>
            <a:endParaRPr lang="zh-CN" altLang="en-US" sz="1400" dirty="0"/>
          </a:p>
        </p:txBody>
      </p:sp>
      <p:pic>
        <p:nvPicPr>
          <p:cNvPr id="22" name="图形 49">
            <a:extLst>
              <a:ext uri="{FF2B5EF4-FFF2-40B4-BE49-F238E27FC236}">
                <a16:creationId xmlns:a16="http://schemas.microsoft.com/office/drawing/2014/main" id="{0BF4E7E1-C905-40AF-941A-1D77A1B13FDF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1256" y="1329393"/>
            <a:ext cx="5798024" cy="3364429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801AC954-86E6-4105-ACEF-EC33F1A1AC57}"/>
              </a:ext>
            </a:extLst>
          </p:cNvPr>
          <p:cNvSpPr txBox="1"/>
          <p:nvPr/>
        </p:nvSpPr>
        <p:spPr>
          <a:xfrm>
            <a:off x="474408" y="1630561"/>
            <a:ext cx="38783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  </a:t>
            </a:r>
            <a:r>
              <a:rPr lang="zh-CN" altLang="en-US" sz="16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FIO</a:t>
            </a:r>
            <a:r>
              <a:rPr lang="zh-CN" altLang="en-US" sz="16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基准测试中，</a:t>
            </a:r>
            <a:r>
              <a:rPr lang="zh-CN" altLang="zh-CN" sz="16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模拟器的误差较大：</a:t>
            </a:r>
            <a:endParaRPr lang="zh-CN" altLang="en-US" sz="16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28D8F15-5FC8-4447-A3BB-6F79F143AAC5}"/>
              </a:ext>
            </a:extLst>
          </p:cNvPr>
          <p:cNvSpPr txBox="1"/>
          <p:nvPr/>
        </p:nvSpPr>
        <p:spPr>
          <a:xfrm>
            <a:off x="385590" y="4888886"/>
            <a:ext cx="11172673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可以观察到，尽管二者数值上差距较大，但是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NVMeVirt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的吞吐量随时间变化的趋势与真实设备基本一致，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使用模拟器能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观察设备的性能波动情况，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能够在一定程度上反应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程序中的性能瓶颈。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93FB669-2C55-460D-9384-8CFF4A90B574}"/>
              </a:ext>
            </a:extLst>
          </p:cNvPr>
          <p:cNvSpPr txBox="1"/>
          <p:nvPr/>
        </p:nvSpPr>
        <p:spPr>
          <a:xfrm>
            <a:off x="512720" y="3710472"/>
            <a:ext cx="46543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2. </a:t>
            </a:r>
            <a:r>
              <a:rPr lang="zh-CN" altLang="en-US" sz="16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r>
              <a:rPr lang="en-US" altLang="zh-CN" sz="1600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+ZenFS</a:t>
            </a:r>
            <a:r>
              <a:rPr lang="zh-CN" altLang="zh-CN" sz="16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分别对模拟和物理环境进行测试，记录</a:t>
            </a:r>
            <a:r>
              <a:rPr lang="zh-CN" altLang="zh-CN" sz="1600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吞吐量随时间的变化</a:t>
            </a:r>
            <a:r>
              <a:rPr lang="zh-CN" altLang="en-US" sz="1600" kern="1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如右图所示。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82D8D65-1887-4B91-97ED-5DABC4EEBA49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238B64-0684-43EC-A999-BC612397F3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20" y="1966116"/>
            <a:ext cx="4062100" cy="1124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62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269949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单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Zone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7">
            <a:extLst>
              <a:ext uri="{FF2B5EF4-FFF2-40B4-BE49-F238E27FC236}">
                <a16:creationId xmlns:a16="http://schemas.microsoft.com/office/drawing/2014/main" id="{799610EE-4E5C-45A6-BD40-2877F4D9D982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2907407"/>
            <a:ext cx="4993005" cy="2926080"/>
          </a:xfrm>
          <a:prstGeom prst="rect">
            <a:avLst/>
          </a:prstGeom>
        </p:spPr>
      </p:pic>
      <p:pic>
        <p:nvPicPr>
          <p:cNvPr id="19" name="图形 6">
            <a:extLst>
              <a:ext uri="{FF2B5EF4-FFF2-40B4-BE49-F238E27FC236}">
                <a16:creationId xmlns:a16="http://schemas.microsoft.com/office/drawing/2014/main" id="{F6BAC16D-33AB-4D16-B960-7D50A2D54EE2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21528" y="2858296"/>
            <a:ext cx="4993005" cy="292608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753190"/>
            <a:ext cx="10543136" cy="1225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在实际应用中，会出现某类型的数据仅写入单个指定</a:t>
            </a:r>
            <a:r>
              <a:rPr lang="en-US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的情况（例如上文分析的</a:t>
            </a:r>
            <a:r>
              <a:rPr lang="en-US" altLang="zh-CN" sz="17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RocksDB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中的</a:t>
            </a:r>
            <a:r>
              <a:rPr lang="en-US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文件），因此，测试不同情况下单个</a:t>
            </a:r>
            <a:r>
              <a:rPr lang="en-US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的性能很有意义。分别使用三种</a:t>
            </a:r>
            <a:r>
              <a:rPr lang="en-US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I/O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引擎，在不同的块大小下进行单</a:t>
            </a:r>
            <a:r>
              <a:rPr lang="en-US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写入测试</a:t>
            </a:r>
            <a:r>
              <a:rPr lang="zh-CN" altLang="en-US" sz="17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，结果如下。</a:t>
            </a:r>
            <a:endParaRPr lang="zh-CN" altLang="en-US" sz="1700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2341366-4E61-45FA-B7C4-58EA1BEF8A57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15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144352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全盘写入测试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722906"/>
            <a:ext cx="10543136" cy="1219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为了评估不同块大小和线程数对写入速度和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IOPS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的影响，我们设计并实施了一系列测试。测试配置包括使</a:t>
            </a:r>
            <a:r>
              <a:rPr lang="en-US" altLang="zh-CN" sz="1700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io_uring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作为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I/O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引擎，并在五种不同的块大小（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64k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128k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256k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）和五个不同的线程数（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）下进行测试。</a:t>
            </a:r>
          </a:p>
        </p:txBody>
      </p:sp>
      <p:pic>
        <p:nvPicPr>
          <p:cNvPr id="25" name="图形 11">
            <a:extLst>
              <a:ext uri="{FF2B5EF4-FFF2-40B4-BE49-F238E27FC236}">
                <a16:creationId xmlns:a16="http://schemas.microsoft.com/office/drawing/2014/main" id="{F3724198-0E58-4601-9600-635831736314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02177" y="2763921"/>
            <a:ext cx="4777304" cy="3184678"/>
          </a:xfrm>
          <a:prstGeom prst="rect">
            <a:avLst/>
          </a:prstGeom>
        </p:spPr>
      </p:pic>
      <p:pic>
        <p:nvPicPr>
          <p:cNvPr id="27" name="图形 43">
            <a:extLst>
              <a:ext uri="{FF2B5EF4-FFF2-40B4-BE49-F238E27FC236}">
                <a16:creationId xmlns:a16="http://schemas.microsoft.com/office/drawing/2014/main" id="{AABCD2C3-6D30-435E-9376-7BD37CCBFAEA}"/>
              </a:ext>
            </a:extLst>
          </p:cNvPr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92" y="2764415"/>
            <a:ext cx="4993200" cy="3184678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F1042277-73A0-40B1-A307-CA4CF485806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58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ZAFS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评估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1">
            <a:extLst>
              <a:ext uri="{FF2B5EF4-FFF2-40B4-BE49-F238E27FC236}">
                <a16:creationId xmlns:a16="http://schemas.microsoft.com/office/drawing/2014/main" id="{85C8F1B6-20F2-450A-83C0-254C48F6987A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680" y="2678876"/>
            <a:ext cx="4191000" cy="2913380"/>
          </a:xfrm>
          <a:prstGeom prst="rect">
            <a:avLst/>
          </a:prstGeom>
        </p:spPr>
      </p:pic>
      <p:pic>
        <p:nvPicPr>
          <p:cNvPr id="19" name="图形 45">
            <a:extLst>
              <a:ext uri="{FF2B5EF4-FFF2-40B4-BE49-F238E27FC236}">
                <a16:creationId xmlns:a16="http://schemas.microsoft.com/office/drawing/2014/main" id="{3A8141DC-2B35-4FEA-9F94-EB74B2B3E307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95114" y="2662352"/>
            <a:ext cx="4267200" cy="2946429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B8BFC0A-1446-4D70-A7AD-1DF215C88C83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229ABD9-9E1D-43F9-BDFB-CFD6625EA974}"/>
              </a:ext>
            </a:extLst>
          </p:cNvPr>
          <p:cNvSpPr txBox="1"/>
          <p:nvPr/>
        </p:nvSpPr>
        <p:spPr>
          <a:xfrm>
            <a:off x="506614" y="1691823"/>
            <a:ext cx="3330171" cy="82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利用</a:t>
            </a:r>
            <a:r>
              <a:rPr lang="en-US" altLang="zh-CN" sz="1700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benchmark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工具，进行</a:t>
            </a: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4KiB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700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fillrandom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测试。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CE3F262-7945-459F-9B02-3BAE12E266AB}"/>
              </a:ext>
            </a:extLst>
          </p:cNvPr>
          <p:cNvSpPr txBox="1"/>
          <p:nvPr/>
        </p:nvSpPr>
        <p:spPr>
          <a:xfrm>
            <a:off x="6882622" y="1688796"/>
            <a:ext cx="3303555" cy="435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(2)ZAFS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1700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ZenFS</a:t>
            </a:r>
            <a:r>
              <a:rPr lang="zh-CN" altLang="en-US" sz="17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的恢复时间对比</a:t>
            </a:r>
          </a:p>
        </p:txBody>
      </p:sp>
    </p:spTree>
    <p:extLst>
      <p:ext uri="{BB962C8B-B14F-4D97-AF65-F5344CB8AC3E}">
        <p14:creationId xmlns:p14="http://schemas.microsoft.com/office/powerpoint/2010/main" val="238615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ZNS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采用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U.2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接口，如右图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另外，初步测试了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RocksDB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+ 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ZenFS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的表现，与之前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NVMevirt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l/O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栈的延迟。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连接到服务器后，查看块设备，如右下图所示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027206"/>
            <a:ext cx="5517358" cy="2270957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AB728D-84D2-4469-AF28-191BBA7291C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3331</TotalTime>
  <Words>2288</Words>
  <Application>Microsoft Office PowerPoint</Application>
  <PresentationFormat>宽屏</PresentationFormat>
  <Paragraphs>173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_5b8b_4f53</vt:lpstr>
      <vt:lpstr>Söhne</vt:lpstr>
      <vt:lpstr>等线</vt:lpstr>
      <vt:lpstr>等线 Light</vt:lpstr>
      <vt:lpstr>宋体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 柳</cp:lastModifiedBy>
  <cp:revision>3795</cp:revision>
  <dcterms:created xsi:type="dcterms:W3CDTF">2019-02-21T08:55:00Z</dcterms:created>
  <dcterms:modified xsi:type="dcterms:W3CDTF">2024-05-28T19:12:25Z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