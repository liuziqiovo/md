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40" r:id="rId2"/>
    <p:sldId id="549" r:id="rId3"/>
    <p:sldId id="548" r:id="rId4"/>
    <p:sldId id="551" r:id="rId5"/>
    <p:sldId id="554" r:id="rId6"/>
    <p:sldId id="558" r:id="rId7"/>
    <p:sldId id="555" r:id="rId8"/>
    <p:sldId id="557" r:id="rId9"/>
    <p:sldId id="556" r:id="rId10"/>
    <p:sldId id="261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D005FB-1F80-42D3-AAEF-86A4217B13FB}">
          <p14:sldIdLst>
            <p14:sldId id="340"/>
            <p14:sldId id="549"/>
            <p14:sldId id="548"/>
            <p14:sldId id="551"/>
            <p14:sldId id="554"/>
            <p14:sldId id="558"/>
            <p14:sldId id="555"/>
            <p14:sldId id="557"/>
            <p14:sldId id="556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47BA"/>
    <a:srgbClr val="0152D9"/>
    <a:srgbClr val="ADADE0"/>
    <a:srgbClr val="8484D1"/>
    <a:srgbClr val="E51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81289" autoAdjust="0"/>
  </p:normalViewPr>
  <p:slideViewPr>
    <p:cSldViewPr snapToGrid="0">
      <p:cViewPr varScale="1">
        <p:scale>
          <a:sx n="77" d="100"/>
          <a:sy n="77" d="100"/>
        </p:scale>
        <p:origin x="5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AFB0F-6192-48FE-99AC-AF225DC028A7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1677A-EDDD-4DA4-9464-453B9AC957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各位老师好，我是柳子淇，我的毕设题目是：基于</a:t>
            </a:r>
            <a:r>
              <a:rPr lang="en-US" altLang="zh-CN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ZNS SSD</a:t>
            </a:r>
            <a:r>
              <a:rPr lang="zh-CN" altLang="en-US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的数据访问特征分析与性能优化</a:t>
            </a:r>
            <a:endParaRPr lang="en-US" altLang="zh-CN" sz="1200" b="1" dirty="0">
              <a:solidFill>
                <a:srgbClr val="4747BA"/>
              </a:solidFill>
              <a:latin typeface="Constantia" panose="02030602050306030303" pitchFamily="18" charset="0"/>
              <a:ea typeface="微软雅黑" panose="020B0503020204020204" charset="-122"/>
              <a:cs typeface="Calibri" panose="020F0502020204030204" pitchFamily="3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颗粒），关键参数上也有区别，例如已知的，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，最大带宽也更大。另一方面，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 SSD vs ZNS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77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 Amplification Factor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颗粒）；另一方面，关键参数上有区别，例如已知的，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6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9B895-C9E7-A88C-3BF8-81F9E268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035CC-CA4E-6838-3CC4-0DF0ED8F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C1E2C6-ECF4-23C5-A84F-5FE0BE0EC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8F522-309B-8225-6AAD-65AFDC584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51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9B895-C9E7-A88C-3BF8-81F9E268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035CC-CA4E-6838-3CC4-0DF0ED8F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C1E2C6-ECF4-23C5-A84F-5FE0BE0EC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并不局限于此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这种针对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的优化设计不仅限于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LSM-Tree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型的存储引擎，对于其他使用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Zone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语义存储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的数据库，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都能发挥作用。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观察特性：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设计的出发点是基于对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特性的三点观察：</a:t>
            </a:r>
          </a:p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的写入请求是写入密集型，并主要发出小型写入；</a:t>
            </a:r>
          </a:p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仅在数据库恢复期间读取；</a:t>
            </a:r>
          </a:p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通常很小。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Header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Buffer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 Recovery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恢复过程中，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LSM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树会顺序扫描所有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，并将读取的数据应用到其内存表中。然而，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存储在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SSD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上是无序的；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需要恢复其原始顺序。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通过创建从逻辑地址（即偏移量）到物理地址的映射来实现这一点。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3-4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所示，在读取时，首先使用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报头中的信息找到与逻辑地址（单线程顺序写入情况下的正确地址）对应的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条目的物理地址。由于序列号（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seq_number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）是唯一且单调递增的， 所以有更高序列号的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条目都有更高的逻辑地址。具体来说，具有序列号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x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条目的逻辑地址等于序列号为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x-1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WAL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条目的逻辑地址加上其条目大小（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entry_size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）。依次，构建逻辑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物理地址映射。然后按照序列号排序，得到一组顺序的物理地址。</a:t>
            </a:r>
          </a:p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然而，检索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头部并不容易。因为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条目是变长的，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无法预先确定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头部的位置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除了第一个请求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。为了避免每次读取都顺序扫描整个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，逐个条目地查找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头部。一种替代解决方案是一次性读取所有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，但这需要开辟与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等大小的内存。因此，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A2-WAL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采用了一种更高效的方案：使用屏障。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8F522-309B-8225-6AAD-65AFDC584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625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仅列举</a:t>
            </a:r>
            <a:r>
              <a:rPr lang="en-US" altLang="zh-CN" sz="1200" dirty="0">
                <a:latin typeface="Constantia" panose="02030602050306030303" pitchFamily="18" charset="0"/>
              </a:rPr>
              <a:t>3</a:t>
            </a:r>
            <a:r>
              <a:rPr lang="zh-CN" altLang="en-US" sz="1200" dirty="0">
                <a:latin typeface="Constantia" panose="02030602050306030303" pitchFamily="18" charset="0"/>
              </a:rPr>
              <a:t>种比较典型的测试结果。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分别是：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1</a:t>
            </a:r>
            <a:r>
              <a:rPr lang="zh-CN" altLang="en-US" sz="1200" dirty="0">
                <a:latin typeface="Constantia" panose="02030602050306030303" pitchFamily="18" charset="0"/>
              </a:rPr>
              <a:t>：</a:t>
            </a:r>
            <a:r>
              <a:rPr lang="en-US" altLang="zh-CN" sz="1200" dirty="0">
                <a:latin typeface="Constantia" panose="02030602050306030303" pitchFamily="18" charset="0"/>
              </a:rPr>
              <a:t> </a:t>
            </a:r>
            <a:r>
              <a:rPr lang="zh-CN" altLang="en-US" sz="1200" dirty="0">
                <a:latin typeface="Constantia" panose="02030602050306030303" pitchFamily="18" charset="0"/>
              </a:rPr>
              <a:t>模拟</a:t>
            </a:r>
            <a:r>
              <a:rPr lang="en-US" altLang="zh-CN" sz="1200" dirty="0">
                <a:latin typeface="Constantia" panose="02030602050306030303" pitchFamily="18" charset="0"/>
              </a:rPr>
              <a:t>vs</a:t>
            </a:r>
            <a:r>
              <a:rPr lang="zh-CN" altLang="en-US" sz="1200" dirty="0">
                <a:latin typeface="Constantia" panose="02030602050306030303" pitchFamily="18" charset="0"/>
              </a:rPr>
              <a:t>真实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2</a:t>
            </a:r>
            <a:r>
              <a:rPr lang="zh-CN" altLang="en-US" sz="1200" dirty="0">
                <a:latin typeface="Constantia" panose="02030602050306030303" pitchFamily="18" charset="0"/>
              </a:rPr>
              <a:t>： 单</a:t>
            </a:r>
            <a:r>
              <a:rPr lang="en-US" altLang="zh-CN" sz="1200" dirty="0">
                <a:latin typeface="Constantia" panose="02030602050306030303" pitchFamily="18" charset="0"/>
              </a:rPr>
              <a:t>Zone</a:t>
            </a:r>
            <a:r>
              <a:rPr lang="zh-CN" altLang="en-US" sz="1200" dirty="0">
                <a:latin typeface="Constantia" panose="02030602050306030303" pitchFamily="18" charset="0"/>
              </a:rPr>
              <a:t>性能</a:t>
            </a:r>
            <a:endParaRPr lang="en-US" altLang="zh-CN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07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仅列举</a:t>
            </a:r>
            <a:r>
              <a:rPr lang="en-US" altLang="zh-CN" sz="1200" dirty="0">
                <a:latin typeface="Constantia" panose="02030602050306030303" pitchFamily="18" charset="0"/>
              </a:rPr>
              <a:t>3</a:t>
            </a:r>
            <a:r>
              <a:rPr lang="zh-CN" altLang="en-US" sz="1200" dirty="0">
                <a:latin typeface="Constantia" panose="02030602050306030303" pitchFamily="18" charset="0"/>
              </a:rPr>
              <a:t>种比较典型的测试结果。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分别是：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1</a:t>
            </a:r>
            <a:r>
              <a:rPr lang="zh-CN" altLang="en-US" sz="1200" dirty="0">
                <a:latin typeface="Constantia" panose="02030602050306030303" pitchFamily="18" charset="0"/>
              </a:rPr>
              <a:t>：</a:t>
            </a:r>
            <a:r>
              <a:rPr lang="en-US" altLang="zh-CN" sz="1200" dirty="0">
                <a:latin typeface="Constantia" panose="02030602050306030303" pitchFamily="18" charset="0"/>
              </a:rPr>
              <a:t> </a:t>
            </a:r>
            <a:r>
              <a:rPr lang="zh-CN" altLang="en-US" sz="1200" dirty="0">
                <a:latin typeface="Constantia" panose="02030602050306030303" pitchFamily="18" charset="0"/>
              </a:rPr>
              <a:t>模拟</a:t>
            </a:r>
            <a:r>
              <a:rPr lang="en-US" altLang="zh-CN" sz="1200" dirty="0">
                <a:latin typeface="Constantia" panose="02030602050306030303" pitchFamily="18" charset="0"/>
              </a:rPr>
              <a:t>vs</a:t>
            </a:r>
            <a:r>
              <a:rPr lang="zh-CN" altLang="en-US" sz="1200" dirty="0">
                <a:latin typeface="Constantia" panose="02030602050306030303" pitchFamily="18" charset="0"/>
              </a:rPr>
              <a:t>真实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2</a:t>
            </a:r>
            <a:r>
              <a:rPr lang="zh-CN" altLang="en-US" sz="1200" dirty="0">
                <a:latin typeface="Constantia" panose="02030602050306030303" pitchFamily="18" charset="0"/>
              </a:rPr>
              <a:t>： 单</a:t>
            </a:r>
            <a:r>
              <a:rPr lang="en-US" altLang="zh-CN" sz="1200" dirty="0">
                <a:latin typeface="Constantia" panose="02030602050306030303" pitchFamily="18" charset="0"/>
              </a:rPr>
              <a:t>Zone</a:t>
            </a:r>
            <a:r>
              <a:rPr lang="zh-CN" altLang="en-US" sz="1200" dirty="0">
                <a:latin typeface="Constantia" panose="02030602050306030303" pitchFamily="18" charset="0"/>
              </a:rPr>
              <a:t>性能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3</a:t>
            </a:r>
            <a:r>
              <a:rPr lang="zh-CN" altLang="en-US" sz="1200" dirty="0">
                <a:latin typeface="Constantia" panose="02030602050306030303" pitchFamily="18" charset="0"/>
              </a:rPr>
              <a:t>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338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仅列举</a:t>
            </a:r>
            <a:r>
              <a:rPr lang="en-US" altLang="zh-CN" sz="1200" dirty="0">
                <a:latin typeface="Constantia" panose="02030602050306030303" pitchFamily="18" charset="0"/>
              </a:rPr>
              <a:t>3</a:t>
            </a:r>
            <a:r>
              <a:rPr lang="zh-CN" altLang="en-US" sz="1200" dirty="0">
                <a:latin typeface="Constantia" panose="02030602050306030303" pitchFamily="18" charset="0"/>
              </a:rPr>
              <a:t>种比较典型的测试结果。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分别是：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1</a:t>
            </a:r>
            <a:r>
              <a:rPr lang="zh-CN" altLang="en-US" sz="1200" dirty="0">
                <a:latin typeface="Constantia" panose="02030602050306030303" pitchFamily="18" charset="0"/>
              </a:rPr>
              <a:t>：</a:t>
            </a:r>
            <a:r>
              <a:rPr lang="en-US" altLang="zh-CN" sz="1200" dirty="0">
                <a:latin typeface="Constantia" panose="02030602050306030303" pitchFamily="18" charset="0"/>
              </a:rPr>
              <a:t> </a:t>
            </a:r>
            <a:r>
              <a:rPr lang="zh-CN" altLang="en-US" sz="1200" dirty="0">
                <a:latin typeface="Constantia" panose="02030602050306030303" pitchFamily="18" charset="0"/>
              </a:rPr>
              <a:t>模拟</a:t>
            </a:r>
            <a:r>
              <a:rPr lang="en-US" altLang="zh-CN" sz="1200" dirty="0">
                <a:latin typeface="Constantia" panose="02030602050306030303" pitchFamily="18" charset="0"/>
              </a:rPr>
              <a:t>vs</a:t>
            </a:r>
            <a:r>
              <a:rPr lang="zh-CN" altLang="en-US" sz="1200" dirty="0">
                <a:latin typeface="Constantia" panose="02030602050306030303" pitchFamily="18" charset="0"/>
              </a:rPr>
              <a:t>真实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2</a:t>
            </a:r>
            <a:r>
              <a:rPr lang="zh-CN" altLang="en-US" sz="1200" dirty="0">
                <a:latin typeface="Constantia" panose="02030602050306030303" pitchFamily="18" charset="0"/>
              </a:rPr>
              <a:t>： 单</a:t>
            </a:r>
            <a:r>
              <a:rPr lang="en-US" altLang="zh-CN" sz="1200" dirty="0">
                <a:latin typeface="Constantia" panose="02030602050306030303" pitchFamily="18" charset="0"/>
              </a:rPr>
              <a:t>Zone</a:t>
            </a:r>
            <a:r>
              <a:rPr lang="zh-CN" altLang="en-US" sz="1200" dirty="0">
                <a:latin typeface="Constantia" panose="02030602050306030303" pitchFamily="18" charset="0"/>
              </a:rPr>
              <a:t>性能</a:t>
            </a: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1200" dirty="0">
                <a:latin typeface="Constantia" panose="02030602050306030303" pitchFamily="18" charset="0"/>
              </a:rPr>
              <a:t>3</a:t>
            </a:r>
            <a:r>
              <a:rPr lang="zh-CN" altLang="en-US" sz="1200" dirty="0">
                <a:latin typeface="Constantia" panose="02030602050306030303" pitchFamily="18" charset="0"/>
              </a:rPr>
              <a:t>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470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95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listening!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677A-EDDD-4DA4-9464-453B9AC9570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1CB8A-CC46-473E-BAED-B264D45A45B1}" type="datetimeFigureOut">
              <a:rPr lang="zh-CN" altLang="en-US" smtClean="0"/>
              <a:t>2024/6/3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tantia" panose="02030602050306030303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47870" y="2347912"/>
            <a:ext cx="10424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基于</a:t>
            </a: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ZNS SSD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的数据访问特征分析与性能优化</a:t>
            </a:r>
            <a:endParaRPr lang="en-US" altLang="zh-CN" sz="4000" b="1" dirty="0">
              <a:solidFill>
                <a:srgbClr val="4747BA"/>
              </a:solidFill>
              <a:latin typeface="Constantia" panose="02030602050306030303" pitchFamily="18" charset="0"/>
              <a:ea typeface="微软雅黑" panose="020B0503020204020204" charset="-122"/>
              <a:cs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406269" y="5150347"/>
            <a:ext cx="110799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柳子淇</a:t>
            </a:r>
            <a:endParaRPr lang="en-US" altLang="zh-CN" sz="2400" b="1" dirty="0">
              <a:solidFill>
                <a:srgbClr val="4747BA"/>
              </a:solidFill>
              <a:latin typeface="Constantia" panose="02030602050306030303" pitchFamily="18" charset="0"/>
            </a:endParaRPr>
          </a:p>
          <a:p>
            <a:pPr algn="ctr"/>
            <a:r>
              <a:rPr lang="en-US" altLang="zh-CN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5 . 29</a:t>
            </a:r>
            <a:endParaRPr lang="zh-CN" altLang="en-US" sz="2400" b="1" dirty="0">
              <a:solidFill>
                <a:srgbClr val="4747BA"/>
              </a:solidFill>
              <a:latin typeface="Constantia" panose="02030602050306030303" pitchFamily="18" charset="0"/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1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F8C07CB-D5E6-905C-4CA5-A0B50B3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39986A-8663-B12B-5E7F-8CBB550422EA}"/>
              </a:ext>
            </a:extLst>
          </p:cNvPr>
          <p:cNvSpPr txBox="1"/>
          <p:nvPr/>
        </p:nvSpPr>
        <p:spPr>
          <a:xfrm>
            <a:off x="385590" y="1485168"/>
            <a:ext cx="11266832" cy="36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数据中心对</a:t>
            </a:r>
            <a:r>
              <a:rPr lang="zh-CN" altLang="en-US" sz="2000" dirty="0">
                <a:ea typeface="宋体" panose="02010600030101010101" pitchFamily="2" charset="-122"/>
              </a:rPr>
              <a:t>存储性能与效率的需求日益增长，但传统的固态硬盘在性能，单盘容量，寿命等方面无法满足其需求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285750">
              <a:lnSpc>
                <a:spcPct val="130000"/>
              </a:lnSpc>
              <a:buFont typeface="Wingdings" panose="05000000000000000000" charset="0"/>
              <a:buChar char="q"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Zoned Namespace (ZNS) SSD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作为一种新兴的固态盘存储技术，以区域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Zone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为管理单元并强制要求每个区域内顺序写入，消除了硬盘内部管理机制造成的写放大效应，显著提升了存储效率，延长了固态硬盘寿命。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本课题来源于实验室与浪潮等企业的联合项目，旨在利用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ZNS SSD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重新设计存储系统。本工作作为此项目的先行性研究，基于实际的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ZNS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盘做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ZNS SSD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的数据访问特征以及性能优化方面的研究。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97A7DF-0F62-BD5E-C895-912387E18576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背景</a:t>
            </a:r>
          </a:p>
        </p:txBody>
      </p:sp>
    </p:spTree>
    <p:extLst>
      <p:ext uri="{BB962C8B-B14F-4D97-AF65-F5344CB8AC3E}">
        <p14:creationId xmlns:p14="http://schemas.microsoft.com/office/powerpoint/2010/main" val="161537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6EE90F-1E38-6A29-27D6-F130558DA2EF}"/>
              </a:ext>
            </a:extLst>
          </p:cNvPr>
          <p:cNvSpPr txBox="1"/>
          <p:nvPr/>
        </p:nvSpPr>
        <p:spPr>
          <a:xfrm>
            <a:off x="430529" y="1382337"/>
            <a:ext cx="11425112" cy="170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写放大倍数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(WAF)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直接影响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的寿命和性能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在传统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SSD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盘上降低写放大的工作主要关注数据放置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冷热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分离，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垃圾回收算法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等等。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然而，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工作只能在应用级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或文件系统级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别一定程度地缓解</a:t>
            </a:r>
            <a:r>
              <a:rPr lang="zh-CN" altLang="zh-CN" dirty="0">
                <a:solidFill>
                  <a:srgbClr val="4747B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主机侧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的工作负载导致的写放大。但在</a:t>
            </a:r>
            <a:r>
              <a:rPr lang="zh-CN" altLang="en-US" dirty="0">
                <a:solidFill>
                  <a:srgbClr val="4747BA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设备侧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仍存在写放大现象，这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是由于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块接口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闪存转换层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(FTL)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的存在和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NAND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闪存颗粒的擦写粒度不一致的特性导致的。</a:t>
            </a:r>
            <a:endParaRPr lang="en-US" altLang="zh-CN" sz="16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5CE06B-316F-43EC-1525-4789FBC66C78}"/>
              </a:ext>
            </a:extLst>
          </p:cNvPr>
          <p:cNvSpPr txBox="1"/>
          <p:nvPr/>
        </p:nvSpPr>
        <p:spPr>
          <a:xfrm>
            <a:off x="430529" y="1022703"/>
            <a:ext cx="280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传统</a:t>
            </a:r>
            <a:r>
              <a:rPr lang="en-US" altLang="zh-CN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SSD</a:t>
            </a:r>
            <a:r>
              <a:rPr lang="zh-CN" altLang="en-US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的写放大问题</a:t>
            </a:r>
            <a:endParaRPr lang="en-US" altLang="zh-CN" sz="2000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13EA87-1747-CAF7-8163-294D9D2ED9A6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研究现状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B2BD9DB-4FE6-489C-AF75-75A2A2B1DF2E}"/>
              </a:ext>
            </a:extLst>
          </p:cNvPr>
          <p:cNvSpPr txBox="1"/>
          <p:nvPr/>
        </p:nvSpPr>
        <p:spPr>
          <a:xfrm>
            <a:off x="430529" y="3244334"/>
            <a:ext cx="2931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en-US" altLang="zh-CN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 SSD</a:t>
            </a:r>
            <a:r>
              <a:rPr lang="zh-CN" altLang="en-US" sz="18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技术</a:t>
            </a:r>
            <a:endParaRPr lang="en-US" altLang="zh-CN" sz="1800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D465B86-F20C-4EFF-8393-1230A60967EF}"/>
              </a:ext>
            </a:extLst>
          </p:cNvPr>
          <p:cNvSpPr txBox="1"/>
          <p:nvPr/>
        </p:nvSpPr>
        <p:spPr>
          <a:xfrm>
            <a:off x="430529" y="3537030"/>
            <a:ext cx="11280655" cy="2532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ZNS SSD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引入了基于区域的存储模型，取消了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FTL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层的设计，放弃了随机写的支持，进而消除了盘内写放大效应，提高了写入操作的可预测性和效率。此外，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ZNS SSD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的粗粒度管理降低了垃圾回收的复杂性和频率，显著提升了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SSD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的整体性能和耐用性。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目前，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的研究主要有硬件优化；文件系统适配；端到端应用几个方面。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通用文件系统：已适配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ZNS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的文件系统如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F2FS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ZoneFS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端到端应用：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键值存储领域，尤其是基于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LSM-tree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存储引擎，如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RocksDB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18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2C4D-6359-6E65-A695-78F74413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842122-F6A3-DB31-2373-046B3B397E0D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4ABAE0-A8B9-5F68-CB5D-11CBB12AE5F5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3982EE-00FE-98F6-3D0D-1AF5AD2AC13C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64E4B705-DDF8-BAEB-2D16-4D5E405B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CD009-9E06-71D5-796C-E7F2677BB612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D39DBC95-90B7-CC4A-0674-5E4BE18FA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A825C38F-4064-D66C-7E83-641C6E6C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B92E1150-CC3D-3FD6-BE1F-548EE10BA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A6F760-2380-4D3B-4121-FC89E5F5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A2BDBB-DB9F-4471-06D2-4AE13860A54A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90E075-4835-B9E7-5A45-417B95DE7D3F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ZAFS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架构概览</a:t>
            </a:r>
          </a:p>
        </p:txBody>
      </p:sp>
      <p:pic>
        <p:nvPicPr>
          <p:cNvPr id="16" name="图形 8">
            <a:extLst>
              <a:ext uri="{FF2B5EF4-FFF2-40B4-BE49-F238E27FC236}">
                <a16:creationId xmlns:a16="http://schemas.microsoft.com/office/drawing/2014/main" id="{0BC2F4B7-D4BE-46CF-A683-CF8911D0E8B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6085" y="1209676"/>
            <a:ext cx="3946705" cy="460138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A445568-DD72-4E30-80F8-764A579485C6}"/>
              </a:ext>
            </a:extLst>
          </p:cNvPr>
          <p:cNvSpPr txBox="1"/>
          <p:nvPr/>
        </p:nvSpPr>
        <p:spPr>
          <a:xfrm>
            <a:off x="5486400" y="1845918"/>
            <a:ext cx="6096000" cy="3363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SPDK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专用文件系统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——ZAFS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Zone Append File System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</a:pP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ZAFS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SPDK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绕过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 kernel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以直接管理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ZNS SSD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，有效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降低了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Zone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操作的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延迟；并且实现了一种区域友好的追加感知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WAL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解决方案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——A2-WAL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充分利用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Zone Append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命令的优势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解决了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ZNS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盘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中，由于单个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Zone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只能串行写入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文件而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造成的写入瓶颈问题</a:t>
            </a:r>
          </a:p>
        </p:txBody>
      </p:sp>
    </p:spTree>
    <p:extLst>
      <p:ext uri="{BB962C8B-B14F-4D97-AF65-F5344CB8AC3E}">
        <p14:creationId xmlns:p14="http://schemas.microsoft.com/office/powerpoint/2010/main" val="251273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2C4D-6359-6E65-A695-78F74413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形 4">
            <a:extLst>
              <a:ext uri="{FF2B5EF4-FFF2-40B4-BE49-F238E27FC236}">
                <a16:creationId xmlns:a16="http://schemas.microsoft.com/office/drawing/2014/main" id="{8DFAAC15-8039-4E66-9C49-B6BFDC7BB2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9356" y="950472"/>
            <a:ext cx="7005810" cy="535549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3A842122-F6A3-DB31-2373-046B3B397E0D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4ABAE0-A8B9-5F68-CB5D-11CBB12AE5F5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3982EE-00FE-98F6-3D0D-1AF5AD2AC13C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64E4B705-DDF8-BAEB-2D16-4D5E405B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CD009-9E06-71D5-796C-E7F2677BB612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D39DBC95-90B7-CC4A-0674-5E4BE18FAF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A825C38F-4064-D66C-7E83-641C6E6C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B92E1150-CC3D-3FD6-BE1F-548EE10BA2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A6F760-2380-4D3B-4121-FC89E5F5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A2BDBB-DB9F-4471-06D2-4AE13860A54A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90E075-4835-B9E7-5A45-417B95DE7D3F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A2-WAL</a:t>
            </a:r>
            <a:endParaRPr lang="zh-CN" altLang="en-US" sz="32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CC1707E-979F-4784-82A9-FD4FAB404C52}"/>
              </a:ext>
            </a:extLst>
          </p:cNvPr>
          <p:cNvSpPr txBox="1"/>
          <p:nvPr/>
        </p:nvSpPr>
        <p:spPr>
          <a:xfrm>
            <a:off x="385590" y="1316200"/>
            <a:ext cx="4649412" cy="505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ZAFS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中，设计实现了一种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追加友好的新型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WAL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A2-WAL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Append-Aware WAL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WAL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数据和头部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(header)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组合成一个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WAL entry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，保存了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序列号（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seq_number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）和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WAL entry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的大小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entry_size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前者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原子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自增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维护条目之间的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顺序。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后者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用于推断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下一个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WAL 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条目的位置。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利用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Append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并发写入，增加吞吐量。但是导致了数据乱序，在恢复时，利用新增的两个变量重排序。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</p:spTree>
    <p:extLst>
      <p:ext uri="{BB962C8B-B14F-4D97-AF65-F5344CB8AC3E}">
        <p14:creationId xmlns:p14="http://schemas.microsoft.com/office/powerpoint/2010/main" val="374954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6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4408" y="1049607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模拟</a:t>
            </a:r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vs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物理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3F8172-AEE1-4884-93B9-03D244E3AE0F}"/>
              </a:ext>
            </a:extLst>
          </p:cNvPr>
          <p:cNvSpPr txBox="1"/>
          <p:nvPr/>
        </p:nvSpPr>
        <p:spPr>
          <a:xfrm>
            <a:off x="512720" y="3163584"/>
            <a:ext cx="3950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写入负载，</a:t>
            </a:r>
            <a:r>
              <a:rPr lang="en-US" altLang="zh-CN" sz="1400" dirty="0" err="1"/>
              <a:t>Blocksize</a:t>
            </a:r>
            <a:r>
              <a:rPr lang="en-US" altLang="zh-CN" sz="1400" dirty="0"/>
              <a:t> = 64k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Num_threads</a:t>
            </a:r>
            <a:r>
              <a:rPr lang="en-US" altLang="zh-CN" sz="1400" dirty="0"/>
              <a:t> = 16</a:t>
            </a:r>
            <a:endParaRPr lang="zh-CN" altLang="en-US" sz="1400" dirty="0"/>
          </a:p>
        </p:txBody>
      </p:sp>
      <p:pic>
        <p:nvPicPr>
          <p:cNvPr id="22" name="图形 49">
            <a:extLst>
              <a:ext uri="{FF2B5EF4-FFF2-40B4-BE49-F238E27FC236}">
                <a16:creationId xmlns:a16="http://schemas.microsoft.com/office/drawing/2014/main" id="{0BF4E7E1-C905-40AF-941A-1D77A1B13FDF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1256" y="1329393"/>
            <a:ext cx="5798024" cy="336442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801AC954-86E6-4105-ACEF-EC33F1A1AC57}"/>
              </a:ext>
            </a:extLst>
          </p:cNvPr>
          <p:cNvSpPr txBox="1"/>
          <p:nvPr/>
        </p:nvSpPr>
        <p:spPr>
          <a:xfrm>
            <a:off x="474408" y="1630561"/>
            <a:ext cx="38783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  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FIO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基准测试中，</a:t>
            </a:r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模拟器的误差较大：</a:t>
            </a:r>
            <a:endParaRPr lang="zh-CN" altLang="en-US" sz="16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28D8F15-5FC8-4447-A3BB-6F79F143AAC5}"/>
              </a:ext>
            </a:extLst>
          </p:cNvPr>
          <p:cNvSpPr txBox="1"/>
          <p:nvPr/>
        </p:nvSpPr>
        <p:spPr>
          <a:xfrm>
            <a:off x="385590" y="4888886"/>
            <a:ext cx="11172673" cy="870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可以观察到，尽管二者数值上差距较大，但是</a:t>
            </a:r>
            <a:r>
              <a:rPr lang="en-US" altLang="zh-CN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NVMeVirt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的吞吐量随时间变化的趋势与真实设备基本一致，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使用模拟器能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观察设备的性能波动情况，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能够在一定程度上反应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程序中的性能瓶颈。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93FB669-2C55-460D-9384-8CFF4A90B574}"/>
              </a:ext>
            </a:extLst>
          </p:cNvPr>
          <p:cNvSpPr txBox="1"/>
          <p:nvPr/>
        </p:nvSpPr>
        <p:spPr>
          <a:xfrm>
            <a:off x="512720" y="3710472"/>
            <a:ext cx="4654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2. </a:t>
            </a:r>
            <a:r>
              <a:rPr lang="zh-CN" altLang="en-US" sz="16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RocksDB</a:t>
            </a:r>
            <a:r>
              <a:rPr lang="en-US" altLang="zh-CN" sz="16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+ZenFS</a:t>
            </a:r>
            <a:r>
              <a:rPr lang="zh-CN" altLang="zh-CN" sz="16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分别对模拟和物理环境进行测试，记录</a:t>
            </a:r>
            <a:r>
              <a:rPr lang="zh-CN" altLang="zh-CN" sz="16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吞吐量随时间的变化</a:t>
            </a:r>
            <a:r>
              <a:rPr lang="zh-CN" altLang="en-US" sz="16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如右图所示。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82D8D65-1887-4B91-97ED-5DABC4EEBA49}"/>
              </a:ext>
            </a:extLst>
          </p:cNvPr>
          <p:cNvSpPr txBox="1"/>
          <p:nvPr/>
        </p:nvSpPr>
        <p:spPr>
          <a:xfrm>
            <a:off x="281680" y="299000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实验评估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238B64-0684-43EC-A999-BC612397F3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20" y="1966116"/>
            <a:ext cx="4062100" cy="112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6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7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269949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单</a:t>
            </a:r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Zone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写入测试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16" name="图形 7">
            <a:extLst>
              <a:ext uri="{FF2B5EF4-FFF2-40B4-BE49-F238E27FC236}">
                <a16:creationId xmlns:a16="http://schemas.microsoft.com/office/drawing/2014/main" id="{799610EE-4E5C-45A6-BD40-2877F4D9D982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5590" y="2907407"/>
            <a:ext cx="4993005" cy="2926080"/>
          </a:xfrm>
          <a:prstGeom prst="rect">
            <a:avLst/>
          </a:prstGeom>
        </p:spPr>
      </p:pic>
      <p:pic>
        <p:nvPicPr>
          <p:cNvPr id="19" name="图形 6">
            <a:extLst>
              <a:ext uri="{FF2B5EF4-FFF2-40B4-BE49-F238E27FC236}">
                <a16:creationId xmlns:a16="http://schemas.microsoft.com/office/drawing/2014/main" id="{F6BAC16D-33AB-4D16-B960-7D50A2D54EE2}"/>
              </a:ext>
            </a:extLst>
          </p:cNvPr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1528" y="2858296"/>
            <a:ext cx="4993005" cy="292608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73F8172-AEE1-4884-93B9-03D244E3AE0F}"/>
              </a:ext>
            </a:extLst>
          </p:cNvPr>
          <p:cNvSpPr txBox="1"/>
          <p:nvPr/>
        </p:nvSpPr>
        <p:spPr>
          <a:xfrm>
            <a:off x="440055" y="1753190"/>
            <a:ext cx="10543136" cy="122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在实际应用中，会出现某类型的数据仅写入单个指定</a:t>
            </a:r>
            <a:r>
              <a:rPr lang="en-US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Zone</a:t>
            </a: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的情况（例如上文分析的</a:t>
            </a:r>
            <a:r>
              <a:rPr lang="en-US" altLang="zh-CN" sz="17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RocksDB</a:t>
            </a: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</a:t>
            </a: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文件），因此，测试不同情况下单个</a:t>
            </a:r>
            <a:r>
              <a:rPr lang="en-US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Zone</a:t>
            </a: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的性能很有意义。分别使用三种</a:t>
            </a:r>
            <a:r>
              <a:rPr lang="en-US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引擎，在不同的块大小下进行单</a:t>
            </a:r>
            <a:r>
              <a:rPr lang="en-US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Zone</a:t>
            </a:r>
            <a:r>
              <a:rPr lang="zh-CN" altLang="zh-CN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写入测试</a:t>
            </a:r>
            <a:r>
              <a:rPr lang="zh-CN" altLang="en-US" sz="17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，结果如下。</a:t>
            </a:r>
            <a:endParaRPr lang="zh-CN" altLang="en-US" sz="17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341366-4E61-45FA-B7C4-58EA1BEF8A57}"/>
              </a:ext>
            </a:extLst>
          </p:cNvPr>
          <p:cNvSpPr txBox="1"/>
          <p:nvPr/>
        </p:nvSpPr>
        <p:spPr>
          <a:xfrm>
            <a:off x="281680" y="299000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实验评估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15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8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144352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全盘写入测试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3F8172-AEE1-4884-93B9-03D244E3AE0F}"/>
              </a:ext>
            </a:extLst>
          </p:cNvPr>
          <p:cNvSpPr txBox="1"/>
          <p:nvPr/>
        </p:nvSpPr>
        <p:spPr>
          <a:xfrm>
            <a:off x="440055" y="1722906"/>
            <a:ext cx="10543136" cy="1219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为了评估不同块大小和线程数对写入速度和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IOPS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的影响，我们设计并实施了一系列测试。测试配置包括使</a:t>
            </a:r>
            <a:r>
              <a:rPr lang="en-US" altLang="zh-CN" sz="17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io_uring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I/O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引擎，并在五种不同的块大小（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256k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）和五个不同的线程数（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）下进行测试。</a:t>
            </a:r>
          </a:p>
        </p:txBody>
      </p:sp>
      <p:pic>
        <p:nvPicPr>
          <p:cNvPr id="25" name="图形 11">
            <a:extLst>
              <a:ext uri="{FF2B5EF4-FFF2-40B4-BE49-F238E27FC236}">
                <a16:creationId xmlns:a16="http://schemas.microsoft.com/office/drawing/2014/main" id="{F3724198-0E58-4601-9600-635831736314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177" y="2763921"/>
            <a:ext cx="4777304" cy="3184678"/>
          </a:xfrm>
          <a:prstGeom prst="rect">
            <a:avLst/>
          </a:prstGeom>
        </p:spPr>
      </p:pic>
      <p:pic>
        <p:nvPicPr>
          <p:cNvPr id="27" name="图形 43">
            <a:extLst>
              <a:ext uri="{FF2B5EF4-FFF2-40B4-BE49-F238E27FC236}">
                <a16:creationId xmlns:a16="http://schemas.microsoft.com/office/drawing/2014/main" id="{AABCD2C3-6D30-435E-9376-7BD37CCBFAE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692" y="2764415"/>
            <a:ext cx="4993200" cy="3184678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1042277-73A0-40B1-A307-CA4CF4858066}"/>
              </a:ext>
            </a:extLst>
          </p:cNvPr>
          <p:cNvSpPr txBox="1"/>
          <p:nvPr/>
        </p:nvSpPr>
        <p:spPr>
          <a:xfrm>
            <a:off x="281680" y="299000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实验评估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5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June 3,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9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ZAFS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评估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16" name="图形 1">
            <a:extLst>
              <a:ext uri="{FF2B5EF4-FFF2-40B4-BE49-F238E27FC236}">
                <a16:creationId xmlns:a16="http://schemas.microsoft.com/office/drawing/2014/main" id="{85C8F1B6-20F2-450A-83C0-254C48F6987A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680" y="2678876"/>
            <a:ext cx="4191000" cy="2913380"/>
          </a:xfrm>
          <a:prstGeom prst="rect">
            <a:avLst/>
          </a:prstGeom>
        </p:spPr>
      </p:pic>
      <p:pic>
        <p:nvPicPr>
          <p:cNvPr id="19" name="图形 45">
            <a:extLst>
              <a:ext uri="{FF2B5EF4-FFF2-40B4-BE49-F238E27FC236}">
                <a16:creationId xmlns:a16="http://schemas.microsoft.com/office/drawing/2014/main" id="{3A8141DC-2B35-4FEA-9F94-EB74B2B3E307}"/>
              </a:ext>
            </a:extLst>
          </p:cNvPr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5114" y="2662352"/>
            <a:ext cx="4267200" cy="294642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B8BFC0A-1446-4D70-A7AD-1DF215C88C83}"/>
              </a:ext>
            </a:extLst>
          </p:cNvPr>
          <p:cNvSpPr txBox="1"/>
          <p:nvPr/>
        </p:nvSpPr>
        <p:spPr>
          <a:xfrm>
            <a:off x="281680" y="299000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实验评估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229ABD9-9E1D-43F9-BDFB-CFD6625EA974}"/>
              </a:ext>
            </a:extLst>
          </p:cNvPr>
          <p:cNvSpPr txBox="1"/>
          <p:nvPr/>
        </p:nvSpPr>
        <p:spPr>
          <a:xfrm>
            <a:off x="506614" y="1691823"/>
            <a:ext cx="3330171" cy="82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7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RocksDB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benchmark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工具，进行</a:t>
            </a: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4KiB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7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fillrandom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测试。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CE3F262-7945-459F-9B02-3BAE12E266AB}"/>
              </a:ext>
            </a:extLst>
          </p:cNvPr>
          <p:cNvSpPr txBox="1"/>
          <p:nvPr/>
        </p:nvSpPr>
        <p:spPr>
          <a:xfrm>
            <a:off x="6882622" y="1688796"/>
            <a:ext cx="3303555" cy="43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(2)ZAFS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7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ZenFS</a:t>
            </a:r>
            <a:r>
              <a:rPr lang="zh-CN" altLang="en-US" sz="17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的恢复时间对比</a:t>
            </a:r>
          </a:p>
        </p:txBody>
      </p:sp>
    </p:spTree>
    <p:extLst>
      <p:ext uri="{BB962C8B-B14F-4D97-AF65-F5344CB8AC3E}">
        <p14:creationId xmlns:p14="http://schemas.microsoft.com/office/powerpoint/2010/main" val="2386150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244849" y="4730406"/>
            <a:ext cx="209930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Q&amp;A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Thanks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！</a:t>
            </a:r>
          </a:p>
        </p:txBody>
      </p:sp>
      <p:sp>
        <p:nvSpPr>
          <p:cNvPr id="8" name="矩形: 圆角 7"/>
          <p:cNvSpPr/>
          <p:nvPr/>
        </p:nvSpPr>
        <p:spPr>
          <a:xfrm rot="2755966">
            <a:off x="4146517" y="3347706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 rot="2755966">
            <a:off x="2770276" y="966707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55966">
            <a:off x="4586763" y="2029472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 rot="2755966">
            <a:off x="1415554" y="2470682"/>
            <a:ext cx="3134556" cy="3134556"/>
          </a:xfrm>
          <a:prstGeom prst="round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14300" dist="50800" dir="7800000" sx="101000" sy="101000" algn="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/>
          <p:cNvSpPr/>
          <p:nvPr/>
        </p:nvSpPr>
        <p:spPr>
          <a:xfrm rot="2755966">
            <a:off x="5633126" y="2433704"/>
            <a:ext cx="1685894" cy="1685894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 rot="2755966">
            <a:off x="3965400" y="5546431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 rot="2755966">
            <a:off x="5089423" y="716157"/>
            <a:ext cx="1134056" cy="1134056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2755966">
            <a:off x="7189439" y="1365266"/>
            <a:ext cx="396502" cy="396502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68cb81-96cb-4b63-9d56-4d2877e4c057"/>
  <p:tag name="COMMONDATA" val="eyJoZGlkIjoiNmY4NTU2ZDI3ZjJkNmQ4YmU4NTU2YmM5ZmVhMWRlO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3331</TotalTime>
  <Words>1722</Words>
  <Application>Microsoft Office PowerPoint</Application>
  <PresentationFormat>宽屏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_5b8b_4f53</vt:lpstr>
      <vt:lpstr>Söhne</vt:lpstr>
      <vt:lpstr>等线</vt:lpstr>
      <vt:lpstr>等线 Light</vt:lpstr>
      <vt:lpstr>宋体</vt:lpstr>
      <vt:lpstr>Arial</vt:lpstr>
      <vt:lpstr>Constantia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zhouke</dc:creator>
  <cp:lastModifiedBy>子淇</cp:lastModifiedBy>
  <cp:revision>3796</cp:revision>
  <dcterms:created xsi:type="dcterms:W3CDTF">2019-02-21T08:55:00Z</dcterms:created>
  <dcterms:modified xsi:type="dcterms:W3CDTF">2024-06-03T07:02:28Z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65A6CB78243D48A083A0131B29BE5B9E_12</vt:lpwstr>
  </property>
  <property fmtid="{D5CDD505-2E9C-101B-9397-08002B2CF9AE}" pid="3" name="KSOProductBuildVer">
    <vt:lpwstr>2052-11.1.0.14309</vt:lpwstr>
  </property>
</Properties>
</file>