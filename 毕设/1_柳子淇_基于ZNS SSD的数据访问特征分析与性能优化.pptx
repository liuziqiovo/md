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40" r:id="rId2"/>
    <p:sldId id="549" r:id="rId3"/>
    <p:sldId id="548" r:id="rId4"/>
    <p:sldId id="552" r:id="rId5"/>
    <p:sldId id="551" r:id="rId6"/>
    <p:sldId id="554" r:id="rId7"/>
    <p:sldId id="544" r:id="rId8"/>
    <p:sldId id="553" r:id="rId9"/>
    <p:sldId id="545" r:id="rId10"/>
    <p:sldId id="261" r:id="rId11"/>
    <p:sldId id="532" r:id="rId12"/>
    <p:sldId id="547" r:id="rId13"/>
    <p:sldId id="550" r:id="rId14"/>
    <p:sldId id="543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D005FB-1F80-42D3-AAEF-86A4217B13FB}">
          <p14:sldIdLst>
            <p14:sldId id="340"/>
            <p14:sldId id="549"/>
            <p14:sldId id="548"/>
            <p14:sldId id="552"/>
            <p14:sldId id="551"/>
            <p14:sldId id="554"/>
            <p14:sldId id="544"/>
            <p14:sldId id="553"/>
            <p14:sldId id="545"/>
            <p14:sldId id="261"/>
            <p14:sldId id="532"/>
            <p14:sldId id="547"/>
            <p14:sldId id="550"/>
            <p14:sldId id="5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47BA"/>
    <a:srgbClr val="ADADE0"/>
    <a:srgbClr val="8484D1"/>
    <a:srgbClr val="0152D9"/>
    <a:srgbClr val="E51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19" autoAdjust="0"/>
    <p:restoredTop sz="81289" autoAdjust="0"/>
  </p:normalViewPr>
  <p:slideViewPr>
    <p:cSldViewPr snapToGrid="0">
      <p:cViewPr>
        <p:scale>
          <a:sx n="100" d="100"/>
          <a:sy n="100" d="100"/>
        </p:scale>
        <p:origin x="403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AFB0F-6192-48FE-99AC-AF225DC028A7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1677A-EDDD-4DA4-9464-453B9AC957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nux-nvme/nvme-cli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2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开题报告：基于</a:t>
            </a:r>
            <a:r>
              <a:rPr lang="en-US" altLang="zh-CN" sz="12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ZNS SSD</a:t>
            </a:r>
            <a:r>
              <a:rPr lang="zh-CN" altLang="en-US" sz="12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的数据访问特征分析与性能优化</a:t>
            </a:r>
            <a:endParaRPr lang="en-US" altLang="zh-CN" sz="1200" b="1" dirty="0">
              <a:solidFill>
                <a:srgbClr val="4747BA"/>
              </a:solidFill>
              <a:latin typeface="Constantia" panose="02030602050306030303" pitchFamily="18" charset="0"/>
              <a:ea typeface="微软雅黑" panose="020B0503020204020204" charset="-122"/>
              <a:cs typeface="Calibri" panose="020F0502020204030204" pitchFamily="3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相较于现有在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[1]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等模拟器上的工作，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此工作能展示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ZNS SSD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在不同的真实场景下的性能表现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相较于西数已有的基于真实设备（</a:t>
            </a:r>
            <a:r>
              <a:rPr lang="en-US" altLang="zh-CN" sz="1200" dirty="0">
                <a:latin typeface="Constantia" panose="02030602050306030303" pitchFamily="18" charset="0"/>
              </a:rPr>
              <a:t>ZN540</a:t>
            </a:r>
            <a:r>
              <a:rPr lang="zh-CN" altLang="en-US" sz="1200" dirty="0">
                <a:latin typeface="Constantia" panose="02030602050306030303" pitchFamily="18" charset="0"/>
              </a:rPr>
              <a:t>）的工作，我们使用浪潮提供的最新</a:t>
            </a:r>
            <a:r>
              <a:rPr lang="en-US" altLang="zh-CN" sz="1200" dirty="0">
                <a:latin typeface="Constantia" panose="02030602050306030303" pitchFamily="18" charset="0"/>
              </a:rPr>
              <a:t>ZNS</a:t>
            </a:r>
            <a:r>
              <a:rPr lang="zh-CN" altLang="en-US" sz="1200" dirty="0">
                <a:latin typeface="Constantia" panose="02030602050306030303" pitchFamily="18" charset="0"/>
              </a:rPr>
              <a:t>盘，一方面，其介质选用更好的</a:t>
            </a:r>
            <a:r>
              <a:rPr lang="en-US" altLang="zh-CN" sz="1200" dirty="0">
                <a:latin typeface="Constantia" panose="02030602050306030303" pitchFamily="18" charset="0"/>
              </a:rPr>
              <a:t>TLC</a:t>
            </a:r>
            <a:r>
              <a:rPr lang="zh-CN" altLang="en-US" sz="1200" dirty="0">
                <a:latin typeface="Constantia" panose="02030602050306030303" pitchFamily="18" charset="0"/>
              </a:rPr>
              <a:t>颗粒</a:t>
            </a:r>
            <a:r>
              <a:rPr lang="en-US" altLang="zh-CN" sz="1200" dirty="0">
                <a:latin typeface="Constantia" panose="02030602050306030303" pitchFamily="18" charset="0"/>
              </a:rPr>
              <a:t>(</a:t>
            </a:r>
            <a:r>
              <a:rPr lang="zh-CN" altLang="en-US" sz="1200" dirty="0">
                <a:latin typeface="Constantia" panose="02030602050306030303" pitchFamily="18" charset="0"/>
              </a:rPr>
              <a:t>西数是</a:t>
            </a:r>
            <a:r>
              <a:rPr lang="en-US" altLang="zh-CN" sz="1200" dirty="0">
                <a:latin typeface="Constantia" panose="02030602050306030303" pitchFamily="18" charset="0"/>
              </a:rPr>
              <a:t>QLC</a:t>
            </a:r>
            <a:r>
              <a:rPr lang="zh-CN" altLang="en-US" sz="1200" dirty="0">
                <a:latin typeface="Constantia" panose="02030602050306030303" pitchFamily="18" charset="0"/>
              </a:rPr>
              <a:t>颗粒），关键参数上也有区别，例如已知的，</a:t>
            </a:r>
            <a:r>
              <a:rPr lang="en-US" altLang="zh-CN" sz="1200" dirty="0">
                <a:latin typeface="Constantia" panose="02030602050306030303" pitchFamily="18" charset="0"/>
              </a:rPr>
              <a:t>zone size 2GB-&gt;1.4GB</a:t>
            </a:r>
            <a:r>
              <a:rPr lang="zh-CN" altLang="en-US" sz="1200" dirty="0">
                <a:latin typeface="Constantia" panose="02030602050306030303" pitchFamily="18" charset="0"/>
              </a:rPr>
              <a:t>，最大带宽也更大。另一方面，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77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相较于现有在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[1]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等模拟器上的工作，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此工作能展示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ZNS SSD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在不同的真实场景下的性能表现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相较于西数已有的基于真实设备（</a:t>
            </a:r>
            <a:r>
              <a:rPr lang="en-US" altLang="zh-CN" sz="1200" dirty="0">
                <a:latin typeface="Constantia" panose="02030602050306030303" pitchFamily="18" charset="0"/>
              </a:rPr>
              <a:t>ZN540</a:t>
            </a:r>
            <a:r>
              <a:rPr lang="zh-CN" altLang="en-US" sz="1200" dirty="0">
                <a:latin typeface="Constantia" panose="02030602050306030303" pitchFamily="18" charset="0"/>
              </a:rPr>
              <a:t>）的工作，我们使用浪潮提供的最新</a:t>
            </a:r>
            <a:r>
              <a:rPr lang="en-US" altLang="zh-CN" sz="1200" dirty="0">
                <a:latin typeface="Constantia" panose="02030602050306030303" pitchFamily="18" charset="0"/>
              </a:rPr>
              <a:t>ZNS</a:t>
            </a:r>
            <a:r>
              <a:rPr lang="zh-CN" altLang="en-US" sz="1200" dirty="0">
                <a:latin typeface="Constantia" panose="02030602050306030303" pitchFamily="18" charset="0"/>
              </a:rPr>
              <a:t>盘，一方面，其介质选用更好的</a:t>
            </a:r>
            <a:r>
              <a:rPr lang="en-US" altLang="zh-CN" sz="1200" dirty="0">
                <a:latin typeface="Constantia" panose="02030602050306030303" pitchFamily="18" charset="0"/>
              </a:rPr>
              <a:t>TLC</a:t>
            </a:r>
            <a:r>
              <a:rPr lang="zh-CN" altLang="en-US" sz="1200" dirty="0">
                <a:latin typeface="Constantia" panose="02030602050306030303" pitchFamily="18" charset="0"/>
              </a:rPr>
              <a:t>颗粒</a:t>
            </a:r>
            <a:r>
              <a:rPr lang="en-US" altLang="zh-CN" sz="1200" dirty="0">
                <a:latin typeface="Constantia" panose="02030602050306030303" pitchFamily="18" charset="0"/>
              </a:rPr>
              <a:t>(</a:t>
            </a:r>
            <a:r>
              <a:rPr lang="zh-CN" altLang="en-US" sz="1200" dirty="0">
                <a:latin typeface="Constantia" panose="02030602050306030303" pitchFamily="18" charset="0"/>
              </a:rPr>
              <a:t>西数是</a:t>
            </a:r>
            <a:r>
              <a:rPr lang="en-US" altLang="zh-CN" sz="1200" dirty="0">
                <a:latin typeface="Constantia" panose="02030602050306030303" pitchFamily="18" charset="0"/>
              </a:rPr>
              <a:t>QLC</a:t>
            </a:r>
            <a:r>
              <a:rPr lang="zh-CN" altLang="en-US" sz="1200" dirty="0">
                <a:latin typeface="Constantia" panose="02030602050306030303" pitchFamily="18" charset="0"/>
              </a:rPr>
              <a:t>颗粒）；另一方面，关键参数上有区别，例如已知的，</a:t>
            </a:r>
            <a:r>
              <a:rPr lang="en-US" altLang="zh-CN" sz="1200" dirty="0">
                <a:latin typeface="Constantia" panose="02030602050306030303" pitchFamily="18" charset="0"/>
              </a:rPr>
              <a:t>zone size 2GB-&gt;1.4GB</a:t>
            </a:r>
            <a:r>
              <a:rPr lang="zh-CN" altLang="en-US" sz="1200" dirty="0">
                <a:latin typeface="Constantia" panose="02030602050306030303" pitchFamily="18" charset="0"/>
              </a:rPr>
              <a:t>，最大带宽也更大。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26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4C06-F784-6DAC-1915-581C78B29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3368A4-1A7A-C906-7C38-A1F35E2C2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6F6428-B0C6-CE8A-CAFE-80B3EE0C2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相较于现有在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[1]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等模拟器上的工作，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此工作能展示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ZNS SSD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在不同的真实场景下的性能表现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相较于西数已有的基于真实设备（</a:t>
            </a:r>
            <a:r>
              <a:rPr lang="en-US" altLang="zh-CN" sz="1200" dirty="0">
                <a:latin typeface="Constantia" panose="02030602050306030303" pitchFamily="18" charset="0"/>
              </a:rPr>
              <a:t>ZN540</a:t>
            </a:r>
            <a:r>
              <a:rPr lang="zh-CN" altLang="en-US" sz="1200" dirty="0">
                <a:latin typeface="Constantia" panose="02030602050306030303" pitchFamily="18" charset="0"/>
              </a:rPr>
              <a:t>）的工作，我们使用浪潮提供的最新</a:t>
            </a:r>
            <a:r>
              <a:rPr lang="en-US" altLang="zh-CN" sz="1200" dirty="0">
                <a:latin typeface="Constantia" panose="02030602050306030303" pitchFamily="18" charset="0"/>
              </a:rPr>
              <a:t>ZNS</a:t>
            </a:r>
            <a:r>
              <a:rPr lang="zh-CN" altLang="en-US" sz="1200" dirty="0">
                <a:latin typeface="Constantia" panose="02030602050306030303" pitchFamily="18" charset="0"/>
              </a:rPr>
              <a:t>盘，一方面，其介质选用更好的</a:t>
            </a:r>
            <a:r>
              <a:rPr lang="en-US" altLang="zh-CN" sz="1200" dirty="0">
                <a:latin typeface="Constantia" panose="02030602050306030303" pitchFamily="18" charset="0"/>
              </a:rPr>
              <a:t>TLC</a:t>
            </a:r>
            <a:r>
              <a:rPr lang="zh-CN" altLang="en-US" sz="1200" dirty="0">
                <a:latin typeface="Constantia" panose="02030602050306030303" pitchFamily="18" charset="0"/>
              </a:rPr>
              <a:t>颗粒</a:t>
            </a:r>
            <a:r>
              <a:rPr lang="en-US" altLang="zh-CN" sz="1200" dirty="0">
                <a:latin typeface="Constantia" panose="02030602050306030303" pitchFamily="18" charset="0"/>
              </a:rPr>
              <a:t>(</a:t>
            </a:r>
            <a:r>
              <a:rPr lang="zh-CN" altLang="en-US" sz="1200" dirty="0">
                <a:latin typeface="Constantia" panose="02030602050306030303" pitchFamily="18" charset="0"/>
              </a:rPr>
              <a:t>西数是</a:t>
            </a:r>
            <a:r>
              <a:rPr lang="en-US" altLang="zh-CN" sz="1200" dirty="0">
                <a:latin typeface="Constantia" panose="02030602050306030303" pitchFamily="18" charset="0"/>
              </a:rPr>
              <a:t>QLC</a:t>
            </a:r>
            <a:r>
              <a:rPr lang="zh-CN" altLang="en-US" sz="1200" dirty="0">
                <a:latin typeface="Constantia" panose="02030602050306030303" pitchFamily="18" charset="0"/>
              </a:rPr>
              <a:t>颗粒）；另一方面，关键参数上有区别，例如已知的，</a:t>
            </a:r>
            <a:r>
              <a:rPr lang="en-US" altLang="zh-CN" sz="1200" dirty="0">
                <a:latin typeface="Constantia" panose="02030602050306030303" pitchFamily="18" charset="0"/>
              </a:rPr>
              <a:t>zone size 2GB-&gt;1.4GB</a:t>
            </a:r>
            <a:r>
              <a:rPr lang="zh-CN" altLang="en-US" sz="1200" dirty="0">
                <a:latin typeface="Constantia" panose="02030602050306030303" pitchFamily="18" charset="0"/>
              </a:rPr>
              <a:t>，最大带宽也更大。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1DAFFE-4908-88CA-8C3E-9E3DEFD08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569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9B895-C9E7-A88C-3BF8-81F9E268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0035CC-CA4E-6838-3CC4-0DF0ED8FF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C1E2C6-ECF4-23C5-A84F-5FE0BE0EC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D0D0D"/>
                </a:solidFill>
                <a:latin typeface="Söhne"/>
              </a:rPr>
              <a:t>我们的设备是有区别的，例如：介质区别、关键参数区别，例如已知的，</a:t>
            </a:r>
            <a:r>
              <a:rPr lang="en-US" altLang="zh-CN" dirty="0">
                <a:solidFill>
                  <a:srgbClr val="0D0D0D"/>
                </a:solidFill>
                <a:latin typeface="Söhne"/>
              </a:rPr>
              <a:t>zone size 2GB-&gt;1.4GB</a:t>
            </a:r>
            <a:r>
              <a:rPr lang="zh-CN" altLang="en-US" dirty="0">
                <a:solidFill>
                  <a:srgbClr val="0D0D0D"/>
                </a:solidFill>
                <a:latin typeface="Söhne"/>
              </a:rPr>
              <a:t>，最大带宽也更大。</a:t>
            </a:r>
            <a:endParaRPr lang="en-US" altLang="zh-CN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ZNS1 vs ZNS2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78F522-309B-8225-6AAD-65AFDC584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51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C5EF3-11C9-D6B3-0F52-B4277C6E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590BC3-B260-8515-1FE4-282989308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E6EB02-350D-0333-40E4-A9DA232A8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D0D0D"/>
                </a:solidFill>
                <a:latin typeface="Söhne"/>
              </a:rPr>
              <a:t>我们的设备是有区别的，例如：介质区别、关键参数区别，例如已知的，</a:t>
            </a:r>
            <a:r>
              <a:rPr lang="en-US" altLang="zh-CN" dirty="0">
                <a:solidFill>
                  <a:srgbClr val="0D0D0D"/>
                </a:solidFill>
                <a:latin typeface="Söhne"/>
              </a:rPr>
              <a:t>zone size 2GB-&gt;1.4GB</a:t>
            </a:r>
            <a:r>
              <a:rPr lang="zh-CN" altLang="en-US" dirty="0">
                <a:solidFill>
                  <a:srgbClr val="0D0D0D"/>
                </a:solidFill>
                <a:latin typeface="Söhne"/>
              </a:rPr>
              <a:t>，最大带宽也更大。</a:t>
            </a:r>
            <a:endParaRPr lang="en-US" altLang="zh-CN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ZNS1 vs ZNS2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2EB2F3-C9F4-40C9-D4C6-45CF66EC6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95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3"/>
              </a:rPr>
              <a:t>https://github.com/linux-nvme/nvme-cli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https://zonedstorage.io/docs/tools/libzbd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309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3B81-9CF4-6BFD-9CC0-DF88017BF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E87DA7-FA76-5271-BE95-15A8F1F52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DF0B2C-E52D-596D-6C67-2E27279B6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1D76E1-8033-610B-DF27-66AF87787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241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27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Thanks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listening!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677A-EDDD-4DA4-9464-453B9AC9570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349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200" dirty="0"/>
              <a:t>尽管</a:t>
            </a:r>
            <a:r>
              <a:rPr lang="en-US" altLang="zh-CN" sz="1200" dirty="0"/>
              <a:t>HFTL</a:t>
            </a:r>
            <a:r>
              <a:rPr lang="zh-CN" altLang="en-US" sz="1200" dirty="0"/>
              <a:t>的职责较</a:t>
            </a:r>
            <a:r>
              <a:rPr lang="en-US" altLang="zh-CN" sz="1200" dirty="0"/>
              <a:t>SSD FTL</a:t>
            </a:r>
            <a:r>
              <a:rPr lang="zh-CN" altLang="en-US" sz="1200" dirty="0"/>
              <a:t>小，但它必须管理其对</a:t>
            </a:r>
            <a:r>
              <a:rPr lang="en-US" altLang="zh-CN" sz="1200" dirty="0"/>
              <a:t>CPU</a:t>
            </a:r>
            <a:r>
              <a:rPr lang="zh-CN" altLang="en-US" sz="1200" dirty="0"/>
              <a:t>和</a:t>
            </a:r>
            <a:r>
              <a:rPr lang="en-US" altLang="zh-CN" sz="1200" dirty="0"/>
              <a:t>DRAM</a:t>
            </a:r>
            <a:r>
              <a:rPr lang="zh-CN" altLang="en-US" sz="1200" dirty="0"/>
              <a:t>资源的使用，因为这些资源与主机应用共享。</a:t>
            </a:r>
            <a:r>
              <a:rPr lang="en-US" altLang="zh-CN" sz="1200" dirty="0"/>
              <a:t>HFTL</a:t>
            </a:r>
            <a:r>
              <a:rPr lang="zh-CN" altLang="en-US" sz="1200" dirty="0"/>
              <a:t>简化了与主机端信息的整合，增强了数据放置和垃圾回收的控制，并向应用程序提供传统块接口。目前，例如</a:t>
            </a:r>
            <a:r>
              <a:rPr lang="en-US" altLang="zh-CN" sz="1200" dirty="0"/>
              <a:t>dm-zoned</a:t>
            </a:r>
            <a:r>
              <a:rPr lang="zh-CN" altLang="en-US" sz="1200" dirty="0"/>
              <a:t>、</a:t>
            </a:r>
            <a:r>
              <a:rPr lang="en-US" altLang="zh-CN" sz="1200" dirty="0"/>
              <a:t>dm-zap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pblk</a:t>
            </a:r>
            <a:r>
              <a:rPr lang="zh-CN" altLang="en-US" sz="1200" dirty="0"/>
              <a:t>和</a:t>
            </a:r>
            <a:r>
              <a:rPr lang="en-US" altLang="zh-CN" sz="1200" dirty="0"/>
              <a:t>SPDK</a:t>
            </a:r>
            <a:r>
              <a:rPr lang="zh-CN" altLang="en-US" sz="1200" dirty="0"/>
              <a:t>的</a:t>
            </a:r>
            <a:r>
              <a:rPr lang="en-US" altLang="zh-CN" sz="1200" dirty="0"/>
              <a:t>FTL</a:t>
            </a:r>
            <a:r>
              <a:rPr lang="zh-CN" altLang="en-US" sz="1200" dirty="0"/>
              <a:t>等工作显示了</a:t>
            </a:r>
            <a:r>
              <a:rPr lang="en-US" altLang="zh-CN" sz="1200" dirty="0"/>
              <a:t>HFTL</a:t>
            </a:r>
            <a:r>
              <a:rPr lang="zh-CN" altLang="en-US" sz="1200" dirty="0"/>
              <a:t>的可行性和应用性，但目前只有</a:t>
            </a:r>
            <a:r>
              <a:rPr lang="en-US" altLang="zh-CN" sz="1200" dirty="0"/>
              <a:t>dm-zap</a:t>
            </a:r>
            <a:r>
              <a:rPr lang="zh-CN" altLang="en-US" sz="1200" dirty="0"/>
              <a:t>支持</a:t>
            </a:r>
            <a:r>
              <a:rPr lang="en-US" altLang="zh-CN" sz="1200" dirty="0"/>
              <a:t>ZNS SSD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625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060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1CB8A-CC46-473E-BAED-B264D45A45B1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westerndigitalcorporation/zenfs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hyperlink" Target="https://github.com/linux-nvme/nvme-cl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vtess/FEMU" TargetMode="External"/><Relationship Id="rId5" Type="http://schemas.openxmlformats.org/officeDocument/2006/relationships/hyperlink" Target="https://www.qemu.org/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linux-nvme/nvme-cli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tantia" panose="02030602050306030303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6,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47870" y="2347912"/>
            <a:ext cx="104247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基于</a:t>
            </a: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ZNS SSD</a:t>
            </a: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的数据访问特征分析与性能优化</a:t>
            </a:r>
            <a:endParaRPr lang="en-US" altLang="zh-CN" sz="4000" b="1" dirty="0">
              <a:solidFill>
                <a:srgbClr val="4747BA"/>
              </a:solidFill>
              <a:latin typeface="Constantia" panose="02030602050306030303" pitchFamily="18" charset="0"/>
              <a:ea typeface="微软雅黑" panose="020B0503020204020204" charset="-122"/>
              <a:cs typeface="Calibri" panose="020F050202020403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90717" y="5150347"/>
            <a:ext cx="23391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747BA"/>
                </a:solidFill>
                <a:latin typeface="Constantia" panose="02030602050306030303" pitchFamily="18" charset="0"/>
              </a:rPr>
              <a:t>汇报人：柳子淇</a:t>
            </a:r>
            <a:endParaRPr lang="en-US" altLang="zh-CN" sz="2400" b="1" dirty="0">
              <a:solidFill>
                <a:srgbClr val="4747BA"/>
              </a:solidFill>
              <a:latin typeface="Constantia" panose="02030602050306030303" pitchFamily="18" charset="0"/>
            </a:endParaRPr>
          </a:p>
          <a:p>
            <a:pPr algn="ctr"/>
            <a:r>
              <a:rPr lang="en-US" altLang="zh-CN" sz="2400" b="1" dirty="0">
                <a:solidFill>
                  <a:srgbClr val="4747BA"/>
                </a:solidFill>
                <a:latin typeface="Constantia" panose="02030602050306030303" pitchFamily="18" charset="0"/>
              </a:rPr>
              <a:t>3 . 7</a:t>
            </a:r>
            <a:endParaRPr lang="zh-CN" altLang="en-US" sz="2400" b="1" dirty="0">
              <a:solidFill>
                <a:srgbClr val="4747BA"/>
              </a:solidFill>
              <a:latin typeface="Constantia" panose="02030602050306030303" pitchFamily="18" charset="0"/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34" y="232034"/>
            <a:ext cx="2438400" cy="527343"/>
          </a:xfrm>
          <a:prstGeom prst="rect">
            <a:avLst/>
          </a:prstGeom>
        </p:spPr>
      </p:pic>
      <p:sp>
        <p:nvSpPr>
          <p:cNvPr id="1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6,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F8C07CB-D5E6-905C-4CA5-A0B50B3F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39986A-8663-B12B-5E7F-8CBB550422EA}"/>
              </a:ext>
            </a:extLst>
          </p:cNvPr>
          <p:cNvSpPr txBox="1"/>
          <p:nvPr/>
        </p:nvSpPr>
        <p:spPr>
          <a:xfrm>
            <a:off x="382441" y="1187859"/>
            <a:ext cx="11266832" cy="4861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_5b8b_4f53"/>
              </a:rPr>
              <a:t>在数据中心存储需求日益增长的背景下，传统存储解决方案的局限性日渐凸显。传统的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_5b8b_4f53"/>
              </a:rPr>
              <a:t>SSD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_5b8b_4f53"/>
              </a:rPr>
              <a:t>存在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部分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_5b8b_4f53"/>
              </a:rPr>
              <a:t>设计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问题限制了性能提升，例如写放大现象等，</a:t>
            </a:r>
            <a:r>
              <a:rPr lang="zh-CN" altLang="zh-CN" sz="2000" dirty="0">
                <a:solidFill>
                  <a:srgbClr val="374151"/>
                </a:solidFill>
                <a:latin typeface="_5b8b_4f53"/>
              </a:rPr>
              <a:t>直接影响了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zh-CN" sz="2000" dirty="0">
                <a:solidFill>
                  <a:srgbClr val="374151"/>
                </a:solidFill>
                <a:latin typeface="_5b8b_4f53"/>
              </a:rPr>
              <a:t>的寿命和性能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，不利于大规模部署。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Zoned Namespace (ZNS)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通过引入分区的概念来优化数据的写入过程，从而减少写入放大效应，提高存储设备的寿命和性能。</a:t>
            </a:r>
            <a:endParaRPr lang="en-US" altLang="zh-CN" sz="2000" dirty="0">
              <a:solidFill>
                <a:srgbClr val="374151"/>
              </a:solidFill>
              <a:latin typeface="_5b8b_4f53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endParaRPr lang="en-US" altLang="zh-CN" sz="2000" dirty="0">
              <a:solidFill>
                <a:srgbClr val="374151"/>
              </a:solidFill>
              <a:latin typeface="_5b8b_4f53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本课题来源于实验室与浪潮等企业的联合项目，旨在利用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等新型硬件重新设计存储系统。本工作作为此项目的先行性研究，准备基于实际的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盘做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的数据访问特征以及性能优化方面的研究。</a:t>
            </a:r>
            <a:endParaRPr lang="en-US" altLang="zh-CN" sz="2000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30000"/>
              </a:lnSpc>
            </a:pPr>
            <a:endParaRPr lang="en-US" altLang="zh-CN" sz="2000" b="0" i="0" dirty="0">
              <a:solidFill>
                <a:srgbClr val="374151"/>
              </a:solidFill>
              <a:effectLst/>
              <a:latin typeface="_5b8b_4f53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本课题旨在通过大量实验，分析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的数据访问特征，并针对这些特性探究优化策略，寻找提升基于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的存储系统的效率的有效方法。</a:t>
            </a:r>
            <a:endParaRPr lang="en-US" altLang="zh-CN" sz="2000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30000"/>
              </a:lnSpc>
            </a:pPr>
            <a:endParaRPr lang="en-US" altLang="zh-CN" sz="2000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97A7DF-0F62-BD5E-C895-912387E18576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课题背景</a:t>
            </a:r>
          </a:p>
        </p:txBody>
      </p:sp>
    </p:spTree>
    <p:extLst>
      <p:ext uri="{BB962C8B-B14F-4D97-AF65-F5344CB8AC3E}">
        <p14:creationId xmlns:p14="http://schemas.microsoft.com/office/powerpoint/2010/main" val="161537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3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6EE90F-1E38-6A29-27D6-F130558DA2EF}"/>
              </a:ext>
            </a:extLst>
          </p:cNvPr>
          <p:cNvSpPr txBox="1"/>
          <p:nvPr/>
        </p:nvSpPr>
        <p:spPr>
          <a:xfrm>
            <a:off x="440055" y="1342729"/>
            <a:ext cx="11425112" cy="222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写放大（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Write Amplification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WA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）是评价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性能的关键指标之一，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它直接影响了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的寿命和性能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。在传统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盘上的工作主要有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文件系统优化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（如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F2FS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BetrFS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），以及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的数据放置策略优化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垃圾回收算法优化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等等。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30000"/>
              </a:lnSpc>
            </a:pP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（局限）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然而，上述这些研究工作只能在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文件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系统、应用级别一定程度地缓解</a:t>
            </a:r>
            <a:r>
              <a:rPr lang="zh-CN" altLang="zh-CN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主机侧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的工作负载导致的写放大。但在硬盘内部仍存在写放大现象，这一方面是由于闪存转换层（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Flash Translation Layer, FTL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）的管理策略，另一方面是固态硬盘中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NAND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闪存颗粒的擦写粒度不一致的特性导致的。</a:t>
            </a:r>
            <a:endParaRPr lang="en-US" altLang="zh-CN" sz="1600" kern="100" dirty="0">
              <a:solidFill>
                <a:srgbClr val="4747B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364727-F676-A371-B1D9-DE6CFE5451C8}"/>
              </a:ext>
            </a:extLst>
          </p:cNvPr>
          <p:cNvSpPr txBox="1"/>
          <p:nvPr/>
        </p:nvSpPr>
        <p:spPr>
          <a:xfrm>
            <a:off x="440054" y="3863014"/>
            <a:ext cx="2931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en-US" altLang="zh-CN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 SSD</a:t>
            </a:r>
            <a:r>
              <a:rPr lang="zh-CN" altLang="en-US" sz="18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技术：</a:t>
            </a:r>
            <a:endParaRPr lang="en-US" altLang="zh-CN" sz="1800" b="1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5CE06B-316F-43EC-1525-4789FBC66C78}"/>
              </a:ext>
            </a:extLst>
          </p:cNvPr>
          <p:cNvSpPr txBox="1"/>
          <p:nvPr/>
        </p:nvSpPr>
        <p:spPr>
          <a:xfrm>
            <a:off x="430529" y="1022703"/>
            <a:ext cx="2806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传统</a:t>
            </a:r>
            <a:r>
              <a:rPr lang="en-US" altLang="zh-CN" sz="20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SSD</a:t>
            </a:r>
            <a:r>
              <a:rPr lang="zh-CN" altLang="en-US" sz="20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的写放大问题：</a:t>
            </a:r>
            <a:endParaRPr lang="en-US" altLang="zh-CN" sz="2000" b="1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77C4F7-936E-CBC4-D6AC-980A1C5A66F9}"/>
              </a:ext>
            </a:extLst>
          </p:cNvPr>
          <p:cNvSpPr txBox="1"/>
          <p:nvPr/>
        </p:nvSpPr>
        <p:spPr>
          <a:xfrm>
            <a:off x="440054" y="4198059"/>
            <a:ext cx="11425112" cy="114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作为新兴的存储技术，其设计理念在于通过区域化管理数据，定义区域容量、活动区域限制和区域追加命令等新概念，并向主机暴露更多的存储器内部信息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。这些设计直接减少写放大现象，优化了数据管理粒度，提高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性能和寿命。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0B45C5F-08AB-3D40-483D-485B2D13D16F}"/>
              </a:ext>
            </a:extLst>
          </p:cNvPr>
          <p:cNvSpPr txBox="1"/>
          <p:nvPr/>
        </p:nvSpPr>
        <p:spPr>
          <a:xfrm>
            <a:off x="0" y="5660155"/>
            <a:ext cx="10382942" cy="5581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400" dirty="0"/>
              <a:t>F2FS</a:t>
            </a:r>
            <a:r>
              <a:rPr lang="zh-CN" altLang="en-US" sz="1400" dirty="0"/>
              <a:t>：</a:t>
            </a:r>
            <a:r>
              <a:rPr lang="en-US" altLang="zh-CN" sz="1400" dirty="0"/>
              <a:t>A new file system for flash storage</a:t>
            </a:r>
            <a:r>
              <a:rPr lang="zh-CN" altLang="en-US" sz="1400" dirty="0"/>
              <a:t>，</a:t>
            </a:r>
            <a:r>
              <a:rPr lang="en-US" altLang="zh-CN" sz="1400" dirty="0"/>
              <a:t>FAST ’15</a:t>
            </a: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400" dirty="0" err="1"/>
              <a:t>BetrFS</a:t>
            </a:r>
            <a:r>
              <a:rPr lang="en-US" altLang="zh-CN" sz="1400" dirty="0"/>
              <a:t>: a </a:t>
            </a:r>
            <a:r>
              <a:rPr lang="en-US" altLang="zh-CN" sz="1400" dirty="0" err="1"/>
              <a:t>compleat</a:t>
            </a:r>
            <a:r>
              <a:rPr lang="en-US" altLang="zh-CN" sz="1400" dirty="0"/>
              <a:t> file system for commodity SSDs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EuroSys</a:t>
            </a:r>
            <a:r>
              <a:rPr lang="en-US" altLang="zh-CN" sz="1400" dirty="0"/>
              <a:t> '22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13EA87-1747-CAF7-8163-294D9D2ED9A6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研究现状</a:t>
            </a:r>
          </a:p>
        </p:txBody>
      </p:sp>
    </p:spTree>
    <p:extLst>
      <p:ext uri="{BB962C8B-B14F-4D97-AF65-F5344CB8AC3E}">
        <p14:creationId xmlns:p14="http://schemas.microsoft.com/office/powerpoint/2010/main" val="294718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C42E-10F4-5ED3-3B5F-98D4CE0C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D51A506B-621B-19F1-C0B5-853F3F9955B6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320792-7830-48E2-B090-5666E8D0E690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3210B2-860D-157F-97C1-BD8694B816DF}"/>
              </a:ext>
            </a:extLst>
          </p:cNvPr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04FB94FE-7A75-B338-DF78-EC0146B1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17194FE-5173-1130-5C32-0A2D4672BBC3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66E33C7C-231E-4438-897B-C3ABD8160D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3CFF1627-F6E7-0DD5-39D6-62C425AE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8586C700-5327-41F3-1FDE-1F18A360E6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01D48FFE-4ABA-FC39-7F38-70ECC399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FC340-C6DF-6141-944C-D4EACBBF7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93" y="2173855"/>
            <a:ext cx="11320635" cy="42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硬件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方面，已有领先的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制造商，例如三星和西部数据，已经发布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产品并展开研究，例如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ZNS+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eZNS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等。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46D055-CA89-DE0A-CA6C-E34377174990}"/>
              </a:ext>
            </a:extLst>
          </p:cNvPr>
          <p:cNvSpPr txBox="1"/>
          <p:nvPr/>
        </p:nvSpPr>
        <p:spPr>
          <a:xfrm>
            <a:off x="382293" y="2597754"/>
            <a:ext cx="11553118" cy="1296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4747BA"/>
                </a:solidFill>
                <a:latin typeface="_5b8b_4f53"/>
                <a:ea typeface="+mn-lt"/>
                <a:cs typeface="Times New Roman" panose="02020603050405020304" charset="0"/>
              </a:rPr>
              <a:t>软件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方面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基于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的研究主要集中在键值存储领域，尤其是基于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LSM-tree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的键值存储优化：考虑到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和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LSM-tree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都遵循严格的顺序写约束，其软硬件特征高度重合， 可以将一些应用移植到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上获得更好的性能。典型案例如基于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ZenFS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RocksDB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。其他基于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LSM-tree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应用的优化工作例如，</a:t>
            </a:r>
            <a:r>
              <a:rPr lang="en-US" altLang="zh-CN" sz="1800" dirty="0"/>
              <a:t>WALTZ</a:t>
            </a:r>
            <a:r>
              <a:rPr lang="zh-CN" altLang="en-US" sz="1800" dirty="0"/>
              <a:t>，</a:t>
            </a:r>
            <a:r>
              <a:rPr lang="en-US" altLang="zh-CN" sz="1800" dirty="0"/>
              <a:t>ZNSKV</a:t>
            </a:r>
            <a:r>
              <a:rPr lang="zh-CN" altLang="en-US" sz="1800" dirty="0"/>
              <a:t>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57EA20-6021-EC1D-1D9E-F90EC37CF9A2}"/>
              </a:ext>
            </a:extLst>
          </p:cNvPr>
          <p:cNvSpPr txBox="1"/>
          <p:nvPr/>
        </p:nvSpPr>
        <p:spPr>
          <a:xfrm>
            <a:off x="92148" y="4571978"/>
            <a:ext cx="11553118" cy="1907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/>
              <a:t>NVMe2.0</a:t>
            </a:r>
            <a:r>
              <a:rPr lang="zh-CN" altLang="en-US" sz="1600" dirty="0"/>
              <a:t>：</a:t>
            </a:r>
            <a:r>
              <a:rPr lang="en-US" altLang="zh-CN" sz="1600" dirty="0"/>
              <a:t>https://nvmexpress.org/wp-content/uploads/NVMe-NVM-Express-2.0a-2021.07.26-Ratified.pdf</a:t>
            </a:r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/>
              <a:t>ZNS+: Advanced Zoned Namespace Interface for Supporting In-Storage Zone Compaction, OSDI’21</a:t>
            </a:r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eZNS</a:t>
            </a:r>
            <a:r>
              <a:rPr lang="en-US" altLang="zh-CN" sz="1600" dirty="0"/>
              <a:t>: An Elastic Zoned Namespace for Commodity ZNS SSDs, OSDI’23</a:t>
            </a:r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ZenFS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5"/>
              </a:rPr>
              <a:t>https://github.com/westerndigitalcorporation/zenfs</a:t>
            </a:r>
            <a:endParaRPr lang="en-US" altLang="zh-CN" sz="1600" dirty="0"/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/>
              <a:t>WALTZ</a:t>
            </a:r>
            <a:r>
              <a:rPr lang="zh-CN" altLang="en-US" sz="1600" dirty="0"/>
              <a:t>：</a:t>
            </a:r>
            <a:r>
              <a:rPr lang="en-US" altLang="zh-CN" sz="1600" dirty="0"/>
              <a:t>Leveraging Zone Append to Tighten the Tail Latency of LSM Tree on ZNS SSD</a:t>
            </a:r>
            <a:r>
              <a:rPr lang="zh-CN" altLang="en-US" sz="1600" dirty="0"/>
              <a:t>，</a:t>
            </a:r>
            <a:r>
              <a:rPr lang="en-US" altLang="zh-CN" sz="1600" dirty="0"/>
              <a:t>VLDB</a:t>
            </a:r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/>
              <a:t>ZNSKV: Reducing Data Migration in LSMT-Based KV Stores on ZNS SSDs</a:t>
            </a:r>
            <a:r>
              <a:rPr lang="zh-CN" altLang="en-US" sz="1600" dirty="0"/>
              <a:t>，</a:t>
            </a:r>
            <a:r>
              <a:rPr lang="en-US" altLang="zh-CN" sz="1600" dirty="0"/>
              <a:t>ICCD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8DEC19F-AF51-2775-CDFC-F6F0E84AE33C}"/>
              </a:ext>
            </a:extLst>
          </p:cNvPr>
          <p:cNvSpPr txBox="1"/>
          <p:nvPr/>
        </p:nvSpPr>
        <p:spPr>
          <a:xfrm>
            <a:off x="358848" y="1126939"/>
            <a:ext cx="11506318" cy="779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规范化：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如今，经过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制造商、软件开发者和标准化机构之间的合作努力，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技术已有稳定的硬件标准和基础软件库。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例如：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NVMe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组织已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NVMe2.0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中支持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接口逻辑。</a:t>
            </a:r>
            <a:endParaRPr lang="zh-CN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DC2E9D-2952-D68D-FFCC-6C038511F9C0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研究现状</a:t>
            </a:r>
          </a:p>
        </p:txBody>
      </p:sp>
    </p:spTree>
    <p:extLst>
      <p:ext uri="{BB962C8B-B14F-4D97-AF65-F5344CB8AC3E}">
        <p14:creationId xmlns:p14="http://schemas.microsoft.com/office/powerpoint/2010/main" val="147492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2C4D-6359-6E65-A695-78F74413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A842122-F6A3-DB31-2373-046B3B397E0D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4ABAE0-A8B9-5F68-CB5D-11CBB12AE5F5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3982EE-00FE-98F6-3D0D-1AF5AD2AC13C}"/>
              </a:ext>
            </a:extLst>
          </p:cNvPr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64E4B705-DDF8-BAEB-2D16-4D5E405B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CD009-9E06-71D5-796C-E7F2677BB612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D39DBC95-90B7-CC4A-0674-5E4BE18FA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A825C38F-4064-D66C-7E83-641C6E6C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5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B92E1150-CC3D-3FD6-BE1F-548EE10BA2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A6F760-2380-4D3B-4121-FC89E5F5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A2BDBB-DB9F-4471-06D2-4AE13860A54A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862D24-4C70-B858-E53B-DC9360DFCBF6}"/>
              </a:ext>
            </a:extLst>
          </p:cNvPr>
          <p:cNvSpPr txBox="1"/>
          <p:nvPr/>
        </p:nvSpPr>
        <p:spPr>
          <a:xfrm>
            <a:off x="440055" y="4344766"/>
            <a:ext cx="10852786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三、性能优化和数据放置策略：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进一步地，根据所得实验数据，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探索适用于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的数据管理机制，利用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的区块信息可见性的优势，可能有效的优化例如：利用硬件的区域状态信息优化数据放置策略，优化缓存策略或垃圾回收算法等。</a:t>
            </a:r>
          </a:p>
          <a:p>
            <a:pPr algn="l">
              <a:lnSpc>
                <a:spcPct val="150000"/>
              </a:lnSpc>
            </a:pPr>
            <a:endParaRPr lang="zh-CN" altLang="en-US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E6F7F0-A216-1C37-8655-1CFCD95488F1}"/>
              </a:ext>
            </a:extLst>
          </p:cNvPr>
          <p:cNvSpPr txBox="1"/>
          <p:nvPr/>
        </p:nvSpPr>
        <p:spPr>
          <a:xfrm>
            <a:off x="440055" y="1349747"/>
            <a:ext cx="6274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74151"/>
                </a:solidFill>
                <a:latin typeface="_5b8b_4f53"/>
              </a:rPr>
              <a:t>一、实验环境搭建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搭建模拟环境，配置真实测试环境。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A56D66-FF56-FAF9-9FAB-82C42BB4E738}"/>
              </a:ext>
            </a:extLst>
          </p:cNvPr>
          <p:cNvSpPr txBox="1"/>
          <p:nvPr/>
        </p:nvSpPr>
        <p:spPr>
          <a:xfrm>
            <a:off x="440055" y="2005188"/>
            <a:ext cx="9850120" cy="21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二、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分别基于模拟平台和真实设备进行评估测试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：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  系统级测试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利用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Linux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下系统工具如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fio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nvme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-cli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测试，主要关注设备本身硬件性能。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  端到端应用测试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部署应用（如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RocksDB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with 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ZenFS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）设计实验，分析性能表现。具体包括但不限于：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写入、更新性能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读性能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简单的并发测试多线程读、多线程写性能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不同比例的读写混合负载下的表现。</a:t>
            </a:r>
            <a:endParaRPr lang="zh-CN" altLang="en-US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90E075-4835-B9E7-5A45-417B95DE7D3F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技术方案</a:t>
            </a:r>
          </a:p>
        </p:txBody>
      </p:sp>
    </p:spTree>
    <p:extLst>
      <p:ext uri="{BB962C8B-B14F-4D97-AF65-F5344CB8AC3E}">
        <p14:creationId xmlns:p14="http://schemas.microsoft.com/office/powerpoint/2010/main" val="251273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391F-AC39-9E5E-F0FC-F9D270F8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02C4039-76AE-8EDA-EA48-C04A020B82F9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19BAAD-9360-2457-2569-8DFCF0185E51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FB8D92-4F2C-CFB4-3840-BF8B42C0A898}"/>
              </a:ext>
            </a:extLst>
          </p:cNvPr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4563E3D6-9E92-01D7-3463-B66078B0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5C1444D-9598-6827-89FD-5A219F5C36A3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FE71565E-76F1-B7A6-61A1-44E4DC9DEA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193D6FC4-86AB-C582-8F49-0CEF2454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6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4BF04413-D815-B732-46A7-744AD6590C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02FACA27-EEEB-EFCC-8E26-04E49EF5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FA06A1-9955-9FA1-8138-2E26E0CC3AED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C6BDAB-7624-388F-B27E-26A86A6995AE}"/>
              </a:ext>
            </a:extLst>
          </p:cNvPr>
          <p:cNvSpPr txBox="1"/>
          <p:nvPr/>
        </p:nvSpPr>
        <p:spPr>
          <a:xfrm>
            <a:off x="440055" y="1176360"/>
            <a:ext cx="10768965" cy="13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与现有的工作相比：</a:t>
            </a:r>
            <a:endParaRPr lang="en-US" altLang="zh-CN" b="1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zh-CN" dirty="0">
                <a:solidFill>
                  <a:srgbClr val="374151"/>
                </a:solidFill>
                <a:latin typeface="_5b8b_4f53"/>
              </a:rPr>
              <a:t>相较于在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QEMU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FEMU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等模拟器上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的研究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一方面，我们使用的模拟器是最新的，基于内核实现的；另一方面，能展示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在不同的真实场景下的性能表现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，尤其是延迟等参数上区别会较明显。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E81CFD-99D8-77F4-C67C-379EE5AB5A55}"/>
              </a:ext>
            </a:extLst>
          </p:cNvPr>
          <p:cNvSpPr txBox="1"/>
          <p:nvPr/>
        </p:nvSpPr>
        <p:spPr>
          <a:xfrm>
            <a:off x="440055" y="2757274"/>
            <a:ext cx="10090785" cy="1711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相较于西数已有的基于真实设备（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ZN540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）的工作，首先西数更关注于硬盘内部的硬件级设计规划。另外我们使用浪潮提供的最新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盘，一方面，其介质选用更好的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TLC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颗粒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(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西数是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QLC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颗粒，延迟高寿命短），另一方面二者关键参数上也有区别，如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size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等（之前基于实际设备的工作中只出现过一款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 size = 2GB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的硬盘）。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B871E-3872-C3F2-1CF4-B9CDD6168859}"/>
              </a:ext>
            </a:extLst>
          </p:cNvPr>
          <p:cNvSpPr txBox="1"/>
          <p:nvPr/>
        </p:nvSpPr>
        <p:spPr>
          <a:xfrm>
            <a:off x="122628" y="5450801"/>
            <a:ext cx="11553118" cy="125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/>
              <a:t>QEMU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5"/>
              </a:rPr>
              <a:t>https://www.qemu.org/</a:t>
            </a:r>
            <a:endParaRPr lang="en-US" altLang="zh-CN" sz="1600" dirty="0"/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/>
              <a:t>FEMU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6"/>
              </a:rPr>
              <a:t>https://github.com/vtess/FEMU</a:t>
            </a:r>
            <a:endParaRPr lang="en-US" altLang="zh-CN" sz="1600" dirty="0"/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NVMeVirt</a:t>
            </a:r>
            <a:r>
              <a:rPr lang="en-US" altLang="zh-CN" sz="1600" dirty="0"/>
              <a:t>: A Versatile Software-defined Virtual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Device</a:t>
            </a:r>
            <a:r>
              <a:rPr lang="zh-CN" altLang="en-US" sz="1600" dirty="0"/>
              <a:t>，</a:t>
            </a:r>
            <a:r>
              <a:rPr lang="en-US" altLang="zh-CN" sz="1600" dirty="0"/>
              <a:t>FAST 23</a:t>
            </a:r>
            <a:endParaRPr lang="en-US" altLang="zh-CN" sz="1600" dirty="0"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8D8FE6-DB4E-87CD-1452-BB0F8905330C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技术方案</a:t>
            </a:r>
          </a:p>
        </p:txBody>
      </p:sp>
    </p:spTree>
    <p:extLst>
      <p:ext uri="{BB962C8B-B14F-4D97-AF65-F5344CB8AC3E}">
        <p14:creationId xmlns:p14="http://schemas.microsoft.com/office/powerpoint/2010/main" val="193503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7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6337FC42-856A-0234-8EB6-48BB83F0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E63EB8-E0A8-4F07-76F1-4E169ED7808E}"/>
              </a:ext>
            </a:extLst>
          </p:cNvPr>
          <p:cNvSpPr txBox="1"/>
          <p:nvPr/>
        </p:nvSpPr>
        <p:spPr>
          <a:xfrm>
            <a:off x="190500" y="5432932"/>
            <a:ext cx="8260080" cy="9289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NVMeVirt</a:t>
            </a:r>
            <a:r>
              <a:rPr lang="en-US" altLang="zh-CN" sz="1600" dirty="0"/>
              <a:t>: A Versatile Software-defined Virtual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Device</a:t>
            </a:r>
            <a:r>
              <a:rPr lang="zh-CN" altLang="en-US" sz="1600" dirty="0"/>
              <a:t>，</a:t>
            </a:r>
            <a:r>
              <a:rPr lang="en-US" altLang="zh-CN" sz="1600" dirty="0"/>
              <a:t>FAST 23</a:t>
            </a:r>
            <a:endParaRPr lang="en-US" altLang="zh-CN" sz="1600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Nvme</a:t>
            </a:r>
            <a:r>
              <a:rPr lang="en-US" altLang="zh-CN" sz="16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-cli: https://github.com/linux-nvme/nvme-cli</a:t>
            </a:r>
            <a:endParaRPr lang="en-US" altLang="zh-CN" sz="1600" dirty="0"/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 err="1"/>
              <a:t>Libzbd</a:t>
            </a:r>
            <a:r>
              <a:rPr lang="en-US" altLang="zh-CN" sz="1600" dirty="0"/>
              <a:t>: https://zonedstorage.io/docs/tools/libzbd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DD51D5-AA31-D2A9-D660-373048C76BF5}"/>
              </a:ext>
            </a:extLst>
          </p:cNvPr>
          <p:cNvSpPr txBox="1"/>
          <p:nvPr/>
        </p:nvSpPr>
        <p:spPr>
          <a:xfrm>
            <a:off x="385590" y="1318324"/>
            <a:ext cx="10483318" cy="327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NVMEvirt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最新的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模拟器，支持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，用于构建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模拟环境，该模拟器通过内核模块模拟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设备，提供类似真实设备的性能表现。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ZenFS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为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RocksDB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提供的文件系统插件，支持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 SSD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，显著减少系统写放大。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Linux</a:t>
            </a:r>
            <a:r>
              <a:rPr lang="zh-CN" altLang="en-US" sz="2000" b="1" dirty="0">
                <a:solidFill>
                  <a:srgbClr val="0D0D0D"/>
                </a:solidFill>
                <a:latin typeface="Söhne"/>
              </a:rPr>
              <a:t>系统工具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经前期测试验证已支持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的工具：包括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fio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、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-cli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等，用于性能测试和管理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 SSD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zbd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-tools: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包括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gzbd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、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libzbd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。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Gzbd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能提供可视化，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libzbd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是最新的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语义用户库，支持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逻辑设备的管理和操作。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9372B1-5714-D9A0-9C16-7166C8205F4C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实验工具</a:t>
            </a:r>
          </a:p>
        </p:txBody>
      </p:sp>
    </p:spTree>
    <p:extLst>
      <p:ext uri="{BB962C8B-B14F-4D97-AF65-F5344CB8AC3E}">
        <p14:creationId xmlns:p14="http://schemas.microsoft.com/office/powerpoint/2010/main" val="356045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207C0-0163-0822-7597-8C551048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BCF79AF-AB62-522E-23CD-8967E7E29D91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0B70DD-CF3B-89F1-B0D3-4073479F593C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3472AA-9C9F-0AA9-A8CB-999E847C20CD}"/>
              </a:ext>
            </a:extLst>
          </p:cNvPr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D7B54F2B-53DF-DCF4-3B84-672EB1D284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7EF56C9-4B88-FB53-AC70-87290DDF0433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A6304232-66F9-4270-3D53-3760030036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76305C1D-2303-B699-BA96-36E6E33C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8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E22E6F47-3373-9451-A9BA-54F342BBE8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D6A8635-9568-F2EA-5C9A-135ED944F8D7}"/>
              </a:ext>
            </a:extLst>
          </p:cNvPr>
          <p:cNvSpPr txBox="1"/>
          <p:nvPr/>
        </p:nvSpPr>
        <p:spPr>
          <a:xfrm>
            <a:off x="385590" y="1095737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NVMevirt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模拟器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30A5A59-8CFE-F460-EF76-35BA8DBA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4C26BFD-07D2-1402-6762-AA6C1819FF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129895"/>
            <a:ext cx="10789920" cy="363236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C987B7A-4374-B1F9-370C-0F02F92AD88B}"/>
              </a:ext>
            </a:extLst>
          </p:cNvPr>
          <p:cNvSpPr txBox="1"/>
          <p:nvPr/>
        </p:nvSpPr>
        <p:spPr>
          <a:xfrm>
            <a:off x="385590" y="1513449"/>
            <a:ext cx="10483318" cy="50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如图，构建了一个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大小为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10MB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的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盘，使用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-cli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报告状态如下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:</a:t>
            </a:r>
            <a:endParaRPr lang="zh-CN" altLang="en-US" sz="2000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F40BCB-A496-472A-3164-1BE66625EF2E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实验平台</a:t>
            </a:r>
          </a:p>
        </p:txBody>
      </p:sp>
    </p:spTree>
    <p:extLst>
      <p:ext uri="{BB962C8B-B14F-4D97-AF65-F5344CB8AC3E}">
        <p14:creationId xmlns:p14="http://schemas.microsoft.com/office/powerpoint/2010/main" val="131730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15183" y="166469"/>
            <a:ext cx="679898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实验平台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9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设备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5590" y="1576511"/>
            <a:ext cx="6696883" cy="24615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dirty="0">
                <a:sym typeface="+mn-ea"/>
              </a:rPr>
              <a:t>ZNS</a:t>
            </a:r>
            <a:r>
              <a:rPr lang="zh-CN" altLang="en-US" sz="2000" dirty="0">
                <a:sym typeface="+mn-ea"/>
              </a:rPr>
              <a:t>采用</a:t>
            </a:r>
            <a:r>
              <a:rPr lang="en-US" altLang="zh-CN" sz="2000" dirty="0">
                <a:sym typeface="+mn-ea"/>
              </a:rPr>
              <a:t>U.2</a:t>
            </a:r>
            <a:r>
              <a:rPr lang="zh-CN" altLang="en-US" sz="2000" dirty="0">
                <a:sym typeface="+mn-ea"/>
              </a:rPr>
              <a:t>接口，如右图</a:t>
            </a:r>
            <a:r>
              <a:rPr lang="en-US" altLang="zh-CN" sz="2000" dirty="0">
                <a:sym typeface="+mn-ea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ym typeface="+mn-ea"/>
              </a:rPr>
              <a:t>另外，初步测试了</a:t>
            </a:r>
            <a:r>
              <a:rPr lang="en-US" altLang="zh-CN" sz="2000" dirty="0" err="1">
                <a:sym typeface="+mn-ea"/>
              </a:rPr>
              <a:t>RocksDB</a:t>
            </a:r>
            <a:r>
              <a:rPr lang="en-US" altLang="zh-CN" sz="2000" dirty="0">
                <a:sym typeface="+mn-ea"/>
              </a:rPr>
              <a:t> + </a:t>
            </a:r>
            <a:r>
              <a:rPr lang="en-US" altLang="zh-CN" sz="2000" dirty="0" err="1">
                <a:sym typeface="+mn-ea"/>
              </a:rPr>
              <a:t>ZenFS</a:t>
            </a:r>
            <a:r>
              <a:rPr lang="zh-CN" altLang="en-US" sz="2000" dirty="0">
                <a:sym typeface="+mn-ea"/>
              </a:rPr>
              <a:t>的表现，与之前</a:t>
            </a:r>
            <a:r>
              <a:rPr lang="en-US" altLang="zh-CN" sz="2000" dirty="0" err="1">
                <a:sym typeface="+mn-ea"/>
              </a:rPr>
              <a:t>NVMevirt</a:t>
            </a:r>
            <a:r>
              <a:rPr lang="zh-CN" altLang="en-US" sz="2000" dirty="0">
                <a:sym typeface="+mn-ea"/>
              </a:rPr>
              <a:t>模拟结果相比，模拟器的延迟过低。我认为原因在于它是内核模块实现，可能只体现了主机</a:t>
            </a:r>
            <a:r>
              <a:rPr lang="en-US" altLang="zh-CN" sz="2000" dirty="0">
                <a:sym typeface="+mn-ea"/>
              </a:rPr>
              <a:t>l/O</a:t>
            </a:r>
            <a:r>
              <a:rPr lang="zh-CN" altLang="en-US" sz="2000" dirty="0">
                <a:sym typeface="+mn-ea"/>
              </a:rPr>
              <a:t>栈的延迟。</a:t>
            </a:r>
            <a:endParaRPr lang="en-US" altLang="zh-CN" sz="2000" dirty="0">
              <a:sym typeface="+mn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ym typeface="+mn-ea"/>
              </a:rPr>
              <a:t>连接到服务器后，查看块设备，如右下图所示</a:t>
            </a:r>
            <a:endParaRPr lang="en-US" altLang="zh-CN" sz="2000" dirty="0">
              <a:sym typeface="+mn-ea"/>
            </a:endParaRP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93457A3-1637-3737-9B53-1CF17294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F57F7C-C43A-4F29-54A3-9E2A41811F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299" y="1248081"/>
            <a:ext cx="1598233" cy="22430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6DE7B69-1B2D-65EE-4842-C041A20604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977" y="1248799"/>
            <a:ext cx="1693704" cy="225827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77837E1-82E7-66D5-866F-6FEAA4F28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74" y="4065765"/>
            <a:ext cx="5517358" cy="2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3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8244849" y="4730406"/>
            <a:ext cx="2099301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Q&amp;A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Thanks</a:t>
            </a: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！</a:t>
            </a:r>
          </a:p>
        </p:txBody>
      </p:sp>
      <p:sp>
        <p:nvSpPr>
          <p:cNvPr id="8" name="矩形: 圆角 7"/>
          <p:cNvSpPr/>
          <p:nvPr/>
        </p:nvSpPr>
        <p:spPr>
          <a:xfrm rot="2755966">
            <a:off x="4146517" y="3347706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 rot="2755966">
            <a:off x="2770276" y="966707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 rot="2755966">
            <a:off x="4586763" y="2029472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 rot="2755966">
            <a:off x="1415554" y="2470682"/>
            <a:ext cx="3134556" cy="3134556"/>
          </a:xfrm>
          <a:prstGeom prst="round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114300" dist="50800" dir="7800000" sx="101000" sy="101000" algn="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/>
          <p:cNvSpPr/>
          <p:nvPr/>
        </p:nvSpPr>
        <p:spPr>
          <a:xfrm rot="2755966">
            <a:off x="5633126" y="2433704"/>
            <a:ext cx="1685894" cy="1685894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/>
          <p:cNvSpPr/>
          <p:nvPr/>
        </p:nvSpPr>
        <p:spPr>
          <a:xfrm rot="2755966">
            <a:off x="3965400" y="5546431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 rot="2755966">
            <a:off x="5089423" y="716157"/>
            <a:ext cx="1134056" cy="1134056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 rot="2755966">
            <a:off x="7189439" y="1365266"/>
            <a:ext cx="396502" cy="396502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6,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5183" y="1080755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设计及其特性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0055" y="1790929"/>
            <a:ext cx="10217207" cy="2059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i="0" dirty="0">
                <a:solidFill>
                  <a:srgbClr val="374151"/>
                </a:solidFill>
                <a:effectLst/>
                <a:latin typeface="Söhne"/>
              </a:rPr>
              <a:t>ZNS</a:t>
            </a:r>
            <a:r>
              <a:rPr lang="zh-CN" altLang="en-US" sz="2000" i="0" dirty="0">
                <a:solidFill>
                  <a:srgbClr val="374151"/>
                </a:solidFill>
                <a:effectLst/>
                <a:latin typeface="Söhne"/>
              </a:rPr>
              <a:t>（</a:t>
            </a:r>
            <a:r>
              <a:rPr lang="en-US" altLang="zh-CN" sz="2000" i="0" dirty="0">
                <a:solidFill>
                  <a:srgbClr val="374151"/>
                </a:solidFill>
                <a:effectLst/>
                <a:latin typeface="Söhne"/>
              </a:rPr>
              <a:t>Zoned Namespace</a:t>
            </a:r>
            <a:r>
              <a:rPr lang="zh-CN" altLang="en-US" sz="2000" i="0" dirty="0">
                <a:solidFill>
                  <a:srgbClr val="374151"/>
                </a:solidFill>
                <a:effectLst/>
                <a:latin typeface="Söhne"/>
              </a:rPr>
              <a:t>）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是一种面向大规模数据中心设计的新型存储设备，其设计理念是将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SSD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的存储空间按更大的粒度划分为不同的区域，每个区域具有独立的属性。与传统的块设备最大的不同在于，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ZNS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要求在一个区域内顺序写入数据。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ZNS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的设计旨在解决传统固态硬盘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(SSD)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存在的一些问题，例如其中比较典型的写放大问题</a:t>
            </a:r>
            <a:r>
              <a:rPr lang="zh-CN" altLang="en-US" sz="2000" dirty="0">
                <a:solidFill>
                  <a:srgbClr val="000000"/>
                </a:solidFill>
                <a:latin typeface="_5b8b_4f53"/>
              </a:rPr>
              <a:t>，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并提供了更高性能和更低成本的存储解决方案。</a:t>
            </a:r>
            <a:endParaRPr lang="zh-CN" altLang="en-US" sz="2000" dirty="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F8C07CB-D5E6-905C-4CA5-A0B50B3F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B4F2D2-6F9F-ED72-BE0E-8F42CF1296B1}"/>
              </a:ext>
            </a:extLst>
          </p:cNvPr>
          <p:cNvSpPr txBox="1"/>
          <p:nvPr/>
        </p:nvSpPr>
        <p:spPr>
          <a:xfrm>
            <a:off x="440055" y="4314086"/>
            <a:ext cx="10075545" cy="858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更具体地，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ZNS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将存储空间划分为多个区域（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zones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），每个区必须按顺序写入，回收复用之前必须被显示的重置。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ZNS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带来的优势主要有：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6785E3-D6BA-F9AA-42DF-68F57C5C69C9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6,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的优势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5590" y="1836044"/>
            <a:ext cx="10217207" cy="96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charset="0"/>
                <a:cs typeface="Cambria Math" panose="02040503050406030204" charset="0"/>
              </a:rPr>
              <a:t>提高性能：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主要通过引入顺序写入方式，减少寻址（映射）、垃圾回收等传统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SSD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中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FTL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层带来的开销，提高了性能。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7A7FEA-3323-2A94-436B-618CC919B6BC}"/>
              </a:ext>
            </a:extLst>
          </p:cNvPr>
          <p:cNvSpPr txBox="1"/>
          <p:nvPr/>
        </p:nvSpPr>
        <p:spPr>
          <a:xfrm>
            <a:off x="385590" y="2945694"/>
            <a:ext cx="10217207" cy="96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charset="0"/>
                <a:cs typeface="Cambria Math" panose="02040503050406030204" charset="0"/>
              </a:rPr>
              <a:t>寿命优化： 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通过减少随机写入（其可能带来设备内写放大），延长存储设备的使用寿命，降低维护和更换的成本。使得制作更廉价、更大容量、更可靠的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SSD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变得可能。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196CB8-DBDB-EE20-0005-C4DC86ACD3D0}"/>
              </a:ext>
            </a:extLst>
          </p:cNvPr>
          <p:cNvSpPr txBox="1"/>
          <p:nvPr/>
        </p:nvSpPr>
        <p:spPr>
          <a:xfrm>
            <a:off x="410462" y="4117551"/>
            <a:ext cx="10217207" cy="142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charset="0"/>
                <a:cs typeface="Cambria Math" panose="02040503050406030204" charset="0"/>
              </a:rPr>
              <a:t>可见性</a:t>
            </a:r>
            <a:r>
              <a:rPr lang="en-US" altLang="zh-CN" sz="2000" b="1" dirty="0">
                <a:latin typeface="Cambria Math" panose="02040503050406030204" charset="0"/>
                <a:cs typeface="Cambria Math" panose="02040503050406030204" charset="0"/>
              </a:rPr>
              <a:t>&amp;</a:t>
            </a:r>
            <a:r>
              <a:rPr lang="zh-CN" altLang="en-US" sz="2000" b="1" dirty="0">
                <a:latin typeface="Cambria Math" panose="02040503050406030204" charset="0"/>
                <a:cs typeface="Cambria Math" panose="02040503050406030204" charset="0"/>
              </a:rPr>
              <a:t>可预测性：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传统硬盘对于上层应用来说是黑盒。但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ZNS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允许应用感知数据存入磁盘后的物理位置，支持根据不同的应用场景对存储空间进行灵活划分，以提高存储效率。另一方面，由于消除了设备内的写放大，使得写入的性能开销可预测。</a:t>
            </a: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66B952-2D8B-6C80-4233-3B5CF868A2BD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22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6,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13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如何适配</a:t>
            </a:r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5590" y="1548765"/>
            <a:ext cx="10811351" cy="392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Cambria Math" panose="02040503050406030204" charset="0"/>
                <a:cs typeface="Cambria Math" panose="02040503050406030204" charset="0"/>
              </a:rPr>
              <a:t>下面介绍主机软件适应</a:t>
            </a:r>
            <a:r>
              <a:rPr lang="en-US" altLang="zh-CN" dirty="0">
                <a:latin typeface="Cambria Math" panose="02040503050406030204" charset="0"/>
                <a:cs typeface="Cambria Math" panose="02040503050406030204" charset="0"/>
              </a:rPr>
              <a:t>ZNS</a:t>
            </a:r>
            <a:r>
              <a:rPr lang="zh-CN" altLang="en-US" dirty="0">
                <a:latin typeface="Cambria Math" panose="02040503050406030204" charset="0"/>
                <a:cs typeface="Cambria Math" panose="02040503050406030204" charset="0"/>
              </a:rPr>
              <a:t>的三种方法：</a:t>
            </a:r>
            <a:endParaRPr lang="en-US" altLang="zh-CN" dirty="0">
              <a:latin typeface="Cambria Math" panose="02040503050406030204" charset="0"/>
              <a:cs typeface="Cambria Math" panose="02040503050406030204" charset="0"/>
            </a:endParaRP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/>
              <a:t>主机端闪存转换层（</a:t>
            </a:r>
            <a:r>
              <a:rPr lang="en-US" altLang="zh-CN" b="1" dirty="0"/>
              <a:t>HFTL</a:t>
            </a:r>
            <a:r>
              <a:rPr lang="zh-CN" altLang="en-US" b="1" dirty="0"/>
              <a:t>）：</a:t>
            </a:r>
            <a:r>
              <a:rPr lang="en-US" altLang="zh-CN" dirty="0"/>
              <a:t>HFTL</a:t>
            </a:r>
            <a:r>
              <a:rPr lang="zh-CN" altLang="en-US" dirty="0"/>
              <a:t>充当</a:t>
            </a:r>
            <a:r>
              <a:rPr lang="en-US" altLang="zh-CN" dirty="0"/>
              <a:t>ZNS SSD</a:t>
            </a:r>
            <a:r>
              <a:rPr lang="zh-CN" altLang="en-US" dirty="0"/>
              <a:t>的写入语义与执行随机写入及就地更新的应用之间的中介。它的职责与</a:t>
            </a:r>
            <a:r>
              <a:rPr lang="en-US" altLang="zh-CN" dirty="0"/>
              <a:t>SSD</a:t>
            </a:r>
            <a:r>
              <a:rPr lang="zh-CN" altLang="en-US" dirty="0"/>
              <a:t>中的</a:t>
            </a:r>
            <a:r>
              <a:rPr lang="en-US" altLang="zh-CN" dirty="0"/>
              <a:t>FTL</a:t>
            </a:r>
            <a:r>
              <a:rPr lang="zh-CN" altLang="en-US" dirty="0"/>
              <a:t>相似，但仅限于管理转换映射和相关的垃圾回收。</a:t>
            </a:r>
            <a:endParaRPr lang="en-US" altLang="zh-CN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/>
              <a:t>文件系统：</a:t>
            </a:r>
            <a:r>
              <a:rPr lang="zh-CN" altLang="en-US" dirty="0"/>
              <a:t>通过将</a:t>
            </a:r>
            <a:r>
              <a:rPr lang="en-US" altLang="zh-CN" dirty="0"/>
              <a:t>Zone</a:t>
            </a:r>
            <a:r>
              <a:rPr lang="zh-CN" altLang="en-US" dirty="0"/>
              <a:t>接口逻辑与现有存储堆栈整合，可以消除与</a:t>
            </a:r>
            <a:r>
              <a:rPr lang="en-US" altLang="zh-CN" dirty="0"/>
              <a:t>HFTL</a:t>
            </a:r>
            <a:r>
              <a:rPr lang="zh-CN" altLang="en-US" dirty="0"/>
              <a:t>和</a:t>
            </a:r>
            <a:r>
              <a:rPr lang="en-US" altLang="zh-CN" dirty="0"/>
              <a:t>FTL</a:t>
            </a:r>
            <a:r>
              <a:rPr lang="zh-CN" altLang="en-US" dirty="0"/>
              <a:t>数据放置及相关间接开销。这也可以改善设备上的数据放置。但是，目前大多数文件系统主要执行就地写入，适应区域存储模型通常很困难。一些文件系统（如</a:t>
            </a:r>
            <a:r>
              <a:rPr lang="en-US" altLang="zh-CN" dirty="0"/>
              <a:t>f2fs</a:t>
            </a:r>
            <a:r>
              <a:rPr lang="zh-CN" altLang="en-US" dirty="0"/>
              <a:t>、</a:t>
            </a:r>
            <a:r>
              <a:rPr lang="en-US" altLang="zh-CN" dirty="0" err="1"/>
              <a:t>btrfs</a:t>
            </a:r>
            <a:r>
              <a:rPr lang="zh-CN" altLang="en-US" dirty="0"/>
              <a:t>和</a:t>
            </a:r>
            <a:r>
              <a:rPr lang="en-US" altLang="zh-CN" dirty="0" err="1"/>
              <a:t>zfs</a:t>
            </a:r>
            <a:r>
              <a:rPr lang="zh-CN" altLang="en-US" dirty="0"/>
              <a:t>）可能更适合</a:t>
            </a:r>
            <a:r>
              <a:rPr lang="en-US" altLang="zh-CN" dirty="0"/>
              <a:t>ZNS</a:t>
            </a:r>
            <a:r>
              <a:rPr lang="zh-CN" altLang="en-US" dirty="0"/>
              <a:t>。</a:t>
            </a:r>
            <a:endParaRPr lang="en-US" altLang="zh-CN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b="1" dirty="0"/>
              <a:t>针对顺序写入操作的应用：</a:t>
            </a:r>
            <a:r>
              <a:rPr lang="zh-CN" altLang="en-US" dirty="0"/>
              <a:t>对于顺序写为主的存储应用来说，</a:t>
            </a:r>
            <a:r>
              <a:rPr lang="en-US" altLang="zh-CN" dirty="0"/>
              <a:t>ZNS</a:t>
            </a:r>
            <a:r>
              <a:rPr lang="zh-CN" altLang="en-US" dirty="0"/>
              <a:t>是一个很好的选择。例如，基于日志合并（</a:t>
            </a:r>
            <a:r>
              <a:rPr lang="en-US" altLang="zh-CN" dirty="0"/>
              <a:t>LSM</a:t>
            </a:r>
            <a:r>
              <a:rPr lang="zh-CN" altLang="en-US" dirty="0"/>
              <a:t>）树的数据库。这些应用因为其顺序写入的特性，与</a:t>
            </a:r>
            <a:r>
              <a:rPr lang="en-US" altLang="zh-CN" dirty="0"/>
              <a:t>ZNS</a:t>
            </a:r>
            <a:r>
              <a:rPr lang="zh-CN" altLang="en-US" dirty="0"/>
              <a:t>接口的设计高度兼容。反之，就地更新为主的应用则很难支持，除非对核心数据结构进行根本性修改。</a:t>
            </a: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95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March 6,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15183" y="166469"/>
            <a:ext cx="679898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相关文献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相关文献：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861810-667E-C3E0-36DE-A0040B7D70CD}"/>
              </a:ext>
            </a:extLst>
          </p:cNvPr>
          <p:cNvSpPr txBox="1"/>
          <p:nvPr/>
        </p:nvSpPr>
        <p:spPr>
          <a:xfrm>
            <a:off x="440055" y="1666450"/>
            <a:ext cx="9407814" cy="4662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ZNS: Avoiding the Block Interface Tax for Flash-based SSDs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ZNS+: Advanced Zoned Namespace Interface for Supporting In-Storage Zone Compaction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 err="1"/>
              <a:t>eZNS</a:t>
            </a:r>
            <a:r>
              <a:rPr lang="zh-CN" altLang="en-US" sz="2000" dirty="0"/>
              <a:t>：</a:t>
            </a:r>
            <a:r>
              <a:rPr lang="en-US" altLang="zh-CN" sz="2000" dirty="0"/>
              <a:t>An Elastic Zoned Namespace for Commodity ZNS SSDs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 err="1"/>
              <a:t>ZNSwap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ZNSwap</a:t>
            </a:r>
            <a:r>
              <a:rPr lang="en-US" altLang="zh-CN" sz="2000" dirty="0"/>
              <a:t>: un-Block your Swap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WALTZ</a:t>
            </a:r>
            <a:r>
              <a:rPr lang="zh-CN" altLang="en-US" sz="2000" dirty="0"/>
              <a:t>：</a:t>
            </a:r>
            <a:r>
              <a:rPr lang="en-US" altLang="zh-CN" sz="2000" dirty="0"/>
              <a:t>Leveraging Zone Append to Tighten the Tail Latency of LSM Tree on ZNS SSD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 err="1"/>
              <a:t>GearDB</a:t>
            </a:r>
            <a:r>
              <a:rPr lang="en-US" altLang="zh-CN" sz="2000" dirty="0"/>
              <a:t>: A GC-free Key-Value Store on HM-SMR Drives with Gear Compaction</a:t>
            </a:r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zh-CN" sz="2000" dirty="0"/>
              <a:t>……</a:t>
            </a:r>
            <a:endParaRPr lang="zh-CN" altLang="en-US" sz="2000" dirty="0"/>
          </a:p>
          <a:p>
            <a:pPr indent="-285750">
              <a:lnSpc>
                <a:spcPct val="150000"/>
              </a:lnSpc>
              <a:buFont typeface="Wingdings" panose="05000000000000000000" charset="0"/>
              <a:buChar char="q"/>
            </a:pPr>
            <a:endParaRPr lang="zh-CN" altLang="en-US" sz="2000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F6357315-2265-F808-0074-40FFC57D1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25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68cb81-96cb-4b63-9d56-4d2877e4c057"/>
  <p:tag name="COMMONDATA" val="eyJoZGlkIjoiNmY4NTU2ZDI3ZjJkNmQ4YmU4NTU2YmM5ZmVhMWRlO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2618</TotalTime>
  <Words>2509</Words>
  <Application>Microsoft Office PowerPoint</Application>
  <PresentationFormat>宽屏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_5b8b_4f53</vt:lpstr>
      <vt:lpstr>Söhne</vt:lpstr>
      <vt:lpstr>等线</vt:lpstr>
      <vt:lpstr>等线 Light</vt:lpstr>
      <vt:lpstr>Arial</vt:lpstr>
      <vt:lpstr>Cambria Math</vt:lpstr>
      <vt:lpstr>Constantia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zhouke</dc:creator>
  <cp:lastModifiedBy>子淇 柳</cp:lastModifiedBy>
  <cp:revision>3327</cp:revision>
  <dcterms:created xsi:type="dcterms:W3CDTF">2019-02-21T08:55:00Z</dcterms:created>
  <dcterms:modified xsi:type="dcterms:W3CDTF">2024-03-06T18:15:01Z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65A6CB78243D48A083A0131B29BE5B9E_12</vt:lpwstr>
  </property>
  <property fmtid="{D5CDD505-2E9C-101B-9397-08002B2CF9AE}" pid="3" name="KSOProductBuildVer">
    <vt:lpwstr>2052-11.1.0.14309</vt:lpwstr>
  </property>
</Properties>
</file>